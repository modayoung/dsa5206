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7.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0.xml" ContentType="application/vnd.openxmlformats-officedocument.drawingml.chart+xml"/>
  <Override PartName="/ppt/slides/charts/chart1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4c4fac034fc4a93" /><Relationship Type="http://schemas.openxmlformats.org/officeDocument/2006/relationships/extended-properties" Target="/docProps/app.xml" Id="Rc1eb362f135a44ee" /><Relationship Type="http://schemas.openxmlformats.org/officeDocument/2006/relationships/officeDocument" Target="/ppt/presentation.xml" Id="Ra12b6a5c01014498" /></Relationships>
</file>

<file path=ppt/presentation.xml><?xml version="1.0" encoding="utf-8"?>
<p:presentation xmlns:p="http://schemas.openxmlformats.org/presentationml/2006/main">
  <p:sldMasterIdLst>
    <p:sldMasterId xmlns:r="http://schemas.openxmlformats.org/officeDocument/2006/relationships" id="2147483648" r:id="R04526b62afd34cf8"/>
  </p:sldMasterIdLst>
  <p:notesMasterIdLst>
    <p:notesMasterId xmlns:r="http://schemas.openxmlformats.org/officeDocument/2006/relationships" r:id="R0dd87f4f8bb34ba6"/>
  </p:notesMasterIdLst>
  <p:sldIdLst>
    <p:sldId xmlns:r="http://schemas.openxmlformats.org/officeDocument/2006/relationships" id="256" r:id="R224a382b50924b03"/>
    <p:sldId xmlns:r="http://schemas.openxmlformats.org/officeDocument/2006/relationships" id="257" r:id="R3e921ad53d764afd"/>
    <p:sldId xmlns:r="http://schemas.openxmlformats.org/officeDocument/2006/relationships" id="258" r:id="R2e5043905aba45d7"/>
    <p:sldId xmlns:r="http://schemas.openxmlformats.org/officeDocument/2006/relationships" id="259" r:id="Rf5c8ef3dcff94a5f"/>
    <p:sldId xmlns:r="http://schemas.openxmlformats.org/officeDocument/2006/relationships" id="260" r:id="R98589d55f5a743a6"/>
    <p:sldId xmlns:r="http://schemas.openxmlformats.org/officeDocument/2006/relationships" id="261" r:id="Ra5cbbb32244540d9"/>
    <p:sldId xmlns:r="http://schemas.openxmlformats.org/officeDocument/2006/relationships" id="262" r:id="Rba5bd9ecc2b84fc0"/>
    <p:sldId xmlns:r="http://schemas.openxmlformats.org/officeDocument/2006/relationships" id="263" r:id="R6d4ce3986a634862"/>
    <p:sldId xmlns:r="http://schemas.openxmlformats.org/officeDocument/2006/relationships" id="264" r:id="Racfa85c86b2a448e"/>
    <p:sldId xmlns:r="http://schemas.openxmlformats.org/officeDocument/2006/relationships" id="265" r:id="Rc00a931ef47b410f"/>
    <p:sldId xmlns:r="http://schemas.openxmlformats.org/officeDocument/2006/relationships" id="266" r:id="Rc11c71dabef84a66"/>
    <p:sldId xmlns:r="http://schemas.openxmlformats.org/officeDocument/2006/relationships" id="267" r:id="Re37170f7c8b54222"/>
    <p:sldId xmlns:r="http://schemas.openxmlformats.org/officeDocument/2006/relationships" id="268" r:id="R73446788abb540d7"/>
    <p:sldId xmlns:r="http://schemas.openxmlformats.org/officeDocument/2006/relationships" id="269" r:id="R041276bb03874991"/>
    <p:sldId xmlns:r="http://schemas.openxmlformats.org/officeDocument/2006/relationships" id="270" r:id="Rc39dd195753e4b7d"/>
    <p:sldId xmlns:r="http://schemas.openxmlformats.org/officeDocument/2006/relationships" id="271" r:id="R4062c28711e5425a"/>
    <p:sldId xmlns:r="http://schemas.openxmlformats.org/officeDocument/2006/relationships" id="272" r:id="R0359be6f03254c78"/>
    <p:sldId xmlns:r="http://schemas.openxmlformats.org/officeDocument/2006/relationships" id="273" r:id="R5e31d26c78904835"/>
    <p:sldId xmlns:r="http://schemas.openxmlformats.org/officeDocument/2006/relationships" id="274" r:id="R2addf36e847f4b73"/>
    <p:sldId xmlns:r="http://schemas.openxmlformats.org/officeDocument/2006/relationships" id="275" r:id="R3e13b292ec88464b"/>
    <p:sldId xmlns:r="http://schemas.openxmlformats.org/officeDocument/2006/relationships" id="276" r:id="R3b25367e1f4f43a0"/>
    <p:sldId xmlns:r="http://schemas.openxmlformats.org/officeDocument/2006/relationships" id="277" r:id="Rfd930d887f5746f7"/>
    <p:sldId xmlns:r="http://schemas.openxmlformats.org/officeDocument/2006/relationships" id="278" r:id="R4bc9e9fec9f84081"/>
    <p:sldId xmlns:r="http://schemas.openxmlformats.org/officeDocument/2006/relationships" id="279" r:id="Ra3024c10b84c4694"/>
    <p:sldId xmlns:r="http://schemas.openxmlformats.org/officeDocument/2006/relationships" id="280" r:id="R21b7a946416340a5"/>
    <p:sldId xmlns:r="http://schemas.openxmlformats.org/officeDocument/2006/relationships" id="281" r:id="R2e0cad8fbae547f6"/>
    <p:sldId xmlns:r="http://schemas.openxmlformats.org/officeDocument/2006/relationships" id="282" r:id="R46b43d2420a24e16"/>
    <p:sldId xmlns:r="http://schemas.openxmlformats.org/officeDocument/2006/relationships" id="283" r:id="R205d760dc68b477e"/>
    <p:sldId xmlns:r="http://schemas.openxmlformats.org/officeDocument/2006/relationships" id="284" r:id="Rbd17a3cfec4e4149"/>
    <p:sldId xmlns:r="http://schemas.openxmlformats.org/officeDocument/2006/relationships" id="285" r:id="R7a63b3e80e32434b"/>
    <p:sldId xmlns:r="http://schemas.openxmlformats.org/officeDocument/2006/relationships" id="286" r:id="R3ed84d8fe03145e5"/>
    <p:sldId xmlns:r="http://schemas.openxmlformats.org/officeDocument/2006/relationships" id="287" r:id="R957879a495034df7"/>
    <p:sldId xmlns:r="http://schemas.openxmlformats.org/officeDocument/2006/relationships" id="288" r:id="Reba88303861f4362"/>
    <p:sldId xmlns:r="http://schemas.openxmlformats.org/officeDocument/2006/relationships" id="289" r:id="R119264a2754c4033"/>
    <p:sldId xmlns:r="http://schemas.openxmlformats.org/officeDocument/2006/relationships" id="290" r:id="R7ebe6328ca89485e"/>
    <p:sldId xmlns:r="http://schemas.openxmlformats.org/officeDocument/2006/relationships" id="291" r:id="R07ccf21566204ce3"/>
    <p:sldId xmlns:r="http://schemas.openxmlformats.org/officeDocument/2006/relationships" id="292" r:id="R5f608f169da54e58"/>
    <p:sldId xmlns:r="http://schemas.openxmlformats.org/officeDocument/2006/relationships" id="293" r:id="Rae1dc01eee2d4966"/>
    <p:sldId xmlns:r="http://schemas.openxmlformats.org/officeDocument/2006/relationships" id="294" r:id="R8c31b358077d4c0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5fbc81075894182" /><Relationship Type="http://schemas.openxmlformats.org/officeDocument/2006/relationships/slideMaster" Target="/ppt/slideMasters/slideMaster1.xml" Id="R04526b62afd34cf8" /><Relationship Type="http://schemas.openxmlformats.org/officeDocument/2006/relationships/notesMaster" Target="/ppt/notesMasters/notesMaster1.xml" Id="R0dd87f4f8bb34ba6" /><Relationship Type="http://schemas.openxmlformats.org/officeDocument/2006/relationships/presProps" Target="/ppt/presProps.xml" Id="Ra05d848786524c2b" /><Relationship Type="http://schemas.openxmlformats.org/officeDocument/2006/relationships/viewProps" Target="/ppt/viewProps.xml" Id="Raf6a010ae19542c4" /><Relationship Type="http://schemas.openxmlformats.org/officeDocument/2006/relationships/tableStyles" Target="/ppt/tableStyles.xml" Id="Rfe770252665d44de" /><Relationship Type="http://schemas.openxmlformats.org/officeDocument/2006/relationships/slide" Target="/ppt/slides/slide1.xml" Id="R224a382b50924b03" /><Relationship Type="http://schemas.openxmlformats.org/officeDocument/2006/relationships/slide" Target="/ppt/slides/slide2.xml" Id="R3e921ad53d764afd" /><Relationship Type="http://schemas.openxmlformats.org/officeDocument/2006/relationships/slide" Target="/ppt/slides/slide3.xml" Id="R2e5043905aba45d7" /><Relationship Type="http://schemas.openxmlformats.org/officeDocument/2006/relationships/slide" Target="/ppt/slides/slide4.xml" Id="Rf5c8ef3dcff94a5f" /><Relationship Type="http://schemas.openxmlformats.org/officeDocument/2006/relationships/slide" Target="/ppt/slides/slide5.xml" Id="R98589d55f5a743a6" /><Relationship Type="http://schemas.openxmlformats.org/officeDocument/2006/relationships/slide" Target="/ppt/slides/slide6.xml" Id="Ra5cbbb32244540d9" /><Relationship Type="http://schemas.openxmlformats.org/officeDocument/2006/relationships/slide" Target="/ppt/slides/slide7.xml" Id="Rba5bd9ecc2b84fc0" /><Relationship Type="http://schemas.openxmlformats.org/officeDocument/2006/relationships/slide" Target="/ppt/slides/slide8.xml" Id="R6d4ce3986a634862" /><Relationship Type="http://schemas.openxmlformats.org/officeDocument/2006/relationships/slide" Target="/ppt/slides/slide9.xml" Id="Racfa85c86b2a448e" /><Relationship Type="http://schemas.openxmlformats.org/officeDocument/2006/relationships/slide" Target="/ppt/slides/slide10.xml" Id="Rc00a931ef47b410f" /><Relationship Type="http://schemas.openxmlformats.org/officeDocument/2006/relationships/slide" Target="/ppt/slides/slide11.xml" Id="Rc11c71dabef84a66" /><Relationship Type="http://schemas.openxmlformats.org/officeDocument/2006/relationships/slide" Target="/ppt/slides/slide12.xml" Id="Re37170f7c8b54222" /><Relationship Type="http://schemas.openxmlformats.org/officeDocument/2006/relationships/slide" Target="/ppt/slides/slide13.xml" Id="R73446788abb540d7" /><Relationship Type="http://schemas.openxmlformats.org/officeDocument/2006/relationships/slide" Target="/ppt/slides/slide14.xml" Id="R041276bb03874991" /><Relationship Type="http://schemas.openxmlformats.org/officeDocument/2006/relationships/slide" Target="/ppt/slides/slide15.xml" Id="Rc39dd195753e4b7d" /><Relationship Type="http://schemas.openxmlformats.org/officeDocument/2006/relationships/slide" Target="/ppt/slides/slide16.xml" Id="R4062c28711e5425a" /><Relationship Type="http://schemas.openxmlformats.org/officeDocument/2006/relationships/slide" Target="/ppt/slides/slide17.xml" Id="R0359be6f03254c78" /><Relationship Type="http://schemas.openxmlformats.org/officeDocument/2006/relationships/slide" Target="/ppt/slides/slide18.xml" Id="R5e31d26c78904835" /><Relationship Type="http://schemas.openxmlformats.org/officeDocument/2006/relationships/slide" Target="/ppt/slides/slide19.xml" Id="R2addf36e847f4b73" /><Relationship Type="http://schemas.openxmlformats.org/officeDocument/2006/relationships/slide" Target="/ppt/slides/slide20.xml" Id="R3e13b292ec88464b" /><Relationship Type="http://schemas.openxmlformats.org/officeDocument/2006/relationships/slide" Target="/ppt/slides/slide21.xml" Id="R3b25367e1f4f43a0" /><Relationship Type="http://schemas.openxmlformats.org/officeDocument/2006/relationships/slide" Target="/ppt/slides/slide22.xml" Id="Rfd930d887f5746f7" /><Relationship Type="http://schemas.openxmlformats.org/officeDocument/2006/relationships/slide" Target="/ppt/slides/slide23.xml" Id="R4bc9e9fec9f84081" /><Relationship Type="http://schemas.openxmlformats.org/officeDocument/2006/relationships/slide" Target="/ppt/slides/slide24.xml" Id="Ra3024c10b84c4694" /><Relationship Type="http://schemas.openxmlformats.org/officeDocument/2006/relationships/slide" Target="/ppt/slides/slide25.xml" Id="R21b7a946416340a5" /><Relationship Type="http://schemas.openxmlformats.org/officeDocument/2006/relationships/slide" Target="/ppt/slides/slide26.xml" Id="R2e0cad8fbae547f6" /><Relationship Type="http://schemas.openxmlformats.org/officeDocument/2006/relationships/slide" Target="/ppt/slides/slide27.xml" Id="R46b43d2420a24e16" /><Relationship Type="http://schemas.openxmlformats.org/officeDocument/2006/relationships/slide" Target="/ppt/slides/slide28.xml" Id="R205d760dc68b477e" /><Relationship Type="http://schemas.openxmlformats.org/officeDocument/2006/relationships/slide" Target="/ppt/slides/slide29.xml" Id="Rbd17a3cfec4e4149" /><Relationship Type="http://schemas.openxmlformats.org/officeDocument/2006/relationships/slide" Target="/ppt/slides/slide30.xml" Id="R7a63b3e80e32434b" /><Relationship Type="http://schemas.openxmlformats.org/officeDocument/2006/relationships/slide" Target="/ppt/slides/slide31.xml" Id="R3ed84d8fe03145e5" /><Relationship Type="http://schemas.openxmlformats.org/officeDocument/2006/relationships/slide" Target="/ppt/slides/slide32.xml" Id="R957879a495034df7" /><Relationship Type="http://schemas.openxmlformats.org/officeDocument/2006/relationships/slide" Target="/ppt/slides/slide33.xml" Id="Reba88303861f4362" /><Relationship Type="http://schemas.openxmlformats.org/officeDocument/2006/relationships/slide" Target="/ppt/slides/slide34.xml" Id="R119264a2754c4033" /><Relationship Type="http://schemas.openxmlformats.org/officeDocument/2006/relationships/slide" Target="/ppt/slides/slide35.xml" Id="R7ebe6328ca89485e" /><Relationship Type="http://schemas.openxmlformats.org/officeDocument/2006/relationships/slide" Target="/ppt/slides/slide36.xml" Id="R07ccf21566204ce3" /><Relationship Type="http://schemas.openxmlformats.org/officeDocument/2006/relationships/slide" Target="/ppt/slides/slide37.xml" Id="R5f608f169da54e58" /><Relationship Type="http://schemas.openxmlformats.org/officeDocument/2006/relationships/slide" Target="/ppt/slides/slide38.xml" Id="Rae1dc01eee2d4966" /><Relationship Type="http://schemas.openxmlformats.org/officeDocument/2006/relationships/slide" Target="/ppt/slides/slide39.xml" Id="R8c31b358077d4c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bac50d21294e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自定义 4199">
      <a:dk1>
        <a:srgbClr val="000000"/>
      </a:dk1>
      <a:lt1>
        <a:srgbClr val="FFFFFF"/>
      </a:lt1>
      <a:dk2>
        <a:srgbClr val="44546A"/>
      </a:dk2>
      <a:lt2>
        <a:srgbClr val="E7E6E6"/>
      </a:lt2>
      <a:accent1>
        <a:srgbClr val="013D7A"/>
      </a:accent1>
      <a:accent2>
        <a:srgbClr val="F07902"/>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自定义 419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38f6ae27234c0e" /><Relationship Type="http://schemas.openxmlformats.org/officeDocument/2006/relationships/notesMaster" Target="/ppt/notesMasters/notesMaster1.xml" Id="R364e3c74d36d45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d15b1fbad046a7" /><Relationship Type="http://schemas.openxmlformats.org/officeDocument/2006/relationships/notesMaster" Target="/ppt/notesMasters/notesMaster1.xml" Id="R1ea5f3eee7ca4f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0303455f6f4970" /><Relationship Type="http://schemas.openxmlformats.org/officeDocument/2006/relationships/notesMaster" Target="/ppt/notesMasters/notesMaster1.xml" Id="R640125039eae4c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07aa9bad0e4b11" /><Relationship Type="http://schemas.openxmlformats.org/officeDocument/2006/relationships/notesMaster" Target="/ppt/notesMasters/notesMaster1.xml" Id="Rd2e9f2392f7c40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aee37dd94a4293" /><Relationship Type="http://schemas.openxmlformats.org/officeDocument/2006/relationships/notesMaster" Target="/ppt/notesMasters/notesMaster1.xml" Id="R43597b627acf4ff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9de4ff267043fd" /><Relationship Type="http://schemas.openxmlformats.org/officeDocument/2006/relationships/notesMaster" Target="/ppt/notesMasters/notesMaster1.xml" Id="R025f64f0fdd440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e1081b6d1943b9" /><Relationship Type="http://schemas.openxmlformats.org/officeDocument/2006/relationships/notesMaster" Target="/ppt/notesMasters/notesMaster1.xml" Id="R2aa1c1dff41648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5e3989799f40e9" /><Relationship Type="http://schemas.openxmlformats.org/officeDocument/2006/relationships/notesMaster" Target="/ppt/notesMasters/notesMaster1.xml" Id="R9a66cb7fb91244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ea5e998ff14686" /><Relationship Type="http://schemas.openxmlformats.org/officeDocument/2006/relationships/notesMaster" Target="/ppt/notesMasters/notesMaster1.xml" Id="Ra84e10712ae1436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e69c1735c11457c" /><Relationship Type="http://schemas.openxmlformats.org/officeDocument/2006/relationships/notesMaster" Target="/ppt/notesMasters/notesMaster1.xml" Id="Ra0359c16735d41f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43b379ea2af4287" /><Relationship Type="http://schemas.openxmlformats.org/officeDocument/2006/relationships/notesMaster" Target="/ppt/notesMasters/notesMaster1.xml" Id="R09cfa505a59142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c4f5f969daf4664" /><Relationship Type="http://schemas.openxmlformats.org/officeDocument/2006/relationships/notesMaster" Target="/ppt/notesMasters/notesMaster1.xml" Id="R7781b046812b4cf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c7759160d534970" /><Relationship Type="http://schemas.openxmlformats.org/officeDocument/2006/relationships/notesMaster" Target="/ppt/notesMasters/notesMaster1.xml" Id="R8ad795eefb824d1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c8d5160ffe4bf1" /><Relationship Type="http://schemas.openxmlformats.org/officeDocument/2006/relationships/notesMaster" Target="/ppt/notesMasters/notesMaster1.xml" Id="R4229560892ea4ad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57e8b5f906c463e" /><Relationship Type="http://schemas.openxmlformats.org/officeDocument/2006/relationships/notesMaster" Target="/ppt/notesMasters/notesMaster1.xml" Id="R5c116739d77542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6d60e383fcb4ea0" /><Relationship Type="http://schemas.openxmlformats.org/officeDocument/2006/relationships/notesMaster" Target="/ppt/notesMasters/notesMaster1.xml" Id="Rd651857704d64a7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0ba787d83141a8" /><Relationship Type="http://schemas.openxmlformats.org/officeDocument/2006/relationships/notesMaster" Target="/ppt/notesMasters/notesMaster1.xml" Id="R7bde3010802443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cc772678cde4a9f" /><Relationship Type="http://schemas.openxmlformats.org/officeDocument/2006/relationships/notesMaster" Target="/ppt/notesMasters/notesMaster1.xml" Id="R40fa83cf21724f5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fe87ca68a5b44d0" /><Relationship Type="http://schemas.openxmlformats.org/officeDocument/2006/relationships/notesMaster" Target="/ppt/notesMasters/notesMaster1.xml" Id="R54ef4c882e9a445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0c2d95e9bb4804" /><Relationship Type="http://schemas.openxmlformats.org/officeDocument/2006/relationships/notesMaster" Target="/ppt/notesMasters/notesMaster1.xml" Id="Rbb79507561cc44c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c86bf73cf1f4722" /><Relationship Type="http://schemas.openxmlformats.org/officeDocument/2006/relationships/notesMaster" Target="/ppt/notesMasters/notesMaster1.xml" Id="R17ef0ee87c46448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e830575b804b65" /><Relationship Type="http://schemas.openxmlformats.org/officeDocument/2006/relationships/notesMaster" Target="/ppt/notesMasters/notesMaster1.xml" Id="R8f29d9692f6541c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19703102fd44766" /><Relationship Type="http://schemas.openxmlformats.org/officeDocument/2006/relationships/notesMaster" Target="/ppt/notesMasters/notesMaster1.xml" Id="R0e909aff8449467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de0d026ce2e463e" /><Relationship Type="http://schemas.openxmlformats.org/officeDocument/2006/relationships/notesMaster" Target="/ppt/notesMasters/notesMaster1.xml" Id="Rc4c0c028652c49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0620138858348b4" /><Relationship Type="http://schemas.openxmlformats.org/officeDocument/2006/relationships/notesMaster" Target="/ppt/notesMasters/notesMaster1.xml" Id="Rb727d76f417c479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2ff5ae778224235" /><Relationship Type="http://schemas.openxmlformats.org/officeDocument/2006/relationships/notesMaster" Target="/ppt/notesMasters/notesMaster1.xml" Id="R73f0750b268f4c4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910b73b18ce4a0a" /><Relationship Type="http://schemas.openxmlformats.org/officeDocument/2006/relationships/notesMaster" Target="/ppt/notesMasters/notesMaster1.xml" Id="R32ee7490f99d4c1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6b24a8789e2492f" /><Relationship Type="http://schemas.openxmlformats.org/officeDocument/2006/relationships/notesMaster" Target="/ppt/notesMasters/notesMaster1.xml" Id="R4a22e1d3697a461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dcaecc7b7ce4bc6" /><Relationship Type="http://schemas.openxmlformats.org/officeDocument/2006/relationships/notesMaster" Target="/ppt/notesMasters/notesMaster1.xml" Id="R3b3ff2430d7b46a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3ea28b7df7946ce" /><Relationship Type="http://schemas.openxmlformats.org/officeDocument/2006/relationships/notesMaster" Target="/ppt/notesMasters/notesMaster1.xml" Id="R8d4de825f7fd4ff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179e76d3f77491f" /><Relationship Type="http://schemas.openxmlformats.org/officeDocument/2006/relationships/notesMaster" Target="/ppt/notesMasters/notesMaster1.xml" Id="R4dab34395f47471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515e76c168645a4" /><Relationship Type="http://schemas.openxmlformats.org/officeDocument/2006/relationships/notesMaster" Target="/ppt/notesMasters/notesMaster1.xml" Id="Rd65c7974e0974d0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5646686e49849ac" /><Relationship Type="http://schemas.openxmlformats.org/officeDocument/2006/relationships/notesMaster" Target="/ppt/notesMasters/notesMaster1.xml" Id="Rb2e48b7ed2e444f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03ded586dc245e5" /><Relationship Type="http://schemas.openxmlformats.org/officeDocument/2006/relationships/notesMaster" Target="/ppt/notesMasters/notesMaster1.xml" Id="R710436d82eb84d0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2444f0da7a24280" /><Relationship Type="http://schemas.openxmlformats.org/officeDocument/2006/relationships/notesMaster" Target="/ppt/notesMasters/notesMaster1.xml" Id="R770544dae0804db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1106aa503e34992" /><Relationship Type="http://schemas.openxmlformats.org/officeDocument/2006/relationships/notesMaster" Target="/ppt/notesMasters/notesMaster1.xml" Id="Ra80890c7c3a74c2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0acc966372742fe" /><Relationship Type="http://schemas.openxmlformats.org/officeDocument/2006/relationships/notesMaster" Target="/ppt/notesMasters/notesMaster1.xml" Id="R16fdb38ee98f405f"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25fdee5e6644d1d" /><Relationship Type="http://schemas.openxmlformats.org/officeDocument/2006/relationships/notesMaster" Target="/ppt/notesMasters/notesMaster1.xml" Id="R8c7c7c067ebb491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67ee0c38c5d407d" /><Relationship Type="http://schemas.openxmlformats.org/officeDocument/2006/relationships/notesMaster" Target="/ppt/notesMasters/notesMaster1.xml" Id="R7a7e2362f84541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本次汇报对应 Cohen 等人 2020 年的胸片严重程度研究。内容连接 Part I 的复现与 Part II 的评估及扩展。主讲页为 1–27，28–39 为完整配置、参数和来源附录。图表数据来自已运行的实验，不是示意结果。</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老师要求先运行作者方法，再用课堂清单判断证据是否充分，最后比较替代方法。这里的三问对应本次汇报的逻辑。两个最低误差是探索性排行榜结果，后面会同时呈现训练内选模的误差。</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左侧两个真实影像来自本次固定队列，均有完整评分，且在后来保存的元数据中仍标注为 PA。病变范围和浑浊程度是两个连续影像评分。它们不能直接解释为 COVID 诊断、死亡风险或治疗获益。每例的评分是三位专家的均值。</a:t>
            </a:r>
          </a:p>
          <a:p xmlns:a="http://schemas.openxmlformats.org/drawingml/2006/main">
            <a:r>
              <a:t>Examples:</a:t>
            </a:r>
          </a:p>
          <a:p xmlns:a="http://schemas.openxmlformats.org/drawingml/2006/main">
            <a:r>
              <a:t>1-s2.0-S1684118220300682-main.pdf-002-a1.png</a:t>
            </a:r>
          </a:p>
          <a:p xmlns:a="http://schemas.openxmlformats.org/drawingml/2006/main">
            <a:r>
              <a:t>6C94A287-C059-46A0-8600-AFB95F4727B7.jpeg</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https://github.com/ieee8023/covid-chestxray-dataset/tree/196143d3dd32a2a43ad51d6891d460aaf690d741</a:t>
            </a:r>
          </a:p>
          <a:p xmlns:a="http://schemas.openxmlformats.org/drawingml/2006/main">
            <a:r>
              <a:t>https://github.com/mlmed/covid-severity/blob/master/covid-severity-scores.csv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原论文使用预训练 DenseNet，并不在 94 张评分影像上重新训练整个网络。高维池化特征有 1024 维，疾病输出有 18 维，进一步选 4 个或只选 Lung Opacity 一个输出。1+1 参数指最后的一元回归及截距，不是整套深度网络的参数量。输出使用 sigmoid 之前的 logits。</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https://github.com/mlmed/covid-severity</a:t>
            </a:r>
          </a:p>
          <a:p xmlns:a="http://schemas.openxmlformats.org/drawingml/2006/main">
            <a:r>
              <a:t>https://github.com/mlmed/torchxrayvision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图像和元数据来自 ieee8023/covid-chestxray-dataset 的固定提交 196143d3dd32a2a43ad51d6891d460aaf690d741。标签来自作者 covid-severity-scores.csv。后来元数据中 ciaa199.pdf-001-c.png 无匹配行，有 11 条 PA 标注变为 AP/AP Supine。用最新版再筛 PA 会得到不同队列。组员本地 metadata_2020.csv 未发布在仓库，因此无法确认其每一行的顺序和患者映射都与本次相同。</a:t>
            </a:r>
          </a:p>
          <a:p xmlns:a="http://schemas.openxmlformats.org/drawingml/2006/main">
            <a:r>
              <a:t/>
            </a:r>
          </a:p>
          <a:p xmlns:a="http://schemas.openxmlformats.org/drawingml/2006/main">
            <a:r>
              <a:t>Sources</a:t>
            </a:r>
          </a:p>
          <a:p xmlns:a="http://schemas.openxmlformats.org/drawingml/2006/main">
            <a:r>
              <a:t>https://github.com/ieee8023/covid-chestxray-dataset/tree/196143d3dd32a2a43ad51d6891d460aaf690d741</a:t>
            </a:r>
          </a:p>
          <a:p xmlns:a="http://schemas.openxmlformats.org/drawingml/2006/main">
            <a:r>
              <a:t>https://github.com/mlmed/covid-severity/blob/master/covid-severity-scores.csv</a:t>
            </a:r>
          </a:p>
          <a:p xmlns:a="http://schemas.openxmlformats.org/drawingml/2006/main">
            <a:r>
              <a:t>https://github.com/apothecary11/DSA5206-GROUP-PROJECT/tree/f2127e6b8f0ae84eef618a308adb657be0cb65c0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缺失数量按 94 条影像记录统计，不等于缺失患者数。年龄缺 25，性别缺 17，生存状态缺 62，时间偏移缺 16。影像、患者编号和两项评分均完整，因此可以做按患者划分的影像回归。没有把未知生存状态当成存活，也没有填造临床数值。208 张扩展可视化影像中仅 94 张有专家评分，另外 114 张未评分不是丢图。</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https://github.com/ieee8023/covid-chestxray-dataset/tree/196143d3dd32a2a43ad51d6891d460aaf690d741</a:t>
            </a:r>
          </a:p>
          <a:p xmlns:a="http://schemas.openxmlformats.org/drawingml/2006/main">
            <a:r>
              <a:t>https://github.com/mlmed/covid-severity/blob/master/covid-severity-scores.csv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三列分别是原论文数值、本次原方法重跑，以及组员 notebook 已保存的输出，不能混成一组实验。OLS 1 的 extent 和 OLS 4 的 opacity 与论文接近。18 维 opacity 与基线仍存在差异。公共队列、权重、预处理、logit 定义、数据顺序和患者划分都可能贡献差异，目前没有逐项排除所有来源。Group notebook reviewed commit f2127e6b8f0ae84eef618a308adb657be0cb65c0。</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https://github.com/apothecary11/DSA5206-GROUP-PROJECT/tree/f2127e6b8f0ae84eef618a308adb657be0cb65c0</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这里引用组员原有 Figure 3 和 Figure 4 复现图，以讨论 Part I 的还原程度，不是新增模型实验的图。论文写 208 张用于可视化，作者公开 notebook 的已保存输出为 199 张。t-SNE 布局对样本和参数敏感，旋转或镜像本身不代表模型失效。梯度图还受个例、裁剪、归一化和平滑影响。原文所述 5×5 核与代码 Gaussian sigma=5 也不是同一规格。我们只能把这些图称为近似可视化复现，不能用其外观证明临床有效性。</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https://github.com/apothecary11/DSA5206-GROUP-PROJECT/tree/f2127e6b8f0ae84eef618a308adb657be0cb65c0</a:t>
            </a:r>
          </a:p>
          <a:p xmlns:a="http://schemas.openxmlformats.org/drawingml/2006/main">
            <a:r>
              <a:t>https://github.com/mlmed/covid-severity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Is the data collection approved?</a:t>
            </a:r>
          </a:p>
          <a:p xmlns:a="http://schemas.openxmlformats.org/drawingml/2006/main">
            <a:r>
              <a:t>论文报告伦理批准 CERSES-20-058-D，以及知情同意已取得或获豁免。应评价为伦理信息已报告，不能因为没有看到试验注册号就断言研究未获伦理批准。</a:t>
            </a:r>
          </a:p>
          <a:p xmlns:a="http://schemas.openxmlformats.org/drawingml/2006/main">
            <a:r>
              <a:t>Evidence: The Human Subjects statement reports approval CERSES-20-058-D and states that consent was obtained or waived. Images were collected from existing public sources and de-identified before analysis. [1, pp. 2 and 7]</a:t>
            </a:r>
          </a:p>
          <a:p xmlns:a="http://schemas.openxmlformats.org/drawingml/2006/main">
            <a:r>
              <a:t>Assessment: This supports ethical oversight of the retrospective study. Public availability alone would not establish permission for every secondary use. No prospective study registration is reported; that reporting gap should not be treated as evidence that the study lacked ethics approval.</a:t>
            </a:r>
          </a:p>
          <a:p xmlns:a="http://schemas.openxmlformats.org/drawingml/2006/main">
            <a:r>
              <a:t>Improvement: Retain the approval identifier, data attribution and applicable source terms. A future prospective clinical evaluation would require an appropriate protocol and approvals.</a:t>
            </a:r>
          </a:p>
          <a:p xmlns:a="http://schemas.openxmlformats.org/drawingml/2006/main">
            <a:r>
              <a:t/>
            </a:r>
          </a:p>
          <a:p xmlns:a="http://schemas.openxmlformats.org/drawingml/2006/main">
            <a:r>
              <a:t>2. Is the data collected properly?</a:t>
            </a:r>
          </a:p>
          <a:p xmlns:a="http://schemas.openxmlformats.org/drawingml/2006/main">
            <a:r>
              <a:t>94 张影像来自公开病例集合，来源国际化，但属于便利样本。多来源不等于有代表性的多中心验证，也不能保证能够推广到日常连续就诊患者。</a:t>
            </a:r>
          </a:p>
          <a:p xmlns:a="http://schemas.openxmlformats.org/drawingml/2006/main">
            <a:r>
              <a:t>Evidence: The study uses 94 PA chest radiographs from a public collection, sourced internationally from December 2019 to March 2020. Patients were reported COVID-19 positive, mostly by RT-PCR. [1, p. 2, Section 2.1]</a:t>
            </a:r>
          </a:p>
          <a:p xmlns:a="http://schemas.openxmlformats.org/drawingml/2006/main">
            <a:r>
              <a:t>Assessment: The collection is a small convenience sample assembled partly from publications and image-sharing platforms, rather than a defined consecutive clinical cohort. International sources provide diversity but do not establish representative sampling or independent external validation. Exclusion rules and the patient flow are insufficiently detailed.</a:t>
            </a:r>
          </a:p>
          <a:p xmlns:a="http://schemas.openxmlformats.org/drawingml/2006/main">
            <a:r>
              <a:t>Improvement: Publish a case flow, patient-level denominators, acquisition settings and inclusion criteria. Validate on consecutive cases from hospitals not involved in model development.</a:t>
            </a:r>
          </a:p>
          <a:p xmlns:a="http://schemas.openxmlformats.org/drawingml/2006/main">
            <a:r>
              <a:t/>
            </a:r>
          </a:p>
          <a:p xmlns:a="http://schemas.openxmlformats.org/drawingml/2006/main">
            <a:r>
              <a:t>3. Is the data of good quality?</a:t>
            </a:r>
          </a:p>
          <a:p xmlns:a="http://schemas.openxmlformats.org/drawingml/2006/main">
            <a:r>
              <a:t>专家评分可靠性是优点，但 opacity 的评分一致性较低。我们的历史快照中评分完整，年龄缺失 25 条、性别缺失 17 条，因此不能把无缺失泛化到全部临床资料。这些缺失变量未用于本次模型。</a:t>
            </a:r>
          </a:p>
          <a:p xmlns:a="http://schemas.openxmlformats.org/drawingml/2006/main">
            <a:r>
              <a:t>Evidence: Three blinded experts, including two experienced chest radiologists, scored geographic extent and opacity. Fleiss' kappa was 0.71 for extent and 0.45 for opacity. The paper states that there was no missing data. [1, p. 2, Sections 2.1 and 2.2]</a:t>
            </a:r>
          </a:p>
          <a:p xmlns:a="http://schemas.openxmlformats.org/drawingml/2006/main">
            <a:r>
              <a:t>Assessment: Expert review provides a defensible reference for radiographic severity, although opacity labels show appreciable reader disagreement. A mean expert score is not a clinical outcome. In our fixed public snapshot all 94 targets are present, but age is missing for 25 image records and sex for 17; the paper's missingness statement should therefore not be generalized to all clinical metadata.</a:t>
            </a:r>
          </a:p>
          <a:p xmlns:a="http://schemas.openxmlformats.org/drawingml/2006/main">
            <a:r>
              <a:t>Improvement: Report missingness separately for targets and covariates, distinguish images from patients, inspect duplicates and image artifacts, and account for reader variability when interpreting model error.</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DSA5206 Lecture 9, p. 11 and pp. 14–21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 How is data preprocessed?</a:t>
            </a:r>
          </a:p>
          <a:p xmlns:a="http://schemas.openxmlformats.org/drawingml/2006/main">
            <a:r>
              <a:t>中心裁剪、224×224 缩放和像素归一化描述清楚。潜在问题是外周肺野被裁掉或细节损失。新增标准化或 PCA 时，应仅在训练折拟合；本实验已遵守这一点。</a:t>
            </a:r>
          </a:p>
          <a:p xmlns:a="http://schemas.openxmlformats.org/drawingml/2006/main">
            <a:r>
              <a:t>Evidence: Images are center-cropped where needed, resized to 224 by 224 pixels and scaled to approximately -1024 to 1024. The pretrained network is frozen before generating features for the regression models. [1, pp. 2-3, Sections 2.4 and 2.5]</a:t>
            </a:r>
          </a:p>
          <a:p xmlns:a="http://schemas.openxmlformats.org/drawingml/2006/main">
            <a:r>
              <a:t>Assessment: This gives a reproducible basic pipeline. However, center-cropping can remove peripheral anatomy, and resizing can obscure small findings. The study does not establish robustness to these choices, acquisition artifacts or differences in radiographic views. Frozen feature extraction does not itself require fitting on the COVID-19 test labels.</a:t>
            </a:r>
          </a:p>
          <a:p xmlns:a="http://schemas.openxmlformats.org/drawingml/2006/main">
            <a:r>
              <a:t>Improvement: Record implementation versions and test clinically plausible preprocessing changes. Any fitted scaler, PCA or feature selector introduced in an extension must be fitted within training folds only.</a:t>
            </a:r>
          </a:p>
          <a:p xmlns:a="http://schemas.openxmlformats.org/drawingml/2006/main">
            <a:r>
              <a:t/>
            </a:r>
          </a:p>
          <a:p xmlns:a="http://schemas.openxmlformats.org/drawingml/2006/main">
            <a:r>
              <a:t>5. What ML models are used?</a:t>
            </a:r>
          </a:p>
          <a:p xmlns:a="http://schemas.openxmlformats.org/drawingml/2006/main">
            <a:r>
              <a:t>方法是冻结 DenseNet 加线性回归，并非用 94 张图重新训练大型网络。1+1 只表示新拟合回归头的参数。高维普通回归较差，不足以证明高维特征本身没有价值。</a:t>
            </a:r>
          </a:p>
          <a:p xmlns:a="http://schemas.openxmlformats.org/drawingml/2006/main">
            <a:r>
              <a:t>Evidence: DenseNet was pretrained on 88,079 non-COVID-19 images from seven datasets. Frozen representations of 1024, 18, 4 or 1 dimensions feed ordinary linear regression, alongside an intercept-only baseline. The task outputs are pre-sigmoid logits. [1, pp. 2-4 and Figure 1]</a:t>
            </a:r>
          </a:p>
          <a:p xmlns:a="http://schemas.openxmlformats.org/drawingml/2006/main">
            <a:r>
              <a:t>Assessment: Learning only a small regression head is appropriate for scarce labels. The reported 1+1 parameter count describes the new regression head, not the whole pretrained network. Comparing unregularized high-dimensional regression with a single feature does not establish that high-dimensional representations contain less useful information.</a:t>
            </a:r>
          </a:p>
          <a:p xmlns:a="http://schemas.openxmlformats.org/drawingml/2006/main">
            <a:r>
              <a:t>Improvement: Compare regularized regressors on the same frozen features and patient splits. We test Ridge regression and RBF support vector regression, with training-only hyperparameter selection.</a:t>
            </a:r>
          </a:p>
          <a:p xmlns:a="http://schemas.openxmlformats.org/drawingml/2006/main">
            <a:r>
              <a:t/>
            </a:r>
          </a:p>
          <a:p xmlns:a="http://schemas.openxmlformats.org/drawingml/2006/main">
            <a:r>
              <a:t>6. How is the data split?</a:t>
            </a:r>
          </a:p>
          <a:p xmlns:a="http://schemas.openxmlformats.org/drawingml/2006/main">
            <a:r>
              <a:t>同一患者全部影像留在同一侧，能够避免最直接的患者泄漏。50 次测试集会重叠，不能当作 50 个独立样本。本实验保存划分，并在每个训练集内用五折患者分组验证选参。</a:t>
            </a:r>
          </a:p>
          <a:p xmlns:a="http://schemas.openxmlformats.org/drawingml/2006/main">
            <a:r>
              <a:t>Evidence: The 94 images are repeatedly divided approximately 50/50, keeping all timepoints of the same patient together. Table 1 summarizes 50 random train/test splits. [1, pp. 3-4, Section 2.5 and Table 1]</a:t>
            </a:r>
          </a:p>
          <a:p xmlns:a="http://schemas.openxmlformats.org/drawingml/2006/main">
            <a:r>
              <a:t>Assessment: Patient grouping addresses direct leakage between repeated scans. The image counts need not be exactly balanced because the allocation is by patients. Repeated test sets overlap, so their results are dependent. Ranking feature configurations on the same repeated test sets also leaves uncertainty about model-selection optimism.</a:t>
            </a:r>
          </a:p>
          <a:p xmlns:a="http://schemas.openxmlformats.org/drawingml/2006/main">
            <a:r>
              <a:t>Improvement: Save patient split manifests, reserve test predictions for evaluation and tune alternatives using nested grouped validation. For deployment claims, add hospital-level or temporal external testing.</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DSA5206 Lecture 9, p. 11 and pp. 14–21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 Are the metrics appropriate?</a:t>
            </a:r>
          </a:p>
          <a:p xmlns:a="http://schemas.openxmlformats.org/drawingml/2006/main">
            <a:r>
              <a:t>MAE、MSE、R² 和相关系数适合回归任务；相关系数 0.8 不能写成准确率 80%。50 次划分的标准差不是置信区间，还需检查高评分低估和预测校准。</a:t>
            </a:r>
          </a:p>
          <a:p xmlns:a="http://schemas.openxmlformats.org/drawingml/2006/main">
            <a:r>
              <a:t>Evidence: Table 1 reports MAE, MSE, R-squared and Pearson correlation as means and standard deviations over 50 splits. Figure 2 compares predictions with expert scores and shows systematic overestimation at low scores and underestimation at high scores. [1, p. 4]</a:t>
            </a:r>
          </a:p>
          <a:p xmlns:a="http://schemas.openxmlformats.org/drawingml/2006/main">
            <a:r>
              <a:t>Assessment: MAE is interpretable in score units and MSE emphasizes extreme errors. Pearson correlation is not accuracy and can remain high despite miscalibration. Split standard deviations are not confidence intervals. The clinical significance of a one-point error is not established, and subgroup performance and prediction intervals are absent.</a:t>
            </a:r>
          </a:p>
          <a:p xmlns:a="http://schemas.openxmlformats.org/drawingml/2006/main">
            <a:r>
              <a:t>Improvement: Use held-out MAE as the primary endpoint, retain complementary metrics and inspect score-stratified signed errors. State the dependence of repeated splits and avoid claiming statistical superiority from a small mean difference alone.</a:t>
            </a:r>
          </a:p>
          <a:p xmlns:a="http://schemas.openxmlformats.org/drawingml/2006/main">
            <a:r>
              <a:t/>
            </a:r>
          </a:p>
          <a:p xmlns:a="http://schemas.openxmlformats.org/drawingml/2006/main">
            <a:r>
              <a:t>8. Are the results explainable?</a:t>
            </a:r>
          </a:p>
          <a:p xmlns:a="http://schemas.openxmlformats.org/drawingml/2006/main">
            <a:r>
              <a:t>热图和 t-SNE 提供直观解释，但没有验证解释忠实性。热图好看不能证明模型利用了真正病灶；生存状态在 t-SNE 上聚集，也不能证明死亡风险预测有效。</a:t>
            </a:r>
          </a:p>
          <a:p xmlns:a="http://schemas.openxmlformats.org/drawingml/2006/main">
            <a:r>
              <a:t>Evidence: Figure 4 displays smoothed input-gradient saliency for selected correct and incorrect predictions; Figure 3 visualizes four-dimensional features with t-SNE and survival markers. The authors acknowledge limitations of saliency maps. [1, pp. 3, 5-6]</a:t>
            </a:r>
          </a:p>
          <a:p xmlns:a="http://schemas.openxmlformats.org/drawingml/2006/main">
            <a:r>
              <a:t>Assessment: These plots help inspect plausibility, but visually plausible heatmaps do not prove causal reliance on pathology. The t-SNE image is exploratory and does not validate outcome prediction. The public code uses squared gradients with Gaussian sigma 5, whereas the paper describes a 5 by 5 kernel; those are different specifications.</a:t>
            </a:r>
          </a:p>
          <a:p xmlns:a="http://schemas.openxmlformats.org/drawingml/2006/main">
            <a:r>
              <a:t>Improvement: Disclose case-selection and smoothing rules, test image-region occlusion and model randomization, and measure sensitivity to text or borders. Avoid interpreting t-SNE clusters as proof of mortality prediction.</a:t>
            </a:r>
          </a:p>
          <a:p xmlns:a="http://schemas.openxmlformats.org/drawingml/2006/main">
            <a:r>
              <a:t/>
            </a:r>
          </a:p>
          <a:p xmlns:a="http://schemas.openxmlformats.org/drawingml/2006/main">
            <a:r>
              <a:t>9. Are the results reproducible and generalizable?</a:t>
            </a:r>
          </a:p>
          <a:p xmlns:a="http://schemas.openxmlformats.org/drawingml/2006/main">
            <a:r>
              <a:t>公开数据和代码是优点，但历史 metadata 与软件版本变化阻碍完全一致复刻。本次已固定数据提交、权重校验值和划分。内部数值接近不能替代独立医院或时间队列验证。</a:t>
            </a:r>
          </a:p>
          <a:p xmlns:a="http://schemas.openxmlformats.org/drawingml/2006/main">
            <a:r>
              <a:t>Evidence: The authors release data, severity labels, code and model resources. The group notebook reproduces the broad Table 1 ranking. The paper calls for new cohorts with the same scoring system. [1, pp. 1 and 6; 4-5]</a:t>
            </a:r>
          </a:p>
          <a:p xmlns:a="http://schemas.openxmlformats.org/drawingml/2006/main">
            <a:r>
              <a:t>Assessment: Open resources enable verification, but exact recreation is affected by changing metadata and software. The paper describes 208 visualization images while the supplied author notebook stores 199. The group repository does not include its custom metadata_2020.csv or a pinned environment. None of these facts establishes performance on a genuinely new hospital cohort.</a:t>
            </a:r>
          </a:p>
          <a:p xmlns:a="http://schemas.openxmlformats.org/drawingml/2006/main">
            <a:r>
              <a:t>Improvement: Our experiment fixes a public 2020 commit, records checksums, caches features and publishes split manifests and versions. External validation remains a required next step; close internal reproduction does not demonstrate it.</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DSA5206 Lecture 9, p. 11 and pp. 14–21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 Is there an appropriate clinical context?</a:t>
            </a:r>
          </a:p>
          <a:p xmlns:a="http://schemas.openxmlformats.org/drawingml/2006/main">
            <a:r>
              <a:t>自动量化胸片病变有临床意义，但评分接近专家不等于改善治疗或降低死亡率。研究使用 PA 片，不能直接推及 ICU 常见的便携 AP 片。</a:t>
            </a:r>
          </a:p>
          <a:p xmlns:a="http://schemas.openxmlformats.org/drawingml/2006/main">
            <a:r>
              <a:t>Evidence: The paper proposes assisting serial monitoring and escalation or de-escalation of care, especially in intensive care. Its supervised targets are radiographic extent and opacity. The discussion acknowledges uncertainty about their relationship with functional and clinical outcomes. [1, pp. 1 and 6]</a:t>
            </a:r>
          </a:p>
          <a:p xmlns:a="http://schemas.openxmlformats.org/drawingml/2006/main">
            <a:r>
              <a:t>Assessment: Quantitative CXR scoring is a clinically understandable research task. However, agreement with radiologists' scores does not show improved management, reduced mortality or safe triage. Restriction to PA images also limits direct applicability to portable AP examinations in intensive care.</a:t>
            </a:r>
          </a:p>
          <a:p xmlns:a="http://schemas.openxmlformats.org/drawingml/2006/main">
            <a:r>
              <a:t>Improvement: Define intended users, acquisition settings and decision points. Evaluate the added value over expert scoring and clinical variables in prospective workflows before claiming clinical benefit.</a:t>
            </a:r>
          </a:p>
          <a:p xmlns:a="http://schemas.openxmlformats.org/drawingml/2006/main">
            <a:r>
              <a:t/>
            </a:r>
          </a:p>
          <a:p xmlns:a="http://schemas.openxmlformats.org/drawingml/2006/main">
            <a:r>
              <a:t>11. What are its limitations?</a:t>
            </a:r>
          </a:p>
          <a:p xmlns:a="http://schemas.openxmlformats.org/drawingml/2006/main">
            <a:r>
              <a:t>主要限制包括小样本、便利抽样、标注不一致、外部验证缺失及个体不确定性未知。两个分数都来自同一个特征，也限制了它们独立变化的表达能力。新增模型实验只能解决部分方法学问题。</a:t>
            </a:r>
          </a:p>
          <a:p xmlns:a="http://schemas.openxmlformats.org/drawingml/2006/main">
            <a:r>
              <a:t>Evidence: The discussion identifies small sample size, sampling bias, difficulty obtaining labels, the need for new cohorts and uncertain linkage to clinical outcomes. Figure 2 illustrates errors at the extremes. [1, pp. 4 and 6]</a:t>
            </a:r>
          </a:p>
          <a:p xmlns:a="http://schemas.openxmlformats.org/drawingml/2006/main">
            <a:r>
              <a:t>Assessment: Additional concerns are limited patient numbers, reader disagreement, incomplete demographic reporting, lack of independent external testing, no formal uncertainty estimates for individual predictions and limited alternative regressors. For one-feature models both predicted scores are affine functions of the same scalar and cannot vary independently.</a:t>
            </a:r>
          </a:p>
          <a:p xmlns:a="http://schemas.openxmlformats.org/drawingml/2006/main">
            <a:r>
              <a:t>Improvement: Prioritize external validation, patient-level reporting and error analysis by score and acquisition setting. Our alternative-model comparison addresses only one limitation: the narrow regression comparison; it does not resolve the clinical evidence gaps.</a:t>
            </a:r>
          </a:p>
          <a:p xmlns:a="http://schemas.openxmlformats.org/drawingml/2006/main">
            <a:r>
              <a:t/>
            </a:r>
          </a:p>
          <a:p xmlns:a="http://schemas.openxmlformats.org/drawingml/2006/main">
            <a:r>
              <a:t>12. Is the method ready for deployment?</a:t>
            </a:r>
          </a:p>
          <a:p xmlns:a="http://schemas.openxmlformats.org/drawingml/2006/main">
            <a:r>
              <a:t>结论应为有价值的回顾性概念验证，但尚未证明可临床部署。后续需要外部和前瞻性验证、人机协作评价、失败处理及持续监测，不能据现有结果直接自动决定治疗。</a:t>
            </a:r>
          </a:p>
          <a:p xmlns:a="http://schemas.openxmlformats.org/drawingml/2006/main">
            <a:r>
              <a:t>Evidence: The authors caution against premature implementation and state that diagnostic performance requires appropriate clinical evaluation. The study is a retrospective proof of concept without a prospective workflow or clinical impact trial. [1, p. 6, Discussion]</a:t>
            </a:r>
          </a:p>
          <a:p xmlns:a="http://schemas.openxmlformats.org/drawingml/2006/main">
            <a:r>
              <a:t>Assessment: The evidence supports a research tool for approximating expert radiographic scores. It does not establish safe autonomous decisions, stable performance across hospitals and devices, or effective human-AI use. Output values can fall outside the score range, and the implications of severe underestimation have not been resolved.</a:t>
            </a:r>
          </a:p>
          <a:p xmlns:a="http://schemas.openxmlformats.org/drawingml/2006/main">
            <a:r>
              <a:t>Improvement: Require independent multicenter and temporal validation, prospective human-AI evaluation, uncertainty and failure handling, monitoring for drift and a defined accountable clinical workflow before routine use.</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DSA5206 Lecture 9, p. 11 and pp. 14–21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第一轮只在相同 DenseNet 特征后换 Ridge 与 SVR，不能判断医学影像表示近年的进展。第二轮同时加入高维稳定性处理和三个公开编码器。所有新配置都是完整流程的比较，不把分数截断或输入分辨率变化带来的收益全部归给模型架构。扩展设计参考了初始实验和已诊断的失败，所以属于探索性分析。</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https://doi.org/10.7759/cureus.9448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使用公开权重，不重新训练编码器，也不声称重跑了这些基础模型的完整预训练论文。BioViL 使用 512 缩放、480 中心裁剪，BioViL-T 使用 512 缩放、448 裁剪且仅输入当前影像。RAD-DINO 使用公开模型卡配套的 518 像素处理器和 CLS token，公开 checkpoint 与原论文含私有数据的版本不同。各自原生预处理也不同，因此收益属于编码器、预处理和回归的完整流程。</a:t>
            </a:r>
          </a:p>
          <a:p xmlns:a="http://schemas.openxmlformats.org/drawingml/2006/main">
            <a:r>
              <a:t/>
            </a:r>
          </a:p>
          <a:p xmlns:a="http://schemas.openxmlformats.org/drawingml/2006/main">
            <a:r>
              <a:t>Sources</a:t>
            </a:r>
          </a:p>
          <a:p xmlns:a="http://schemas.openxmlformats.org/drawingml/2006/main">
            <a:r>
              <a:t>https://arxiv.org/abs/2204.09817</a:t>
            </a:r>
          </a:p>
          <a:p xmlns:a="http://schemas.openxmlformats.org/drawingml/2006/main">
            <a:r>
              <a:t>https://arxiv.org/abs/2301.04558</a:t>
            </a:r>
          </a:p>
          <a:p xmlns:a="http://schemas.openxmlformats.org/drawingml/2006/main">
            <a:r>
              <a:t>https://doi.org/10.1038/s42256-024-00965-w</a:t>
            </a:r>
          </a:p>
          <a:p xmlns:a="http://schemas.openxmlformats.org/drawingml/2006/main">
            <a:r>
              <a:t>https://huggingface.co/microsoft/rad-dino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新增配置数为 4+6+5+4+4+4=27。连同第一轮 9 组共有 36 组实际配置。不同的维度、缩放和回归头属于不同配置，不把它们称作 36 种独立模型架构。附录逐行列出每个配置的两项 MAE 和 R²，参数网格也完整保留。</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外层重复 50 次按患者分组的半数训练、半数测试划分，所有方法共享同一划分。内层在每轮训练患者中做五折 GroupKFold，选择参数和模型家族。Training selected OLS 从 bounded OLS 1/4 中选，modern 从 12 个现代编码器配置中选，all 从 27 个新增配置中选。排行榜冠军是看到外层结果后观察到的最佳配置，因此另外标为探索性。扩展在初始实验之后设计，嵌套选模不能把重复研究同一队列变成独立外部验证。</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https://scikit-learn.org/1.5/auto_examples/model_selection/plot_nested_cross_validation_iris.html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Geographic Extent。观察到的最佳现代模型是 BioViL PCA ridge，平均 MAE 0.763 ± 0.073。比较对象 Bounded OLS 1 已加相同分数范围约束，以分离简单截断的收益。原论文方法的重跑 raw MAE 也单列。最低数字来自完整排行榜的观察性排名，不能当作已独立验证的唯一最佳模型。Modern selector 的每轮模型选择仅用训练内验证。</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https://doi.org/10.7759/cureus.9448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Opacity。观察到的最佳现代模型是 BioViL-T PCA ridge，平均 MAE 0.662 ± 0.058。比较对象 Bounded OLS 4 已加相同分数范围约束，以分离简单截断的收益。原论文方法的重跑 raw MAE 也单列。最低数字来自完整排行榜的观察性排名，不能当作已独立验证的唯一最佳模型。Modern selector 的每轮模型选择仅用训练内验证。</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https://doi.org/10.7759/cureus.9448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这里比较观察到的冠军与真正训练内选模程序。对于 opacity，只在现代编码器中选择得到 0.701，而在所有 27 个新增配置中选择得到 0.743，几乎与 bounded OLS 的 0.745 持平。更多候选方法增加了内层排名的不确定性。这一结果要保留，不能只展示事后最好的 0.662。Extent 选模结果仍明显优于原参考，但也高于事后最好的 0.763。</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https://scikit-learn.org/1.5/auto_examples/model_selection/plot_nested_cross_validation_iris.html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胜率表示相同外层测试患者上替代方法的 MAE 更低的比例。Extent 最佳候选 50 次均优于 bounded OLS 1，但这些分区重复使用患者，不能将 50/50 当成 50 个独立试验来做显著性结论。Opacity 的稳定性较弱，尤其全候选选模只在一半分区胜出。右表给每轮 MAE 差值的中位数，负数有利于替代方法。全部四分位数和条件 bootstrap 结果在数据文件中。</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第一轮标准化 Ridge 1024 在 seed 27 对 ciaa199.pdf-001-c.png 预测 extent=-169.902。一个训练中近乎常量的特征在测试中偏移，标准化后放大约 46990 倍。独立 Cholesky 与 SVD 求解结果差小于 1e-12，因此不是简单更换求解器能消除的问题。新增无缩放、训练内方差阈值 1e-6 和 PCA 流程均保留原失败作为对照，同时采用分数范围约束，因此不能把全部改善只归给过滤步骤。设计受已观察到的失败启发，属于探索性修订。</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每个点是一张影像，共 94 张。纵轴先对这张影像在所有被留出测试的轮次中求平均，只用于可视化重复预测行为，不能当成一套单一训练模型在独立新测试集上的预测。虚线是预测等于专家评分。Opacity 点更分散，而且高分处仍有低估。这里只比较影像评分，不把它扩展到病死率或治疗效果。</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这里画平均有符号误差，负值代表低估。新特征减轻了高分影像的偏差，但未消除。Extent 高分 MAE 从 1.498 降为 0.678，而 opacity 高分 MAE 仅从 0.808 降为 0.777，总体误差的相对改善并不等于高分组同样改善。探索性高分标准为 extent≥6（18张）和 opacity≥4（22张），不是经临床验证的重症阈值。</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五折外层患者验证中，每位患者只进入一次测试折，汇总 94 张影像的唯一外层预测，训练患者比例约为 80%，比主实验的半数训练更多。BioViL PCA extent pooled MAE 为 0.742；BioViL-T projected SVR 的 opacity pooled MAE 为 0.624，低于主实验排行榜最佳 PCA Ridge 的 0.668。结果更支持 BioViL 表示对本任务有帮助，而不是所有条件下同一个回归配置都最佳。训练内 modern/all 选择在本设置中均约 0.754 和 0.658。此为同队列敏感性分析，不是外部验证。</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数据支持的是本队列上的完整特征提取和回归流程收益。不能单凭结果断言图文预训练天然优于图像自监督，也不能说 Transformer 不适合胸片。预训练数据、目标、投影和输入预处理同时不同。128 维对齐投影可能丢掉对连续严重程度有用的信息，这只是待检验机制。原方法少量病理输出本身已与评分接近，所以是值得保留的强参考。</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https://arxiv.org/abs/2204.09817</a:t>
            </a:r>
          </a:p>
          <a:p xmlns:a="http://schemas.openxmlformats.org/drawingml/2006/main">
            <a:r>
              <a:t>https://arxiv.org/abs/2301.04558</a:t>
            </a:r>
          </a:p>
          <a:p xmlns:a="http://schemas.openxmlformats.org/drawingml/2006/main">
            <a:r>
              <a:t>https://doi.org/10.1038/s42256-024-00965-w</a:t>
            </a:r>
          </a:p>
          <a:p xmlns:a="http://schemas.openxmlformats.org/drawingml/2006/main">
            <a:r>
              <a:t>https://huggingface.co/microsoft/rad-dino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以上是尚未运行或尚未解决的下一步，不混入已实现优化。新医院队列优先于继续在同一批 65 位患者上搜索。由于后来 11 条 view 标注变化，按修订元数据筛出的 PA 子集值得单独敏感性验证，但本次未做。也未微调整个编码器、验证临床结局、完成所有预训练影像的像素级成员审计或开展前瞻性工作流试验。</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https://doi.org/10.7759/cureus.9448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结论分成两层：原论文低维方法的主要定量结果可较好复现，但数据、解释和部署证据有限；扩展比较中 BioViL 系列降低了内部评分误差，病变范围的改善较稳定。两个最低值属于观察到的最佳配置，并同时有训练内选模、失败保留和五折敏感性结果作为限定。讲完本页后可结束主讲，后续 12 页为完整附录。</a:t>
            </a:r>
          </a:p>
          <a:p xmlns:a="http://schemas.openxmlformats.org/drawingml/2006/main">
            <a:r>
              <a:t/>
            </a:r>
          </a:p>
          <a:p xmlns:a="http://schemas.openxmlformats.org/drawingml/2006/main">
            <a:r>
              <a:t>Sources</a:t>
            </a:r>
          </a:p>
          <a:p xmlns:a="http://schemas.openxmlformats.org/drawingml/2006/main">
            <a:r>
              <a:t>https://github.com/ModaYoung/DSA5206</a:t>
            </a:r>
          </a:p>
          <a:p xmlns:a="http://schemas.openxmlformats.org/drawingml/2006/main">
            <a:r>
              <a:t>https://doi.org/10.7759/cureus.9448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附录提供全部配置、互补指标、超参数和来源，便于答辩追问。配置数与训练次数在单独审计页列明。</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本表保留所有配置，数字是 50 次主实验划分的均值和 SD。R² 为各划分 R² 的均值，可能为负。第一轮未截断，新实验全部采用已知分数范围，同时保留原始预测。配置的参数在各训练集内部选择，不是固定为一个事后最优值。完整的 MSE、Pearson、患者加权误差、预测和所选参数都在仓库 results/expanded/ 与原始 results/ 中。</a:t>
            </a:r>
          </a:p>
          <a:p xmlns:a="http://schemas.openxmlformats.org/drawingml/2006/main">
            <a:r>
              <a:t>Configurations:</a:t>
            </a:r>
          </a:p>
          <a:p xmlns:a="http://schemas.openxmlformats.org/drawingml/2006/main">
            <a:r>
              <a:t>Mean baseline</a:t>
            </a:r>
          </a:p>
          <a:p xmlns:a="http://schemas.openxmlformats.org/drawingml/2006/main">
            <a:r>
              <a:t>Published OLS 1</a:t>
            </a:r>
          </a:p>
          <a:p xmlns:a="http://schemas.openxmlformats.org/drawingml/2006/main">
            <a:r>
              <a:t>Published OLS 4</a:t>
            </a:r>
          </a:p>
          <a:p xmlns:a="http://schemas.openxmlformats.org/drawingml/2006/main">
            <a:r>
              <a:t>Published OLS 18</a:t>
            </a:r>
          </a:p>
          <a:p xmlns:a="http://schemas.openxmlformats.org/drawingml/2006/main">
            <a:r>
              <a:t>Published OLS 1024</a:t>
            </a:r>
          </a:p>
          <a:p xmlns:a="http://schemas.openxmlformats.org/drawingml/2006/main">
            <a:r>
              <a:t>Ridge 4</a:t>
            </a:r>
          </a:p>
          <a:p xmlns:a="http://schemas.openxmlformats.org/drawingml/2006/main">
            <a:r>
              <a:t>Ridge 18</a:t>
            </a:r>
          </a:p>
          <a:p xmlns:a="http://schemas.openxmlformats.org/drawingml/2006/main">
            <a:r>
              <a:t>Ridge 1024</a:t>
            </a:r>
          </a:p>
          <a:p xmlns:a="http://schemas.openxmlformats.org/drawingml/2006/main">
            <a:r>
              <a:t>RBF SVR 4</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本表保留所有配置，数字是 50 次主实验划分的均值和 SD。R² 为各划分 R² 的均值，可能为负。第一轮未截断，新实验全部采用已知分数范围，同时保留原始预测。配置的参数在各训练集内部选择，不是固定为一个事后最优值。完整的 MSE、Pearson、患者加权误差、预测和所选参数都在仓库 results/expanded/ 与原始 results/ 中。</a:t>
            </a:r>
          </a:p>
          <a:p xmlns:a="http://schemas.openxmlformats.org/drawingml/2006/main">
            <a:r>
              <a:t>Configurations:</a:t>
            </a:r>
          </a:p>
          <a:p xmlns:a="http://schemas.openxmlformats.org/drawingml/2006/main">
            <a:r>
              <a:t>Bounded OLS 1</a:t>
            </a:r>
          </a:p>
          <a:p xmlns:a="http://schemas.openxmlformats.org/drawingml/2006/main">
            <a:r>
              <a:t>Bounded OLS 4</a:t>
            </a:r>
          </a:p>
          <a:p xmlns:a="http://schemas.openxmlformats.org/drawingml/2006/main">
            <a:r>
              <a:t>Bounded OLS 18</a:t>
            </a:r>
          </a:p>
          <a:p xmlns:a="http://schemas.openxmlformats.org/drawingml/2006/main">
            <a:r>
              <a:t>Bounded OLS 1024</a:t>
            </a:r>
          </a:p>
          <a:p xmlns:a="http://schemas.openxmlformats.org/drawingml/2006/main">
            <a:r>
              <a:t>DenseNet4 Huber</a:t>
            </a:r>
          </a:p>
          <a:p xmlns:a="http://schemas.openxmlformats.org/drawingml/2006/main">
            <a:r>
              <a:t>DenseNet18 ElasticNet</a:t>
            </a:r>
          </a:p>
          <a:p xmlns:a="http://schemas.openxmlformats.org/drawingml/2006/main">
            <a:r>
              <a:t>DenseNet4 kernel ridge</a:t>
            </a:r>
          </a:p>
          <a:p xmlns:a="http://schemas.openxmlformats.org/drawingml/2006/main">
            <a:r>
              <a:t>DenseNet4 extra trees</a:t>
            </a:r>
          </a:p>
          <a:p xmlns:a="http://schemas.openxmlformats.org/drawingml/2006/main">
            <a:r>
              <a:t>DenseNet4 random forest</a:t>
            </a:r>
          </a:p>
          <a:p xmlns:a="http://schemas.openxmlformats.org/drawingml/2006/main">
            <a:r>
              <a:t>DenseNet4 gradient boosting</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本表保留所有配置，数字是 50 次主实验划分的均值和 SD。R² 为各划分 R² 的均值，可能为负。第一轮未截断，新实验全部采用已知分数范围，同时保留原始预测。配置的参数在各训练集内部选择，不是固定为一个事后最优值。完整的 MSE、Pearson、患者加权误差、预测和所选参数都在仓库 results/expanded/ 与原始 results/ 中。</a:t>
            </a:r>
          </a:p>
          <a:p xmlns:a="http://schemas.openxmlformats.org/drawingml/2006/main">
            <a:r>
              <a:t>Configurations:</a:t>
            </a:r>
          </a:p>
          <a:p xmlns:a="http://schemas.openxmlformats.org/drawingml/2006/main">
            <a:r>
              <a:t>DenseNet1024 unscaled ridge</a:t>
            </a:r>
          </a:p>
          <a:p xmlns:a="http://schemas.openxmlformats.org/drawingml/2006/main">
            <a:r>
              <a:t>DenseNet1024 filtered ridge</a:t>
            </a:r>
          </a:p>
          <a:p xmlns:a="http://schemas.openxmlformats.org/drawingml/2006/main">
            <a:r>
              <a:t>DenseNet1024 PCA ridge</a:t>
            </a:r>
          </a:p>
          <a:p xmlns:a="http://schemas.openxmlformats.org/drawingml/2006/main">
            <a:r>
              <a:t>DenseNet1024 PLS</a:t>
            </a:r>
          </a:p>
          <a:p xmlns:a="http://schemas.openxmlformats.org/drawingml/2006/main">
            <a:r>
              <a:t>DenseNet1024 normalized SVR</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本表保留所有配置，数字是 50 次主实验划分的均值和 SD。R² 为各划分 R² 的均值，可能为负。第一轮未截断，新实验全部采用已知分数范围，同时保留原始预测。配置的参数在各训练集内部选择，不是固定为一个事后最优值。完整的 MSE、Pearson、患者加权误差、预测和所选参数都在仓库 results/expanded/ 与原始 results/ 中。</a:t>
            </a:r>
          </a:p>
          <a:p xmlns:a="http://schemas.openxmlformats.org/drawingml/2006/main">
            <a:r>
              <a:t>Configurations:</a:t>
            </a:r>
          </a:p>
          <a:p xmlns:a="http://schemas.openxmlformats.org/drawingml/2006/main">
            <a:r>
              <a:t>BioViL pooled ridge</a:t>
            </a:r>
          </a:p>
          <a:p xmlns:a="http://schemas.openxmlformats.org/drawingml/2006/main">
            <a:r>
              <a:t>BioViL PCA ridge</a:t>
            </a:r>
          </a:p>
          <a:p xmlns:a="http://schemas.openxmlformats.org/drawingml/2006/main">
            <a:r>
              <a:t>BioViL projected ridge</a:t>
            </a:r>
          </a:p>
          <a:p xmlns:a="http://schemas.openxmlformats.org/drawingml/2006/main">
            <a:r>
              <a:t>BioViL projected SVR</a:t>
            </a:r>
          </a:p>
          <a:p xmlns:a="http://schemas.openxmlformats.org/drawingml/2006/main">
            <a:r>
              <a:t>BioViL-T pooled ridge</a:t>
            </a:r>
          </a:p>
          <a:p xmlns:a="http://schemas.openxmlformats.org/drawingml/2006/main">
            <a:r>
              <a:t>BioViL-T PCA ridge</a:t>
            </a:r>
          </a:p>
          <a:p xmlns:a="http://schemas.openxmlformats.org/drawingml/2006/main">
            <a:r>
              <a:t>BioViL-T projected ridge</a:t>
            </a:r>
          </a:p>
          <a:p xmlns:a="http://schemas.openxmlformats.org/drawingml/2006/main">
            <a:r>
              <a:t>BioViL-T projected SVR</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本表保留所有配置，数字是 50 次主实验划分的均值和 SD。R² 为各划分 R² 的均值，可能为负。第一轮未截断，新实验全部采用已知分数范围，同时保留原始预测。配置的参数在各训练集内部选择，不是固定为一个事后最优值。完整的 MSE、Pearson、患者加权误差、预测和所选参数都在仓库 results/expanded/ 与原始 results/ 中。</a:t>
            </a:r>
          </a:p>
          <a:p xmlns:a="http://schemas.openxmlformats.org/drawingml/2006/main">
            <a:r>
              <a:t>Configurations:</a:t>
            </a:r>
          </a:p>
          <a:p xmlns:a="http://schemas.openxmlformats.org/drawingml/2006/main">
            <a:r>
              <a:t>RAD-DINO ridge</a:t>
            </a:r>
          </a:p>
          <a:p xmlns:a="http://schemas.openxmlformats.org/drawingml/2006/main">
            <a:r>
              <a:t>RAD-DINO PCA ridge</a:t>
            </a:r>
          </a:p>
          <a:p xmlns:a="http://schemas.openxmlformats.org/drawingml/2006/main">
            <a:r>
              <a:t>RAD-DINO normalized SVR</a:t>
            </a:r>
          </a:p>
          <a:p xmlns:a="http://schemas.openxmlformats.org/drawingml/2006/main">
            <a:r>
              <a:t>RAD-DINO PLS</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衡量平均分数误差，MSE 对极端误差更敏感，R² 可能为负，Pearson 只衡量线性相关。Patient MAE 先在每位患者内部平均影像误差，再对患者平均，减少多张影像患者的权重。High-score MAE 的分组阈值是探索性的，不能称作临床重症分类性能。表中均为外层主实验的划分均值。</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所有参数只通过外层训练患者中的五折分组验证选择。Huber、ElasticNet、kernel Ridge 的标准化在 Pipeline 内；树方法使用原始低维特征。此表是扩展实验的网格。第一轮 Ridge α 为 0.01–10000，SVR 网格 C 为 0.1/1/10/100、ε 为 0.1/0.3、γ 为 scale/0.1，仍完整保存在 results/protocol.json。</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Ridge 使用 SVD 求解器。PCA 在每个内层训练折拟合，n_components 与 alpha 同时通过验证选择。PLS scale=False。BioViL 和 BioViL-T 的投影特征已 L2 归一化，投影 Ridge 和投影 SVR 不额外标准化；RAD-DINO 和 DenseNet 的高维 SVR 先按样本 L2 归一化。方差过滤只用训练数据，阈值依据初始失败诊断后声明为探索性敏感性方案。原始未截断预测与所有警告保留。</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3870 仅统计比较实验的外层拟合，不包含额外内层调参拟合，也不把选模程序复用候选预测算成新拟合。另有两次 OLS 线程敏感性诊断拟合不在 benchmark 计数中。重新计算了扩展 50 次和五折共 3300 条指标记录，验证患者分离、标签对齐、特征哈希、范围约束和训练内选模。初始 OLS 1/4/18 与范围修订的 raw 预测一致。OLS1024因 BLAS 线程从2改1产生最大0.000808差异，已通过分别按1/2线程重跑复现。</a:t>
            </a:r>
          </a:p>
          <a:p xmlns:a="http://schemas.openxmlformats.org/drawingml/2006/main">
            <a:r>
              <a:t>Encoder revisions and hashes:</a:t>
            </a:r>
          </a:p>
          <a:p xmlns:a="http://schemas.openxmlformats.org/drawingml/2006/main">
            <a:r>
              <a:t>{</a:t>
            </a:r>
          </a:p>
          <a:p xmlns:a="http://schemas.openxmlformats.org/drawingml/2006/main">
            <a:r>
              <a:t>  "biovil": {</a:t>
            </a:r>
          </a:p>
          <a:p xmlns:a="http://schemas.openxmlformats.org/drawingml/2006/main">
            <a:r>
              <a:t>    "repository": "microsoft/BiomedVLP-CXR-BERT-specialized",</a:t>
            </a:r>
          </a:p>
          <a:p xmlns:a="http://schemas.openxmlformats.org/drawingml/2006/main">
            <a:r>
              <a:t>    "revision": "d233f2f4e145bba80c80c60af67349873b81c623",</a:t>
            </a:r>
          </a:p>
          <a:p xmlns:a="http://schemas.openxmlformats.org/drawingml/2006/main">
            <a:r>
              <a:t>    "weight_file": "biovil_image_resnet50_proj_size_128.pt",</a:t>
            </a:r>
          </a:p>
          <a:p xmlns:a="http://schemas.openxmlformats.org/drawingml/2006/main">
            <a:r>
              <a:t>    "weight_sha256": "118c4bb1c16d4e69b7c9b7f2ff5b2c0a79242059acf20bd2ed3068045b8f6b98",</a:t>
            </a:r>
          </a:p>
          <a:p xmlns:a="http://schemas.openxmlformats.org/drawingml/2006/main">
            <a:r>
              <a:t>    "features_sha256": "9465be921213cad38a357fdcd5994bbc49a2e69265baa422a29e1269d01d81ab",</a:t>
            </a:r>
          </a:p>
          <a:p xmlns:a="http://schemas.openxmlformats.org/drawingml/2006/main">
            <a:r>
              <a:t>    "preprocessing": "official hi-ml-multimodal 0.2.2 loader minmax uint8 grayscale; resize short side 512; center crop 480; ToTensor; repeat 3 channels; single image",</a:t>
            </a:r>
          </a:p>
          <a:p xmlns:a="http://schemas.openxmlformats.org/drawingml/2006/main">
            <a:r>
              <a:t>    "shapes": {</a:t>
            </a:r>
          </a:p>
          <a:p xmlns:a="http://schemas.openxmlformats.org/drawingml/2006/main">
            <a:r>
              <a:t>      "pooled": [</a:t>
            </a:r>
          </a:p>
          <a:p xmlns:a="http://schemas.openxmlformats.org/drawingml/2006/main">
            <a:r>
              <a:t>        94,</a:t>
            </a:r>
          </a:p>
          <a:p xmlns:a="http://schemas.openxmlformats.org/drawingml/2006/main">
            <a:r>
              <a:t>        2048</a:t>
            </a:r>
          </a:p>
          <a:p xmlns:a="http://schemas.openxmlformats.org/drawingml/2006/main">
            <a:r>
              <a:t>      ],</a:t>
            </a:r>
          </a:p>
          <a:p xmlns:a="http://schemas.openxmlformats.org/drawingml/2006/main">
            <a:r>
              <a:t>      "projected": [</a:t>
            </a:r>
          </a:p>
          <a:p xmlns:a="http://schemas.openxmlformats.org/drawingml/2006/main">
            <a:r>
              <a:t>        94,</a:t>
            </a:r>
          </a:p>
          <a:p xmlns:a="http://schemas.openxmlformats.org/drawingml/2006/main">
            <a:r>
              <a:t>        128</a:t>
            </a:r>
          </a:p>
          <a:p xmlns:a="http://schemas.openxmlformats.org/drawingml/2006/main">
            <a:r>
              <a:t>      ]</a:t>
            </a:r>
          </a:p>
          <a:p xmlns:a="http://schemas.openxmlformats.org/drawingml/2006/main">
            <a:r>
              <a:t>    },</a:t>
            </a:r>
          </a:p>
          <a:p xmlns:a="http://schemas.openxmlformats.org/drawingml/2006/main">
            <a:r>
              <a:t>    "seconds": 216.71799999999348,</a:t>
            </a:r>
          </a:p>
          <a:p xmlns:a="http://schemas.openxmlformats.org/drawingml/2006/main">
            <a:r>
              <a:t>    "frozen": true,</a:t>
            </a:r>
          </a:p>
          <a:p xmlns:a="http://schemas.openxmlformats.org/drawingml/2006/main">
            <a:r>
              <a:t>    "labels_used_for_feature_extraction": false</a:t>
            </a:r>
          </a:p>
          <a:p xmlns:a="http://schemas.openxmlformats.org/drawingml/2006/main">
            <a:r>
              <a:t>  },</a:t>
            </a:r>
          </a:p>
          <a:p xmlns:a="http://schemas.openxmlformats.org/drawingml/2006/main">
            <a:r>
              <a:t>  "biovil_t": {</a:t>
            </a:r>
          </a:p>
          <a:p xmlns:a="http://schemas.openxmlformats.org/drawingml/2006/main">
            <a:r>
              <a:t>    "repository": "microsoft/BiomedVLP-BioViL-T",</a:t>
            </a:r>
          </a:p>
          <a:p xmlns:a="http://schemas.openxmlformats.org/drawingml/2006/main">
            <a:r>
              <a:t>    "revision": "301f526e823b805d3fe712d0cf06a66f042789c5",</a:t>
            </a:r>
          </a:p>
          <a:p xmlns:a="http://schemas.openxmlformats.org/drawingml/2006/main">
            <a:r>
              <a:t>    "weight_file": "biovil_t_image_model_proj_size_128.pt",</a:t>
            </a:r>
          </a:p>
          <a:p xmlns:a="http://schemas.openxmlformats.org/drawingml/2006/main">
            <a:r>
              <a:t>    "weight_sha256": "b2399d73dc2a68b9f3a1950e864ae0ecd24093fb07aa459d7e65807ebdc0fb77",</a:t>
            </a:r>
          </a:p>
          <a:p xmlns:a="http://schemas.openxmlformats.org/drawingml/2006/main">
            <a:r>
              <a:t>    "features_sha256": "a2b017b37ed8cefd533822e86d24ef1cbbbaf7d4d68fc2edbccabcc36d033dc5",</a:t>
            </a:r>
          </a:p>
          <a:p xmlns:a="http://schemas.openxmlformats.org/drawingml/2006/main">
            <a:r>
              <a:t>    "preprocessing": "official hi-ml-multimodal 0.2.2 loader minmax uint8 grayscale; resize short side 512; center crop 448; ToTensor; repeat 3 channels; single image",</a:t>
            </a:r>
          </a:p>
          <a:p xmlns:a="http://schemas.openxmlformats.org/drawingml/2006/main">
            <a:r>
              <a:t>    "shapes": {</a:t>
            </a:r>
          </a:p>
          <a:p xmlns:a="http://schemas.openxmlformats.org/drawingml/2006/main">
            <a:r>
              <a:t>      "pooled": [</a:t>
            </a:r>
          </a:p>
          <a:p xmlns:a="http://schemas.openxmlformats.org/drawingml/2006/main">
            <a:r>
              <a:t>        94,</a:t>
            </a:r>
          </a:p>
          <a:p xmlns:a="http://schemas.openxmlformats.org/drawingml/2006/main">
            <a:r>
              <a:t>        512</a:t>
            </a:r>
          </a:p>
          <a:p xmlns:a="http://schemas.openxmlformats.org/drawingml/2006/main">
            <a:r>
              <a:t>      ],</a:t>
            </a:r>
          </a:p>
          <a:p xmlns:a="http://schemas.openxmlformats.org/drawingml/2006/main">
            <a:r>
              <a:t>      "projected": [</a:t>
            </a:r>
          </a:p>
          <a:p xmlns:a="http://schemas.openxmlformats.org/drawingml/2006/main">
            <a:r>
              <a:t>        94,</a:t>
            </a:r>
          </a:p>
          <a:p xmlns:a="http://schemas.openxmlformats.org/drawingml/2006/main">
            <a:r>
              <a:t>        128</a:t>
            </a:r>
          </a:p>
          <a:p xmlns:a="http://schemas.openxmlformats.org/drawingml/2006/main">
            <a:r>
              <a:t>      ]</a:t>
            </a:r>
          </a:p>
          <a:p xmlns:a="http://schemas.openxmlformats.org/drawingml/2006/main">
            <a:r>
              <a:t>    },</a:t>
            </a:r>
          </a:p>
          <a:p xmlns:a="http://schemas.openxmlformats.org/drawingml/2006/main">
            <a:r>
              <a:t>    "seconds": 198.20300000003772,</a:t>
            </a:r>
          </a:p>
          <a:p xmlns:a="http://schemas.openxmlformats.org/drawingml/2006/main">
            <a:r>
              <a:t>    "frozen": true,</a:t>
            </a:r>
          </a:p>
          <a:p xmlns:a="http://schemas.openxmlformats.org/drawingml/2006/main">
            <a:r>
              <a:t>    "labels_used_for_feature_extraction": false</a:t>
            </a:r>
          </a:p>
          <a:p xmlns:a="http://schemas.openxmlformats.org/drawingml/2006/main">
            <a:r>
              <a:t>  },</a:t>
            </a:r>
          </a:p>
          <a:p xmlns:a="http://schemas.openxmlformats.org/drawingml/2006/main">
            <a:r>
              <a:t>  "rad_dino": {</a:t>
            </a:r>
          </a:p>
          <a:p xmlns:a="http://schemas.openxmlformats.org/drawingml/2006/main">
            <a:r>
              <a:t>    "repository": "microsoft/rad-dino",</a:t>
            </a:r>
          </a:p>
          <a:p xmlns:a="http://schemas.openxmlformats.org/drawingml/2006/main">
            <a:r>
              <a:t>    "revision": "110cbc18d5133582e320b43d53bf5c44e410c936",</a:t>
            </a:r>
          </a:p>
          <a:p xmlns:a="http://schemas.openxmlformats.org/drawingml/2006/main">
            <a:r>
              <a:t>    "weight_file": "model.safetensors",</a:t>
            </a:r>
          </a:p>
          <a:p xmlns:a="http://schemas.openxmlformats.org/drawingml/2006/main">
            <a:r>
              <a:t>    "weight_sha256": "dbfb9f54459c38773505de64a6ab7807bdcb392610fe1e697166342e43fb91ae",</a:t>
            </a:r>
          </a:p>
          <a:p xmlns:a="http://schemas.openxmlformats.org/drawingml/2006/main">
            <a:r>
              <a:t>    "features_sha256": "ab73b2299484f39987f7a617af45f272ca35801a4a67edc2fe51c0773c9208d5",</a:t>
            </a:r>
          </a:p>
          <a:p xmlns:a="http://schemas.openxmlformats.org/drawingml/2006/main">
            <a:r>
              <a:t>    "preprocessing": {</a:t>
            </a:r>
          </a:p>
          <a:p xmlns:a="http://schemas.openxmlformats.org/drawingml/2006/main">
            <a:r>
              <a:t>      "processor": {</a:t>
            </a:r>
          </a:p>
          <a:p xmlns:a="http://schemas.openxmlformats.org/drawingml/2006/main">
            <a:r>
              <a:t>        "_processor_class": null,</a:t>
            </a:r>
          </a:p>
          <a:p xmlns:a="http://schemas.openxmlformats.org/drawingml/2006/main">
            <a:r>
              <a:t>        "image_processor_type": "BitImageProcessor",</a:t>
            </a:r>
          </a:p>
          <a:p xmlns:a="http://schemas.openxmlformats.org/drawingml/2006/main">
            <a:r>
              <a:t>        "do_resize": true,</a:t>
            </a:r>
          </a:p>
          <a:p xmlns:a="http://schemas.openxmlformats.org/drawingml/2006/main">
            <a:r>
              <a:t>        "size": {</a:t>
            </a:r>
          </a:p>
          <a:p xmlns:a="http://schemas.openxmlformats.org/drawingml/2006/main">
            <a:r>
              <a:t>          "shortest_edge": 518</a:t>
            </a:r>
          </a:p>
          <a:p xmlns:a="http://schemas.openxmlformats.org/drawingml/2006/main">
            <a:r>
              <a:t>        },</a:t>
            </a:r>
          </a:p>
          <a:p xmlns:a="http://schemas.openxmlformats.org/drawingml/2006/main">
            <a:r>
              <a:t>        "resample": 3,</a:t>
            </a:r>
          </a:p>
          <a:p xmlns:a="http://schemas.openxmlformats.org/drawingml/2006/main">
            <a:r>
              <a:t>        "do_center_crop": true,</a:t>
            </a:r>
          </a:p>
          <a:p xmlns:a="http://schemas.openxmlformats.org/drawingml/2006/main">
            <a:r>
              <a:t>        "crop_size": {</a:t>
            </a:r>
          </a:p>
          <a:p xmlns:a="http://schemas.openxmlformats.org/drawingml/2006/main">
            <a:r>
              <a:t>          "height": 518,</a:t>
            </a:r>
          </a:p>
          <a:p xmlns:a="http://schemas.openxmlformats.org/drawingml/2006/main">
            <a:r>
              <a:t>          "width": 518</a:t>
            </a:r>
          </a:p>
          <a:p xmlns:a="http://schemas.openxmlformats.org/drawingml/2006/main">
            <a:r>
              <a:t>        },</a:t>
            </a:r>
          </a:p>
          <a:p xmlns:a="http://schemas.openxmlformats.org/drawingml/2006/main">
            <a:r>
              <a:t>        "do_rescale": true,</a:t>
            </a:r>
          </a:p>
          <a:p xmlns:a="http://schemas.openxmlformats.org/drawingml/2006/main">
            <a:r>
              <a:t>        "rescale_factor": 0.00392156862745098,</a:t>
            </a:r>
          </a:p>
          <a:p xmlns:a="http://schemas.openxmlformats.org/drawingml/2006/main">
            <a:r>
              <a:t>        "do_normalize": true,</a:t>
            </a:r>
          </a:p>
          <a:p xmlns:a="http://schemas.openxmlformats.org/drawingml/2006/main">
            <a:r>
              <a:t>        "image_mean": [</a:t>
            </a:r>
          </a:p>
          <a:p xmlns:a="http://schemas.openxmlformats.org/drawingml/2006/main">
            <a:r>
              <a:t>          0.5307,</a:t>
            </a:r>
          </a:p>
          <a:p xmlns:a="http://schemas.openxmlformats.org/drawingml/2006/main">
            <a:r>
              <a:t>          0.5307,</a:t>
            </a:r>
          </a:p>
          <a:p xmlns:a="http://schemas.openxmlformats.org/drawingml/2006/main">
            <a:r>
              <a:t>          0.5307</a:t>
            </a:r>
          </a:p>
          <a:p xmlns:a="http://schemas.openxmlformats.org/drawingml/2006/main">
            <a:r>
              <a:t>        ],</a:t>
            </a:r>
          </a:p>
          <a:p xmlns:a="http://schemas.openxmlformats.org/drawingml/2006/main">
            <a:r>
              <a:t>        "image_std": [</a:t>
            </a:r>
          </a:p>
          <a:p xmlns:a="http://schemas.openxmlformats.org/drawingml/2006/main">
            <a:r>
              <a:t>          0.2583,</a:t>
            </a:r>
          </a:p>
          <a:p xmlns:a="http://schemas.openxmlformats.org/drawingml/2006/main">
            <a:r>
              <a:t>          0.2583,</a:t>
            </a:r>
          </a:p>
          <a:p xmlns:a="http://schemas.openxmlformats.org/drawingml/2006/main">
            <a:r>
              <a:t>          0.2583</a:t>
            </a:r>
          </a:p>
          <a:p xmlns:a="http://schemas.openxmlformats.org/drawingml/2006/main">
            <a:r>
              <a:t>        ],</a:t>
            </a:r>
          </a:p>
          <a:p xmlns:a="http://schemas.openxmlformats.org/drawingml/2006/main">
            <a:r>
              <a:t>        "do_convert_rgb": true</a:t>
            </a:r>
          </a:p>
          <a:p xmlns:a="http://schemas.openxmlformats.org/drawingml/2006/main">
            <a:r>
              <a:t>      },</a:t>
            </a:r>
          </a:p>
          <a:p xmlns:a="http://schemas.openxmlformats.org/drawingml/2006/main">
            <a:r>
              <a:t>      "feature": "final normalized CLS token; native checkpoint resolution; no target fine tuning"</a:t>
            </a:r>
          </a:p>
          <a:p xmlns:a="http://schemas.openxmlformats.org/drawingml/2006/main">
            <a:r>
              <a:t>    },</a:t>
            </a:r>
          </a:p>
          <a:p xmlns:a="http://schemas.openxmlformats.org/drawingml/2006/main">
            <a:r>
              <a:t>    "shapes": {</a:t>
            </a:r>
          </a:p>
          <a:p xmlns:a="http://schemas.openxmlformats.org/drawingml/2006/main">
            <a:r>
              <a:t>      "cls": [</a:t>
            </a:r>
          </a:p>
          <a:p xmlns:a="http://schemas.openxmlformats.org/drawingml/2006/main">
            <a:r>
              <a:t>        94,</a:t>
            </a:r>
          </a:p>
          <a:p xmlns:a="http://schemas.openxmlformats.org/drawingml/2006/main">
            <a:r>
              <a:t>        768</a:t>
            </a:r>
          </a:p>
          <a:p xmlns:a="http://schemas.openxmlformats.org/drawingml/2006/main">
            <a:r>
              <a:t>      ]</a:t>
            </a:r>
          </a:p>
          <a:p xmlns:a="http://schemas.openxmlformats.org/drawingml/2006/main">
            <a:r>
              <a:t>    },</a:t>
            </a:r>
          </a:p>
          <a:p xmlns:a="http://schemas.openxmlformats.org/drawingml/2006/main">
            <a:r>
              <a:t>    "seconds": 147.36000000004424,</a:t>
            </a:r>
          </a:p>
          <a:p xmlns:a="http://schemas.openxmlformats.org/drawingml/2006/main">
            <a:r>
              <a:t>    "frozen": true,</a:t>
            </a:r>
          </a:p>
          <a:p xmlns:a="http://schemas.openxmlformats.org/drawingml/2006/main">
            <a:r>
              <a:t>    "labels_used_for_feature_extraction": false</a:t>
            </a:r>
          </a:p>
          <a:p xmlns:a="http://schemas.openxmlformats.org/drawingml/2006/main">
            <a:r>
              <a:t>  }</a:t>
            </a:r>
          </a:p>
          <a:p xmlns:a="http://schemas.openxmlformats.org/drawingml/2006/main">
            <a:r>
              <a:t>}</a:t>
            </a:r>
          </a:p>
          <a:p xmlns:a="http://schemas.openxmlformats.org/drawingml/2006/main">
            <a:r>
              <a:t>Software:</a:t>
            </a:r>
          </a:p>
          <a:p xmlns:a="http://schemas.openxmlformats.org/drawingml/2006/main">
            <a:r>
              <a:t>{</a:t>
            </a:r>
          </a:p>
          <a:p xmlns:a="http://schemas.openxmlformats.org/drawingml/2006/main">
            <a:r>
              <a:t>  "numpy": "2.2.6",</a:t>
            </a:r>
          </a:p>
          <a:p xmlns:a="http://schemas.openxmlformats.org/drawingml/2006/main">
            <a:r>
              <a:t>  "pandas": "3.0.1",</a:t>
            </a:r>
          </a:p>
          <a:p xmlns:a="http://schemas.openxmlformats.org/drawingml/2006/main">
            <a:r>
              <a:t>  "scipy": "1.14.1",</a:t>
            </a:r>
          </a:p>
          <a:p xmlns:a="http://schemas.openxmlformats.org/drawingml/2006/main">
            <a:r>
              <a:t>  "scikit-learn": "1.5.2",</a:t>
            </a:r>
          </a:p>
          <a:p xmlns:a="http://schemas.openxmlformats.org/drawingml/2006/main">
            <a:r>
              <a:t>  "torch": "2.5.1+cpu",</a:t>
            </a:r>
          </a:p>
          <a:p xmlns:a="http://schemas.openxmlformats.org/drawingml/2006/main">
            <a:r>
              <a:t>  "torchvision": "0.20.1+cpu",</a:t>
            </a:r>
          </a:p>
          <a:p xmlns:a="http://schemas.openxmlformats.org/drawingml/2006/main">
            <a:r>
              <a:t>  "torchxrayvision": "1.3.5",</a:t>
            </a:r>
          </a:p>
          <a:p xmlns:a="http://schemas.openxmlformats.org/drawingml/2006/main">
            <a:r>
              <a:t>  "transformers": "4.48.3",</a:t>
            </a:r>
          </a:p>
          <a:p xmlns:a="http://schemas.openxmlformats.org/drawingml/2006/main">
            <a:r>
              <a:t>  "huggingface-hub": "0.36.2",</a:t>
            </a:r>
          </a:p>
          <a:p xmlns:a="http://schemas.openxmlformats.org/drawingml/2006/main">
            <a:r>
              <a:t>  "hi-ml-multimodal": "0.2.2",</a:t>
            </a:r>
          </a:p>
          <a:p xmlns:a="http://schemas.openxmlformats.org/drawingml/2006/main">
            <a:r>
              <a:t>  "safetensors": "0.8.0"</a:t>
            </a:r>
          </a:p>
          <a:p xmlns:a="http://schemas.openxmlformats.org/drawingml/2006/main">
            <a:r>
              <a:t>}</a:t>
            </a:r>
          </a:p>
          <a:p xmlns:a="http://schemas.openxmlformats.org/drawingml/2006/main">
            <a:r>
              <a:t/>
            </a:r>
          </a:p>
          <a:p xmlns:a="http://schemas.openxmlformats.org/drawingml/2006/main">
            <a:r>
              <a:t>Sources</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研究原文和后续编码器论文用于理解方法来源。所有本项目新模型数值都来自实际保存的实验输出，不引用这些编码器论文中不同任务的分数来替代本次测试结果。课堂 checklist 严格采用第九讲，不以 CLAIM 等外部清单替代。</a:t>
            </a:r>
          </a:p>
          <a:p xmlns:a="http://schemas.openxmlformats.org/drawingml/2006/main">
            <a:r>
              <a:t/>
            </a:r>
          </a:p>
          <a:p xmlns:a="http://schemas.openxmlformats.org/drawingml/2006/main">
            <a:r>
              <a:t>Sources</a:t>
            </a:r>
          </a:p>
          <a:p xmlns:a="http://schemas.openxmlformats.org/drawingml/2006/main">
            <a:r>
              <a:t>https://doi.org/10.7759/cureus.9448</a:t>
            </a:r>
          </a:p>
          <a:p xmlns:a="http://schemas.openxmlformats.org/drawingml/2006/main">
            <a:r>
              <a:t>https://arxiv.org/abs/2204.09817</a:t>
            </a:r>
          </a:p>
          <a:p xmlns:a="http://schemas.openxmlformats.org/drawingml/2006/main">
            <a:r>
              <a:t>https://arxiv.org/abs/2301.04558</a:t>
            </a:r>
          </a:p>
          <a:p xmlns:a="http://schemas.openxmlformats.org/drawingml/2006/main">
            <a:r>
              <a:t>https://doi.org/10.1038/s42256-024-00965-w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保留影像、评分、元数据、软件和模型各自的来源和条款，不宣称这些原始材料归本项目所有。原始模板只作为版式参考，保持不变。图片示例采用公开去标识胸片。所有预训练模型权重通过原作者来源下载，没有在本仓库重新分发。</a:t>
            </a:r>
          </a:p>
          <a:p xmlns:a="http://schemas.openxmlformats.org/drawingml/2006/main">
            <a:r>
              <a:t/>
            </a:r>
          </a:p>
          <a:p xmlns:a="http://schemas.openxmlformats.org/drawingml/2006/main">
            <a:r>
              <a:t>Sources</a:t>
            </a:r>
          </a:p>
          <a:p xmlns:a="http://schemas.openxmlformats.org/drawingml/2006/main">
            <a:r>
              <a:t>https://github.com/ieee8023/covid-chestxray-dataset/tree/196143d3dd32a2a43ad51d6891d460aaf690d741</a:t>
            </a:r>
          </a:p>
          <a:p xmlns:a="http://schemas.openxmlformats.org/drawingml/2006/main">
            <a:r>
              <a:t>https://github.com/mlmed/covid-severity/blob/master/covid-severity-scores.csv</a:t>
            </a:r>
          </a:p>
          <a:p xmlns:a="http://schemas.openxmlformats.org/drawingml/2006/main">
            <a:r>
              <a:t>https://github.com/mlmed/covid-severity</a:t>
            </a:r>
          </a:p>
          <a:p xmlns:a="http://schemas.openxmlformats.org/drawingml/2006/main">
            <a:r>
              <a:t>https://github.com/mlmed/torchxrayvision</a:t>
            </a:r>
          </a:p>
          <a:p xmlns:a="http://schemas.openxmlformats.org/drawingml/2006/main">
            <a:r>
              <a:t>https://huggingface.co/microsoft/rad-dino</a:t>
            </a:r>
          </a:p>
          <a:p xmlns:a="http://schemas.openxmlformats.org/drawingml/2006/main">
            <a:r>
              <a:t>https://github.com/apothecary11/DSA5206-GROUP-PROJECT/tree/f2127e6b8f0ae84eef618a308adb657be0cb65c0</a:t>
            </a:r>
          </a:p>
          <a:p xmlns:a="http://schemas.openxmlformats.org/drawingml/2006/main">
            <a:r>
              <a:t>https://github.com/ModaYoung/DSA5206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a5586f21fb4eb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2c115dd02b4a5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42cbfb3df3049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44271a008f417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93258a6d15544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3014d508844b9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f02bbd86e6849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b942a0a2bad4da7"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1e330b05de84fa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d44e3489a0f44c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431916b93964b8f"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CD98436-B17C-0AFB-4B66-49D8D4F917A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CCA5BEA0-DA23-D13B-B1A6-530C4DF2EE45}"/>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6AA7FF60-4F9D-9A03-C6B8-DF138612E6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5" name="页脚占位符 4">
            <a:extLst xmlns:a="http://schemas.openxmlformats.org/drawingml/2006/main">
              <a:ext uri="{FF2B5EF4-FFF2-40B4-BE49-F238E27FC236}">
                <a16:creationId xmlns:a16="http://schemas.microsoft.com/office/drawing/2014/main" id="{5B867068-1094-1106-CE58-018B3E5E53A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778A22FA-EEFD-66D4-F44B-E361D9637A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6B967DF-49E3-8B88-F986-8293D3234C1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1CBD6937-E573-AD4C-9F41-FCC657E1F44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FAEC16DB-3DA1-8D62-5525-5CB793D58A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5" name="页脚占位符 4">
            <a:extLst xmlns:a="http://schemas.openxmlformats.org/drawingml/2006/main">
              <a:ext uri="{FF2B5EF4-FFF2-40B4-BE49-F238E27FC236}">
                <a16:creationId xmlns:a16="http://schemas.microsoft.com/office/drawing/2014/main" id="{747220C0-582E-8E10-FC67-4996CF14DD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03E34079-0756-EA2B-6F56-693F8ED0EE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98E2641-7AB4-08F5-6F22-8CDB0AC6B4BA}"/>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AB6C0A7C-86C6-7A5D-8182-48AEA96450C1}"/>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A3996022-9850-9F9F-D665-B15510F3866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5" name="页脚占位符 4">
            <a:extLst xmlns:a="http://schemas.openxmlformats.org/drawingml/2006/main">
              <a:ext uri="{FF2B5EF4-FFF2-40B4-BE49-F238E27FC236}">
                <a16:creationId xmlns:a16="http://schemas.microsoft.com/office/drawing/2014/main" id="{7D8436FA-728E-A89C-3923-2BCC15C783A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1C55B410-598D-69FB-2D19-B944A7D1AF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6B34195-5B2C-E75C-A3B5-34D27C19A9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2377586B-BD93-8C11-C7F7-45904A9B0307}"/>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内容占位符 3">
            <a:extLst xmlns:a="http://schemas.openxmlformats.org/drawingml/2006/main">
              <a:ext uri="{FF2B5EF4-FFF2-40B4-BE49-F238E27FC236}">
                <a16:creationId xmlns:a16="http://schemas.microsoft.com/office/drawing/2014/main" id="{5E7027E1-6D79-CB94-5840-220E99946462}"/>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日期占位符 4">
            <a:extLst xmlns:a="http://schemas.openxmlformats.org/drawingml/2006/main">
              <a:ext uri="{FF2B5EF4-FFF2-40B4-BE49-F238E27FC236}">
                <a16:creationId xmlns:a16="http://schemas.microsoft.com/office/drawing/2014/main" id="{D7BFD959-A0E2-4650-EB7F-9CFB7BB85D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6" name="页脚占位符 5">
            <a:extLst xmlns:a="http://schemas.openxmlformats.org/drawingml/2006/main">
              <a:ext uri="{FF2B5EF4-FFF2-40B4-BE49-F238E27FC236}">
                <a16:creationId xmlns:a16="http://schemas.microsoft.com/office/drawing/2014/main" id="{B100E4AA-500B-AE41-FA21-17904D267F9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A0BD2313-3596-5BBA-EE2F-51F4BF32190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B91237C-406A-B858-FF0A-B117BC58432B}"/>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F2D2E6D6-3F1F-3F3E-161E-8BA531BB258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8E1647B7-2BFE-981D-AC25-84FB3F0E2F5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文本占位符 4">
            <a:extLst xmlns:a="http://schemas.openxmlformats.org/drawingml/2006/main">
              <a:ext uri="{FF2B5EF4-FFF2-40B4-BE49-F238E27FC236}">
                <a16:creationId xmlns:a16="http://schemas.microsoft.com/office/drawing/2014/main" id="{4A8BD666-C335-BF33-ADCF-6A1C3364B876}"/>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D858F006-8455-6FB4-4C25-57786F147EF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日期占位符 6">
            <a:extLst xmlns:a="http://schemas.openxmlformats.org/drawingml/2006/main">
              <a:ext uri="{FF2B5EF4-FFF2-40B4-BE49-F238E27FC236}">
                <a16:creationId xmlns:a16="http://schemas.microsoft.com/office/drawing/2014/main" id="{8D471DBE-A543-E34B-10F2-1E5EB046EC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8" name="页脚占位符 7">
            <a:extLst xmlns:a="http://schemas.openxmlformats.org/drawingml/2006/main">
              <a:ext uri="{FF2B5EF4-FFF2-40B4-BE49-F238E27FC236}">
                <a16:creationId xmlns:a16="http://schemas.microsoft.com/office/drawing/2014/main" id="{D8D0C999-8578-D437-0FC9-D3B0041343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315CD6C5-5313-FBF6-54F5-316AACDBAA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62185E2-7D18-6EF4-BDA2-0F0ED8981EE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071A6E39-1A6B-2AFE-ED70-C40BF6A399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4" name="页脚占位符 3">
            <a:extLst xmlns:a="http://schemas.openxmlformats.org/drawingml/2006/main">
              <a:ext uri="{FF2B5EF4-FFF2-40B4-BE49-F238E27FC236}">
                <a16:creationId xmlns:a16="http://schemas.microsoft.com/office/drawing/2014/main" id="{C63732DF-CD22-106D-585A-715D3D54BD8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701E8CAC-B65E-B4E1-149A-CCB0F26A25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B8076839-E984-C379-75AD-C596C6E553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3" name="页脚占位符 2">
            <a:extLst xmlns:a="http://schemas.openxmlformats.org/drawingml/2006/main">
              <a:ext uri="{FF2B5EF4-FFF2-40B4-BE49-F238E27FC236}">
                <a16:creationId xmlns:a16="http://schemas.microsoft.com/office/drawing/2014/main" id="{E727C9DF-E095-A52F-E293-A32FCE08F7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0841F527-C30C-C819-90B5-CE44163DA8D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2934E78-0FC8-3684-ED20-7BE424660E20}"/>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E699549E-B949-49CA-D353-CB3AD0393F37}"/>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文本占位符 3">
            <a:extLst xmlns:a="http://schemas.openxmlformats.org/drawingml/2006/main">
              <a:ext uri="{FF2B5EF4-FFF2-40B4-BE49-F238E27FC236}">
                <a16:creationId xmlns:a16="http://schemas.microsoft.com/office/drawing/2014/main" id="{1809815C-7411-2A5B-B902-A6E1F63312F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91456CEE-6BF9-F2E2-FBFB-93775FAD06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6" name="页脚占位符 5">
            <a:extLst xmlns:a="http://schemas.openxmlformats.org/drawingml/2006/main">
              <a:ext uri="{FF2B5EF4-FFF2-40B4-BE49-F238E27FC236}">
                <a16:creationId xmlns:a16="http://schemas.microsoft.com/office/drawing/2014/main" id="{64B60D2D-3753-346A-D833-2AAF750ECF7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9137F160-4EA2-44BC-517B-5EE23EB796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4325A2F-0D9B-9497-C971-C225A1ECC83F}"/>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7386006B-4276-773E-2D89-1683245D0AE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2C65EED8-A2FC-E185-C3F8-C3EAABB36D35}"/>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106894C1-BF77-10C8-A42E-8C3D0682BD1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6" name="页脚占位符 5">
            <a:extLst xmlns:a="http://schemas.openxmlformats.org/drawingml/2006/main">
              <a:ext uri="{FF2B5EF4-FFF2-40B4-BE49-F238E27FC236}">
                <a16:creationId xmlns:a16="http://schemas.microsoft.com/office/drawing/2014/main" id="{486C2894-9C14-D0FF-E49D-954EDB4993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4569B4DB-1F20-6E05-E766-BFBD6617CC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E974F932-99A9-D205-B6CD-BDF48D41EC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C692EB97-2612-C36F-7E9E-11FBCC2D040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D503A6FF-D53D-1CF0-9A90-D02F587BC7B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5" name="页脚占位符 4">
            <a:extLst xmlns:a="http://schemas.openxmlformats.org/drawingml/2006/main">
              <a:ext uri="{FF2B5EF4-FFF2-40B4-BE49-F238E27FC236}">
                <a16:creationId xmlns:a16="http://schemas.microsoft.com/office/drawing/2014/main" id="{44D85EF3-4A03-7C76-D7EC-CF6E038B50F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6E1E6A1B-8684-3245-70B4-118451CA7C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74506C75-3E97-3E24-6E58-8854A3DE749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68587577-3613-49E4-83C0-A10CD9F91FE5}"/>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8F232B6A-9623-3F97-6CE2-592ED1F425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B407FC9-B865-2C4B-99CB-893ADE4C3ECD}" type="datetimeFigureOut">
              <a:t>2026/4/2</a:t>
            </a:fld>
            <a:endParaRPr/>
          </a:p>
        </p:txBody>
      </p:sp>
      <p:sp>
        <p:nvSpPr>
          <p:cNvPr id="5" name="页脚占位符 4">
            <a:extLst xmlns:a="http://schemas.openxmlformats.org/drawingml/2006/main">
              <a:ext uri="{FF2B5EF4-FFF2-40B4-BE49-F238E27FC236}">
                <a16:creationId xmlns:a16="http://schemas.microsoft.com/office/drawing/2014/main" id="{9EE6C1F7-D197-78FA-AB2E-1ACB0DDB46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60B67F87-8817-B208-31C8-4C9ABE0319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5D15E26-7118-AD4B-B0AC-0B12FEAD973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b02c34a8ec44e9" /><Relationship Type="http://schemas.openxmlformats.org/officeDocument/2006/relationships/slideLayout" Target="/ppt/slideLayouts/slideLayout1.xml" Id="R8725b0c6a6f147c0" /><Relationship Type="http://schemas.openxmlformats.org/officeDocument/2006/relationships/slideLayout" Target="/ppt/slideLayouts/slideLayout2.xml" Id="R2e9405b71fbc440d" /><Relationship Type="http://schemas.openxmlformats.org/officeDocument/2006/relationships/slideLayout" Target="/ppt/slideLayouts/slideLayout3.xml" Id="Rf457affd19524984" /><Relationship Type="http://schemas.openxmlformats.org/officeDocument/2006/relationships/slideLayout" Target="/ppt/slideLayouts/slideLayout4.xml" Id="Rbd52bdedb00843cf" /><Relationship Type="http://schemas.openxmlformats.org/officeDocument/2006/relationships/slideLayout" Target="/ppt/slideLayouts/slideLayout5.xml" Id="Rdba4d2f35f664429" /><Relationship Type="http://schemas.openxmlformats.org/officeDocument/2006/relationships/slideLayout" Target="/ppt/slideLayouts/slideLayout6.xml" Id="R1a57bc2c008549b9" /><Relationship Type="http://schemas.openxmlformats.org/officeDocument/2006/relationships/slideLayout" Target="/ppt/slideLayouts/slideLayout7.xml" Id="Re490baab9c7d41d3" /><Relationship Type="http://schemas.openxmlformats.org/officeDocument/2006/relationships/slideLayout" Target="/ppt/slideLayouts/slideLayout8.xml" Id="R97bf534469764f7f" /><Relationship Type="http://schemas.openxmlformats.org/officeDocument/2006/relationships/slideLayout" Target="/ppt/slideLayouts/slideLayout9.xml" Id="R8520a3f583224fdc" /><Relationship Type="http://schemas.openxmlformats.org/officeDocument/2006/relationships/slideLayout" Target="/ppt/slideLayouts/slideLayout10.xml" Id="Raa700da5fb8046c7" /><Relationship Type="http://schemas.openxmlformats.org/officeDocument/2006/relationships/slideLayout" Target="/ppt/slideLayouts/slideLayout11.xml" Id="Rda5489e7b5ee474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5EB91AB3-545E-B011-7670-584E7D78700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253FCD80-F9EF-BDC2-D2C6-D031F8E1D6C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2229E900-EFC1-D8C1-6BF9-F95CAB9A8277}"/>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7B407FC9-B865-2C4B-99CB-893ADE4C3ECD}" type="datetimeFigureOut">
              <a:t>2026/4/2</a:t>
            </a:fld>
            <a:endParaRPr/>
          </a:p>
        </p:txBody>
      </p:sp>
      <p:sp>
        <p:nvSpPr>
          <p:cNvPr id="5" name="页脚占位符 4">
            <a:extLst xmlns:a="http://schemas.openxmlformats.org/drawingml/2006/main">
              <a:ext uri="{FF2B5EF4-FFF2-40B4-BE49-F238E27FC236}">
                <a16:creationId xmlns:a16="http://schemas.microsoft.com/office/drawing/2014/main" id="{D7D58D13-4CD9-1D8C-536B-55B5B81D8140}"/>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2BE715E3-B756-1CA3-99D4-5CE2FA3C3C5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15D15E26-7118-AD4B-B0AC-0B12FEAD973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25b0c6a6f147c0"/>
    <p:sldLayoutId xmlns:r="http://schemas.openxmlformats.org/officeDocument/2006/relationships" id="2147483650" r:id="R2e9405b71fbc440d"/>
    <p:sldLayoutId xmlns:r="http://schemas.openxmlformats.org/officeDocument/2006/relationships" id="2147483651" r:id="Rf457affd19524984"/>
    <p:sldLayoutId xmlns:r="http://schemas.openxmlformats.org/officeDocument/2006/relationships" id="2147483652" r:id="Rbd52bdedb00843cf"/>
    <p:sldLayoutId xmlns:r="http://schemas.openxmlformats.org/officeDocument/2006/relationships" id="2147483653" r:id="Rdba4d2f35f664429"/>
    <p:sldLayoutId xmlns:r="http://schemas.openxmlformats.org/officeDocument/2006/relationships" id="2147483654" r:id="R1a57bc2c008549b9"/>
    <p:sldLayoutId xmlns:r="http://schemas.openxmlformats.org/officeDocument/2006/relationships" id="2147483655" r:id="Re490baab9c7d41d3"/>
    <p:sldLayoutId xmlns:r="http://schemas.openxmlformats.org/officeDocument/2006/relationships" id="2147483656" r:id="R97bf534469764f7f"/>
    <p:sldLayoutId xmlns:r="http://schemas.openxmlformats.org/officeDocument/2006/relationships" id="2147483657" r:id="R8520a3f583224fdc"/>
    <p:sldLayoutId xmlns:r="http://schemas.openxmlformats.org/officeDocument/2006/relationships" id="2147483658" r:id="Raa700da5fb8046c7"/>
    <p:sldLayoutId xmlns:r="http://schemas.openxmlformats.org/officeDocument/2006/relationships" id="2147483659" r:id="Rda5489e7b5ee4740"/>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自定义 4199">
      <a:dk1>
        <a:srgbClr val="000000"/>
      </a:dk1>
      <a:lt1>
        <a:srgbClr val="FFFFFF"/>
      </a:lt1>
      <a:dk2>
        <a:srgbClr val="44546A"/>
      </a:dk2>
      <a:lt2>
        <a:srgbClr val="E7E6E6"/>
      </a:lt2>
      <a:accent1>
        <a:srgbClr val="013D7A"/>
      </a:accent1>
      <a:accent2>
        <a:srgbClr val="F07902"/>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自定义 419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344cea0a56634914" /><Relationship Type="http://schemas.openxmlformats.org/officeDocument/2006/relationships/image" Target="/ppt/media/image.jpeg" Id="R58c35b1f5e6748ae" /><Relationship Type="http://schemas.openxmlformats.org/officeDocument/2006/relationships/image" Target="/ppt/media/image.png" Id="R750c15473dc14e99" /><Relationship Type="http://schemas.openxmlformats.org/officeDocument/2006/relationships/image" Target="/ppt/media/image2.png" Id="R94cb2c7ae2ad4689" /><Relationship Type="http://schemas.openxmlformats.org/officeDocument/2006/relationships/notesSlide" Target="/ppt/notesSlides/notesSlide1.xml" Id="Rac11ba78969f42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db6dc852751b4bcb" /><Relationship Type="http://schemas.openxmlformats.org/officeDocument/2006/relationships/image" Target="/ppt/media/image.png" Id="Rb87328877e8f4d91" /><Relationship Type="http://schemas.openxmlformats.org/officeDocument/2006/relationships/notesSlide" Target="/ppt/notesSlides/notesSlide2.xml" Id="Rb2e6364c94d648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b2dcacc0742f4c67" /><Relationship Type="http://schemas.openxmlformats.org/officeDocument/2006/relationships/image" Target="/ppt/media/image.png" Id="R0aecf26316d04b65" /><Relationship Type="http://schemas.openxmlformats.org/officeDocument/2006/relationships/image" Target="/ppt/media/image3.png" Id="R90e02241be0d4690" /><Relationship Type="http://schemas.openxmlformats.org/officeDocument/2006/relationships/image" Target="/ppt/media/image2.jpeg" Id="Rc46229b835b840e2" /><Relationship Type="http://schemas.openxmlformats.org/officeDocument/2006/relationships/notesSlide" Target="/ppt/notesSlides/notesSlide3.xml" Id="Rff7bacd83ea441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f5235280479402f" /><Relationship Type="http://schemas.openxmlformats.org/officeDocument/2006/relationships/image" Target="/ppt/media/image.png" Id="R3c9dd1adad8141f4" /><Relationship Type="http://schemas.openxmlformats.org/officeDocument/2006/relationships/notesSlide" Target="/ppt/notesSlides/notesSlide4.xml" Id="Ra9cbca90394b47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e7803771da884892" /><Relationship Type="http://schemas.openxmlformats.org/officeDocument/2006/relationships/image" Target="/ppt/media/image.png" Id="R380dfd0f29a94b35" /><Relationship Type="http://schemas.openxmlformats.org/officeDocument/2006/relationships/notesSlide" Target="/ppt/notesSlides/notesSlide5.xml" Id="Rb234e945ecf548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a0f533e83624974" /><Relationship Type="http://schemas.openxmlformats.org/officeDocument/2006/relationships/image" Target="/ppt/media/image.png" Id="Rddf3c810167140c9" /><Relationship Type="http://schemas.openxmlformats.org/officeDocument/2006/relationships/chart" Target="/ppt/slides/charts/chart1.xml" Id="R007922da199d45a2" /><Relationship Type="http://schemas.openxmlformats.org/officeDocument/2006/relationships/notesSlide" Target="/ppt/notesSlides/notesSlide6.xml" Id="R116840fa9de846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68e7897415e94f1d" /><Relationship Type="http://schemas.openxmlformats.org/officeDocument/2006/relationships/image" Target="/ppt/media/image.png" Id="R1f399e8af79f4187" /><Relationship Type="http://schemas.openxmlformats.org/officeDocument/2006/relationships/notesSlide" Target="/ppt/notesSlides/notesSlide7.xml" Id="R28be57152db24d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5fbf67e0395e4418" /><Relationship Type="http://schemas.openxmlformats.org/officeDocument/2006/relationships/image" Target="/ppt/media/image.png" Id="R914164fcdbfe42ad" /><Relationship Type="http://schemas.openxmlformats.org/officeDocument/2006/relationships/image" Target="/ppt/media/image4.png" Id="R01aca9377fec43d2" /><Relationship Type="http://schemas.openxmlformats.org/officeDocument/2006/relationships/image" Target="/ppt/media/image5.png" Id="Rd91240b41a3f4243" /><Relationship Type="http://schemas.openxmlformats.org/officeDocument/2006/relationships/notesSlide" Target="/ppt/notesSlides/notesSlide8.xml" Id="Rcb0b254703914141"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85a9058247e940c8" /><Relationship Type="http://schemas.openxmlformats.org/officeDocument/2006/relationships/image" Target="/ppt/media/image.png" Id="R11e7186a5e814e8d" /><Relationship Type="http://schemas.openxmlformats.org/officeDocument/2006/relationships/notesSlide" Target="/ppt/notesSlides/notesSlide9.xml" Id="R6a7ca227c1e24f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510a3ce633145bd" /><Relationship Type="http://schemas.openxmlformats.org/officeDocument/2006/relationships/image" Target="/ppt/media/image.png" Id="R80864667a5b34287" /><Relationship Type="http://schemas.openxmlformats.org/officeDocument/2006/relationships/notesSlide" Target="/ppt/notesSlides/notesSlide10.xml" Id="R7692fc341d9e46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0021ca7585e4c63" /><Relationship Type="http://schemas.openxmlformats.org/officeDocument/2006/relationships/image" Target="/ppt/media/image.png" Id="Re5b986bf9371412e" /><Relationship Type="http://schemas.openxmlformats.org/officeDocument/2006/relationships/notesSlide" Target="/ppt/notesSlides/notesSlide11.xml" Id="Ra92ecd1d4dae4b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e5345fe5e1bf47cc" /><Relationship Type="http://schemas.openxmlformats.org/officeDocument/2006/relationships/image" Target="/ppt/media/image.png" Id="Rdd14d43400734e48" /><Relationship Type="http://schemas.openxmlformats.org/officeDocument/2006/relationships/notesSlide" Target="/ppt/notesSlides/notesSlide12.xml" Id="R69ed9fa195e94bf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0dfa2b06984f4800" /><Relationship Type="http://schemas.openxmlformats.org/officeDocument/2006/relationships/image" Target="/ppt/media/image.png" Id="R1682d3594c7e4b1e" /><Relationship Type="http://schemas.openxmlformats.org/officeDocument/2006/relationships/notesSlide" Target="/ppt/notesSlides/notesSlide13.xml" Id="R1c37e33ed3884df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7debd9201a9a46f4" /><Relationship Type="http://schemas.openxmlformats.org/officeDocument/2006/relationships/image" Target="/ppt/media/image.png" Id="R6aa769f633f24f49" /><Relationship Type="http://schemas.openxmlformats.org/officeDocument/2006/relationships/notesSlide" Target="/ppt/notesSlides/notesSlide14.xml" Id="R1beba2e61cd5407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75767b9a4d684764" /><Relationship Type="http://schemas.openxmlformats.org/officeDocument/2006/relationships/image" Target="/ppt/media/image.png" Id="R07489c93d61442a3" /><Relationship Type="http://schemas.openxmlformats.org/officeDocument/2006/relationships/notesSlide" Target="/ppt/notesSlides/notesSlide15.xml" Id="Rfad362dc4ce845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278c5bed42744c37" /><Relationship Type="http://schemas.openxmlformats.org/officeDocument/2006/relationships/image" Target="/ppt/media/image.png" Id="R2a2437d9b8cc49d0" /><Relationship Type="http://schemas.openxmlformats.org/officeDocument/2006/relationships/notesSlide" Target="/ppt/notesSlides/notesSlide16.xml" Id="R0211b7987db644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a314026ba804fc0" /><Relationship Type="http://schemas.openxmlformats.org/officeDocument/2006/relationships/image" Target="/ppt/media/image.png" Id="R84dfaabb4ada40f3" /><Relationship Type="http://schemas.openxmlformats.org/officeDocument/2006/relationships/chart" Target="/ppt/slides/charts/chart2.xml" Id="Rd9d95ee6b96c4c42" /><Relationship Type="http://schemas.openxmlformats.org/officeDocument/2006/relationships/notesSlide" Target="/ppt/notesSlides/notesSlide17.xml" Id="R1b05bda169b54fe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86a9145720da42f5" /><Relationship Type="http://schemas.openxmlformats.org/officeDocument/2006/relationships/image" Target="/ppt/media/image.png" Id="R7d557dd7262b44b6" /><Relationship Type="http://schemas.openxmlformats.org/officeDocument/2006/relationships/chart" Target="/ppt/slides/charts/chart3.xml" Id="Rb9336f2fbf8a4a90" /><Relationship Type="http://schemas.openxmlformats.org/officeDocument/2006/relationships/notesSlide" Target="/ppt/notesSlides/notesSlide18.xml" Id="R9bffd4f2921444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9bd3a37e4c8d4d1e" /><Relationship Type="http://schemas.openxmlformats.org/officeDocument/2006/relationships/image" Target="/ppt/media/image.png" Id="R4e61a27b04014cff" /><Relationship Type="http://schemas.openxmlformats.org/officeDocument/2006/relationships/chart" Target="/ppt/slides/charts/chart4.xml" Id="R7c90bbb1a33c4600" /><Relationship Type="http://schemas.openxmlformats.org/officeDocument/2006/relationships/chart" Target="/ppt/slides/charts/chart5.xml" Id="R8df8775709d24164" /><Relationship Type="http://schemas.openxmlformats.org/officeDocument/2006/relationships/notesSlide" Target="/ppt/notesSlides/notesSlide19.xml" Id="R302eaccd68b842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127509cd135148e0" /><Relationship Type="http://schemas.openxmlformats.org/officeDocument/2006/relationships/image" Target="/ppt/media/image.png" Id="R58de843fa4204d59" /><Relationship Type="http://schemas.openxmlformats.org/officeDocument/2006/relationships/chart" Target="/ppt/slides/charts/chart6.xml" Id="R592b8da355f946f6" /><Relationship Type="http://schemas.openxmlformats.org/officeDocument/2006/relationships/notesSlide" Target="/ppt/notesSlides/notesSlide20.xml" Id="R037a155c50764b3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23ba0df70b2046c0" /><Relationship Type="http://schemas.openxmlformats.org/officeDocument/2006/relationships/image" Target="/ppt/media/image.png" Id="Rbf045bb565264594" /><Relationship Type="http://schemas.openxmlformats.org/officeDocument/2006/relationships/chart" Target="/ppt/slides/charts/chart7.xml" Id="R89762d595a5c4192" /><Relationship Type="http://schemas.openxmlformats.org/officeDocument/2006/relationships/notesSlide" Target="/ppt/notesSlides/notesSlide21.xml" Id="R33007ea5f1c24e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1eb60b2eb8d54133" /><Relationship Type="http://schemas.openxmlformats.org/officeDocument/2006/relationships/image" Target="/ppt/media/image.png" Id="R160518afbb744ec2" /><Relationship Type="http://schemas.openxmlformats.org/officeDocument/2006/relationships/chart" Target="/ppt/slides/charts/chart8.xml" Id="R2fde8d3d6a97449b" /><Relationship Type="http://schemas.openxmlformats.org/officeDocument/2006/relationships/chart" Target="/ppt/slides/charts/chart9.xml" Id="Rc208d5196e074757" /><Relationship Type="http://schemas.openxmlformats.org/officeDocument/2006/relationships/notesSlide" Target="/ppt/notesSlides/notesSlide22.xml" Id="Rb682924580d9494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c288535fd00e48c5" /><Relationship Type="http://schemas.openxmlformats.org/officeDocument/2006/relationships/image" Target="/ppt/media/image.png" Id="Rfd836d584cb1457c" /><Relationship Type="http://schemas.openxmlformats.org/officeDocument/2006/relationships/chart" Target="/ppt/slides/charts/chart10.xml" Id="Rdd382444502c40d8" /><Relationship Type="http://schemas.openxmlformats.org/officeDocument/2006/relationships/chart" Target="/ppt/slides/charts/chart11.xml" Id="R8a594ba8c3a841cc" /><Relationship Type="http://schemas.openxmlformats.org/officeDocument/2006/relationships/notesSlide" Target="/ppt/notesSlides/notesSlide23.xml" Id="Rc49c183ab7af45f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7e04338accc84363" /><Relationship Type="http://schemas.openxmlformats.org/officeDocument/2006/relationships/image" Target="/ppt/media/image.png" Id="R0716fd4900c74fcf" /><Relationship Type="http://schemas.openxmlformats.org/officeDocument/2006/relationships/notesSlide" Target="/ppt/notesSlides/notesSlide24.xml" Id="R42e8cb20ad764f4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d1ce32a300434697" /><Relationship Type="http://schemas.openxmlformats.org/officeDocument/2006/relationships/image" Target="/ppt/media/image.png" Id="R158f1bf8b7894b13" /><Relationship Type="http://schemas.openxmlformats.org/officeDocument/2006/relationships/notesSlide" Target="/ppt/notesSlides/notesSlide25.xml" Id="Rfb62fe3fd92947c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5e967bedfb34e7f" /><Relationship Type="http://schemas.openxmlformats.org/officeDocument/2006/relationships/image" Target="/ppt/media/image.png" Id="R9798fcadae464189" /><Relationship Type="http://schemas.openxmlformats.org/officeDocument/2006/relationships/notesSlide" Target="/ppt/notesSlides/notesSlide26.xml" Id="Rda3b2a2fd4d441e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aee2389d6ad4416" /><Relationship Type="http://schemas.openxmlformats.org/officeDocument/2006/relationships/image" Target="/ppt/media/image.jpeg" Id="Re7ddb738f0254259" /><Relationship Type="http://schemas.openxmlformats.org/officeDocument/2006/relationships/image" Target="/ppt/media/image.png" Id="Rc6f25bdef7a24549" /><Relationship Type="http://schemas.openxmlformats.org/officeDocument/2006/relationships/image" Target="/ppt/media/image2.png" Id="Rcb92144cfc4d4c74" /><Relationship Type="http://schemas.openxmlformats.org/officeDocument/2006/relationships/notesSlide" Target="/ppt/notesSlides/notesSlide27.xml" Id="Rded206bfa441493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1062eb279644d8f" /><Relationship Type="http://schemas.openxmlformats.org/officeDocument/2006/relationships/image" Target="/ppt/media/image.png" Id="Rbfed285071714b95" /><Relationship Type="http://schemas.openxmlformats.org/officeDocument/2006/relationships/notesSlide" Target="/ppt/notesSlides/notesSlide28.xml" Id="Ra12084f9f85c42a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eef8786f849d4730" /><Relationship Type="http://schemas.openxmlformats.org/officeDocument/2006/relationships/image" Target="/ppt/media/image.png" Id="R01ad97e9122148da" /><Relationship Type="http://schemas.openxmlformats.org/officeDocument/2006/relationships/notesSlide" Target="/ppt/notesSlides/notesSlide29.xml" Id="Rb838188feb6d422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02693102ac124686" /><Relationship Type="http://schemas.openxmlformats.org/officeDocument/2006/relationships/image" Target="/ppt/media/image.png" Id="Rd2f9e15806e94fa4" /><Relationship Type="http://schemas.openxmlformats.org/officeDocument/2006/relationships/notesSlide" Target="/ppt/notesSlides/notesSlide30.xml" Id="R2b6e9a32fb40441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63596b21fca04b87" /><Relationship Type="http://schemas.openxmlformats.org/officeDocument/2006/relationships/image" Target="/ppt/media/image.png" Id="Rbecf4801e8e24044" /><Relationship Type="http://schemas.openxmlformats.org/officeDocument/2006/relationships/notesSlide" Target="/ppt/notesSlides/notesSlide31.xml" Id="Rf9e0291a6ec148b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11bfca75d8564f39" /><Relationship Type="http://schemas.openxmlformats.org/officeDocument/2006/relationships/image" Target="/ppt/media/image.png" Id="R7b33d37032104a5b" /><Relationship Type="http://schemas.openxmlformats.org/officeDocument/2006/relationships/notesSlide" Target="/ppt/notesSlides/notesSlide32.xml" Id="R21c74799dc804ca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c7c5252dc21149a1" /><Relationship Type="http://schemas.openxmlformats.org/officeDocument/2006/relationships/image" Target="/ppt/media/image.png" Id="R09eed1faa7ff4bda" /><Relationship Type="http://schemas.openxmlformats.org/officeDocument/2006/relationships/notesSlide" Target="/ppt/notesSlides/notesSlide33.xml" Id="R1c44f4ce6e2047e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99cadc7f2c448e8" /><Relationship Type="http://schemas.openxmlformats.org/officeDocument/2006/relationships/image" Target="/ppt/media/image.png" Id="R9d7b93fa18e34fdf" /><Relationship Type="http://schemas.openxmlformats.org/officeDocument/2006/relationships/notesSlide" Target="/ppt/notesSlides/notesSlide34.xml" Id="R33138f147b7f470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8f1abdabefe44bd8" /><Relationship Type="http://schemas.openxmlformats.org/officeDocument/2006/relationships/image" Target="/ppt/media/image.png" Id="Rafc19552ada347e5" /><Relationship Type="http://schemas.openxmlformats.org/officeDocument/2006/relationships/notesSlide" Target="/ppt/notesSlides/notesSlide35.xml" Id="Rba2a68b7e6484e7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d28086e507da4144" /><Relationship Type="http://schemas.openxmlformats.org/officeDocument/2006/relationships/image" Target="/ppt/media/image.png" Id="Re8377a922e424210" /><Relationship Type="http://schemas.openxmlformats.org/officeDocument/2006/relationships/notesSlide" Target="/ppt/notesSlides/notesSlide36.xml" Id="R989d3b56d8894c3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5913fc13d4824384" /><Relationship Type="http://schemas.openxmlformats.org/officeDocument/2006/relationships/image" Target="/ppt/media/image.png" Id="R4435187e1dd24b71" /><Relationship Type="http://schemas.openxmlformats.org/officeDocument/2006/relationships/hyperlink" Target="https://github.com/ModaYoung/DSA5206" TargetMode="External" Id="R974cffbf59dc4dd0" /><Relationship Type="http://schemas.openxmlformats.org/officeDocument/2006/relationships/notesSlide" Target="/ppt/notesSlides/notesSlide37.xml" Id="R56fc3384c83e498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d4c6ec8243ed4ded" /><Relationship Type="http://schemas.openxmlformats.org/officeDocument/2006/relationships/image" Target="/ppt/media/image.png" Id="Re545175d46084235" /><Relationship Type="http://schemas.openxmlformats.org/officeDocument/2006/relationships/notesSlide" Target="/ppt/notesSlides/notesSlide38.xml" Id="Rb5f2042c7ecb45d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ab925821df8d40f9" /><Relationship Type="http://schemas.openxmlformats.org/officeDocument/2006/relationships/image" Target="/ppt/media/image.png" Id="R336f6e38abce444a" /><Relationship Type="http://schemas.openxmlformats.org/officeDocument/2006/relationships/notesSlide" Target="/ppt/notesSlides/notesSlide39.xml" Id="R39a1e1e233104f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Missing image records out of 94</c:v>
          </c:tx>
          <c:spPr>
            <a:solidFill xmlns:a="http://schemas.openxmlformats.org/drawingml/2006/main">
              <a:srgbClr val="013D7A"/>
            </a:solidFill>
          </c:spPr>
          <c:invertIfNegative val="0"/>
          <c:dPt>
            <c:idx val="0"/>
            <c:invertIfNegative val="0"/>
            <c:spPr>
              <a:solidFill xmlns:a="http://schemas.openxmlformats.org/drawingml/2006/main">
                <a:srgbClr val="013D7A"/>
              </a:solidFill>
            </c:spPr>
          </c:dPt>
          <c:dPt>
            <c:idx val="1"/>
            <c:invertIfNegative val="0"/>
            <c:spPr>
              <a:solidFill xmlns:a="http://schemas.openxmlformats.org/drawingml/2006/main">
                <a:srgbClr val="013D7A"/>
              </a:solidFill>
            </c:spPr>
          </c:dPt>
          <c:dPt>
            <c:idx val="2"/>
            <c:invertIfNegative val="0"/>
            <c:spPr>
              <a:solidFill xmlns:a="http://schemas.openxmlformats.org/drawingml/2006/main">
                <a:srgbClr val="F07902"/>
              </a:solidFill>
            </c:spPr>
          </c:dPt>
          <c:dPt>
            <c:idx val="3"/>
            <c:invertIfNegative val="0"/>
            <c:spPr>
              <a:solidFill xmlns:a="http://schemas.openxmlformats.org/drawingml/2006/main">
                <a:srgbClr val="013D7A"/>
              </a:solidFill>
            </c:spPr>
          </c:dPt>
          <c:dPt>
            <c:idx val="4"/>
            <c:invertIfNegative val="0"/>
            <c:spPr>
              <a:solidFill xmlns:a="http://schemas.openxmlformats.org/drawingml/2006/main">
                <a:srgbClr val="59636E"/>
              </a:solidFill>
            </c:spPr>
          </c:dPt>
          <c:dPt>
            <c:idx val="5"/>
            <c:invertIfNegative val="0"/>
            <c:spPr>
              <a:solidFill xmlns:a="http://schemas.openxmlformats.org/drawingml/2006/main">
                <a:srgbClr val="59636E"/>
              </a:solidFill>
            </c:spPr>
          </c:dPt>
          <c:cat>
            <c:strRef>
              <c:f>'Chart Data'!$A$2:$A$7</c:f>
              <c:strCache>
                <c:ptCount val="6"/>
                <c:pt idx="0">
                  <c:v>Age</c:v>
                </c:pt>
                <c:pt idx="1">
                  <c:v>Sex</c:v>
                </c:pt>
                <c:pt idx="2">
                  <c:v>Survival</c:v>
                </c:pt>
                <c:pt idx="3">
                  <c:v>Time offset</c:v>
                </c:pt>
                <c:pt idx="4">
                  <c:v>Severity scores</c:v>
                </c:pt>
                <c:pt idx="5">
                  <c:v>Image files</c:v>
                </c:pt>
              </c:strCache>
            </c:strRef>
          </c:cat>
          <c:val>
            <c:numRef>
              <c:f>'Chart Data'!$B$2:$B$7</c:f>
              <c:numCache>
                <c:formatCode>0</c:formatCode>
                <c:ptCount val="6"/>
                <c:pt idx="0">
                  <c:v>25</c:v>
                </c:pt>
                <c:pt idx="1">
                  <c:v>17</c:v>
                </c:pt>
                <c:pt idx="2">
                  <c:v>62</c:v>
                </c:pt>
                <c:pt idx="3">
                  <c:v>16</c:v>
                </c:pt>
                <c:pt idx="4">
                  <c:v>0</c:v>
                </c:pt>
                <c:pt idx="5">
                  <c:v>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BBCBDD"/>
            </a:solidFill>
          </a:ln>
        </c:spPr>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crossAx val="48672768"/>
      </c:catAx>
      <c:valAx>
        <c:axId val="48672768"/>
        <c:scaling>
          <c:orientation val="minMax"/>
          <c:max val="94"/>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59636E"/>
                    </a:solidFill>
                    <a:latin typeface="Arial"/>
                    <a:ea typeface="Arial"/>
                    <a:cs typeface="Arial"/>
                  </a:rPr>
                  <a:t>Missing image records out of 94</a:t>
                </a:r>
              </a:p>
            </c:rich>
          </c:tx>
          <c:overlay val="0"/>
          <c:txPr>
            <a:bodyPr xmlns:a="http://schemas.openxmlformats.org/drawingml/2006/main" anchorCtr="1"/>
            <a:lstStyle xmlns:a="http://schemas.openxmlformats.org/drawingml/2006/main"/>
            <a:p xmlns:a="http://schemas.openxmlformats.org/drawingml/2006/main">
              <a:pPr>
                <a:defRPr sz="1350">
                  <a:solidFill>
                    <a:srgbClr val="59636E"/>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absolute error</c:v>
          </c:tx>
          <c:spPr>
            <a:solidFill xmlns:a="http://schemas.openxmlformats.org/drawingml/2006/main">
              <a:srgbClr val="013D7A"/>
            </a:solidFill>
          </c:spPr>
          <c:invertIfNegative val="0"/>
          <c:dPt>
            <c:idx val="0"/>
            <c:invertIfNegative val="0"/>
            <c:spPr>
              <a:solidFill xmlns:a="http://schemas.openxmlformats.org/drawingml/2006/main">
                <a:srgbClr val="59636E"/>
              </a:solidFill>
            </c:spPr>
          </c:dPt>
          <c:dPt>
            <c:idx val="1"/>
            <c:invertIfNegative val="0"/>
            <c:spPr>
              <a:solidFill xmlns:a="http://schemas.openxmlformats.org/drawingml/2006/main">
                <a:srgbClr val="59636E"/>
              </a:solidFill>
            </c:spPr>
          </c:dPt>
          <c:dPt>
            <c:idx val="2"/>
            <c:invertIfNegative val="0"/>
            <c:spPr>
              <a:solidFill xmlns:a="http://schemas.openxmlformats.org/drawingml/2006/main">
                <a:srgbClr val="013D7A"/>
              </a:solidFill>
            </c:spPr>
          </c:dPt>
          <c:dPt>
            <c:idx val="3"/>
            <c:invertIfNegative val="0"/>
            <c:spPr>
              <a:solidFill xmlns:a="http://schemas.openxmlformats.org/drawingml/2006/main">
                <a:srgbClr val="F07902"/>
              </a:solidFill>
            </c:spPr>
          </c:dPt>
          <c:cat>
            <c:strRef>
              <c:f>'Chart Data'!$A$2:$A$5</c:f>
              <c:strCache>
                <c:ptCount val="4"/>
                <c:pt idx="0">
                  <c:v>Original OLS</c:v>
                </c:pt>
                <c:pt idx="1">
                  <c:v>Bounded OLS</c:v>
                </c:pt>
                <c:pt idx="2">
                  <c:v>BioViL PCA Ridge</c:v>
                </c:pt>
                <c:pt idx="3">
                  <c:v>Modern selector</c:v>
                </c:pt>
              </c:strCache>
            </c:strRef>
          </c:cat>
          <c:val>
            <c:numRef>
              <c:f>'Chart Data'!$B$2:$B$5</c:f>
              <c:numCache>
                <c:formatCode>0.000</c:formatCode>
                <c:ptCount val="4"/>
                <c:pt idx="0">
                  <c:v>1.165157</c:v>
                </c:pt>
                <c:pt idx="1">
                  <c:v>1.106975</c:v>
                </c:pt>
                <c:pt idx="2">
                  <c:v>0.762738</c:v>
                </c:pt>
                <c:pt idx="3">
                  <c:v>0.827388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BBCBDD"/>
            </a:solidFill>
          </a:ln>
        </c:spPr>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crossAx val="48672768"/>
      </c:catAx>
      <c:valAx>
        <c:axId val="48672768"/>
        <c:scaling>
          <c:orientation val="minMax"/>
          <c:max val="1.45"/>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59636E"/>
                    </a:solidFill>
                    <a:latin typeface="Arial"/>
                    <a:ea typeface="Arial"/>
                    <a:cs typeface="Arial"/>
                  </a:rPr>
                  <a:t>Mean absolute error</a:t>
                </a:r>
              </a:p>
            </c:rich>
          </c:tx>
          <c:overlay val="0"/>
          <c:txPr>
            <a:bodyPr xmlns:a="http://schemas.openxmlformats.org/drawingml/2006/main" anchorCtr="1"/>
            <a:lstStyle xmlns:a="http://schemas.openxmlformats.org/drawingml/2006/main"/>
            <a:p xmlns:a="http://schemas.openxmlformats.org/drawingml/2006/main">
              <a:pPr>
                <a:defRPr sz="1350">
                  <a:solidFill>
                    <a:srgbClr val="59636E"/>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absolute error</c:v>
          </c:tx>
          <c:spPr>
            <a:solidFill xmlns:a="http://schemas.openxmlformats.org/drawingml/2006/main">
              <a:srgbClr val="013D7A"/>
            </a:solidFill>
          </c:spPr>
          <c:invertIfNegative val="0"/>
          <c:dPt>
            <c:idx val="0"/>
            <c:invertIfNegative val="0"/>
            <c:spPr>
              <a:solidFill xmlns:a="http://schemas.openxmlformats.org/drawingml/2006/main">
                <a:srgbClr val="59636E"/>
              </a:solidFill>
            </c:spPr>
          </c:dPt>
          <c:dPt>
            <c:idx val="1"/>
            <c:invertIfNegative val="0"/>
            <c:spPr>
              <a:solidFill xmlns:a="http://schemas.openxmlformats.org/drawingml/2006/main">
                <a:srgbClr val="59636E"/>
              </a:solidFill>
            </c:spPr>
          </c:dPt>
          <c:dPt>
            <c:idx val="2"/>
            <c:invertIfNegative val="0"/>
            <c:spPr>
              <a:solidFill xmlns:a="http://schemas.openxmlformats.org/drawingml/2006/main">
                <a:srgbClr val="013D7A"/>
              </a:solidFill>
            </c:spPr>
          </c:dPt>
          <c:dPt>
            <c:idx val="3"/>
            <c:invertIfNegative val="0"/>
            <c:spPr>
              <a:solidFill xmlns:a="http://schemas.openxmlformats.org/drawingml/2006/main">
                <a:srgbClr val="F07902"/>
              </a:solidFill>
            </c:spPr>
          </c:dPt>
          <c:cat>
            <c:strRef>
              <c:f>'Chart Data'!$A$2:$A$5</c:f>
              <c:strCache>
                <c:ptCount val="4"/>
                <c:pt idx="0">
                  <c:v>Original OLS</c:v>
                </c:pt>
                <c:pt idx="1">
                  <c:v>Bounded OLS</c:v>
                </c:pt>
                <c:pt idx="2">
                  <c:v>BioViL-T PCA Ridge</c:v>
                </c:pt>
                <c:pt idx="3">
                  <c:v>Modern selector</c:v>
                </c:pt>
              </c:strCache>
            </c:strRef>
          </c:cat>
          <c:val>
            <c:numRef>
              <c:f>'Chart Data'!$B$2:$B$5</c:f>
              <c:numCache>
                <c:formatCode>0.000</c:formatCode>
                <c:ptCount val="4"/>
                <c:pt idx="0">
                  <c:v>0.766338</c:v>
                </c:pt>
                <c:pt idx="1">
                  <c:v>0.745338</c:v>
                </c:pt>
                <c:pt idx="2">
                  <c:v>0.661716</c:v>
                </c:pt>
                <c:pt idx="3">
                  <c:v>0.700857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BBCBDD"/>
            </a:solidFill>
          </a:ln>
        </c:spPr>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crossAx val="48672768"/>
      </c:catAx>
      <c:valAx>
        <c:axId val="48672768"/>
        <c:scaling>
          <c:orientation val="minMax"/>
          <c:max val="1.05"/>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59636E"/>
                    </a:solidFill>
                    <a:latin typeface="Arial"/>
                    <a:ea typeface="Arial"/>
                    <a:cs typeface="Arial"/>
                  </a:rPr>
                  <a:t>Mean absolute error</a:t>
                </a:r>
              </a:p>
            </c:rich>
          </c:tx>
          <c:overlay val="0"/>
          <c:txPr>
            <a:bodyPr xmlns:a="http://schemas.openxmlformats.org/drawingml/2006/main" anchorCtr="1"/>
            <a:lstStyle xmlns:a="http://schemas.openxmlformats.org/drawingml/2006/main"/>
            <a:p xmlns:a="http://schemas.openxmlformats.org/drawingml/2006/main">
              <a:pPr>
                <a:defRPr sz="1350">
                  <a:solidFill>
                    <a:srgbClr val="59636E"/>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013D7A"/>
                </a:solidFill>
                <a:latin typeface="Arial"/>
                <a:ea typeface="Arial"/>
                <a:cs typeface="Arial"/>
              </a:rPr>
              <a:t>Geographic Extent</a:t>
            </a:r>
          </a:p>
        </c:rich>
      </c:tx>
      <c:overlay val="0"/>
      <c:txPr>
        <a:bodyPr xmlns:a="http://schemas.openxmlformats.org/drawingml/2006/main" anchorCtr="1"/>
        <a:lstStyle xmlns:a="http://schemas.openxmlformats.org/drawingml/2006/main"/>
        <a:p xmlns:a="http://schemas.openxmlformats.org/drawingml/2006/main">
          <a:pPr>
            <a:defRPr sz="1800" b="1">
              <a:solidFill>
                <a:srgbClr val="013D7A"/>
              </a:solidFill>
              <a:latin typeface="Arial"/>
              <a:ea typeface="Arial"/>
              <a:cs typeface="Arial"/>
            </a:defRPr>
          </a:pPr>
        </a:p>
      </c:txPr>
    </c:title>
    <c:plotArea>
      <c:barChart>
        <c:barDir val="bar"/>
        <c:grouping val="clustered"/>
        <c:varyColors val="0"/>
        <c:ser>
          <c:idx val="0"/>
          <c:order val="0"/>
          <c:tx>
            <c:v>Mean absolute error</c:v>
          </c:tx>
          <c:spPr>
            <a:solidFill xmlns:a="http://schemas.openxmlformats.org/drawingml/2006/main">
              <a:srgbClr val="013D7A"/>
            </a:solidFill>
          </c:spPr>
          <c:invertIfNegative val="0"/>
          <c:dPt>
            <c:idx val="0"/>
            <c:invertIfNegative val="0"/>
            <c:spPr>
              <a:solidFill xmlns:a="http://schemas.openxmlformats.org/drawingml/2006/main">
                <a:srgbClr val="59636E"/>
              </a:solidFill>
            </c:spPr>
          </c:dPt>
          <c:dPt>
            <c:idx val="1"/>
            <c:invertIfNegative val="0"/>
            <c:spPr>
              <a:solidFill xmlns:a="http://schemas.openxmlformats.org/drawingml/2006/main">
                <a:srgbClr val="013D7A"/>
              </a:solidFill>
            </c:spPr>
          </c:dPt>
          <c:dPt>
            <c:idx val="2"/>
            <c:invertIfNegative val="0"/>
            <c:spPr>
              <a:solidFill xmlns:a="http://schemas.openxmlformats.org/drawingml/2006/main">
                <a:srgbClr val="F07902"/>
              </a:solidFill>
            </c:spPr>
          </c:dPt>
          <c:dPt>
            <c:idx val="3"/>
            <c:invertIfNegative val="0"/>
            <c:spPr>
              <a:solidFill xmlns:a="http://schemas.openxmlformats.org/drawingml/2006/main">
                <a:srgbClr val="F07902"/>
              </a:solidFill>
            </c:spPr>
          </c:dPt>
          <c:cat>
            <c:strRef>
              <c:f>'Chart Data'!$A$2:$A$5</c:f>
              <c:strCache>
                <c:ptCount val="4"/>
                <c:pt idx="0">
                  <c:v>Bounded OLS</c:v>
                </c:pt>
                <c:pt idx="1">
                  <c:v>Observed best</c:v>
                </c:pt>
                <c:pt idx="2">
                  <c:v>Modern selector</c:v>
                </c:pt>
                <c:pt idx="3">
                  <c:v>All selector</c:v>
                </c:pt>
              </c:strCache>
            </c:strRef>
          </c:cat>
          <c:val>
            <c:numRef>
              <c:f>'Chart Data'!$B$2:$B$5</c:f>
              <c:numCache>
                <c:formatCode>0.000</c:formatCode>
                <c:ptCount val="4"/>
                <c:pt idx="0">
                  <c:v>1.106975</c:v>
                </c:pt>
                <c:pt idx="1">
                  <c:v>0.762738</c:v>
                </c:pt>
                <c:pt idx="2">
                  <c:v>0.827388</c:v>
                </c:pt>
                <c:pt idx="3">
                  <c:v>0.827388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BBCBDD"/>
            </a:solidFill>
          </a:ln>
        </c:spPr>
        <c:txPr>
          <a:bodyPr xmlns:a="http://schemas.openxmlformats.org/drawingml/2006/main" anchorCtr="1"/>
          <a:lstStyle xmlns:a="http://schemas.openxmlformats.org/drawingml/2006/main"/>
          <a:p xmlns:a="http://schemas.openxmlformats.org/drawingml/2006/main">
            <a:pPr>
              <a:defRPr sz="1350">
                <a:solidFill>
                  <a:srgbClr val="202832"/>
                </a:solidFill>
                <a:latin typeface="Arial"/>
                <a:ea typeface="Arial"/>
                <a:cs typeface="Arial"/>
              </a:defRPr>
            </a:pPr>
          </a:p>
        </c:txPr>
        <c:crossAx val="48672768"/>
      </c:catAx>
      <c:valAx>
        <c:axId val="48672768"/>
        <c:scaling>
          <c:orientation val="minMax"/>
          <c:max val="1.4"/>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59636E"/>
                    </a:solidFill>
                    <a:latin typeface="Arial"/>
                    <a:ea typeface="Arial"/>
                    <a:cs typeface="Arial"/>
                  </a:rPr>
                  <a:t>Mean absolute error</a:t>
                </a:r>
              </a:p>
            </c:rich>
          </c:tx>
          <c:overlay val="0"/>
          <c:txPr>
            <a:bodyPr xmlns:a="http://schemas.openxmlformats.org/drawingml/2006/main" anchorCtr="1"/>
            <a:lstStyle xmlns:a="http://schemas.openxmlformats.org/drawingml/2006/main"/>
            <a:p xmlns:a="http://schemas.openxmlformats.org/drawingml/2006/main">
              <a:pPr>
                <a:defRPr sz="1350">
                  <a:solidFill>
                    <a:srgbClr val="59636E"/>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013D7A"/>
                </a:solidFill>
                <a:latin typeface="Arial"/>
                <a:ea typeface="Arial"/>
                <a:cs typeface="Arial"/>
              </a:rPr>
              <a:t>Opacity</a:t>
            </a:r>
          </a:p>
        </c:rich>
      </c:tx>
      <c:overlay val="0"/>
      <c:txPr>
        <a:bodyPr xmlns:a="http://schemas.openxmlformats.org/drawingml/2006/main" anchorCtr="1"/>
        <a:lstStyle xmlns:a="http://schemas.openxmlformats.org/drawingml/2006/main"/>
        <a:p xmlns:a="http://schemas.openxmlformats.org/drawingml/2006/main">
          <a:pPr>
            <a:defRPr sz="1800" b="1">
              <a:solidFill>
                <a:srgbClr val="013D7A"/>
              </a:solidFill>
              <a:latin typeface="Arial"/>
              <a:ea typeface="Arial"/>
              <a:cs typeface="Arial"/>
            </a:defRPr>
          </a:pPr>
        </a:p>
      </c:txPr>
    </c:title>
    <c:plotArea>
      <c:barChart>
        <c:barDir val="bar"/>
        <c:grouping val="clustered"/>
        <c:varyColors val="0"/>
        <c:ser>
          <c:idx val="0"/>
          <c:order val="0"/>
          <c:tx>
            <c:v>Mean absolute error</c:v>
          </c:tx>
          <c:spPr>
            <a:solidFill xmlns:a="http://schemas.openxmlformats.org/drawingml/2006/main">
              <a:srgbClr val="013D7A"/>
            </a:solidFill>
          </c:spPr>
          <c:invertIfNegative val="0"/>
          <c:dPt>
            <c:idx val="0"/>
            <c:invertIfNegative val="0"/>
            <c:spPr>
              <a:solidFill xmlns:a="http://schemas.openxmlformats.org/drawingml/2006/main">
                <a:srgbClr val="59636E"/>
              </a:solidFill>
            </c:spPr>
          </c:dPt>
          <c:dPt>
            <c:idx val="1"/>
            <c:invertIfNegative val="0"/>
            <c:spPr>
              <a:solidFill xmlns:a="http://schemas.openxmlformats.org/drawingml/2006/main">
                <a:srgbClr val="013D7A"/>
              </a:solidFill>
            </c:spPr>
          </c:dPt>
          <c:dPt>
            <c:idx val="2"/>
            <c:invertIfNegative val="0"/>
            <c:spPr>
              <a:solidFill xmlns:a="http://schemas.openxmlformats.org/drawingml/2006/main">
                <a:srgbClr val="F07902"/>
              </a:solidFill>
            </c:spPr>
          </c:dPt>
          <c:dPt>
            <c:idx val="3"/>
            <c:invertIfNegative val="0"/>
            <c:spPr>
              <a:solidFill xmlns:a="http://schemas.openxmlformats.org/drawingml/2006/main">
                <a:srgbClr val="F07902"/>
              </a:solidFill>
            </c:spPr>
          </c:dPt>
          <c:cat>
            <c:strRef>
              <c:f>'Chart Data'!$A$2:$A$5</c:f>
              <c:strCache>
                <c:ptCount val="4"/>
                <c:pt idx="0">
                  <c:v>Bounded OLS</c:v>
                </c:pt>
                <c:pt idx="1">
                  <c:v>Observed best</c:v>
                </c:pt>
                <c:pt idx="2">
                  <c:v>Modern selector</c:v>
                </c:pt>
                <c:pt idx="3">
                  <c:v>All selector</c:v>
                </c:pt>
              </c:strCache>
            </c:strRef>
          </c:cat>
          <c:val>
            <c:numRef>
              <c:f>'Chart Data'!$B$2:$B$5</c:f>
              <c:numCache>
                <c:formatCode>0.000</c:formatCode>
                <c:ptCount val="4"/>
                <c:pt idx="0">
                  <c:v>0.745338</c:v>
                </c:pt>
                <c:pt idx="1">
                  <c:v>0.661716</c:v>
                </c:pt>
                <c:pt idx="2">
                  <c:v>0.700857</c:v>
                </c:pt>
                <c:pt idx="3">
                  <c:v>0.743216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BBCBDD"/>
            </a:solidFill>
          </a:ln>
        </c:spPr>
        <c:txPr>
          <a:bodyPr xmlns:a="http://schemas.openxmlformats.org/drawingml/2006/main" anchorCtr="1"/>
          <a:lstStyle xmlns:a="http://schemas.openxmlformats.org/drawingml/2006/main"/>
          <a:p xmlns:a="http://schemas.openxmlformats.org/drawingml/2006/main">
            <a:pPr>
              <a:defRPr sz="1350">
                <a:solidFill>
                  <a:srgbClr val="202832"/>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59636E"/>
                    </a:solidFill>
                    <a:latin typeface="Arial"/>
                    <a:ea typeface="Arial"/>
                    <a:cs typeface="Arial"/>
                  </a:rPr>
                  <a:t>Mean absolute error</a:t>
                </a:r>
              </a:p>
            </c:rich>
          </c:tx>
          <c:overlay val="0"/>
          <c:txPr>
            <a:bodyPr xmlns:a="http://schemas.openxmlformats.org/drawingml/2006/main" anchorCtr="1"/>
            <a:lstStyle xmlns:a="http://schemas.openxmlformats.org/drawingml/2006/main"/>
            <a:p xmlns:a="http://schemas.openxmlformats.org/drawingml/2006/main">
              <a:pPr>
                <a:defRPr sz="1350">
                  <a:solidFill>
                    <a:srgbClr val="59636E"/>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Extent</c:v>
          </c:tx>
          <c:spPr>
            <a:solidFill xmlns:a="http://schemas.openxmlformats.org/drawingml/2006/main">
              <a:srgbClr val="013D7A"/>
            </a:solidFill>
          </c:spPr>
          <c:invertIfNegative val="0"/>
          <c:cat>
            <c:strRef>
              <c:f>'Chart Data'!$A$2:$A$4</c:f>
              <c:strCache>
                <c:ptCount val="3"/>
                <c:pt idx="0">
                  <c:v>Observed best</c:v>
                </c:pt>
                <c:pt idx="1">
                  <c:v>Modern selector</c:v>
                </c:pt>
                <c:pt idx="2">
                  <c:v>All selector</c:v>
                </c:pt>
              </c:strCache>
            </c:strRef>
          </c:cat>
          <c:val>
            <c:numRef>
              <c:f>'Chart Data'!$B$2:$B$4</c:f>
              <c:numCache>
                <c:formatCode>0%</c:formatCode>
                <c:ptCount val="3"/>
                <c:pt idx="0">
                  <c:v>1</c:v>
                </c:pt>
                <c:pt idx="1">
                  <c:v>0.96</c:v>
                </c:pt>
                <c:pt idx="2">
                  <c:v>0.96</c:v>
                </c:pt>
              </c:numCache>
            </c:numRef>
          </c:val>
        </c:ser>
        <c:ser>
          <c:idx val="1"/>
          <c:order val="1"/>
          <c:tx>
            <c:v>Opacity</c:v>
          </c:tx>
          <c:spPr>
            <a:solidFill xmlns:a="http://schemas.openxmlformats.org/drawingml/2006/main">
              <a:srgbClr val="F07902"/>
            </a:solidFill>
          </c:spPr>
          <c:invertIfNegative val="0"/>
          <c:cat>
            <c:strRef>
              <c:f>'Chart Data'!$C$2:$C$4</c:f>
              <c:strCache>
                <c:ptCount val="3"/>
                <c:pt idx="0">
                  <c:v>Observed best</c:v>
                </c:pt>
                <c:pt idx="1">
                  <c:v>Modern selector</c:v>
                </c:pt>
                <c:pt idx="2">
                  <c:v>All selector</c:v>
                </c:pt>
              </c:strCache>
            </c:strRef>
          </c:cat>
          <c:val>
            <c:numRef>
              <c:f>'Chart Data'!$D$2:$D$4</c:f>
              <c:numCache>
                <c:formatCode>0%</c:formatCode>
                <c:ptCount val="3"/>
                <c:pt idx="0">
                  <c:v>0.9</c:v>
                </c:pt>
                <c:pt idx="1">
                  <c:v>0.68</c:v>
                </c:pt>
                <c:pt idx="2">
                  <c:v>0.5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BCBDD"/>
            </a:solidFill>
          </a:ln>
        </c:spPr>
        <c:txPr>
          <a:bodyPr xmlns:a="http://schemas.openxmlformats.org/drawingml/2006/main" anchorCtr="1"/>
          <a:lstStyle xmlns:a="http://schemas.openxmlformats.org/drawingml/2006/main"/>
          <a:p xmlns:a="http://schemas.openxmlformats.org/drawingml/2006/main">
            <a:pPr>
              <a:defRPr sz="1425">
                <a:solidFill>
                  <a:srgbClr val="202832"/>
                </a:solidFill>
                <a:latin typeface="Arial"/>
                <a:ea typeface="Arial"/>
                <a:cs typeface="Arial"/>
              </a:defRPr>
            </a:pPr>
          </a:p>
        </c:txPr>
        <c:crossAx val="48672768"/>
      </c:catAx>
      <c:valAx>
        <c:axId val="48672768"/>
        <c:scaling>
          <c:orientation val="minMax"/>
          <c:max val="1.1"/>
          <c:min val="0"/>
        </c:scaling>
        <c:delete val="0"/>
        <c:axPos val="l"/>
        <c:majorGridlines>
          <c:spPr>
            <a:ln xmlns:a="http://schemas.openxmlformats.org/drawingml/2006/main" w="9525">
              <a:solidFill>
                <a:srgbClr val="E4EBF1"/>
              </a:solidFill>
            </a:ln>
          </c:spPr>
        </c:majorGridlines>
        <c:title>
          <c:tx>
            <c:rich>
              <a:bodyPr xmlns:a="http://schemas.openxmlformats.org/drawingml/2006/main"/>
              <a:lstStyle xmlns:a="http://schemas.openxmlformats.org/drawingml/2006/main"/>
              <a:p xmlns:a="http://schemas.openxmlformats.org/drawingml/2006/main">
                <a:r>
                  <a:rPr sz="1350">
                    <a:solidFill>
                      <a:srgbClr val="59636E"/>
                    </a:solidFill>
                    <a:latin typeface="Arial"/>
                    <a:ea typeface="Arial"/>
                    <a:cs typeface="Arial"/>
                  </a:rPr>
                  <a:t>Fraction of paired splits with lower MAE</a:t>
                </a:r>
              </a:p>
            </c:rich>
          </c:tx>
          <c:overlay val="0"/>
          <c:txPr>
            <a:bodyPr xmlns:a="http://schemas.openxmlformats.org/drawingml/2006/main" anchorCtr="1"/>
            <a:lstStyle xmlns:a="http://schemas.openxmlformats.org/drawingml/2006/main"/>
            <a:p xmlns:a="http://schemas.openxmlformats.org/drawingml/2006/main">
              <a:pPr>
                <a:defRPr sz="1350">
                  <a:solidFill>
                    <a:srgbClr val="59636E"/>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202832"/>
              </a:solidFill>
              <a:latin typeface="Arial"/>
              <a:ea typeface="Arial"/>
              <a:cs typeface="Arial"/>
            </a:defRPr>
          </a:pPr>
        </a:p>
      </c:txPr>
    </c:legend>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Mean absolute error</c:v>
          </c:tx>
          <c:spPr>
            <a:solidFill xmlns:a="http://schemas.openxmlformats.org/drawingml/2006/main">
              <a:srgbClr val="013D7A"/>
            </a:solidFill>
          </c:spPr>
          <c:invertIfNegative val="0"/>
          <c:dPt>
            <c:idx val="0"/>
            <c:invertIfNegative val="0"/>
            <c:spPr>
              <a:solidFill xmlns:a="http://schemas.openxmlformats.org/drawingml/2006/main">
                <a:srgbClr val="F07902"/>
              </a:solidFill>
            </c:spPr>
          </c:dPt>
          <c:dPt>
            <c:idx val="1"/>
            <c:invertIfNegative val="0"/>
            <c:spPr>
              <a:solidFill xmlns:a="http://schemas.openxmlformats.org/drawingml/2006/main">
                <a:srgbClr val="013D7A"/>
              </a:solidFill>
            </c:spPr>
          </c:dPt>
          <c:dPt>
            <c:idx val="2"/>
            <c:invertIfNegative val="0"/>
            <c:spPr>
              <a:solidFill xmlns:a="http://schemas.openxmlformats.org/drawingml/2006/main">
                <a:srgbClr val="013D7A"/>
              </a:solidFill>
            </c:spPr>
          </c:dPt>
          <c:dPt>
            <c:idx val="3"/>
            <c:invertIfNegative val="0"/>
            <c:spPr>
              <a:solidFill xmlns:a="http://schemas.openxmlformats.org/drawingml/2006/main">
                <a:srgbClr val="013D7A"/>
              </a:solidFill>
            </c:spPr>
          </c:dPt>
          <c:cat>
            <c:strRef>
              <c:f>'Chart Data'!$A$2:$A$5</c:f>
              <c:strCache>
                <c:ptCount val="4"/>
                <c:pt idx="0">
                  <c:v>Original scaled Ridge</c:v>
                </c:pt>
                <c:pt idx="1">
                  <c:v>No feature scaling</c:v>
                </c:pt>
                <c:pt idx="2">
                  <c:v>Variance filter + scaling</c:v>
                </c:pt>
                <c:pt idx="3">
                  <c:v>PCA + Ridge</c:v>
                </c:pt>
              </c:strCache>
            </c:strRef>
          </c:cat>
          <c:val>
            <c:numRef>
              <c:f>'Chart Data'!$B$2:$B$5</c:f>
              <c:numCache>
                <c:formatCode>0.000</c:formatCode>
                <c:ptCount val="4"/>
                <c:pt idx="0">
                  <c:v>1.418557</c:v>
                </c:pt>
                <c:pt idx="1">
                  <c:v>1.152268</c:v>
                </c:pt>
                <c:pt idx="2">
                  <c:v>1.146258</c:v>
                </c:pt>
                <c:pt idx="3">
                  <c:v>1.177194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202832"/>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BBCBDD"/>
            </a:solidFill>
          </a:ln>
        </c:spPr>
        <c:txPr>
          <a:bodyPr xmlns:a="http://schemas.openxmlformats.org/drawingml/2006/main" anchorCtr="1"/>
          <a:lstStyle xmlns:a="http://schemas.openxmlformats.org/drawingml/2006/main"/>
          <a:p xmlns:a="http://schemas.openxmlformats.org/drawingml/2006/main">
            <a:pPr>
              <a:defRPr sz="1350">
                <a:solidFill>
                  <a:srgbClr val="202832"/>
                </a:solidFill>
                <a:latin typeface="Arial"/>
                <a:ea typeface="Arial"/>
                <a:cs typeface="Arial"/>
              </a:defRPr>
            </a:pPr>
          </a:p>
        </c:txPr>
        <c:crossAx val="48672768"/>
      </c:catAx>
      <c:valAx>
        <c:axId val="48672768"/>
        <c:scaling>
          <c:orientation val="minMax"/>
          <c:max val="1.8"/>
          <c:min val="0"/>
        </c:scaling>
        <c:delete val="0"/>
        <c:axPos val="b"/>
        <c:majorGridlines>
          <c:spPr>
            <a:ln xmlns:a="http://schemas.openxmlformats.org/drawingml/2006/main" w="9525">
              <a:solidFill>
                <a:srgbClr val="E5EBF0"/>
              </a:solidFill>
            </a:ln>
          </c:spPr>
        </c:majorGridlines>
        <c:title>
          <c:tx>
            <c:rich>
              <a:bodyPr xmlns:a="http://schemas.openxmlformats.org/drawingml/2006/main"/>
              <a:lstStyle xmlns:a="http://schemas.openxmlformats.org/drawingml/2006/main"/>
              <a:p xmlns:a="http://schemas.openxmlformats.org/drawingml/2006/main">
                <a:r>
                  <a:rPr sz="1350">
                    <a:solidFill>
                      <a:srgbClr val="59636E"/>
                    </a:solidFill>
                    <a:latin typeface="Arial"/>
                    <a:ea typeface="Arial"/>
                    <a:cs typeface="Arial"/>
                  </a:rPr>
                  <a:t>Mean absolute error</a:t>
                </a:r>
              </a:p>
            </c:rich>
          </c:tx>
          <c:overlay val="0"/>
          <c:txPr>
            <a:bodyPr xmlns:a="http://schemas.openxmlformats.org/drawingml/2006/main" anchorCtr="1"/>
            <a:lstStyle xmlns:a="http://schemas.openxmlformats.org/drawingml/2006/main"/>
            <a:p xmlns:a="http://schemas.openxmlformats.org/drawingml/2006/main">
              <a:pPr>
                <a:defRPr sz="1350">
                  <a:solidFill>
                    <a:srgbClr val="59636E"/>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a:noFill/>
        </a:ln>
      </c:spPr>
    </c:plotArea>
    <c:plotVisOnly val="1"/>
  </c:chart>
  <c:spPr>
    <a:solidFill xmlns:a="http://schemas.openxmlformats.org/drawingml/2006/main">
      <a:srgbClr val="FFFFFF"/>
    </a:solidFill>
    <a:ln xmlns:a="http://schemas.openxmlformats.org/drawingml/2006/main">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013D7A"/>
                </a:solidFill>
                <a:latin typeface="Arial"/>
                <a:ea typeface="Arial"/>
                <a:cs typeface="Arial"/>
              </a:rPr>
              <a:t>Geographic Extent</a:t>
            </a:r>
          </a:p>
        </c:rich>
      </c:tx>
      <c:overlay val="0"/>
      <c:txPr>
        <a:bodyPr xmlns:a="http://schemas.openxmlformats.org/drawingml/2006/main" anchorCtr="1"/>
        <a:lstStyle xmlns:a="http://schemas.openxmlformats.org/drawingml/2006/main"/>
        <a:p xmlns:a="http://schemas.openxmlformats.org/drawingml/2006/main">
          <a:pPr>
            <a:defRPr sz="1875" b="1">
              <a:solidFill>
                <a:srgbClr val="013D7A"/>
              </a:solidFill>
              <a:latin typeface="Arial"/>
              <a:ea typeface="Arial"/>
              <a:cs typeface="Arial"/>
            </a:defRPr>
          </a:pPr>
        </a:p>
      </c:txPr>
    </c:title>
    <c:plotArea>
      <c:scatterChart>
        <c:scatterStyle val="lineMarker"/>
        <c:varyColors val="0"/>
        <c:ser>
          <c:idx val="0"/>
          <c:order val="0"/>
          <c:tx>
            <c:v>BioViL PCA ridge</c:v>
          </c:tx>
          <c:spPr>
            <a:solidFill xmlns:a="http://schemas.openxmlformats.org/drawingml/2006/main">
              <a:srgbClr val="013D7A"/>
            </a:solidFill>
            <a:ln xmlns:a="http://schemas.openxmlformats.org/drawingml/2006/main" w="0">
              <a:noFill/>
            </a:ln>
          </c:spPr>
          <c:marker>
            <c:symbol val="circle"/>
            <c:size val="5"/>
            <c:spPr>
              <a:solidFill xmlns:a="http://schemas.openxmlformats.org/drawingml/2006/main">
                <a:srgbClr val="013D7A"/>
              </a:solidFill>
            </c:spPr>
          </c:marker>
          <c:xVal>
            <c:numRef>
              <c:f>'Chart Data'!$A$2:$A$95</c:f>
              <c:numCache>
                <c:formatCode>General</c:formatCode>
                <c:ptCount val="94"/>
                <c:pt idx="0">
                  <c:v>2.3</c:v>
                </c:pt>
                <c:pt idx="1">
                  <c:v>4</c:v>
                </c:pt>
                <c:pt idx="2">
                  <c:v>4.7</c:v>
                </c:pt>
                <c:pt idx="3">
                  <c:v>5.7</c:v>
                </c:pt>
                <c:pt idx="4">
                  <c:v>2</c:v>
                </c:pt>
                <c:pt idx="5">
                  <c:v>2.7</c:v>
                </c:pt>
                <c:pt idx="6">
                  <c:v>6</c:v>
                </c:pt>
                <c:pt idx="7">
                  <c:v>7.3</c:v>
                </c:pt>
                <c:pt idx="8">
                  <c:v>2</c:v>
                </c:pt>
                <c:pt idx="9">
                  <c:v>0.7</c:v>
                </c:pt>
                <c:pt idx="10">
                  <c:v>0</c:v>
                </c:pt>
                <c:pt idx="11">
                  <c:v>0.7</c:v>
                </c:pt>
                <c:pt idx="12">
                  <c:v>1.3</c:v>
                </c:pt>
                <c:pt idx="13">
                  <c:v>2</c:v>
                </c:pt>
                <c:pt idx="14">
                  <c:v>1.3</c:v>
                </c:pt>
                <c:pt idx="15">
                  <c:v>3.7</c:v>
                </c:pt>
                <c:pt idx="16">
                  <c:v>5.7</c:v>
                </c:pt>
                <c:pt idx="17">
                  <c:v>4.3</c:v>
                </c:pt>
                <c:pt idx="18">
                  <c:v>2</c:v>
                </c:pt>
                <c:pt idx="19">
                  <c:v>4.3</c:v>
                </c:pt>
                <c:pt idx="20">
                  <c:v>4.7</c:v>
                </c:pt>
                <c:pt idx="21">
                  <c:v>1.3</c:v>
                </c:pt>
                <c:pt idx="22">
                  <c:v>2.3</c:v>
                </c:pt>
                <c:pt idx="23">
                  <c:v>3.3</c:v>
                </c:pt>
                <c:pt idx="24">
                  <c:v>8</c:v>
                </c:pt>
                <c:pt idx="25">
                  <c:v>0</c:v>
                </c:pt>
                <c:pt idx="26">
                  <c:v>0.3</c:v>
                </c:pt>
                <c:pt idx="27">
                  <c:v>1.7</c:v>
                </c:pt>
                <c:pt idx="28">
                  <c:v>7</c:v>
                </c:pt>
                <c:pt idx="29">
                  <c:v>7.7</c:v>
                </c:pt>
                <c:pt idx="30">
                  <c:v>4</c:v>
                </c:pt>
                <c:pt idx="31">
                  <c:v>2</c:v>
                </c:pt>
                <c:pt idx="32">
                  <c:v>2</c:v>
                </c:pt>
                <c:pt idx="33">
                  <c:v>2</c:v>
                </c:pt>
                <c:pt idx="34">
                  <c:v>3</c:v>
                </c:pt>
                <c:pt idx="35">
                  <c:v>4.7</c:v>
                </c:pt>
                <c:pt idx="36">
                  <c:v>6.3</c:v>
                </c:pt>
                <c:pt idx="37">
                  <c:v>6</c:v>
                </c:pt>
                <c:pt idx="38">
                  <c:v>5.7</c:v>
                </c:pt>
                <c:pt idx="39">
                  <c:v>2.3</c:v>
                </c:pt>
                <c:pt idx="40">
                  <c:v>3.3</c:v>
                </c:pt>
                <c:pt idx="41">
                  <c:v>4</c:v>
                </c:pt>
                <c:pt idx="42">
                  <c:v>3.3</c:v>
                </c:pt>
                <c:pt idx="43">
                  <c:v>3.7</c:v>
                </c:pt>
                <c:pt idx="44">
                  <c:v>6</c:v>
                </c:pt>
                <c:pt idx="45">
                  <c:v>6</c:v>
                </c:pt>
                <c:pt idx="46">
                  <c:v>3.7</c:v>
                </c:pt>
                <c:pt idx="47">
                  <c:v>1.7</c:v>
                </c:pt>
                <c:pt idx="48">
                  <c:v>0</c:v>
                </c:pt>
                <c:pt idx="49">
                  <c:v>0</c:v>
                </c:pt>
                <c:pt idx="50">
                  <c:v>0</c:v>
                </c:pt>
                <c:pt idx="51">
                  <c:v>4</c:v>
                </c:pt>
                <c:pt idx="52">
                  <c:v>3</c:v>
                </c:pt>
                <c:pt idx="53">
                  <c:v>1</c:v>
                </c:pt>
                <c:pt idx="54">
                  <c:v>0</c:v>
                </c:pt>
                <c:pt idx="55">
                  <c:v>0.3</c:v>
                </c:pt>
                <c:pt idx="56">
                  <c:v>1.3</c:v>
                </c:pt>
                <c:pt idx="57">
                  <c:v>2</c:v>
                </c:pt>
                <c:pt idx="58">
                  <c:v>4.3</c:v>
                </c:pt>
                <c:pt idx="59">
                  <c:v>2</c:v>
                </c:pt>
                <c:pt idx="60">
                  <c:v>3.3</c:v>
                </c:pt>
                <c:pt idx="61">
                  <c:v>2.3</c:v>
                </c:pt>
                <c:pt idx="62">
                  <c:v>2.3</c:v>
                </c:pt>
                <c:pt idx="63">
                  <c:v>5</c:v>
                </c:pt>
                <c:pt idx="64">
                  <c:v>0.7</c:v>
                </c:pt>
                <c:pt idx="65">
                  <c:v>2.7</c:v>
                </c:pt>
                <c:pt idx="66">
                  <c:v>4.7</c:v>
                </c:pt>
                <c:pt idx="67">
                  <c:v>0</c:v>
                </c:pt>
                <c:pt idx="68">
                  <c:v>7.3</c:v>
                </c:pt>
                <c:pt idx="69">
                  <c:v>6.7</c:v>
                </c:pt>
                <c:pt idx="70">
                  <c:v>6.7</c:v>
                </c:pt>
                <c:pt idx="71">
                  <c:v>8</c:v>
                </c:pt>
                <c:pt idx="72">
                  <c:v>3</c:v>
                </c:pt>
                <c:pt idx="73">
                  <c:v>0</c:v>
                </c:pt>
                <c:pt idx="74">
                  <c:v>1</c:v>
                </c:pt>
                <c:pt idx="75">
                  <c:v>1</c:v>
                </c:pt>
                <c:pt idx="76">
                  <c:v>4.3</c:v>
                </c:pt>
                <c:pt idx="77">
                  <c:v>7.3</c:v>
                </c:pt>
                <c:pt idx="78">
                  <c:v>8</c:v>
                </c:pt>
                <c:pt idx="79">
                  <c:v>6.3</c:v>
                </c:pt>
                <c:pt idx="80">
                  <c:v>7</c:v>
                </c:pt>
                <c:pt idx="81">
                  <c:v>8</c:v>
                </c:pt>
                <c:pt idx="82">
                  <c:v>2.3</c:v>
                </c:pt>
                <c:pt idx="83">
                  <c:v>5.7</c:v>
                </c:pt>
                <c:pt idx="84">
                  <c:v>1</c:v>
                </c:pt>
                <c:pt idx="85">
                  <c:v>1</c:v>
                </c:pt>
                <c:pt idx="86">
                  <c:v>0.3</c:v>
                </c:pt>
                <c:pt idx="87">
                  <c:v>1</c:v>
                </c:pt>
                <c:pt idx="88">
                  <c:v>1</c:v>
                </c:pt>
                <c:pt idx="89">
                  <c:v>4.7</c:v>
                </c:pt>
                <c:pt idx="90">
                  <c:v>4</c:v>
                </c:pt>
                <c:pt idx="91">
                  <c:v>4.7</c:v>
                </c:pt>
                <c:pt idx="92">
                  <c:v>0.7</c:v>
                </c:pt>
                <c:pt idx="93">
                  <c:v>5</c:v>
                </c:pt>
              </c:numCache>
            </c:numRef>
          </c:xVal>
          <c:yVal>
            <c:numRef>
              <c:f>'Chart Data'!$B$2:$B$95</c:f>
              <c:numCache>
                <c:formatCode>0</c:formatCode>
                <c:ptCount val="94"/>
                <c:pt idx="0">
                  <c:v>2.621668</c:v>
                </c:pt>
                <c:pt idx="1">
                  <c:v>2.779769</c:v>
                </c:pt>
                <c:pt idx="2">
                  <c:v>4.305253</c:v>
                </c:pt>
                <c:pt idx="3">
                  <c:v>4.502249</c:v>
                </c:pt>
                <c:pt idx="4">
                  <c:v>2.520991</c:v>
                </c:pt>
                <c:pt idx="5">
                  <c:v>1.804288</c:v>
                </c:pt>
                <c:pt idx="6">
                  <c:v>5.697798</c:v>
                </c:pt>
                <c:pt idx="7">
                  <c:v>6.601377</c:v>
                </c:pt>
                <c:pt idx="8">
                  <c:v>2.152697</c:v>
                </c:pt>
                <c:pt idx="9">
                  <c:v>0.943918</c:v>
                </c:pt>
                <c:pt idx="10">
                  <c:v>0.306256</c:v>
                </c:pt>
                <c:pt idx="11">
                  <c:v>0.805182</c:v>
                </c:pt>
                <c:pt idx="12">
                  <c:v>1.568397</c:v>
                </c:pt>
                <c:pt idx="13">
                  <c:v>1.578956</c:v>
                </c:pt>
                <c:pt idx="14">
                  <c:v>0.518523</c:v>
                </c:pt>
                <c:pt idx="15">
                  <c:v>2.945406</c:v>
                </c:pt>
                <c:pt idx="16">
                  <c:v>5.519792</c:v>
                </c:pt>
                <c:pt idx="17">
                  <c:v>4.80309</c:v>
                </c:pt>
                <c:pt idx="18">
                  <c:v>1.847067</c:v>
                </c:pt>
                <c:pt idx="19">
                  <c:v>4.006757</c:v>
                </c:pt>
                <c:pt idx="20">
                  <c:v>6.061259</c:v>
                </c:pt>
                <c:pt idx="21">
                  <c:v>2.947019</c:v>
                </c:pt>
                <c:pt idx="22">
                  <c:v>1.69067</c:v>
                </c:pt>
                <c:pt idx="23">
                  <c:v>0.99244</c:v>
                </c:pt>
                <c:pt idx="24">
                  <c:v>7.789139</c:v>
                </c:pt>
                <c:pt idx="25">
                  <c:v>0.711301</c:v>
                </c:pt>
                <c:pt idx="26">
                  <c:v>0.551315</c:v>
                </c:pt>
                <c:pt idx="27">
                  <c:v>1.966649</c:v>
                </c:pt>
                <c:pt idx="28">
                  <c:v>6.21729</c:v>
                </c:pt>
                <c:pt idx="29">
                  <c:v>7.694778</c:v>
                </c:pt>
                <c:pt idx="30">
                  <c:v>3.783075</c:v>
                </c:pt>
                <c:pt idx="31">
                  <c:v>1.089959</c:v>
                </c:pt>
                <c:pt idx="32">
                  <c:v>2.836841</c:v>
                </c:pt>
                <c:pt idx="33">
                  <c:v>1.553359</c:v>
                </c:pt>
                <c:pt idx="34">
                  <c:v>3.1939</c:v>
                </c:pt>
                <c:pt idx="35">
                  <c:v>3.431862</c:v>
                </c:pt>
                <c:pt idx="36">
                  <c:v>6.158973</c:v>
                </c:pt>
                <c:pt idx="37">
                  <c:v>5.531768</c:v>
                </c:pt>
                <c:pt idx="38">
                  <c:v>5.329816</c:v>
                </c:pt>
                <c:pt idx="39">
                  <c:v>2.398975</c:v>
                </c:pt>
                <c:pt idx="40">
                  <c:v>2.657068</c:v>
                </c:pt>
                <c:pt idx="41">
                  <c:v>2.595164</c:v>
                </c:pt>
                <c:pt idx="42">
                  <c:v>2.597281</c:v>
                </c:pt>
                <c:pt idx="43">
                  <c:v>3.335501</c:v>
                </c:pt>
                <c:pt idx="44">
                  <c:v>5.341983</c:v>
                </c:pt>
                <c:pt idx="45">
                  <c:v>5.347002</c:v>
                </c:pt>
                <c:pt idx="46">
                  <c:v>4.816298</c:v>
                </c:pt>
                <c:pt idx="47">
                  <c:v>2.997127</c:v>
                </c:pt>
                <c:pt idx="48">
                  <c:v>2.056311</c:v>
                </c:pt>
                <c:pt idx="49">
                  <c:v>1.360554</c:v>
                </c:pt>
                <c:pt idx="50">
                  <c:v>1.791914</c:v>
                </c:pt>
                <c:pt idx="51">
                  <c:v>4.496154</c:v>
                </c:pt>
                <c:pt idx="52">
                  <c:v>3.17645</c:v>
                </c:pt>
                <c:pt idx="53">
                  <c:v>1.150699</c:v>
                </c:pt>
                <c:pt idx="54">
                  <c:v>1.521984</c:v>
                </c:pt>
                <c:pt idx="55">
                  <c:v>1.421326</c:v>
                </c:pt>
                <c:pt idx="56">
                  <c:v>0.646934</c:v>
                </c:pt>
                <c:pt idx="57">
                  <c:v>1.366573</c:v>
                </c:pt>
                <c:pt idx="58">
                  <c:v>2.242976</c:v>
                </c:pt>
                <c:pt idx="59">
                  <c:v>2.505304</c:v>
                </c:pt>
                <c:pt idx="60">
                  <c:v>2.52688</c:v>
                </c:pt>
                <c:pt idx="61">
                  <c:v>1.937661</c:v>
                </c:pt>
                <c:pt idx="62">
                  <c:v>2.715064</c:v>
                </c:pt>
                <c:pt idx="63">
                  <c:v>4.310992</c:v>
                </c:pt>
                <c:pt idx="64">
                  <c:v>2.78243</c:v>
                </c:pt>
                <c:pt idx="65">
                  <c:v>3.936238</c:v>
                </c:pt>
                <c:pt idx="66">
                  <c:v>3.97157</c:v>
                </c:pt>
                <c:pt idx="67">
                  <c:v>1.543555</c:v>
                </c:pt>
                <c:pt idx="68">
                  <c:v>4.749809</c:v>
                </c:pt>
                <c:pt idx="69">
                  <c:v>6.414108</c:v>
                </c:pt>
                <c:pt idx="70">
                  <c:v>6.651112</c:v>
                </c:pt>
                <c:pt idx="71">
                  <c:v>7.965476</c:v>
                </c:pt>
                <c:pt idx="72">
                  <c:v>3.160976</c:v>
                </c:pt>
                <c:pt idx="73">
                  <c:v>1.255594</c:v>
                </c:pt>
                <c:pt idx="74">
                  <c:v>1.617509</c:v>
                </c:pt>
                <c:pt idx="75">
                  <c:v>1.958723</c:v>
                </c:pt>
                <c:pt idx="76">
                  <c:v>2.765004</c:v>
                </c:pt>
                <c:pt idx="77">
                  <c:v>5.555371</c:v>
                </c:pt>
                <c:pt idx="78">
                  <c:v>7.595173</c:v>
                </c:pt>
                <c:pt idx="79">
                  <c:v>7.648789</c:v>
                </c:pt>
                <c:pt idx="80">
                  <c:v>7.835567</c:v>
                </c:pt>
                <c:pt idx="81">
                  <c:v>8</c:v>
                </c:pt>
                <c:pt idx="82">
                  <c:v>2.847855</c:v>
                </c:pt>
                <c:pt idx="83">
                  <c:v>4.044839</c:v>
                </c:pt>
                <c:pt idx="84">
                  <c:v>1.587089</c:v>
                </c:pt>
                <c:pt idx="85">
                  <c:v>0.71076</c:v>
                </c:pt>
                <c:pt idx="86">
                  <c:v>0.52067</c:v>
                </c:pt>
                <c:pt idx="87">
                  <c:v>1.222589</c:v>
                </c:pt>
                <c:pt idx="88">
                  <c:v>1.634404</c:v>
                </c:pt>
                <c:pt idx="89">
                  <c:v>3.037306</c:v>
                </c:pt>
                <c:pt idx="90">
                  <c:v>3.71584</c:v>
                </c:pt>
                <c:pt idx="91">
                  <c:v>4.430769</c:v>
                </c:pt>
                <c:pt idx="92">
                  <c:v>1.160594</c:v>
                </c:pt>
                <c:pt idx="93">
                  <c:v>4.39701</c:v>
                </c:pt>
              </c:numCache>
            </c:numRef>
          </c:yVal>
        </c:ser>
        <c:ser>
          <c:idx val="1"/>
          <c:order val="1"/>
          <c:tx>
            <c:v>Prediction equals expert score</c:v>
          </c:tx>
          <c:spPr>
            <a:ln xmlns:a="http://schemas.openxmlformats.org/drawingml/2006/main" w="14288">
              <a:solidFill>
                <a:srgbClr val="7B8792"/>
              </a:solidFill>
            </a:ln>
          </c:spPr>
          <c:marker>
            <c:symbol val="none"/>
          </c:marker>
          <c:xVal>
            <c:numRef>
              <c:f>'Chart Data'!$C$2:$C$3</c:f>
              <c:numCache>
                <c:formatCode>General</c:formatCode>
                <c:ptCount val="2"/>
                <c:pt idx="0">
                  <c:v>0</c:v>
                </c:pt>
                <c:pt idx="1">
                  <c:v>8</c:v>
                </c:pt>
              </c:numCache>
            </c:numRef>
          </c:xVal>
          <c:yVal>
            <c:numRef>
              <c:f>'Chart Data'!$D$2:$D$3</c:f>
              <c:numCache>
                <c:formatCode>0</c:formatCode>
                <c:ptCount val="2"/>
                <c:pt idx="0">
                  <c:v>0</c:v>
                </c:pt>
                <c:pt idx="1">
                  <c:v>8</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
          <c:min val="0"/>
        </c:scaling>
        <c:delete val="0"/>
        <c:axPos val="l"/>
        <c:title>
          <c:tx>
            <c:rich>
              <a:bodyPr xmlns:a="http://schemas.openxmlformats.org/drawingml/2006/main"/>
              <a:lstStyle xmlns:a="http://schemas.openxmlformats.org/drawingml/2006/main"/>
              <a:p xmlns:a="http://schemas.openxmlformats.org/drawingml/2006/main">
                <a:r>
                  <a:rPr sz="1425">
                    <a:solidFill>
                      <a:srgbClr val="59636E"/>
                    </a:solidFill>
                    <a:latin typeface="Arial"/>
                    <a:ea typeface="Arial"/>
                    <a:cs typeface="Arial"/>
                  </a:rPr>
                  <a:t>Mean held-out prediction</a:t>
                </a:r>
              </a:p>
            </c:rich>
          </c:tx>
          <c:overlay val="0"/>
          <c:txPr>
            <a:bodyPr xmlns:a="http://schemas.openxmlformats.org/drawingml/2006/main" anchorCtr="1"/>
            <a:lstStyle xmlns:a="http://schemas.openxmlformats.org/drawingml/2006/main"/>
            <a:p xmlns:a="http://schemas.openxmlformats.org/drawingml/2006/main">
              <a:pPr>
                <a:defRPr sz="1425">
                  <a:solidFill>
                    <a:srgbClr val="59636E"/>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valAx>
      <c:valAx>
        <c:axId val="48650112"/>
        <c:scaling>
          <c:orientation val="minMax"/>
          <c:max val="8"/>
          <c:min val="0"/>
        </c:scaling>
        <c:delete val="0"/>
        <c:axPos val="b"/>
        <c:title>
          <c:tx>
            <c:rich>
              <a:bodyPr xmlns:a="http://schemas.openxmlformats.org/drawingml/2006/main"/>
              <a:lstStyle xmlns:a="http://schemas.openxmlformats.org/drawingml/2006/main"/>
              <a:p xmlns:a="http://schemas.openxmlformats.org/drawingml/2006/main">
                <a:r>
                  <a:rPr sz="1425">
                    <a:solidFill>
                      <a:srgbClr val="59636E"/>
                    </a:solidFill>
                    <a:latin typeface="Arial"/>
                    <a:ea typeface="Arial"/>
                    <a:cs typeface="Arial"/>
                  </a:rPr>
                  <a:t>Expert mean score</a:t>
                </a:r>
              </a:p>
            </c:rich>
          </c:tx>
          <c:overlay val="0"/>
          <c:txPr>
            <a:bodyPr xmlns:a="http://schemas.openxmlformats.org/drawingml/2006/main" anchorCtr="1"/>
            <a:lstStyle xmlns:a="http://schemas.openxmlformats.org/drawingml/2006/main"/>
            <a:p xmlns:a="http://schemas.openxmlformats.org/drawingml/2006/main">
              <a:pPr>
                <a:defRPr sz="1425">
                  <a:solidFill>
                    <a:srgbClr val="59636E"/>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013D7A"/>
                </a:solidFill>
                <a:latin typeface="Arial"/>
                <a:ea typeface="Arial"/>
                <a:cs typeface="Arial"/>
              </a:rPr>
              <a:t>Opacity</a:t>
            </a:r>
          </a:p>
        </c:rich>
      </c:tx>
      <c:overlay val="0"/>
      <c:txPr>
        <a:bodyPr xmlns:a="http://schemas.openxmlformats.org/drawingml/2006/main" anchorCtr="1"/>
        <a:lstStyle xmlns:a="http://schemas.openxmlformats.org/drawingml/2006/main"/>
        <a:p xmlns:a="http://schemas.openxmlformats.org/drawingml/2006/main">
          <a:pPr>
            <a:defRPr sz="1875" b="1">
              <a:solidFill>
                <a:srgbClr val="013D7A"/>
              </a:solidFill>
              <a:latin typeface="Arial"/>
              <a:ea typeface="Arial"/>
              <a:cs typeface="Arial"/>
            </a:defRPr>
          </a:pPr>
        </a:p>
      </c:txPr>
    </c:title>
    <c:plotArea>
      <c:scatterChart>
        <c:scatterStyle val="lineMarker"/>
        <c:varyColors val="0"/>
        <c:ser>
          <c:idx val="0"/>
          <c:order val="0"/>
          <c:tx>
            <c:v>BioViL-T PCA ridge</c:v>
          </c:tx>
          <c:spPr>
            <a:solidFill xmlns:a="http://schemas.openxmlformats.org/drawingml/2006/main">
              <a:srgbClr val="013D7A"/>
            </a:solidFill>
            <a:ln xmlns:a="http://schemas.openxmlformats.org/drawingml/2006/main" w="0">
              <a:noFill/>
            </a:ln>
          </c:spPr>
          <c:marker>
            <c:symbol val="circle"/>
            <c:size val="5"/>
            <c:spPr>
              <a:solidFill xmlns:a="http://schemas.openxmlformats.org/drawingml/2006/main">
                <a:srgbClr val="013D7A"/>
              </a:solidFill>
            </c:spPr>
          </c:marker>
          <c:xVal>
            <c:numRef>
              <c:f>'Chart Data'!$A$2:$A$95</c:f>
              <c:numCache>
                <c:formatCode>General</c:formatCode>
                <c:ptCount val="94"/>
                <c:pt idx="0">
                  <c:v>1.3</c:v>
                </c:pt>
                <c:pt idx="1">
                  <c:v>3</c:v>
                </c:pt>
                <c:pt idx="2">
                  <c:v>3</c:v>
                </c:pt>
                <c:pt idx="3">
                  <c:v>3.7</c:v>
                </c:pt>
                <c:pt idx="4">
                  <c:v>2</c:v>
                </c:pt>
                <c:pt idx="5">
                  <c:v>2</c:v>
                </c:pt>
                <c:pt idx="6">
                  <c:v>4.3</c:v>
                </c:pt>
                <c:pt idx="7">
                  <c:v>5</c:v>
                </c:pt>
                <c:pt idx="8">
                  <c:v>2</c:v>
                </c:pt>
                <c:pt idx="9">
                  <c:v>1</c:v>
                </c:pt>
                <c:pt idx="10">
                  <c:v>0</c:v>
                </c:pt>
                <c:pt idx="11">
                  <c:v>0.7</c:v>
                </c:pt>
                <c:pt idx="12">
                  <c:v>1</c:v>
                </c:pt>
                <c:pt idx="13">
                  <c:v>2.3</c:v>
                </c:pt>
                <c:pt idx="14">
                  <c:v>1.3</c:v>
                </c:pt>
                <c:pt idx="15">
                  <c:v>3.3</c:v>
                </c:pt>
                <c:pt idx="16">
                  <c:v>4</c:v>
                </c:pt>
                <c:pt idx="17">
                  <c:v>4</c:v>
                </c:pt>
                <c:pt idx="18">
                  <c:v>1.7</c:v>
                </c:pt>
                <c:pt idx="19">
                  <c:v>3.3</c:v>
                </c:pt>
                <c:pt idx="20">
                  <c:v>4</c:v>
                </c:pt>
                <c:pt idx="21">
                  <c:v>2</c:v>
                </c:pt>
                <c:pt idx="22">
                  <c:v>2.3</c:v>
                </c:pt>
                <c:pt idx="23">
                  <c:v>2</c:v>
                </c:pt>
                <c:pt idx="24">
                  <c:v>4</c:v>
                </c:pt>
                <c:pt idx="25">
                  <c:v>0</c:v>
                </c:pt>
                <c:pt idx="26">
                  <c:v>0.3</c:v>
                </c:pt>
                <c:pt idx="27">
                  <c:v>1.7</c:v>
                </c:pt>
                <c:pt idx="28">
                  <c:v>5</c:v>
                </c:pt>
                <c:pt idx="29">
                  <c:v>6</c:v>
                </c:pt>
                <c:pt idx="30">
                  <c:v>3</c:v>
                </c:pt>
                <c:pt idx="31">
                  <c:v>2</c:v>
                </c:pt>
                <c:pt idx="32">
                  <c:v>2.7</c:v>
                </c:pt>
                <c:pt idx="33">
                  <c:v>2.3</c:v>
                </c:pt>
                <c:pt idx="34">
                  <c:v>2.7</c:v>
                </c:pt>
                <c:pt idx="35">
                  <c:v>4</c:v>
                </c:pt>
                <c:pt idx="36">
                  <c:v>3.3</c:v>
                </c:pt>
                <c:pt idx="37">
                  <c:v>4</c:v>
                </c:pt>
                <c:pt idx="38">
                  <c:v>4</c:v>
                </c:pt>
                <c:pt idx="39">
                  <c:v>2</c:v>
                </c:pt>
                <c:pt idx="40">
                  <c:v>3.7</c:v>
                </c:pt>
                <c:pt idx="41">
                  <c:v>2</c:v>
                </c:pt>
                <c:pt idx="42">
                  <c:v>2</c:v>
                </c:pt>
                <c:pt idx="43">
                  <c:v>2</c:v>
                </c:pt>
                <c:pt idx="44">
                  <c:v>4</c:v>
                </c:pt>
                <c:pt idx="45">
                  <c:v>4</c:v>
                </c:pt>
                <c:pt idx="46">
                  <c:v>3</c:v>
                </c:pt>
                <c:pt idx="47">
                  <c:v>1.7</c:v>
                </c:pt>
                <c:pt idx="48">
                  <c:v>0</c:v>
                </c:pt>
                <c:pt idx="49">
                  <c:v>0</c:v>
                </c:pt>
                <c:pt idx="50">
                  <c:v>0</c:v>
                </c:pt>
                <c:pt idx="51">
                  <c:v>3.3</c:v>
                </c:pt>
                <c:pt idx="52">
                  <c:v>2.3</c:v>
                </c:pt>
                <c:pt idx="53">
                  <c:v>1</c:v>
                </c:pt>
                <c:pt idx="54">
                  <c:v>0</c:v>
                </c:pt>
                <c:pt idx="55">
                  <c:v>0.3</c:v>
                </c:pt>
                <c:pt idx="56">
                  <c:v>1.3</c:v>
                </c:pt>
                <c:pt idx="57">
                  <c:v>2</c:v>
                </c:pt>
                <c:pt idx="58">
                  <c:v>3.7</c:v>
                </c:pt>
                <c:pt idx="59">
                  <c:v>1.3</c:v>
                </c:pt>
                <c:pt idx="60">
                  <c:v>2</c:v>
                </c:pt>
                <c:pt idx="61">
                  <c:v>3</c:v>
                </c:pt>
                <c:pt idx="62">
                  <c:v>2.7</c:v>
                </c:pt>
                <c:pt idx="63">
                  <c:v>2</c:v>
                </c:pt>
                <c:pt idx="64">
                  <c:v>0.7</c:v>
                </c:pt>
                <c:pt idx="65">
                  <c:v>2</c:v>
                </c:pt>
                <c:pt idx="66">
                  <c:v>4</c:v>
                </c:pt>
                <c:pt idx="67">
                  <c:v>0</c:v>
                </c:pt>
                <c:pt idx="68">
                  <c:v>6</c:v>
                </c:pt>
                <c:pt idx="69">
                  <c:v>4</c:v>
                </c:pt>
                <c:pt idx="70">
                  <c:v>3.3</c:v>
                </c:pt>
                <c:pt idx="71">
                  <c:v>5</c:v>
                </c:pt>
                <c:pt idx="72">
                  <c:v>2</c:v>
                </c:pt>
                <c:pt idx="73">
                  <c:v>0</c:v>
                </c:pt>
                <c:pt idx="74">
                  <c:v>1</c:v>
                </c:pt>
                <c:pt idx="75">
                  <c:v>1</c:v>
                </c:pt>
                <c:pt idx="76">
                  <c:v>3</c:v>
                </c:pt>
                <c:pt idx="77">
                  <c:v>3</c:v>
                </c:pt>
                <c:pt idx="78">
                  <c:v>3</c:v>
                </c:pt>
                <c:pt idx="79">
                  <c:v>5</c:v>
                </c:pt>
                <c:pt idx="80">
                  <c:v>4</c:v>
                </c:pt>
                <c:pt idx="81">
                  <c:v>6</c:v>
                </c:pt>
                <c:pt idx="82">
                  <c:v>2</c:v>
                </c:pt>
                <c:pt idx="83">
                  <c:v>4</c:v>
                </c:pt>
                <c:pt idx="84">
                  <c:v>1</c:v>
                </c:pt>
                <c:pt idx="85">
                  <c:v>1</c:v>
                </c:pt>
                <c:pt idx="86">
                  <c:v>0.3</c:v>
                </c:pt>
                <c:pt idx="87">
                  <c:v>1</c:v>
                </c:pt>
                <c:pt idx="88">
                  <c:v>1</c:v>
                </c:pt>
                <c:pt idx="89">
                  <c:v>2.7</c:v>
                </c:pt>
                <c:pt idx="90">
                  <c:v>3.3</c:v>
                </c:pt>
                <c:pt idx="91">
                  <c:v>4</c:v>
                </c:pt>
                <c:pt idx="92">
                  <c:v>0.7</c:v>
                </c:pt>
                <c:pt idx="93">
                  <c:v>3.3</c:v>
                </c:pt>
              </c:numCache>
            </c:numRef>
          </c:xVal>
          <c:yVal>
            <c:numRef>
              <c:f>'Chart Data'!$B$2:$B$95</c:f>
              <c:numCache>
                <c:formatCode>0</c:formatCode>
                <c:ptCount val="94"/>
                <c:pt idx="0">
                  <c:v>1.711033</c:v>
                </c:pt>
                <c:pt idx="1">
                  <c:v>2.167623</c:v>
                </c:pt>
                <c:pt idx="2">
                  <c:v>2.621133</c:v>
                </c:pt>
                <c:pt idx="3">
                  <c:v>2.568975</c:v>
                </c:pt>
                <c:pt idx="4">
                  <c:v>1.688467</c:v>
                </c:pt>
                <c:pt idx="5">
                  <c:v>1.278562</c:v>
                </c:pt>
                <c:pt idx="6">
                  <c:v>3.625543</c:v>
                </c:pt>
                <c:pt idx="7">
                  <c:v>4.45077</c:v>
                </c:pt>
                <c:pt idx="8">
                  <c:v>1.579641</c:v>
                </c:pt>
                <c:pt idx="9">
                  <c:v>0.631531</c:v>
                </c:pt>
                <c:pt idx="10">
                  <c:v>0.574602</c:v>
                </c:pt>
                <c:pt idx="11">
                  <c:v>0.840231</c:v>
                </c:pt>
                <c:pt idx="12">
                  <c:v>1.214443</c:v>
                </c:pt>
                <c:pt idx="13">
                  <c:v>1.337994</c:v>
                </c:pt>
                <c:pt idx="14">
                  <c:v>0.574308</c:v>
                </c:pt>
                <c:pt idx="15">
                  <c:v>2.149306</c:v>
                </c:pt>
                <c:pt idx="16">
                  <c:v>3.221786</c:v>
                </c:pt>
                <c:pt idx="17">
                  <c:v>3.179209</c:v>
                </c:pt>
                <c:pt idx="18">
                  <c:v>1.722664</c:v>
                </c:pt>
                <c:pt idx="19">
                  <c:v>2.858606</c:v>
                </c:pt>
                <c:pt idx="20">
                  <c:v>4.011536</c:v>
                </c:pt>
                <c:pt idx="21">
                  <c:v>2.303045</c:v>
                </c:pt>
                <c:pt idx="22">
                  <c:v>1.486083</c:v>
                </c:pt>
                <c:pt idx="23">
                  <c:v>0.952555</c:v>
                </c:pt>
                <c:pt idx="24">
                  <c:v>5.005371</c:v>
                </c:pt>
                <c:pt idx="25">
                  <c:v>0.671586</c:v>
                </c:pt>
                <c:pt idx="26">
                  <c:v>0.66292</c:v>
                </c:pt>
                <c:pt idx="27">
                  <c:v>1.68621</c:v>
                </c:pt>
                <c:pt idx="28">
                  <c:v>3.808029</c:v>
                </c:pt>
                <c:pt idx="29">
                  <c:v>4.599472</c:v>
                </c:pt>
                <c:pt idx="30">
                  <c:v>2.659456</c:v>
                </c:pt>
                <c:pt idx="31">
                  <c:v>1.036513</c:v>
                </c:pt>
                <c:pt idx="32">
                  <c:v>2.753735</c:v>
                </c:pt>
                <c:pt idx="33">
                  <c:v>1.822754</c:v>
                </c:pt>
                <c:pt idx="34">
                  <c:v>2.72796</c:v>
                </c:pt>
                <c:pt idx="35">
                  <c:v>2.676686</c:v>
                </c:pt>
                <c:pt idx="36">
                  <c:v>3.70565</c:v>
                </c:pt>
                <c:pt idx="37">
                  <c:v>4.054013</c:v>
                </c:pt>
                <c:pt idx="38">
                  <c:v>3.742044</c:v>
                </c:pt>
                <c:pt idx="39">
                  <c:v>1.892906</c:v>
                </c:pt>
                <c:pt idx="40">
                  <c:v>1.891056</c:v>
                </c:pt>
                <c:pt idx="41">
                  <c:v>1.810887</c:v>
                </c:pt>
                <c:pt idx="42">
                  <c:v>2.091814</c:v>
                </c:pt>
                <c:pt idx="43">
                  <c:v>2.558607</c:v>
                </c:pt>
                <c:pt idx="44">
                  <c:v>3.692799</c:v>
                </c:pt>
                <c:pt idx="45">
                  <c:v>3.195307</c:v>
                </c:pt>
                <c:pt idx="46">
                  <c:v>3.177767</c:v>
                </c:pt>
                <c:pt idx="47">
                  <c:v>1.976324</c:v>
                </c:pt>
                <c:pt idx="48">
                  <c:v>1.330833</c:v>
                </c:pt>
                <c:pt idx="49">
                  <c:v>1.224372</c:v>
                </c:pt>
                <c:pt idx="50">
                  <c:v>1.082792</c:v>
                </c:pt>
                <c:pt idx="51">
                  <c:v>3.318135</c:v>
                </c:pt>
                <c:pt idx="52">
                  <c:v>2.174992</c:v>
                </c:pt>
                <c:pt idx="53">
                  <c:v>0.862548</c:v>
                </c:pt>
                <c:pt idx="54">
                  <c:v>1.382392</c:v>
                </c:pt>
                <c:pt idx="55">
                  <c:v>1.435841</c:v>
                </c:pt>
                <c:pt idx="56">
                  <c:v>0.674833</c:v>
                </c:pt>
                <c:pt idx="57">
                  <c:v>1.034072</c:v>
                </c:pt>
                <c:pt idx="58">
                  <c:v>2.334279</c:v>
                </c:pt>
                <c:pt idx="59">
                  <c:v>2.730927</c:v>
                </c:pt>
                <c:pt idx="60">
                  <c:v>2.797077</c:v>
                </c:pt>
                <c:pt idx="61">
                  <c:v>2.493355</c:v>
                </c:pt>
                <c:pt idx="62">
                  <c:v>2.706885</c:v>
                </c:pt>
                <c:pt idx="63">
                  <c:v>2.92091</c:v>
                </c:pt>
                <c:pt idx="64">
                  <c:v>2.208933</c:v>
                </c:pt>
                <c:pt idx="65">
                  <c:v>3.192049</c:v>
                </c:pt>
                <c:pt idx="66">
                  <c:v>3.550694</c:v>
                </c:pt>
                <c:pt idx="67">
                  <c:v>1.282943</c:v>
                </c:pt>
                <c:pt idx="68">
                  <c:v>4.824095</c:v>
                </c:pt>
                <c:pt idx="69">
                  <c:v>5.314804</c:v>
                </c:pt>
                <c:pt idx="70">
                  <c:v>4.297798</c:v>
                </c:pt>
                <c:pt idx="71">
                  <c:v>5.684916</c:v>
                </c:pt>
                <c:pt idx="72">
                  <c:v>2.020669</c:v>
                </c:pt>
                <c:pt idx="73">
                  <c:v>1.49513</c:v>
                </c:pt>
                <c:pt idx="74">
                  <c:v>1.345278</c:v>
                </c:pt>
                <c:pt idx="75">
                  <c:v>1.558467</c:v>
                </c:pt>
                <c:pt idx="76">
                  <c:v>2.597189</c:v>
                </c:pt>
                <c:pt idx="77">
                  <c:v>3.60667</c:v>
                </c:pt>
                <c:pt idx="78">
                  <c:v>4.059717</c:v>
                </c:pt>
                <c:pt idx="79">
                  <c:v>4.411764</c:v>
                </c:pt>
                <c:pt idx="80">
                  <c:v>4.833375</c:v>
                </c:pt>
                <c:pt idx="81">
                  <c:v>5.42278</c:v>
                </c:pt>
                <c:pt idx="82">
                  <c:v>2.491635</c:v>
                </c:pt>
                <c:pt idx="83">
                  <c:v>3.092202</c:v>
                </c:pt>
                <c:pt idx="84">
                  <c:v>1.355299</c:v>
                </c:pt>
                <c:pt idx="85">
                  <c:v>0.845015</c:v>
                </c:pt>
                <c:pt idx="86">
                  <c:v>0.768809</c:v>
                </c:pt>
                <c:pt idx="87">
                  <c:v>0.931958</c:v>
                </c:pt>
                <c:pt idx="88">
                  <c:v>1.473494</c:v>
                </c:pt>
                <c:pt idx="89">
                  <c:v>2.350491</c:v>
                </c:pt>
                <c:pt idx="90">
                  <c:v>3.000517</c:v>
                </c:pt>
                <c:pt idx="91">
                  <c:v>3.524205</c:v>
                </c:pt>
                <c:pt idx="92">
                  <c:v>1.190607</c:v>
                </c:pt>
                <c:pt idx="93">
                  <c:v>3.339851</c:v>
                </c:pt>
              </c:numCache>
            </c:numRef>
          </c:yVal>
        </c:ser>
        <c:ser>
          <c:idx val="1"/>
          <c:order val="1"/>
          <c:tx>
            <c:v>Prediction equals expert score</c:v>
          </c:tx>
          <c:spPr>
            <a:ln xmlns:a="http://schemas.openxmlformats.org/drawingml/2006/main" w="14288">
              <a:solidFill>
                <a:srgbClr val="7B8792"/>
              </a:solidFill>
            </a:ln>
          </c:spPr>
          <c:marker>
            <c:symbol val="none"/>
          </c:marker>
          <c:xVal>
            <c:numRef>
              <c:f>'Chart Data'!$C$2:$C$3</c:f>
              <c:numCache>
                <c:formatCode>General</c:formatCode>
                <c:ptCount val="2"/>
                <c:pt idx="0">
                  <c:v>0</c:v>
                </c:pt>
                <c:pt idx="1">
                  <c:v>6</c:v>
                </c:pt>
              </c:numCache>
            </c:numRef>
          </c:xVal>
          <c:yVal>
            <c:numRef>
              <c:f>'Chart Data'!$D$2:$D$3</c:f>
              <c:numCache>
                <c:formatCode>0</c:formatCode>
                <c:ptCount val="2"/>
                <c:pt idx="0">
                  <c:v>0</c:v>
                </c:pt>
                <c:pt idx="1">
                  <c:v>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0"/>
        </c:scaling>
        <c:delete val="0"/>
        <c:axPos val="l"/>
        <c:title>
          <c:tx>
            <c:rich>
              <a:bodyPr xmlns:a="http://schemas.openxmlformats.org/drawingml/2006/main"/>
              <a:lstStyle xmlns:a="http://schemas.openxmlformats.org/drawingml/2006/main"/>
              <a:p xmlns:a="http://schemas.openxmlformats.org/drawingml/2006/main">
                <a:r>
                  <a:rPr sz="1425">
                    <a:solidFill>
                      <a:srgbClr val="59636E"/>
                    </a:solidFill>
                    <a:latin typeface="Arial"/>
                    <a:ea typeface="Arial"/>
                    <a:cs typeface="Arial"/>
                  </a:rPr>
                  <a:t>Mean held-out prediction</a:t>
                </a:r>
              </a:p>
            </c:rich>
          </c:tx>
          <c:overlay val="0"/>
          <c:txPr>
            <a:bodyPr xmlns:a="http://schemas.openxmlformats.org/drawingml/2006/main" anchorCtr="1"/>
            <a:lstStyle xmlns:a="http://schemas.openxmlformats.org/drawingml/2006/main"/>
            <a:p xmlns:a="http://schemas.openxmlformats.org/drawingml/2006/main">
              <a:pPr>
                <a:defRPr sz="1425">
                  <a:solidFill>
                    <a:srgbClr val="59636E"/>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50112"/>
      </c:valAx>
      <c:valAx>
        <c:axId val="48650112"/>
        <c:scaling>
          <c:orientation val="minMax"/>
          <c:max val="6"/>
          <c:min val="0"/>
        </c:scaling>
        <c:delete val="0"/>
        <c:axPos val="b"/>
        <c:title>
          <c:tx>
            <c:rich>
              <a:bodyPr xmlns:a="http://schemas.openxmlformats.org/drawingml/2006/main"/>
              <a:lstStyle xmlns:a="http://schemas.openxmlformats.org/drawingml/2006/main"/>
              <a:p xmlns:a="http://schemas.openxmlformats.org/drawingml/2006/main">
                <a:r>
                  <a:rPr sz="1425">
                    <a:solidFill>
                      <a:srgbClr val="59636E"/>
                    </a:solidFill>
                    <a:latin typeface="Arial"/>
                    <a:ea typeface="Arial"/>
                    <a:cs typeface="Arial"/>
                  </a:rPr>
                  <a:t>Expert mean score</a:t>
                </a:r>
              </a:p>
            </c:rich>
          </c:tx>
          <c:overlay val="0"/>
          <c:txPr>
            <a:bodyPr xmlns:a="http://schemas.openxmlformats.org/drawingml/2006/main" anchorCtr="1"/>
            <a:lstStyle xmlns:a="http://schemas.openxmlformats.org/drawingml/2006/main"/>
            <a:p xmlns:a="http://schemas.openxmlformats.org/drawingml/2006/main">
              <a:pPr>
                <a:defRPr sz="1425">
                  <a:solidFill>
                    <a:srgbClr val="59636E"/>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9636E"/>
                </a:solidFill>
                <a:latin typeface="Arial"/>
                <a:ea typeface="Arial"/>
                <a:cs typeface="Arial"/>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013D7A"/>
                </a:solidFill>
                <a:latin typeface="Arial"/>
                <a:ea typeface="Arial"/>
                <a:cs typeface="Arial"/>
              </a:rPr>
              <a:t>Geographic Extent</a:t>
            </a:r>
          </a:p>
        </c:rich>
      </c:tx>
      <c:overlay val="0"/>
      <c:txPr>
        <a:bodyPr xmlns:a="http://schemas.openxmlformats.org/drawingml/2006/main" anchorCtr="1"/>
        <a:lstStyle xmlns:a="http://schemas.openxmlformats.org/drawingml/2006/main"/>
        <a:p xmlns:a="http://schemas.openxmlformats.org/drawingml/2006/main">
          <a:pPr>
            <a:defRPr sz="1800" b="1">
              <a:solidFill>
                <a:srgbClr val="013D7A"/>
              </a:solidFill>
              <a:latin typeface="Arial"/>
              <a:ea typeface="Arial"/>
              <a:cs typeface="Arial"/>
            </a:defRPr>
          </a:pPr>
        </a:p>
      </c:txPr>
    </c:title>
    <c:plotArea>
      <c:barChart>
        <c:barDir val="bar"/>
        <c:grouping val="clustered"/>
        <c:varyColors val="0"/>
        <c:ser>
          <c:idx val="0"/>
          <c:order val="0"/>
          <c:tx>
            <c:v>All scans</c:v>
          </c:tx>
          <c:spPr>
            <a:solidFill xmlns:a="http://schemas.openxmlformats.org/drawingml/2006/main">
              <a:srgbClr val="8EB8D9"/>
            </a:solidFill>
          </c:spPr>
          <c:invertIfNegative val="0"/>
          <c:cat>
            <c:strRef>
              <c:f>'Chart Data'!$A$2:$A$4</c:f>
              <c:strCache>
                <c:ptCount val="3"/>
                <c:pt idx="0">
                  <c:v>Bounded OLS</c:v>
                </c:pt>
                <c:pt idx="1">
                  <c:v>Observed best</c:v>
                </c:pt>
                <c:pt idx="2">
                  <c:v>Modern selector</c:v>
                </c:pt>
              </c:strCache>
            </c:strRef>
          </c:cat>
          <c:val>
            <c:numRef>
              <c:f>'Chart Data'!$B$2:$B$4</c:f>
              <c:numCache>
                <c:formatCode>0.0</c:formatCode>
                <c:ptCount val="3"/>
                <c:pt idx="0">
                  <c:v>-0.111267</c:v>
                </c:pt>
                <c:pt idx="1">
                  <c:v>-0.064318</c:v>
                </c:pt>
                <c:pt idx="2">
                  <c:v>-0.071964</c:v>
                </c:pt>
              </c:numCache>
            </c:numRef>
          </c:val>
        </c:ser>
        <c:ser>
          <c:idx val="1"/>
          <c:order val="1"/>
          <c:tx>
            <c:v>High-score scans</c:v>
          </c:tx>
          <c:spPr>
            <a:solidFill xmlns:a="http://schemas.openxmlformats.org/drawingml/2006/main">
              <a:srgbClr val="F07902"/>
            </a:solidFill>
          </c:spPr>
          <c:invertIfNegative val="0"/>
          <c:cat>
            <c:strRef>
              <c:f>'Chart Data'!$C$2:$C$4</c:f>
              <c:strCache>
                <c:ptCount val="3"/>
                <c:pt idx="0">
                  <c:v>Bounded OLS</c:v>
                </c:pt>
                <c:pt idx="1">
                  <c:v>Observed best</c:v>
                </c:pt>
                <c:pt idx="2">
                  <c:v>Modern selector</c:v>
                </c:pt>
              </c:strCache>
            </c:strRef>
          </c:cat>
          <c:val>
            <c:numRef>
              <c:f>'Chart Data'!$D$2:$D$4</c:f>
              <c:numCache>
                <c:formatCode>0.0</c:formatCode>
                <c:ptCount val="3"/>
                <c:pt idx="0">
                  <c:v>-1.394292</c:v>
                </c:pt>
                <c:pt idx="1">
                  <c:v>-0.426239</c:v>
                </c:pt>
                <c:pt idx="2">
                  <c:v>-0.421615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02832"/>
                </a:solidFill>
                <a:latin typeface="Arial"/>
                <a:ea typeface="Arial"/>
                <a:cs typeface="Arial"/>
              </a:defRPr>
            </a:pPr>
          </a:p>
        </c:txPr>
        <c:crossAx val="48672768"/>
      </c:catAx>
      <c:valAx>
        <c:axId val="48672768"/>
        <c:scaling>
          <c:orientation val="minMax"/>
          <c:max val="0"/>
          <c:min val="-1.7"/>
        </c:scaling>
        <c:delete val="0"/>
        <c:axPos val="b"/>
        <c:majorGridlines>
          <c:spPr>
            <a:ln xmlns:a="http://schemas.openxmlformats.org/drawingml/2006/main" w="9525">
              <a:solidFill>
                <a:srgbClr val="E4EB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636E"/>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02832"/>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013D7A"/>
                </a:solidFill>
                <a:latin typeface="Arial"/>
                <a:ea typeface="Arial"/>
                <a:cs typeface="Arial"/>
              </a:rPr>
              <a:t>Opacity</a:t>
            </a:r>
          </a:p>
        </c:rich>
      </c:tx>
      <c:overlay val="0"/>
      <c:txPr>
        <a:bodyPr xmlns:a="http://schemas.openxmlformats.org/drawingml/2006/main" anchorCtr="1"/>
        <a:lstStyle xmlns:a="http://schemas.openxmlformats.org/drawingml/2006/main"/>
        <a:p xmlns:a="http://schemas.openxmlformats.org/drawingml/2006/main">
          <a:pPr>
            <a:defRPr sz="1800" b="1">
              <a:solidFill>
                <a:srgbClr val="013D7A"/>
              </a:solidFill>
              <a:latin typeface="Arial"/>
              <a:ea typeface="Arial"/>
              <a:cs typeface="Arial"/>
            </a:defRPr>
          </a:pPr>
        </a:p>
      </c:txPr>
    </c:title>
    <c:plotArea>
      <c:barChart>
        <c:barDir val="bar"/>
        <c:grouping val="clustered"/>
        <c:varyColors val="0"/>
        <c:ser>
          <c:idx val="0"/>
          <c:order val="0"/>
          <c:tx>
            <c:v>All scans</c:v>
          </c:tx>
          <c:spPr>
            <a:solidFill xmlns:a="http://schemas.openxmlformats.org/drawingml/2006/main">
              <a:srgbClr val="8EB8D9"/>
            </a:solidFill>
          </c:spPr>
          <c:invertIfNegative val="0"/>
          <c:cat>
            <c:strRef>
              <c:f>'Chart Data'!$A$2:$A$4</c:f>
              <c:strCache>
                <c:ptCount val="3"/>
                <c:pt idx="0">
                  <c:v>Bounded OLS</c:v>
                </c:pt>
                <c:pt idx="1">
                  <c:v>Observed best</c:v>
                </c:pt>
                <c:pt idx="2">
                  <c:v>Modern selector</c:v>
                </c:pt>
              </c:strCache>
            </c:strRef>
          </c:cat>
          <c:val>
            <c:numRef>
              <c:f>'Chart Data'!$B$2:$B$4</c:f>
              <c:numCache>
                <c:formatCode>0.0</c:formatCode>
                <c:ptCount val="3"/>
                <c:pt idx="0">
                  <c:v>-0.029208</c:v>
                </c:pt>
                <c:pt idx="1">
                  <c:v>-0.01156</c:v>
                </c:pt>
                <c:pt idx="2">
                  <c:v>-0.007585</c:v>
                </c:pt>
              </c:numCache>
            </c:numRef>
          </c:val>
        </c:ser>
        <c:ser>
          <c:idx val="1"/>
          <c:order val="1"/>
          <c:tx>
            <c:v>High-score scans</c:v>
          </c:tx>
          <c:spPr>
            <a:solidFill xmlns:a="http://schemas.openxmlformats.org/drawingml/2006/main">
              <a:srgbClr val="F07902"/>
            </a:solidFill>
          </c:spPr>
          <c:invertIfNegative val="0"/>
          <c:cat>
            <c:strRef>
              <c:f>'Chart Data'!$C$2:$C$4</c:f>
              <c:strCache>
                <c:ptCount val="3"/>
                <c:pt idx="0">
                  <c:v>Bounded OLS</c:v>
                </c:pt>
                <c:pt idx="1">
                  <c:v>Observed best</c:v>
                </c:pt>
                <c:pt idx="2">
                  <c:v>Modern selector</c:v>
                </c:pt>
              </c:strCache>
            </c:strRef>
          </c:cat>
          <c:val>
            <c:numRef>
              <c:f>'Chart Data'!$D$2:$D$4</c:f>
              <c:numCache>
                <c:formatCode>0.0</c:formatCode>
                <c:ptCount val="3"/>
                <c:pt idx="0">
                  <c:v>-0.719843</c:v>
                </c:pt>
                <c:pt idx="1">
                  <c:v>-0.345603</c:v>
                </c:pt>
                <c:pt idx="2">
                  <c:v>-0.369072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02832"/>
                </a:solidFill>
                <a:latin typeface="Arial"/>
                <a:ea typeface="Arial"/>
                <a:cs typeface="Arial"/>
              </a:defRPr>
            </a:pPr>
          </a:p>
        </c:txPr>
        <c:crossAx val="48672768"/>
      </c:catAx>
      <c:valAx>
        <c:axId val="48672768"/>
        <c:scaling>
          <c:orientation val="minMax"/>
          <c:max val="0"/>
          <c:min val="-0.9"/>
        </c:scaling>
        <c:delete val="0"/>
        <c:axPos val="b"/>
        <c:majorGridlines>
          <c:spPr>
            <a:ln xmlns:a="http://schemas.openxmlformats.org/drawingml/2006/main" w="9525">
              <a:solidFill>
                <a:srgbClr val="E4EB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636E"/>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02832"/>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Picture 2">
            <a:extLst xmlns:a="http://schemas.openxmlformats.org/drawingml/2006/main">
              <a:ext uri="{FF2B5EF4-FFF2-40B4-BE49-F238E27FC236}">
                <a16:creationId xmlns:a16="http://schemas.microsoft.com/office/drawing/2014/main" id="{E05D9588-53DF-4C71-8F4E-61CA8E99669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8c35b1f5e6748ae"/>
          <a:srcRect xmlns:a="http://schemas.openxmlformats.org/drawingml/2006/main" l="0" t="4867" r="15277" b="29551"/>
          <a:stretch xmlns:a="http://schemas.openxmlformats.org/drawingml/2006/main"/>
        </p:blipFill>
        <p:spPr>
          <a:xfrm xmlns:a="http://schemas.openxmlformats.org/drawingml/2006/main">
            <a:off x="8407470" y="1"/>
            <a:ext cx="3784530" cy="2063830"/>
          </a:xfrm>
          <a:prstGeom xmlns:a="http://schemas.openxmlformats.org/drawingml/2006/main" prst="rect">
            <a:avLst/>
          </a:prstGeom>
        </p:spPr>
      </p:pic>
      <p:sp>
        <p:nvSpPr>
          <p:cNvPr id="3" name="矩形 2">
            <a:extLst xmlns:a="http://schemas.openxmlformats.org/drawingml/2006/main">
              <a:ext uri="{FF2B5EF4-FFF2-40B4-BE49-F238E27FC236}">
                <a16:creationId xmlns:a16="http://schemas.microsoft.com/office/drawing/2014/main" id="{011EC7B5-6ACF-413E-F93A-281871089109}"/>
              </a:ext>
            </a:extLst>
          </p:cNvPr>
          <p:cNvSpPr>
            <a:spLocks xmlns:a="http://schemas.openxmlformats.org/drawingml/2006/main" noGrp="1"/>
          </p:cNvSpPr>
          <p:nvPr/>
        </p:nvSpPr>
        <p:spPr>
          <a:xfrm xmlns:a="http://schemas.openxmlformats.org/drawingml/2006/main">
            <a:off x="0" y="0"/>
            <a:ext cx="12192000" cy="2063832"/>
          </a:xfrm>
          <a:prstGeom xmlns:a="http://schemas.openxmlformats.org/drawingml/2006/main" prst="rect">
            <a:avLst/>
          </a:prstGeom>
          <a:gradFill xmlns:a="http://schemas.openxmlformats.org/drawingml/2006/main" flip="none" rotWithShape="1">
            <a:gsLst>
              <a:gs pos="53000">
                <a:schemeClr val="accent1"/>
              </a:gs>
              <a:gs pos="0">
                <a:schemeClr val="accent1"/>
              </a:gs>
              <a:gs pos="68000">
                <a:schemeClr val="accent1"/>
              </a:gs>
              <a:gs pos="99000">
                <a:schemeClr val="accent1">
                  <a:alpha val="0"/>
                </a:schemeClr>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文本框 1">
            <a:extLst xmlns:a="http://schemas.openxmlformats.org/drawingml/2006/main">
              <a:ext uri="{FF2B5EF4-FFF2-40B4-BE49-F238E27FC236}">
                <a16:creationId xmlns:a16="http://schemas.microsoft.com/office/drawing/2014/main" id="{0AB68AFA-8846-2DE3-650F-54FF40C70FCF}"/>
              </a:ext>
            </a:extLst>
          </p:cNvPr>
          <p:cNvSpPr>
            <a:spLocks xmlns:a="http://schemas.openxmlformats.org/drawingml/2006/main" noGrp="1"/>
          </p:cNvSpPr>
          <p:nvPr/>
        </p:nvSpPr>
        <p:spPr>
          <a:xfrm xmlns:a="http://schemas.openxmlformats.org/drawingml/2006/main">
            <a:off x="689811" y="2705725"/>
            <a:ext cx="1081237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3600" b="1">
                <a:solidFill>
                  <a:srgbClr val="013D7A"/>
                </a:solidFill>
                <a:latin typeface="Arial"/>
                <a:ea typeface="Arial"/>
                <a:cs typeface="Arial"/>
              </a:defRPr>
            </a:defPPr>
            <a:lvl1pPr algn="ctr">
              <a:defRPr sz="3600" b="1">
                <a:solidFill>
                  <a:srgbClr val="013D7A"/>
                </a:solidFill>
                <a:latin typeface="Arial"/>
                <a:ea typeface="Arial"/>
                <a:cs typeface="Arial"/>
              </a:defRPr>
            </a:lvl1pPr>
            <a:lvl2pPr algn="ctr">
              <a:defRPr sz="3600" b="1">
                <a:solidFill>
                  <a:srgbClr val="013D7A"/>
                </a:solidFill>
                <a:latin typeface="Arial"/>
                <a:ea typeface="Arial"/>
                <a:cs typeface="Arial"/>
              </a:defRPr>
            </a:lvl2pPr>
            <a:lvl3pPr algn="ctr">
              <a:defRPr sz="3600" b="1">
                <a:solidFill>
                  <a:srgbClr val="013D7A"/>
                </a:solidFill>
                <a:latin typeface="Arial"/>
                <a:ea typeface="Arial"/>
                <a:cs typeface="Arial"/>
              </a:defRPr>
            </a:lvl3pPr>
            <a:lvl4pPr algn="ctr">
              <a:defRPr sz="3600" b="1">
                <a:solidFill>
                  <a:srgbClr val="013D7A"/>
                </a:solidFill>
                <a:latin typeface="Arial"/>
                <a:ea typeface="Arial"/>
                <a:cs typeface="Arial"/>
              </a:defRPr>
            </a:lvl4pPr>
            <a:lvl5pPr algn="ctr">
              <a:defRPr sz="3600" b="1">
                <a:solidFill>
                  <a:srgbClr val="013D7A"/>
                </a:solidFill>
                <a:latin typeface="Arial"/>
                <a:ea typeface="Arial"/>
                <a:cs typeface="Arial"/>
              </a:defRPr>
            </a:lvl5pPr>
            <a:lvl6pPr algn="ctr">
              <a:defRPr sz="3600" b="1">
                <a:solidFill>
                  <a:srgbClr val="013D7A"/>
                </a:solidFill>
                <a:latin typeface="Arial"/>
                <a:ea typeface="Arial"/>
                <a:cs typeface="Arial"/>
              </a:defRPr>
            </a:lvl6pPr>
            <a:lvl7pPr algn="ctr">
              <a:defRPr sz="3600" b="1">
                <a:solidFill>
                  <a:srgbClr val="013D7A"/>
                </a:solidFill>
                <a:latin typeface="Arial"/>
                <a:ea typeface="Arial"/>
                <a:cs typeface="Arial"/>
              </a:defRPr>
            </a:lvl7pPr>
            <a:lvl8pPr algn="ctr">
              <a:defRPr sz="3600" b="1">
                <a:solidFill>
                  <a:srgbClr val="013D7A"/>
                </a:solidFill>
                <a:latin typeface="Arial"/>
                <a:ea typeface="Arial"/>
                <a:cs typeface="Arial"/>
              </a:defRPr>
            </a:lvl8pPr>
            <a:lvl9pPr algn="ctr">
              <a:defRPr sz="3600" b="1">
                <a:solidFill>
                  <a:srgbClr val="013D7A"/>
                </a:solidFill>
                <a:latin typeface="Arial"/>
                <a:ea typeface="Arial"/>
                <a:cs typeface="Arial"/>
              </a:defRPr>
            </a:lvl9pPr>
          </a:lstStyle>
          <a:p xmlns:a="http://schemas.openxmlformats.org/drawingml/2006/main">
            <a:pPr algn="ctr">
              <a:buNone/>
              <a:defRPr sz="3600" b="1">
                <a:solidFill>
                  <a:srgbClr val="013D7A"/>
                </a:solidFill>
                <a:latin typeface="Arial"/>
                <a:ea typeface="Arial"/>
                <a:cs typeface="Arial"/>
              </a:defRPr>
            </a:pPr>
            <a:r>
              <a:rPr sz="3600" b="1">
                <a:solidFill>
                  <a:srgbClr val="013D7A"/>
                </a:solidFill>
                <a:latin typeface="Arial"/>
                <a:ea typeface="Arial"/>
                <a:cs typeface="Arial"/>
              </a:rPr>
              <a:t>Revisiting COVID-19</a:t>
            </a:r>
            <a:endParaRPr sz="4800" b="1">
              <a:solidFill>
                <a:schemeClr val="accent1"/>
              </a:solidFill>
              <a:latin typeface="Arial"/>
              <a:ea typeface="Arial"/>
              <a:cs typeface="Arial"/>
            </a:endParaRPr>
          </a:p>
          <a:p xmlns:a="http://schemas.openxmlformats.org/drawingml/2006/main">
            <a:pPr algn="ctr">
              <a:buNone/>
              <a:defRPr sz="3600" b="1">
                <a:solidFill>
                  <a:srgbClr val="013D7A"/>
                </a:solidFill>
                <a:latin typeface="Arial"/>
                <a:ea typeface="Arial"/>
                <a:cs typeface="Arial"/>
              </a:defRPr>
            </a:pPr>
            <a:r>
              <a:rPr sz="3600" b="1">
                <a:solidFill>
                  <a:srgbClr val="013D7A"/>
                </a:solidFill>
                <a:latin typeface="Arial"/>
                <a:ea typeface="Arial"/>
                <a:cs typeface="Arial"/>
              </a:rPr>
              <a:t>Chest X-ray Severity Prediction</a:t>
            </a:r>
            <a:endParaRPr sz="4800" b="1">
              <a:solidFill>
                <a:schemeClr val="accent1"/>
              </a:solidFill>
              <a:latin typeface="Arial"/>
              <a:ea typeface="Arial"/>
              <a:cs typeface="Arial"/>
            </a:endParaRPr>
          </a:p>
        </p:txBody>
      </p:sp>
      <p:sp>
        <p:nvSpPr>
          <p:cNvPr id="14" name="文本框 13">
            <a:extLst xmlns:a="http://schemas.openxmlformats.org/drawingml/2006/main">
              <a:ext uri="{FF2B5EF4-FFF2-40B4-BE49-F238E27FC236}">
                <a16:creationId xmlns:a16="http://schemas.microsoft.com/office/drawing/2014/main" id="{356F5212-ECAC-A56E-AA09-9F3529010B92}"/>
              </a:ext>
            </a:extLst>
          </p:cNvPr>
          <p:cNvSpPr>
            <a:spLocks xmlns:a="http://schemas.openxmlformats.org/drawingml/2006/main" noGrp="1"/>
          </p:cNvSpPr>
          <p:nvPr/>
        </p:nvSpPr>
        <p:spPr>
          <a:xfrm xmlns:a="http://schemas.openxmlformats.org/drawingml/2006/main">
            <a:off x="6846423" y="5451511"/>
            <a:ext cx="313421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800" b="0">
                <a:solidFill>
                  <a:srgbClr val="59636E"/>
                </a:solidFill>
                <a:latin typeface="Arial"/>
                <a:ea typeface="Arial"/>
                <a:cs typeface="Arial"/>
              </a:defRPr>
            </a:defPPr>
            <a:lvl1pPr algn="l">
              <a:defRPr sz="1800" b="0">
                <a:solidFill>
                  <a:srgbClr val="59636E"/>
                </a:solidFill>
                <a:latin typeface="Arial"/>
                <a:ea typeface="Arial"/>
                <a:cs typeface="Arial"/>
              </a:defRPr>
            </a:lvl1pPr>
            <a:lvl2pPr algn="l">
              <a:defRPr sz="1800" b="0">
                <a:solidFill>
                  <a:srgbClr val="59636E"/>
                </a:solidFill>
                <a:latin typeface="Arial"/>
                <a:ea typeface="Arial"/>
                <a:cs typeface="Arial"/>
              </a:defRPr>
            </a:lvl2pPr>
            <a:lvl3pPr algn="l">
              <a:defRPr sz="1800" b="0">
                <a:solidFill>
                  <a:srgbClr val="59636E"/>
                </a:solidFill>
                <a:latin typeface="Arial"/>
                <a:ea typeface="Arial"/>
                <a:cs typeface="Arial"/>
              </a:defRPr>
            </a:lvl3pPr>
            <a:lvl4pPr algn="l">
              <a:defRPr sz="1800" b="0">
                <a:solidFill>
                  <a:srgbClr val="59636E"/>
                </a:solidFill>
                <a:latin typeface="Arial"/>
                <a:ea typeface="Arial"/>
                <a:cs typeface="Arial"/>
              </a:defRPr>
            </a:lvl4pPr>
            <a:lvl5pPr algn="l">
              <a:defRPr sz="1800" b="0">
                <a:solidFill>
                  <a:srgbClr val="59636E"/>
                </a:solidFill>
                <a:latin typeface="Arial"/>
                <a:ea typeface="Arial"/>
                <a:cs typeface="Arial"/>
              </a:defRPr>
            </a:lvl5pPr>
            <a:lvl6pPr algn="l">
              <a:defRPr sz="1800" b="0">
                <a:solidFill>
                  <a:srgbClr val="59636E"/>
                </a:solidFill>
                <a:latin typeface="Arial"/>
                <a:ea typeface="Arial"/>
                <a:cs typeface="Arial"/>
              </a:defRPr>
            </a:lvl6pPr>
            <a:lvl7pPr algn="l">
              <a:defRPr sz="1800" b="0">
                <a:solidFill>
                  <a:srgbClr val="59636E"/>
                </a:solidFill>
                <a:latin typeface="Arial"/>
                <a:ea typeface="Arial"/>
                <a:cs typeface="Arial"/>
              </a:defRPr>
            </a:lvl7pPr>
            <a:lvl8pPr algn="l">
              <a:defRPr sz="1800" b="0">
                <a:solidFill>
                  <a:srgbClr val="59636E"/>
                </a:solidFill>
                <a:latin typeface="Arial"/>
                <a:ea typeface="Arial"/>
                <a:cs typeface="Arial"/>
              </a:defRPr>
            </a:lvl8pPr>
            <a:lvl9pPr algn="l">
              <a:defRPr sz="1800" b="0">
                <a:solidFill>
                  <a:srgbClr val="59636E"/>
                </a:solidFill>
                <a:latin typeface="Arial"/>
                <a:ea typeface="Arial"/>
                <a:cs typeface="Arial"/>
              </a:defRPr>
            </a:lvl9pPr>
          </a:lstStyle>
          <a:p xmlns:a="http://schemas.openxmlformats.org/drawingml/2006/main">
            <a:pPr marL="342900" indent="-342900" algn="l">
              <a:buFont typeface="Wingdings"/>
              <a:buChar char="Ø"/>
              <a:defRPr sz="1800" b="0">
                <a:solidFill>
                  <a:srgbClr val="59636E"/>
                </a:solidFill>
                <a:latin typeface="Arial"/>
                <a:ea typeface="Arial"/>
                <a:cs typeface="Arial"/>
              </a:defRPr>
            </a:pPr>
            <a:r>
              <a:rPr sz="1800" b="0">
                <a:solidFill>
                  <a:srgbClr val="59636E"/>
                </a:solidFill>
                <a:latin typeface="Arial"/>
                <a:ea typeface="Arial"/>
                <a:cs typeface="Arial"/>
              </a:rPr>
              <a:t>31 October 2026</a:t>
            </a:r>
            <a:endParaRPr sz="2400">
              <a:solidFill>
                <a:schemeClr val="tx1">
                  <a:lumMod val="65000"/>
                  <a:lumOff val="35000"/>
                </a:schemeClr>
              </a:solidFill>
              <a:latin typeface="Arial"/>
              <a:ea typeface="Arial"/>
              <a:cs typeface="Arial"/>
            </a:endParaRPr>
          </a:p>
        </p:txBody>
      </p:sp>
      <p:sp>
        <p:nvSpPr>
          <p:cNvPr id="15" name="文本框 14">
            <a:extLst xmlns:a="http://schemas.openxmlformats.org/drawingml/2006/main">
              <a:ext uri="{FF2B5EF4-FFF2-40B4-BE49-F238E27FC236}">
                <a16:creationId xmlns:a16="http://schemas.microsoft.com/office/drawing/2014/main" id="{4170DB30-15B6-560F-71D4-78CEA0FFF1DA}"/>
              </a:ext>
            </a:extLst>
          </p:cNvPr>
          <p:cNvSpPr>
            <a:spLocks xmlns:a="http://schemas.openxmlformats.org/drawingml/2006/main" noGrp="1"/>
          </p:cNvSpPr>
          <p:nvPr/>
        </p:nvSpPr>
        <p:spPr>
          <a:xfrm xmlns:a="http://schemas.openxmlformats.org/drawingml/2006/main">
            <a:off x="3094821" y="5443974"/>
            <a:ext cx="313421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800" b="0">
                <a:solidFill>
                  <a:srgbClr val="59636E"/>
                </a:solidFill>
                <a:latin typeface="Arial"/>
                <a:ea typeface="Arial"/>
                <a:cs typeface="Arial"/>
              </a:defRPr>
            </a:defPPr>
            <a:lvl1pPr algn="l">
              <a:defRPr sz="1800" b="0">
                <a:solidFill>
                  <a:srgbClr val="59636E"/>
                </a:solidFill>
                <a:latin typeface="Arial"/>
                <a:ea typeface="Arial"/>
                <a:cs typeface="Arial"/>
              </a:defRPr>
            </a:lvl1pPr>
            <a:lvl2pPr algn="l">
              <a:defRPr sz="1800" b="0">
                <a:solidFill>
                  <a:srgbClr val="59636E"/>
                </a:solidFill>
                <a:latin typeface="Arial"/>
                <a:ea typeface="Arial"/>
                <a:cs typeface="Arial"/>
              </a:defRPr>
            </a:lvl2pPr>
            <a:lvl3pPr algn="l">
              <a:defRPr sz="1800" b="0">
                <a:solidFill>
                  <a:srgbClr val="59636E"/>
                </a:solidFill>
                <a:latin typeface="Arial"/>
                <a:ea typeface="Arial"/>
                <a:cs typeface="Arial"/>
              </a:defRPr>
            </a:lvl3pPr>
            <a:lvl4pPr algn="l">
              <a:defRPr sz="1800" b="0">
                <a:solidFill>
                  <a:srgbClr val="59636E"/>
                </a:solidFill>
                <a:latin typeface="Arial"/>
                <a:ea typeface="Arial"/>
                <a:cs typeface="Arial"/>
              </a:defRPr>
            </a:lvl4pPr>
            <a:lvl5pPr algn="l">
              <a:defRPr sz="1800" b="0">
                <a:solidFill>
                  <a:srgbClr val="59636E"/>
                </a:solidFill>
                <a:latin typeface="Arial"/>
                <a:ea typeface="Arial"/>
                <a:cs typeface="Arial"/>
              </a:defRPr>
            </a:lvl5pPr>
            <a:lvl6pPr algn="l">
              <a:defRPr sz="1800" b="0">
                <a:solidFill>
                  <a:srgbClr val="59636E"/>
                </a:solidFill>
                <a:latin typeface="Arial"/>
                <a:ea typeface="Arial"/>
                <a:cs typeface="Arial"/>
              </a:defRPr>
            </a:lvl6pPr>
            <a:lvl7pPr algn="l">
              <a:defRPr sz="1800" b="0">
                <a:solidFill>
                  <a:srgbClr val="59636E"/>
                </a:solidFill>
                <a:latin typeface="Arial"/>
                <a:ea typeface="Arial"/>
                <a:cs typeface="Arial"/>
              </a:defRPr>
            </a:lvl7pPr>
            <a:lvl8pPr algn="l">
              <a:defRPr sz="1800" b="0">
                <a:solidFill>
                  <a:srgbClr val="59636E"/>
                </a:solidFill>
                <a:latin typeface="Arial"/>
                <a:ea typeface="Arial"/>
                <a:cs typeface="Arial"/>
              </a:defRPr>
            </a:lvl8pPr>
            <a:lvl9pPr algn="l">
              <a:defRPr sz="1800" b="0">
                <a:solidFill>
                  <a:srgbClr val="59636E"/>
                </a:solidFill>
                <a:latin typeface="Arial"/>
                <a:ea typeface="Arial"/>
                <a:cs typeface="Arial"/>
              </a:defRPr>
            </a:lvl9pPr>
          </a:lstStyle>
          <a:p xmlns:a="http://schemas.openxmlformats.org/drawingml/2006/main">
            <a:pPr marL="342900" indent="-342900" algn="l">
              <a:buFont typeface="Wingdings"/>
              <a:buChar char="Ø"/>
              <a:defRPr sz="1800" b="0">
                <a:solidFill>
                  <a:srgbClr val="59636E"/>
                </a:solidFill>
                <a:latin typeface="Arial"/>
                <a:ea typeface="Arial"/>
                <a:cs typeface="Arial"/>
              </a:defRPr>
            </a:pPr>
            <a:r>
              <a:rPr sz="1800" b="0">
                <a:solidFill>
                  <a:srgbClr val="59636E"/>
                </a:solidFill>
                <a:latin typeface="Arial"/>
                <a:ea typeface="Arial"/>
                <a:cs typeface="Arial"/>
              </a:rPr>
              <a:t>DSA5206 Group Project</a:t>
            </a:r>
          </a:p>
        </p:txBody>
      </p:sp>
      <p:sp>
        <p:nvSpPr>
          <p:cNvPr id="10" name="直线连接符 9">
            <a:extLst xmlns:a="http://schemas.openxmlformats.org/drawingml/2006/main">
              <a:ext uri="{FF2B5EF4-FFF2-40B4-BE49-F238E27FC236}">
                <a16:creationId xmlns:a16="http://schemas.microsoft.com/office/drawing/2014/main" id="{1D51DE79-930F-416B-B225-9CA0CFEB0181}"/>
              </a:ext>
            </a:extLst>
          </p:cNvPr>
          <p:cNvSpPr>
            <a:spLocks xmlns:a="http://schemas.openxmlformats.org/drawingml/2006/main" noGrp="1"/>
          </p:cNvSpPr>
          <p:nvPr/>
        </p:nvSpPr>
        <p:spPr>
          <a:xfrm xmlns:a="http://schemas.openxmlformats.org/drawingml/2006/main">
            <a:off x="2211358" y="4856748"/>
            <a:ext cx="7769284" cy="0"/>
          </a:xfrm>
          <a:prstGeom xmlns:a="http://schemas.openxmlformats.org/drawingml/2006/main" prst="line">
            <a:avLst/>
          </a:prstGeom>
          <a:ln xmlns:a="http://schemas.openxmlformats.org/drawingml/2006/main" w="12700">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矩形 11">
            <a:extLst xmlns:a="http://schemas.openxmlformats.org/drawingml/2006/main">
              <a:ext uri="{FF2B5EF4-FFF2-40B4-BE49-F238E27FC236}">
                <a16:creationId xmlns:a16="http://schemas.microsoft.com/office/drawing/2014/main" id="{52F1920F-43C3-1C60-9086-81A07842ED1C}"/>
              </a:ext>
            </a:extLst>
          </p:cNvPr>
          <p:cNvSpPr>
            <a:spLocks xmlns:a="http://schemas.openxmlformats.org/drawingml/2006/main" noGrp="1"/>
          </p:cNvSpPr>
          <p:nvPr/>
        </p:nvSpPr>
        <p:spPr>
          <a:xfrm xmlns:a="http://schemas.openxmlformats.org/drawingml/2006/main">
            <a:off x="0" y="6737686"/>
            <a:ext cx="12192000" cy="12031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图片 6">
            <a:extLst xmlns:a="http://schemas.openxmlformats.org/drawingml/2006/main">
              <a:ext uri="{FF2B5EF4-FFF2-40B4-BE49-F238E27FC236}">
                <a16:creationId xmlns:a16="http://schemas.microsoft.com/office/drawing/2014/main" id="{CDDAB319-8F9B-4DEA-9900-FACD5B76B2C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50c15473dc14e99"/>
          <a:srcRect xmlns:a="http://schemas.openxmlformats.org/drawingml/2006/main" l="0" t="0" r="63685" b="0"/>
          <a:stretch xmlns:a="http://schemas.openxmlformats.org/drawingml/2006/main"/>
        </p:blipFill>
        <p:spPr>
          <a:xfrm xmlns:a="http://schemas.openxmlformats.org/drawingml/2006/main" rot="0" flipH="0" flipV="0">
            <a:off x="689811" y="374632"/>
            <a:ext cx="1009386" cy="1283047"/>
          </a:xfrm>
          <a:prstGeom xmlns:a="http://schemas.openxmlformats.org/drawingml/2006/main" prst="rect">
            <a:avLst/>
          </a:prstGeom>
        </p:spPr>
      </p:pic>
      <p:pic>
        <p:nvPicPr>
          <p:cNvPr id="8" name="图片 7">
            <a:extLst xmlns:a="http://schemas.openxmlformats.org/drawingml/2006/main">
              <a:ext uri="{FF2B5EF4-FFF2-40B4-BE49-F238E27FC236}">
                <a16:creationId xmlns:a16="http://schemas.microsoft.com/office/drawing/2014/main" id="{C816D64A-6DE8-44D1-849C-1D4EBD64F58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4cb2c7ae2ad4689"/>
          <a:srcRect xmlns:a="http://schemas.openxmlformats.org/drawingml/2006/main" l="37189" t="0" r="-631" b="0"/>
          <a:stretch xmlns:a="http://schemas.openxmlformats.org/drawingml/2006/main"/>
        </p:blipFill>
        <p:spPr>
          <a:xfrm xmlns:a="http://schemas.openxmlformats.org/drawingml/2006/main" rot="0" flipH="0" flipV="0">
            <a:off x="1878797" y="374632"/>
            <a:ext cx="1763388" cy="1283047"/>
          </a:xfrm>
          <a:prstGeom xmlns:a="http://schemas.openxmlformats.org/drawingml/2006/main" prst="rect">
            <a:avLst/>
          </a:prstGeom>
        </p:spPr>
      </p:pic>
      <p:sp>
        <p:nvSpPr>
          <p:cNvPr id="16" name="Reproducibility, critical assessment and model extensions">
            <a:extLst xmlns:a="http://schemas.openxmlformats.org/drawingml/2006/main">
              <a:ext uri="{FF2B5EF4-FFF2-40B4-BE49-F238E27FC236}">
                <a16:creationId xmlns:a16="http://schemas.microsoft.com/office/drawing/2014/main" id="{FA7FF608-2AFB-4144-B1B1-BF9E46C03344}"/>
              </a:ext>
            </a:extLst>
          </p:cNvPr>
          <p:cNvSpPr>
            <a:spLocks xmlns:a="http://schemas.openxmlformats.org/drawingml/2006/main" noGrp="1"/>
          </p:cNvSpPr>
          <p:nvPr/>
        </p:nvSpPr>
        <p:spPr>
          <a:xfrm xmlns:a="http://schemas.openxmlformats.org/drawingml/2006/main">
            <a:off x="952500" y="4333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100" b="0">
                <a:solidFill>
                  <a:srgbClr val="013D7A"/>
                </a:solidFill>
                <a:latin typeface="Arial"/>
                <a:ea typeface="Arial"/>
                <a:cs typeface="Arial"/>
              </a:defRPr>
            </a:defPPr>
            <a:lvl1pPr algn="ctr">
              <a:defRPr sz="2100" b="0">
                <a:solidFill>
                  <a:srgbClr val="013D7A"/>
                </a:solidFill>
                <a:latin typeface="Arial"/>
                <a:ea typeface="Arial"/>
                <a:cs typeface="Arial"/>
              </a:defRPr>
            </a:lvl1pPr>
            <a:lvl2pPr algn="ctr">
              <a:defRPr sz="2100" b="0">
                <a:solidFill>
                  <a:srgbClr val="013D7A"/>
                </a:solidFill>
                <a:latin typeface="Arial"/>
                <a:ea typeface="Arial"/>
                <a:cs typeface="Arial"/>
              </a:defRPr>
            </a:lvl2pPr>
            <a:lvl3pPr algn="ctr">
              <a:defRPr sz="2100" b="0">
                <a:solidFill>
                  <a:srgbClr val="013D7A"/>
                </a:solidFill>
                <a:latin typeface="Arial"/>
                <a:ea typeface="Arial"/>
                <a:cs typeface="Arial"/>
              </a:defRPr>
            </a:lvl3pPr>
            <a:lvl4pPr algn="ctr">
              <a:defRPr sz="2100" b="0">
                <a:solidFill>
                  <a:srgbClr val="013D7A"/>
                </a:solidFill>
                <a:latin typeface="Arial"/>
                <a:ea typeface="Arial"/>
                <a:cs typeface="Arial"/>
              </a:defRPr>
            </a:lvl4pPr>
            <a:lvl5pPr algn="ctr">
              <a:defRPr sz="2100" b="0">
                <a:solidFill>
                  <a:srgbClr val="013D7A"/>
                </a:solidFill>
                <a:latin typeface="Arial"/>
                <a:ea typeface="Arial"/>
                <a:cs typeface="Arial"/>
              </a:defRPr>
            </a:lvl5pPr>
            <a:lvl6pPr algn="ctr">
              <a:defRPr sz="2100" b="0">
                <a:solidFill>
                  <a:srgbClr val="013D7A"/>
                </a:solidFill>
                <a:latin typeface="Arial"/>
                <a:ea typeface="Arial"/>
                <a:cs typeface="Arial"/>
              </a:defRPr>
            </a:lvl6pPr>
            <a:lvl7pPr algn="ctr">
              <a:defRPr sz="2100" b="0">
                <a:solidFill>
                  <a:srgbClr val="013D7A"/>
                </a:solidFill>
                <a:latin typeface="Arial"/>
                <a:ea typeface="Arial"/>
                <a:cs typeface="Arial"/>
              </a:defRPr>
            </a:lvl7pPr>
            <a:lvl8pPr algn="ctr">
              <a:defRPr sz="2100" b="0">
                <a:solidFill>
                  <a:srgbClr val="013D7A"/>
                </a:solidFill>
                <a:latin typeface="Arial"/>
                <a:ea typeface="Arial"/>
                <a:cs typeface="Arial"/>
              </a:defRPr>
            </a:lvl8pPr>
            <a:lvl9pPr algn="ctr">
              <a:defRPr sz="2100" b="0">
                <a:solidFill>
                  <a:srgbClr val="013D7A"/>
                </a:solidFill>
                <a:latin typeface="Arial"/>
                <a:ea typeface="Arial"/>
                <a:cs typeface="Arial"/>
              </a:defRPr>
            </a:lvl9pPr>
          </a:lstStyle>
          <a:p xmlns:a="http://schemas.openxmlformats.org/drawingml/2006/main">
            <a:pPr algn="ctr">
              <a:defRPr sz="2100" b="0">
                <a:solidFill>
                  <a:srgbClr val="013D7A"/>
                </a:solidFill>
                <a:latin typeface="Arial"/>
                <a:ea typeface="Arial"/>
                <a:cs typeface="Arial"/>
              </a:defRPr>
            </a:pPr>
            <a:r>
              <a:rPr sz="2100" b="0">
                <a:solidFill>
                  <a:srgbClr val="013D7A"/>
                </a:solidFill>
                <a:latin typeface="Arial"/>
                <a:ea typeface="Arial"/>
                <a:cs typeface="Arial"/>
              </a:rPr>
              <a:t>Reproducibility, critical assessment and model extensions</a:t>
            </a:r>
          </a:p>
        </p:txBody>
      </p:sp>
    </p:spTree>
    <p:extLst>
      <p:ext uri="{BB962C8B-B14F-4D97-AF65-F5344CB8AC3E}">
        <p14:creationId xmlns:p14="http://schemas.microsoft.com/office/powerpoint/2010/main" val="166247894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2828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Study</a:t>
            </a:r>
            <a:endParaRPr sz="1800">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E9B86978-F04F-4DDB-A8AE-5C4276AEA355}"/>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Three questions guide the assessment</a:t>
            </a:r>
            <a:endParaRPr sz="2800" b="1">
              <a:solidFill>
                <a:schemeClr val="accent1"/>
              </a:solidFill>
              <a:latin typeface="Arial"/>
              <a:ea typeface="Arial"/>
              <a:cs typeface="Arial"/>
            </a:endParaRPr>
          </a:p>
        </p:txBody>
      </p:sp>
      <p:sp>
        <p:nvSpPr>
          <p:cNvPr id="2" name="矩形 1">
            <a:extLst xmlns:a="http://schemas.openxmlformats.org/drawingml/2006/main">
              <a:ext uri="{FF2B5EF4-FFF2-40B4-BE49-F238E27FC236}">
                <a16:creationId xmlns:a16="http://schemas.microsoft.com/office/drawing/2014/main" id="{3BBFC26D-F472-CB61-5BDE-641C4B8B762D}"/>
              </a:ext>
            </a:extLst>
          </p:cNvPr>
          <p:cNvSpPr>
            <a:spLocks xmlns:a="http://schemas.openxmlformats.org/drawingml/2006/main" noGrp="1"/>
          </p:cNvSpPr>
          <p:nvPr/>
        </p:nvSpPr>
        <p:spPr>
          <a:xfrm xmlns:a="http://schemas.openxmlformats.org/drawingml/2006/main">
            <a:off x="1061355" y="2438720"/>
            <a:ext cx="2857500" cy="3559629"/>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 name="任意形状 2">
            <a:extLst xmlns:a="http://schemas.openxmlformats.org/drawingml/2006/main">
              <a:ext uri="{FF2B5EF4-FFF2-40B4-BE49-F238E27FC236}">
                <a16:creationId xmlns:a16="http://schemas.microsoft.com/office/drawing/2014/main" id="{DDDB5882-EAD3-F3A1-98CC-DBDBA3F9A58F}"/>
              </a:ext>
            </a:extLst>
          </p:cNvPr>
          <p:cNvSpPr>
            <a:spLocks xmlns:a="http://schemas.openxmlformats.org/drawingml/2006/main" noGrp="1"/>
          </p:cNvSpPr>
          <p:nvPr/>
        </p:nvSpPr>
        <p:spPr>
          <a:xfrm xmlns:a="http://schemas.openxmlformats.org/drawingml/2006/main">
            <a:off x="1061357" y="2438720"/>
            <a:ext cx="765776" cy="750761"/>
          </a:xfrm>
          <a:custGeom xmlns:a="http://schemas.openxmlformats.org/drawingml/2006/main">
            <a:gdLst>
              <a:gd name="connsiteX0" fmla="*/ 0 w 832757"/>
              <a:gd name="connsiteY0" fmla="*/ 0 h 816429"/>
              <a:gd name="connsiteX1" fmla="*/ 745315 w 832757"/>
              <a:gd name="connsiteY1" fmla="*/ 0 h 816429"/>
              <a:gd name="connsiteX2" fmla="*/ 791374 w 832757"/>
              <a:gd name="connsiteY2" fmla="*/ 84857 h 816429"/>
              <a:gd name="connsiteX3" fmla="*/ 832757 w 832757"/>
              <a:gd name="connsiteY3" fmla="*/ 289832 h 816429"/>
              <a:gd name="connsiteX4" fmla="*/ 306160 w 832757"/>
              <a:gd name="connsiteY4" fmla="*/ 816429 h 816429"/>
              <a:gd name="connsiteX5" fmla="*/ 11735 w 832757"/>
              <a:gd name="connsiteY5" fmla="*/ 726494 h 816429"/>
              <a:gd name="connsiteX6" fmla="*/ 0 w 832757"/>
              <a:gd name="connsiteY6" fmla="*/ 716812 h 816429"/>
              <a:gd name="connsiteX7" fmla="*/ 0 w 832757"/>
              <a:gd name="connsiteY7" fmla="*/ 0 h 816429"/>
            </a:gdLst>
            <a:rect l="l" t="t" r="r" b="b"/>
            <a:pathLst>
              <a:path w="832757" h="816429">
                <a:moveTo>
                  <a:pt x="0" y="0"/>
                </a:moveTo>
                <a:lnTo>
                  <a:pt x="745315" y="0"/>
                </a:lnTo>
                <a:lnTo>
                  <a:pt x="791374" y="84857"/>
                </a:lnTo>
                <a:cubicBezTo>
                  <a:pt x="818022" y="147858"/>
                  <a:pt x="832757" y="217124"/>
                  <a:pt x="832757" y="289832"/>
                </a:cubicBezTo>
                <a:cubicBezTo>
                  <a:pt x="832757" y="580663"/>
                  <a:pt x="596991" y="816429"/>
                  <a:pt x="306160" y="816429"/>
                </a:cubicBezTo>
                <a:cubicBezTo>
                  <a:pt x="197098" y="816429"/>
                  <a:pt x="95780" y="783275"/>
                  <a:pt x="11735" y="726494"/>
                </a:cubicBezTo>
                <a:lnTo>
                  <a:pt x="0" y="716812"/>
                </a:lnTo>
                <a:lnTo>
                  <a:pt x="0" y="0"/>
                </a:lnTo>
                <a:close/>
              </a:path>
            </a:pathLst>
          </a:custGeom>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0" name="magnifier-and-open-book_65775">
            <a:extLst xmlns:a="http://schemas.openxmlformats.org/drawingml/2006/main">
              <a:ext uri="{FF2B5EF4-FFF2-40B4-BE49-F238E27FC236}">
                <a16:creationId xmlns:a16="http://schemas.microsoft.com/office/drawing/2014/main" id="{CAE17B16-40B8-BBDD-ED20-A92E8F9FDE81}"/>
              </a:ext>
            </a:extLst>
          </p:cNvPr>
          <p:cNvSpPr>
            <a:spLocks xmlns:a="http://schemas.openxmlformats.org/drawingml/2006/main" noGrp="1"/>
          </p:cNvSpPr>
          <p:nvPr/>
        </p:nvSpPr>
        <p:spPr>
          <a:xfrm xmlns:a="http://schemas.openxmlformats.org/drawingml/2006/main">
            <a:off x="3072949" y="2638094"/>
            <a:ext cx="584651" cy="551387"/>
          </a:xfrm>
          <a:custGeom xmlns:a="http://schemas.openxmlformats.org/drawingml/2006/main">
            <a:gdLst>
              <a:gd name="connsiteX0" fmla="*/ 541910 w 607785"/>
              <a:gd name="connsiteY0" fmla="*/ 465873 h 573206"/>
              <a:gd name="connsiteX1" fmla="*/ 566339 w 607785"/>
              <a:gd name="connsiteY1" fmla="*/ 544203 h 573206"/>
              <a:gd name="connsiteX2" fmla="*/ 556199 w 607785"/>
              <a:gd name="connsiteY2" fmla="*/ 563441 h 573206"/>
              <a:gd name="connsiteX3" fmla="*/ 526791 w 607785"/>
              <a:gd name="connsiteY3" fmla="*/ 572507 h 573206"/>
              <a:gd name="connsiteX4" fmla="*/ 507570 w 607785"/>
              <a:gd name="connsiteY4" fmla="*/ 562382 h 573206"/>
              <a:gd name="connsiteX5" fmla="*/ 483232 w 607785"/>
              <a:gd name="connsiteY5" fmla="*/ 484006 h 573206"/>
              <a:gd name="connsiteX6" fmla="*/ 513470 w 607785"/>
              <a:gd name="connsiteY6" fmla="*/ 477747 h 573206"/>
              <a:gd name="connsiteX7" fmla="*/ 541910 w 607785"/>
              <a:gd name="connsiteY7" fmla="*/ 465873 h 573206"/>
              <a:gd name="connsiteX8" fmla="*/ 466195 w 607785"/>
              <a:gd name="connsiteY8" fmla="*/ 232668 h 573206"/>
              <a:gd name="connsiteX9" fmla="*/ 384154 w 607785"/>
              <a:gd name="connsiteY9" fmla="*/ 282004 h 573206"/>
              <a:gd name="connsiteX10" fmla="*/ 377747 w 607785"/>
              <a:gd name="connsiteY10" fmla="*/ 297330 h 573206"/>
              <a:gd name="connsiteX11" fmla="*/ 375166 w 607785"/>
              <a:gd name="connsiteY11" fmla="*/ 307455 h 573206"/>
              <a:gd name="connsiteX12" fmla="*/ 373830 w 607785"/>
              <a:gd name="connsiteY12" fmla="*/ 317580 h 573206"/>
              <a:gd name="connsiteX13" fmla="*/ 422916 w 607785"/>
              <a:gd name="connsiteY13" fmla="*/ 406771 h 573206"/>
              <a:gd name="connsiteX14" fmla="*/ 462508 w 607785"/>
              <a:gd name="connsiteY14" fmla="*/ 417310 h 573206"/>
              <a:gd name="connsiteX15" fmla="*/ 465872 w 607785"/>
              <a:gd name="connsiteY15" fmla="*/ 417356 h 573206"/>
              <a:gd name="connsiteX16" fmla="*/ 521181 w 607785"/>
              <a:gd name="connsiteY16" fmla="*/ 399131 h 573206"/>
              <a:gd name="connsiteX17" fmla="*/ 547867 w 607785"/>
              <a:gd name="connsiteY17" fmla="*/ 368020 h 573206"/>
              <a:gd name="connsiteX18" fmla="*/ 509151 w 607785"/>
              <a:gd name="connsiteY18" fmla="*/ 243299 h 573206"/>
              <a:gd name="connsiteX19" fmla="*/ 499933 w 607785"/>
              <a:gd name="connsiteY19" fmla="*/ 239065 h 573206"/>
              <a:gd name="connsiteX20" fmla="*/ 489701 w 607785"/>
              <a:gd name="connsiteY20" fmla="*/ 235752 h 573206"/>
              <a:gd name="connsiteX21" fmla="*/ 479515 w 607785"/>
              <a:gd name="connsiteY21" fmla="*/ 233635 h 573206"/>
              <a:gd name="connsiteX22" fmla="*/ 466195 w 607785"/>
              <a:gd name="connsiteY22" fmla="*/ 232668 h 573206"/>
              <a:gd name="connsiteX23" fmla="*/ 466195 w 607785"/>
              <a:gd name="connsiteY23" fmla="*/ 183470 h 573206"/>
              <a:gd name="connsiteX24" fmla="*/ 479515 w 607785"/>
              <a:gd name="connsiteY24" fmla="*/ 184115 h 573206"/>
              <a:gd name="connsiteX25" fmla="*/ 489701 w 607785"/>
              <a:gd name="connsiteY25" fmla="*/ 185495 h 573206"/>
              <a:gd name="connsiteX26" fmla="*/ 499933 w 607785"/>
              <a:gd name="connsiteY26" fmla="*/ 187566 h 573206"/>
              <a:gd name="connsiteX27" fmla="*/ 532058 w 607785"/>
              <a:gd name="connsiteY27" fmla="*/ 199854 h 573206"/>
              <a:gd name="connsiteX28" fmla="*/ 601378 w 607785"/>
              <a:gd name="connsiteY28" fmla="*/ 283109 h 573206"/>
              <a:gd name="connsiteX29" fmla="*/ 591469 w 607785"/>
              <a:gd name="connsiteY29" fmla="*/ 390939 h 573206"/>
              <a:gd name="connsiteX30" fmla="*/ 536437 w 607785"/>
              <a:gd name="connsiteY30" fmla="*/ 447869 h 573206"/>
              <a:gd name="connsiteX31" fmla="*/ 508045 w 607785"/>
              <a:gd name="connsiteY31" fmla="*/ 460157 h 573206"/>
              <a:gd name="connsiteX32" fmla="*/ 477671 w 607785"/>
              <a:gd name="connsiteY32" fmla="*/ 466048 h 573206"/>
              <a:gd name="connsiteX33" fmla="*/ 465872 w 607785"/>
              <a:gd name="connsiteY33" fmla="*/ 466508 h 573206"/>
              <a:gd name="connsiteX34" fmla="*/ 400009 w 607785"/>
              <a:gd name="connsiteY34" fmla="*/ 450124 h 573206"/>
              <a:gd name="connsiteX35" fmla="*/ 330689 w 607785"/>
              <a:gd name="connsiteY35" fmla="*/ 366870 h 573206"/>
              <a:gd name="connsiteX36" fmla="*/ 324421 w 607785"/>
              <a:gd name="connsiteY36" fmla="*/ 318270 h 573206"/>
              <a:gd name="connsiteX37" fmla="*/ 325250 w 607785"/>
              <a:gd name="connsiteY37" fmla="*/ 308007 h 573206"/>
              <a:gd name="connsiteX38" fmla="*/ 326910 w 607785"/>
              <a:gd name="connsiteY38" fmla="*/ 297790 h 573206"/>
              <a:gd name="connsiteX39" fmla="*/ 340691 w 607785"/>
              <a:gd name="connsiteY39" fmla="*/ 259039 h 573206"/>
              <a:gd name="connsiteX40" fmla="*/ 424068 w 607785"/>
              <a:gd name="connsiteY40" fmla="*/ 189821 h 573206"/>
              <a:gd name="connsiteX41" fmla="*/ 466195 w 607785"/>
              <a:gd name="connsiteY41" fmla="*/ 183470 h 573206"/>
              <a:gd name="connsiteX42" fmla="*/ 359639 w 607785"/>
              <a:gd name="connsiteY42" fmla="*/ 0 h 573206"/>
              <a:gd name="connsiteX43" fmla="*/ 468802 w 607785"/>
              <a:gd name="connsiteY43" fmla="*/ 17118 h 573206"/>
              <a:gd name="connsiteX44" fmla="*/ 479492 w 607785"/>
              <a:gd name="connsiteY44" fmla="*/ 31705 h 573206"/>
              <a:gd name="connsiteX45" fmla="*/ 479492 w 607785"/>
              <a:gd name="connsiteY45" fmla="*/ 165611 h 573206"/>
              <a:gd name="connsiteX46" fmla="*/ 466175 w 607785"/>
              <a:gd name="connsiteY46" fmla="*/ 165059 h 573206"/>
              <a:gd name="connsiteX47" fmla="*/ 418621 w 607785"/>
              <a:gd name="connsiteY47" fmla="*/ 172283 h 573206"/>
              <a:gd name="connsiteX48" fmla="*/ 324342 w 607785"/>
              <a:gd name="connsiteY48" fmla="*/ 250511 h 573206"/>
              <a:gd name="connsiteX49" fmla="*/ 307937 w 607785"/>
              <a:gd name="connsiteY49" fmla="*/ 298919 h 573206"/>
              <a:gd name="connsiteX50" fmla="*/ 248955 w 607785"/>
              <a:gd name="connsiteY50" fmla="*/ 307524 h 573206"/>
              <a:gd name="connsiteX51" fmla="*/ 248955 w 607785"/>
              <a:gd name="connsiteY51" fmla="*/ 17624 h 573206"/>
              <a:gd name="connsiteX52" fmla="*/ 359639 w 607785"/>
              <a:gd name="connsiteY52" fmla="*/ 0 h 573206"/>
              <a:gd name="connsiteX53" fmla="*/ 119890 w 607785"/>
              <a:gd name="connsiteY53" fmla="*/ 0 h 573206"/>
              <a:gd name="connsiteX54" fmla="*/ 230608 w 607785"/>
              <a:gd name="connsiteY54" fmla="*/ 17624 h 573206"/>
              <a:gd name="connsiteX55" fmla="*/ 230608 w 607785"/>
              <a:gd name="connsiteY55" fmla="*/ 307524 h 573206"/>
              <a:gd name="connsiteX56" fmla="*/ 119890 w 607785"/>
              <a:gd name="connsiteY56" fmla="*/ 297079 h 573206"/>
              <a:gd name="connsiteX57" fmla="*/ 18437 w 607785"/>
              <a:gd name="connsiteY57" fmla="*/ 305315 h 573206"/>
              <a:gd name="connsiteX58" fmla="*/ 15303 w 607785"/>
              <a:gd name="connsiteY58" fmla="*/ 305592 h 573206"/>
              <a:gd name="connsiteX59" fmla="*/ 0 w 607785"/>
              <a:gd name="connsiteY59" fmla="*/ 290268 h 573206"/>
              <a:gd name="connsiteX60" fmla="*/ 0 w 607785"/>
              <a:gd name="connsiteY60" fmla="*/ 31705 h 573206"/>
              <a:gd name="connsiteX61" fmla="*/ 10694 w 607785"/>
              <a:gd name="connsiteY61" fmla="*/ 17118 h 573206"/>
              <a:gd name="connsiteX62" fmla="*/ 119890 w 607785"/>
              <a:gd name="connsiteY62" fmla="*/ 0 h 573206"/>
            </a:gdLst>
            <a:rect l="l" t="t" r="r" b="b"/>
            <a:pathLst>
              <a:path w="607785" h="573206">
                <a:moveTo>
                  <a:pt x="541910" y="465873"/>
                </a:moveTo>
                <a:lnTo>
                  <a:pt x="566339" y="544203"/>
                </a:lnTo>
                <a:cubicBezTo>
                  <a:pt x="568828" y="552303"/>
                  <a:pt x="564311" y="560909"/>
                  <a:pt x="556199" y="563441"/>
                </a:cubicBezTo>
                <a:lnTo>
                  <a:pt x="526791" y="572507"/>
                </a:lnTo>
                <a:cubicBezTo>
                  <a:pt x="518678" y="575038"/>
                  <a:pt x="510105" y="570482"/>
                  <a:pt x="507570" y="562382"/>
                </a:cubicBezTo>
                <a:lnTo>
                  <a:pt x="483232" y="484006"/>
                </a:lnTo>
                <a:cubicBezTo>
                  <a:pt x="493419" y="482902"/>
                  <a:pt x="503560" y="480831"/>
                  <a:pt x="513470" y="477747"/>
                </a:cubicBezTo>
                <a:cubicBezTo>
                  <a:pt x="523426" y="474617"/>
                  <a:pt x="532967" y="470660"/>
                  <a:pt x="541910" y="465873"/>
                </a:cubicBezTo>
                <a:close/>
                <a:moveTo>
                  <a:pt x="466195" y="232668"/>
                </a:moveTo>
                <a:cubicBezTo>
                  <a:pt x="432872" y="232668"/>
                  <a:pt x="400654" y="250663"/>
                  <a:pt x="384154" y="282004"/>
                </a:cubicBezTo>
                <a:cubicBezTo>
                  <a:pt x="381481" y="286975"/>
                  <a:pt x="379407" y="292129"/>
                  <a:pt x="377747" y="297330"/>
                </a:cubicBezTo>
                <a:cubicBezTo>
                  <a:pt x="376641" y="300735"/>
                  <a:pt x="375858" y="304095"/>
                  <a:pt x="375166" y="307455"/>
                </a:cubicBezTo>
                <a:cubicBezTo>
                  <a:pt x="374567" y="310860"/>
                  <a:pt x="374060" y="314220"/>
                  <a:pt x="373830" y="317580"/>
                </a:cubicBezTo>
                <a:cubicBezTo>
                  <a:pt x="370972" y="353293"/>
                  <a:pt x="389178" y="389006"/>
                  <a:pt x="422916" y="406771"/>
                </a:cubicBezTo>
                <a:cubicBezTo>
                  <a:pt x="435591" y="413398"/>
                  <a:pt x="449095" y="416804"/>
                  <a:pt x="462508" y="417310"/>
                </a:cubicBezTo>
                <a:cubicBezTo>
                  <a:pt x="463660" y="417356"/>
                  <a:pt x="464766" y="417356"/>
                  <a:pt x="465872" y="417356"/>
                </a:cubicBezTo>
                <a:cubicBezTo>
                  <a:pt x="485737" y="417356"/>
                  <a:pt x="505187" y="411005"/>
                  <a:pt x="521181" y="399131"/>
                </a:cubicBezTo>
                <a:cubicBezTo>
                  <a:pt x="532012" y="391123"/>
                  <a:pt x="541138" y="380676"/>
                  <a:pt x="547867" y="368020"/>
                </a:cubicBezTo>
                <a:cubicBezTo>
                  <a:pt x="571650" y="323010"/>
                  <a:pt x="554228" y="266955"/>
                  <a:pt x="509151" y="243299"/>
                </a:cubicBezTo>
                <a:cubicBezTo>
                  <a:pt x="506109" y="241689"/>
                  <a:pt x="503067" y="240262"/>
                  <a:pt x="499933" y="239065"/>
                </a:cubicBezTo>
                <a:cubicBezTo>
                  <a:pt x="496522" y="237777"/>
                  <a:pt x="493158" y="236672"/>
                  <a:pt x="489701" y="235752"/>
                </a:cubicBezTo>
                <a:cubicBezTo>
                  <a:pt x="486336" y="234877"/>
                  <a:pt x="482880" y="234141"/>
                  <a:pt x="479515" y="233635"/>
                </a:cubicBezTo>
                <a:cubicBezTo>
                  <a:pt x="475090" y="232990"/>
                  <a:pt x="470620" y="232668"/>
                  <a:pt x="466195" y="232668"/>
                </a:cubicBezTo>
                <a:close/>
                <a:moveTo>
                  <a:pt x="466195" y="183470"/>
                </a:moveTo>
                <a:cubicBezTo>
                  <a:pt x="470620" y="183470"/>
                  <a:pt x="475090" y="183700"/>
                  <a:pt x="479515" y="184115"/>
                </a:cubicBezTo>
                <a:cubicBezTo>
                  <a:pt x="482972" y="184437"/>
                  <a:pt x="486336" y="184943"/>
                  <a:pt x="489701" y="185495"/>
                </a:cubicBezTo>
                <a:cubicBezTo>
                  <a:pt x="493158" y="186048"/>
                  <a:pt x="496522" y="186692"/>
                  <a:pt x="499933" y="187566"/>
                </a:cubicBezTo>
                <a:cubicBezTo>
                  <a:pt x="510903" y="190328"/>
                  <a:pt x="521734" y="194378"/>
                  <a:pt x="532058" y="199854"/>
                </a:cubicBezTo>
                <a:cubicBezTo>
                  <a:pt x="565566" y="217435"/>
                  <a:pt x="590178" y="247027"/>
                  <a:pt x="601378" y="283109"/>
                </a:cubicBezTo>
                <a:cubicBezTo>
                  <a:pt x="612578" y="319190"/>
                  <a:pt x="608983" y="357481"/>
                  <a:pt x="591469" y="390939"/>
                </a:cubicBezTo>
                <a:cubicBezTo>
                  <a:pt x="578702" y="415101"/>
                  <a:pt x="559666" y="434661"/>
                  <a:pt x="536437" y="447869"/>
                </a:cubicBezTo>
                <a:cubicBezTo>
                  <a:pt x="527495" y="452886"/>
                  <a:pt x="518047" y="457074"/>
                  <a:pt x="508045" y="460157"/>
                </a:cubicBezTo>
                <a:cubicBezTo>
                  <a:pt x="497997" y="463195"/>
                  <a:pt x="487857" y="465174"/>
                  <a:pt x="477671" y="466048"/>
                </a:cubicBezTo>
                <a:cubicBezTo>
                  <a:pt x="473754" y="466324"/>
                  <a:pt x="469790" y="466508"/>
                  <a:pt x="465872" y="466508"/>
                </a:cubicBezTo>
                <a:cubicBezTo>
                  <a:pt x="443150" y="466508"/>
                  <a:pt x="420658" y="460986"/>
                  <a:pt x="400009" y="450124"/>
                </a:cubicBezTo>
                <a:cubicBezTo>
                  <a:pt x="366501" y="432544"/>
                  <a:pt x="341843" y="402951"/>
                  <a:pt x="330689" y="366870"/>
                </a:cubicBezTo>
                <a:cubicBezTo>
                  <a:pt x="325711" y="350900"/>
                  <a:pt x="323683" y="334470"/>
                  <a:pt x="324421" y="318270"/>
                </a:cubicBezTo>
                <a:cubicBezTo>
                  <a:pt x="324605" y="314818"/>
                  <a:pt x="324836" y="311413"/>
                  <a:pt x="325250" y="308007"/>
                </a:cubicBezTo>
                <a:cubicBezTo>
                  <a:pt x="325711" y="304601"/>
                  <a:pt x="326264" y="301150"/>
                  <a:pt x="326910" y="297790"/>
                </a:cubicBezTo>
                <a:cubicBezTo>
                  <a:pt x="329583" y="284443"/>
                  <a:pt x="334192" y="271465"/>
                  <a:pt x="340691" y="259039"/>
                </a:cubicBezTo>
                <a:cubicBezTo>
                  <a:pt x="358343" y="225627"/>
                  <a:pt x="387933" y="201005"/>
                  <a:pt x="424068" y="189821"/>
                </a:cubicBezTo>
                <a:cubicBezTo>
                  <a:pt x="437895" y="185587"/>
                  <a:pt x="452091" y="183470"/>
                  <a:pt x="466195" y="183470"/>
                </a:cubicBezTo>
                <a:close/>
                <a:moveTo>
                  <a:pt x="359639" y="0"/>
                </a:moveTo>
                <a:cubicBezTo>
                  <a:pt x="408161" y="0"/>
                  <a:pt x="449955" y="11182"/>
                  <a:pt x="468802" y="17118"/>
                </a:cubicBezTo>
                <a:cubicBezTo>
                  <a:pt x="475115" y="19142"/>
                  <a:pt x="479492" y="25032"/>
                  <a:pt x="479492" y="31705"/>
                </a:cubicBezTo>
                <a:lnTo>
                  <a:pt x="479492" y="165611"/>
                </a:lnTo>
                <a:cubicBezTo>
                  <a:pt x="475069" y="165243"/>
                  <a:pt x="470599" y="165059"/>
                  <a:pt x="466175" y="165059"/>
                </a:cubicBezTo>
                <a:cubicBezTo>
                  <a:pt x="450139" y="165059"/>
                  <a:pt x="434104" y="167497"/>
                  <a:pt x="418621" y="172283"/>
                </a:cubicBezTo>
                <a:cubicBezTo>
                  <a:pt x="377748" y="184938"/>
                  <a:pt x="344248" y="212732"/>
                  <a:pt x="324342" y="250511"/>
                </a:cubicBezTo>
                <a:cubicBezTo>
                  <a:pt x="316185" y="265926"/>
                  <a:pt x="310702" y="282216"/>
                  <a:pt x="307937" y="298919"/>
                </a:cubicBezTo>
                <a:cubicBezTo>
                  <a:pt x="283745" y="300714"/>
                  <a:pt x="263239" y="303705"/>
                  <a:pt x="248955" y="307524"/>
                </a:cubicBezTo>
                <a:lnTo>
                  <a:pt x="248955" y="17624"/>
                </a:lnTo>
                <a:cubicBezTo>
                  <a:pt x="267018" y="11780"/>
                  <a:pt x="309780" y="0"/>
                  <a:pt x="359639" y="0"/>
                </a:cubicBezTo>
                <a:close/>
                <a:moveTo>
                  <a:pt x="119890" y="0"/>
                </a:moveTo>
                <a:cubicBezTo>
                  <a:pt x="169764" y="0"/>
                  <a:pt x="212539" y="11780"/>
                  <a:pt x="230608" y="17624"/>
                </a:cubicBezTo>
                <a:lnTo>
                  <a:pt x="230608" y="307524"/>
                </a:lnTo>
                <a:cubicBezTo>
                  <a:pt x="207008" y="301266"/>
                  <a:pt x="166261" y="297079"/>
                  <a:pt x="119890" y="297079"/>
                </a:cubicBezTo>
                <a:cubicBezTo>
                  <a:pt x="79097" y="297079"/>
                  <a:pt x="42637" y="300254"/>
                  <a:pt x="18437" y="305315"/>
                </a:cubicBezTo>
                <a:cubicBezTo>
                  <a:pt x="17377" y="305500"/>
                  <a:pt x="16363" y="305592"/>
                  <a:pt x="15303" y="305592"/>
                </a:cubicBezTo>
                <a:cubicBezTo>
                  <a:pt x="7052" y="305592"/>
                  <a:pt x="0" y="298919"/>
                  <a:pt x="0" y="290268"/>
                </a:cubicBezTo>
                <a:lnTo>
                  <a:pt x="0" y="31705"/>
                </a:lnTo>
                <a:cubicBezTo>
                  <a:pt x="0" y="25032"/>
                  <a:pt x="4379" y="19142"/>
                  <a:pt x="10694" y="17118"/>
                </a:cubicBezTo>
                <a:cubicBezTo>
                  <a:pt x="29638" y="11182"/>
                  <a:pt x="71353" y="0"/>
                  <a:pt x="119890" y="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1BF565F7-988B-4B73-F134-4B8CAE988CEA}"/>
              </a:ext>
            </a:extLst>
          </p:cNvPr>
          <p:cNvSpPr>
            <a:spLocks xmlns:a="http://schemas.openxmlformats.org/drawingml/2006/main" noGrp="1"/>
          </p:cNvSpPr>
          <p:nvPr/>
        </p:nvSpPr>
        <p:spPr>
          <a:xfrm xmlns:a="http://schemas.openxmlformats.org/drawingml/2006/main">
            <a:off x="1045858" y="2581563"/>
            <a:ext cx="76577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a:solidFill>
                  <a:schemeClr val="bg1"/>
                </a:solidFill>
                <a:latin typeface="Arial"/>
                <a:ea typeface="Arial"/>
                <a:cs typeface="Arial"/>
              </a:rPr>
              <a:t>01</a:t>
            </a:r>
            <a:endParaRPr sz="2400">
              <a:solidFill>
                <a:schemeClr val="bg1"/>
              </a:solidFill>
              <a:latin typeface="Arial"/>
              <a:ea typeface="Arial"/>
              <a:cs typeface="Arial"/>
            </a:endParaRPr>
          </a:p>
        </p:txBody>
      </p:sp>
      <p:sp>
        <p:nvSpPr>
          <p:cNvPr id="15" name="文本框 14">
            <a:extLst xmlns:a="http://schemas.openxmlformats.org/drawingml/2006/main">
              <a:ext uri="{FF2B5EF4-FFF2-40B4-BE49-F238E27FC236}">
                <a16:creationId xmlns:a16="http://schemas.microsoft.com/office/drawing/2014/main" id="{69E2C48D-76B4-82C6-5C34-4E6264210488}"/>
              </a:ext>
            </a:extLst>
          </p:cNvPr>
          <p:cNvSpPr>
            <a:spLocks xmlns:a="http://schemas.openxmlformats.org/drawingml/2006/main" noGrp="1"/>
          </p:cNvSpPr>
          <p:nvPr/>
        </p:nvSpPr>
        <p:spPr>
          <a:xfrm xmlns:a="http://schemas.openxmlformats.org/drawingml/2006/main">
            <a:off x="1333500" y="3352800"/>
            <a:ext cx="2381250" cy="2381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None/>
              <a:defRPr sz="1725" b="0">
                <a:solidFill>
                  <a:srgbClr val="202832"/>
                </a:solidFill>
                <a:latin typeface="Arial"/>
                <a:ea typeface="Arial"/>
                <a:cs typeface="Arial"/>
              </a:defRPr>
            </a:pPr>
            <a:r>
              <a:rPr sz="1725" b="1">
                <a:solidFill>
                  <a:srgbClr val="202832"/>
                </a:solidFill>
                <a:latin typeface="Arial"/>
                <a:ea typeface="Arial"/>
                <a:cs typeface="Arial"/>
              </a:rPr>
              <a:t>Can we reproduce it?</a:t>
            </a:r>
            <a:endParaRPr sz="2000">
              <a:solidFill>
                <a:schemeClr val="tx1">
                  <a:lumMod val="75000"/>
                  <a:lumOff val="25000"/>
                </a:schemeClr>
              </a:solidFill>
              <a:latin typeface="Microsoft YaHei"/>
              <a:ea typeface="Microsoft YaHei"/>
              <a:cs typeface="Microsoft YaHei"/>
            </a:endParaRPr>
          </a:p>
          <a:p xmlns:a="http://schemas.openxmlformats.org/drawingml/2006/main">
            <a:pPr>
              <a:lnSpc>
                <a:spcPct val="120000"/>
              </a:lnSpc>
              <a:buNone/>
            </a:pPr>
            <a:r>
              <a:rPr sz="2000">
                <a:solidFill>
                  <a:schemeClr val="tx1">
                    <a:lumMod val="75000"/>
                    <a:lumOff val="25000"/>
                  </a:schemeClr>
                </a:solidFill>
                <a:latin typeface="Microsoft YaHei"/>
                <a:ea typeface="Microsoft YaHei"/>
                <a:cs typeface="Microsoft YaHei"/>
              </a:rPr>
              <a:t/>
            </a:r>
            <a:endParaRPr sz="2000">
              <a:solidFill>
                <a:schemeClr val="tx1">
                  <a:lumMod val="75000"/>
                  <a:lumOff val="25000"/>
                </a:schemeClr>
              </a:solidFill>
              <a:latin typeface="Microsoft YaHei"/>
              <a:ea typeface="Microsoft YaHei"/>
              <a:cs typeface="Microsoft YaHei"/>
            </a:endParaRPr>
          </a:p>
          <a:p xmlns:a="http://schemas.openxmlformats.org/drawingml/2006/main">
            <a:pPr algn="l">
              <a:lnSpc>
                <a:spcPct val="120000"/>
              </a:lnSpc>
              <a:buNone/>
              <a:defRPr sz="1725" b="0">
                <a:solidFill>
                  <a:srgbClr val="202832"/>
                </a:solidFill>
                <a:latin typeface="Arial"/>
                <a:ea typeface="Arial"/>
                <a:cs typeface="Arial"/>
              </a:defRPr>
            </a:pPr>
            <a:r>
              <a:rPr sz="1725" b="0">
                <a:solidFill>
                  <a:srgbClr val="202832"/>
                </a:solidFill>
                <a:latin typeface="Arial"/>
                <a:ea typeface="Arial"/>
                <a:cs typeface="Arial"/>
              </a:rPr>
              <a:t>The strongest original configurations give similar errors in our rerun.</a:t>
            </a:r>
            <a:endParaRPr sz="2000">
              <a:solidFill>
                <a:schemeClr val="tx1">
                  <a:lumMod val="75000"/>
                  <a:lumOff val="25000"/>
                </a:schemeClr>
              </a:solidFill>
              <a:latin typeface="Microsoft YaHei"/>
              <a:ea typeface="Microsoft YaHei"/>
              <a:cs typeface="Microsoft YaHei"/>
            </a:endParaRPr>
          </a:p>
        </p:txBody>
      </p:sp>
      <p:sp>
        <p:nvSpPr>
          <p:cNvPr id="16" name="矩形 15">
            <a:extLst xmlns:a="http://schemas.openxmlformats.org/drawingml/2006/main">
              <a:ext uri="{FF2B5EF4-FFF2-40B4-BE49-F238E27FC236}">
                <a16:creationId xmlns:a16="http://schemas.microsoft.com/office/drawing/2014/main" id="{BCD21583-3FB0-D039-C4DD-AFF9CFA51B0E}"/>
              </a:ext>
            </a:extLst>
          </p:cNvPr>
          <p:cNvSpPr>
            <a:spLocks xmlns:a="http://schemas.openxmlformats.org/drawingml/2006/main" noGrp="1"/>
          </p:cNvSpPr>
          <p:nvPr/>
        </p:nvSpPr>
        <p:spPr>
          <a:xfrm xmlns:a="http://schemas.openxmlformats.org/drawingml/2006/main">
            <a:off x="4667249" y="2438720"/>
            <a:ext cx="2857500" cy="3559629"/>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7" name="任意形状 16">
            <a:extLst xmlns:a="http://schemas.openxmlformats.org/drawingml/2006/main">
              <a:ext uri="{FF2B5EF4-FFF2-40B4-BE49-F238E27FC236}">
                <a16:creationId xmlns:a16="http://schemas.microsoft.com/office/drawing/2014/main" id="{00C55D44-4D53-3A75-8939-E04609A29F12}"/>
              </a:ext>
            </a:extLst>
          </p:cNvPr>
          <p:cNvSpPr>
            <a:spLocks xmlns:a="http://schemas.openxmlformats.org/drawingml/2006/main" noGrp="1"/>
          </p:cNvSpPr>
          <p:nvPr/>
        </p:nvSpPr>
        <p:spPr>
          <a:xfrm xmlns:a="http://schemas.openxmlformats.org/drawingml/2006/main">
            <a:off x="4667251" y="2438720"/>
            <a:ext cx="765776" cy="750761"/>
          </a:xfrm>
          <a:custGeom xmlns:a="http://schemas.openxmlformats.org/drawingml/2006/main">
            <a:gdLst>
              <a:gd name="connsiteX0" fmla="*/ 0 w 832757"/>
              <a:gd name="connsiteY0" fmla="*/ 0 h 816429"/>
              <a:gd name="connsiteX1" fmla="*/ 745315 w 832757"/>
              <a:gd name="connsiteY1" fmla="*/ 0 h 816429"/>
              <a:gd name="connsiteX2" fmla="*/ 791374 w 832757"/>
              <a:gd name="connsiteY2" fmla="*/ 84857 h 816429"/>
              <a:gd name="connsiteX3" fmla="*/ 832757 w 832757"/>
              <a:gd name="connsiteY3" fmla="*/ 289832 h 816429"/>
              <a:gd name="connsiteX4" fmla="*/ 306160 w 832757"/>
              <a:gd name="connsiteY4" fmla="*/ 816429 h 816429"/>
              <a:gd name="connsiteX5" fmla="*/ 11735 w 832757"/>
              <a:gd name="connsiteY5" fmla="*/ 726494 h 816429"/>
              <a:gd name="connsiteX6" fmla="*/ 0 w 832757"/>
              <a:gd name="connsiteY6" fmla="*/ 716812 h 816429"/>
              <a:gd name="connsiteX7" fmla="*/ 0 w 832757"/>
              <a:gd name="connsiteY7" fmla="*/ 0 h 816429"/>
            </a:gdLst>
            <a:rect l="l" t="t" r="r" b="b"/>
            <a:pathLst>
              <a:path w="832757" h="816429">
                <a:moveTo>
                  <a:pt x="0" y="0"/>
                </a:moveTo>
                <a:lnTo>
                  <a:pt x="745315" y="0"/>
                </a:lnTo>
                <a:lnTo>
                  <a:pt x="791374" y="84857"/>
                </a:lnTo>
                <a:cubicBezTo>
                  <a:pt x="818022" y="147858"/>
                  <a:pt x="832757" y="217124"/>
                  <a:pt x="832757" y="289832"/>
                </a:cubicBezTo>
                <a:cubicBezTo>
                  <a:pt x="832757" y="580663"/>
                  <a:pt x="596991" y="816429"/>
                  <a:pt x="306160" y="816429"/>
                </a:cubicBezTo>
                <a:cubicBezTo>
                  <a:pt x="197098" y="816429"/>
                  <a:pt x="95780" y="783275"/>
                  <a:pt x="11735" y="726494"/>
                </a:cubicBezTo>
                <a:lnTo>
                  <a:pt x="0" y="716812"/>
                </a:lnTo>
                <a:lnTo>
                  <a:pt x="0" y="0"/>
                </a:lnTo>
                <a:close/>
              </a:path>
            </a:pathLst>
          </a:custGeom>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8" name="文本框 17">
            <a:extLst xmlns:a="http://schemas.openxmlformats.org/drawingml/2006/main">
              <a:ext uri="{FF2B5EF4-FFF2-40B4-BE49-F238E27FC236}">
                <a16:creationId xmlns:a16="http://schemas.microsoft.com/office/drawing/2014/main" id="{E44068DE-6786-7F94-7A3C-E248E2B00908}"/>
              </a:ext>
            </a:extLst>
          </p:cNvPr>
          <p:cNvSpPr>
            <a:spLocks xmlns:a="http://schemas.openxmlformats.org/drawingml/2006/main" noGrp="1"/>
          </p:cNvSpPr>
          <p:nvPr/>
        </p:nvSpPr>
        <p:spPr>
          <a:xfrm xmlns:a="http://schemas.openxmlformats.org/drawingml/2006/main">
            <a:off x="4651752" y="2581563"/>
            <a:ext cx="76577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a:solidFill>
                  <a:schemeClr val="bg1"/>
                </a:solidFill>
                <a:latin typeface="Arial"/>
                <a:ea typeface="Arial"/>
                <a:cs typeface="Arial"/>
              </a:rPr>
              <a:t>02</a:t>
            </a:r>
            <a:endParaRPr sz="2400">
              <a:solidFill>
                <a:schemeClr val="bg1"/>
              </a:solidFill>
              <a:latin typeface="Arial"/>
              <a:ea typeface="Arial"/>
              <a:cs typeface="Arial"/>
            </a:endParaRPr>
          </a:p>
        </p:txBody>
      </p:sp>
      <p:sp>
        <p:nvSpPr>
          <p:cNvPr id="19" name="文本框 18">
            <a:extLst xmlns:a="http://schemas.openxmlformats.org/drawingml/2006/main">
              <a:ext uri="{FF2B5EF4-FFF2-40B4-BE49-F238E27FC236}">
                <a16:creationId xmlns:a16="http://schemas.microsoft.com/office/drawing/2014/main" id="{CBF6DF35-691B-2F52-D5DA-D56AA53D97E2}"/>
              </a:ext>
            </a:extLst>
          </p:cNvPr>
          <p:cNvSpPr>
            <a:spLocks xmlns:a="http://schemas.openxmlformats.org/drawingml/2006/main" noGrp="1"/>
          </p:cNvSpPr>
          <p:nvPr/>
        </p:nvSpPr>
        <p:spPr>
          <a:xfrm xmlns:a="http://schemas.openxmlformats.org/drawingml/2006/main">
            <a:off x="4939665" y="3352800"/>
            <a:ext cx="2381250" cy="2381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None/>
              <a:defRPr sz="1725" b="0">
                <a:solidFill>
                  <a:srgbClr val="202832"/>
                </a:solidFill>
                <a:latin typeface="Arial"/>
                <a:ea typeface="Arial"/>
                <a:cs typeface="Arial"/>
              </a:defRPr>
            </a:pPr>
            <a:r>
              <a:rPr sz="1725" b="1">
                <a:solidFill>
                  <a:srgbClr val="202832"/>
                </a:solidFill>
                <a:latin typeface="Arial"/>
                <a:ea typeface="Arial"/>
                <a:cs typeface="Arial"/>
              </a:rPr>
              <a:t>How far do the claims go?</a:t>
            </a:r>
            <a:endParaRPr sz="2000">
              <a:solidFill>
                <a:schemeClr val="tx1">
                  <a:lumMod val="75000"/>
                  <a:lumOff val="25000"/>
                </a:schemeClr>
              </a:solidFill>
              <a:latin typeface="Microsoft YaHei"/>
              <a:ea typeface="Microsoft YaHei"/>
              <a:cs typeface="Microsoft YaHei"/>
            </a:endParaRPr>
          </a:p>
          <a:p xmlns:a="http://schemas.openxmlformats.org/drawingml/2006/main">
            <a:pPr>
              <a:lnSpc>
                <a:spcPct val="120000"/>
              </a:lnSpc>
              <a:buNone/>
            </a:pPr>
            <a:r>
              <a:rPr sz="2000">
                <a:solidFill>
                  <a:schemeClr val="tx1">
                    <a:lumMod val="75000"/>
                    <a:lumOff val="25000"/>
                  </a:schemeClr>
                </a:solidFill>
                <a:latin typeface="Microsoft YaHei"/>
                <a:ea typeface="Microsoft YaHei"/>
                <a:cs typeface="Microsoft YaHei"/>
              </a:rPr>
              <a:t/>
            </a:r>
            <a:endParaRPr sz="2000">
              <a:solidFill>
                <a:schemeClr val="tx1">
                  <a:lumMod val="75000"/>
                  <a:lumOff val="25000"/>
                </a:schemeClr>
              </a:solidFill>
              <a:latin typeface="Microsoft YaHei"/>
              <a:ea typeface="Microsoft YaHei"/>
              <a:cs typeface="Microsoft YaHei"/>
            </a:endParaRPr>
          </a:p>
          <a:p xmlns:a="http://schemas.openxmlformats.org/drawingml/2006/main">
            <a:pPr algn="l">
              <a:lnSpc>
                <a:spcPct val="120000"/>
              </a:lnSpc>
              <a:buNone/>
              <a:defRPr sz="1725" b="0">
                <a:solidFill>
                  <a:srgbClr val="202832"/>
                </a:solidFill>
                <a:latin typeface="Arial"/>
                <a:ea typeface="Arial"/>
                <a:cs typeface="Arial"/>
              </a:defRPr>
            </a:pPr>
            <a:r>
              <a:rPr sz="1725" b="0">
                <a:solidFill>
                  <a:srgbClr val="202832"/>
                </a:solidFill>
                <a:latin typeface="Arial"/>
                <a:ea typeface="Arial"/>
                <a:cs typeface="Arial"/>
              </a:rPr>
              <a:t>The study predicts expert imaging scores. Clinical benefit needs other evidence.</a:t>
            </a:r>
            <a:endParaRPr sz="2000">
              <a:solidFill>
                <a:schemeClr val="tx1">
                  <a:lumMod val="75000"/>
                  <a:lumOff val="25000"/>
                </a:schemeClr>
              </a:solidFill>
              <a:latin typeface="Microsoft YaHei"/>
              <a:ea typeface="Microsoft YaHei"/>
              <a:cs typeface="Microsoft YaHei"/>
            </a:endParaRPr>
          </a:p>
        </p:txBody>
      </p:sp>
      <p:sp>
        <p:nvSpPr>
          <p:cNvPr id="20" name="矩形 19">
            <a:extLst xmlns:a="http://schemas.openxmlformats.org/drawingml/2006/main">
              <a:ext uri="{FF2B5EF4-FFF2-40B4-BE49-F238E27FC236}">
                <a16:creationId xmlns:a16="http://schemas.microsoft.com/office/drawing/2014/main" id="{5374A4DE-73A1-8CCC-3F35-056F8813757B}"/>
              </a:ext>
            </a:extLst>
          </p:cNvPr>
          <p:cNvSpPr>
            <a:spLocks xmlns:a="http://schemas.openxmlformats.org/drawingml/2006/main" noGrp="1"/>
          </p:cNvSpPr>
          <p:nvPr/>
        </p:nvSpPr>
        <p:spPr>
          <a:xfrm xmlns:a="http://schemas.openxmlformats.org/drawingml/2006/main">
            <a:off x="8273143" y="2438720"/>
            <a:ext cx="2857500" cy="3559629"/>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1" name="任意形状 20">
            <a:extLst xmlns:a="http://schemas.openxmlformats.org/drawingml/2006/main">
              <a:ext uri="{FF2B5EF4-FFF2-40B4-BE49-F238E27FC236}">
                <a16:creationId xmlns:a16="http://schemas.microsoft.com/office/drawing/2014/main" id="{02EC03A3-8FE6-5248-7BE3-3ACD92E0A85F}"/>
              </a:ext>
            </a:extLst>
          </p:cNvPr>
          <p:cNvSpPr>
            <a:spLocks xmlns:a="http://schemas.openxmlformats.org/drawingml/2006/main" noGrp="1"/>
          </p:cNvSpPr>
          <p:nvPr/>
        </p:nvSpPr>
        <p:spPr>
          <a:xfrm xmlns:a="http://schemas.openxmlformats.org/drawingml/2006/main">
            <a:off x="8273145" y="2438720"/>
            <a:ext cx="765776" cy="750761"/>
          </a:xfrm>
          <a:custGeom xmlns:a="http://schemas.openxmlformats.org/drawingml/2006/main">
            <a:gdLst>
              <a:gd name="connsiteX0" fmla="*/ 0 w 832757"/>
              <a:gd name="connsiteY0" fmla="*/ 0 h 816429"/>
              <a:gd name="connsiteX1" fmla="*/ 745315 w 832757"/>
              <a:gd name="connsiteY1" fmla="*/ 0 h 816429"/>
              <a:gd name="connsiteX2" fmla="*/ 791374 w 832757"/>
              <a:gd name="connsiteY2" fmla="*/ 84857 h 816429"/>
              <a:gd name="connsiteX3" fmla="*/ 832757 w 832757"/>
              <a:gd name="connsiteY3" fmla="*/ 289832 h 816429"/>
              <a:gd name="connsiteX4" fmla="*/ 306160 w 832757"/>
              <a:gd name="connsiteY4" fmla="*/ 816429 h 816429"/>
              <a:gd name="connsiteX5" fmla="*/ 11735 w 832757"/>
              <a:gd name="connsiteY5" fmla="*/ 726494 h 816429"/>
              <a:gd name="connsiteX6" fmla="*/ 0 w 832757"/>
              <a:gd name="connsiteY6" fmla="*/ 716812 h 816429"/>
              <a:gd name="connsiteX7" fmla="*/ 0 w 832757"/>
              <a:gd name="connsiteY7" fmla="*/ 0 h 816429"/>
            </a:gdLst>
            <a:rect l="l" t="t" r="r" b="b"/>
            <a:pathLst>
              <a:path w="832757" h="816429">
                <a:moveTo>
                  <a:pt x="0" y="0"/>
                </a:moveTo>
                <a:lnTo>
                  <a:pt x="745315" y="0"/>
                </a:lnTo>
                <a:lnTo>
                  <a:pt x="791374" y="84857"/>
                </a:lnTo>
                <a:cubicBezTo>
                  <a:pt x="818022" y="147858"/>
                  <a:pt x="832757" y="217124"/>
                  <a:pt x="832757" y="289832"/>
                </a:cubicBezTo>
                <a:cubicBezTo>
                  <a:pt x="832757" y="580663"/>
                  <a:pt x="596991" y="816429"/>
                  <a:pt x="306160" y="816429"/>
                </a:cubicBezTo>
                <a:cubicBezTo>
                  <a:pt x="197098" y="816429"/>
                  <a:pt x="95780" y="783275"/>
                  <a:pt x="11735" y="726494"/>
                </a:cubicBezTo>
                <a:lnTo>
                  <a:pt x="0" y="716812"/>
                </a:lnTo>
                <a:lnTo>
                  <a:pt x="0" y="0"/>
                </a:lnTo>
                <a:close/>
              </a:path>
            </a:pathLst>
          </a:custGeom>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2" name="文本框 21">
            <a:extLst xmlns:a="http://schemas.openxmlformats.org/drawingml/2006/main">
              <a:ext uri="{FF2B5EF4-FFF2-40B4-BE49-F238E27FC236}">
                <a16:creationId xmlns:a16="http://schemas.microsoft.com/office/drawing/2014/main" id="{E6180DBB-CE8B-4976-59CA-4A75F492768B}"/>
              </a:ext>
            </a:extLst>
          </p:cNvPr>
          <p:cNvSpPr>
            <a:spLocks xmlns:a="http://schemas.openxmlformats.org/drawingml/2006/main" noGrp="1"/>
          </p:cNvSpPr>
          <p:nvPr/>
        </p:nvSpPr>
        <p:spPr>
          <a:xfrm xmlns:a="http://schemas.openxmlformats.org/drawingml/2006/main">
            <a:off x="8257646" y="2581563"/>
            <a:ext cx="76577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a:solidFill>
                  <a:schemeClr val="bg1"/>
                </a:solidFill>
                <a:latin typeface="Arial"/>
                <a:ea typeface="Arial"/>
                <a:cs typeface="Arial"/>
              </a:rPr>
              <a:t>03</a:t>
            </a:r>
            <a:endParaRPr sz="2400">
              <a:solidFill>
                <a:schemeClr val="bg1"/>
              </a:solidFill>
              <a:latin typeface="Arial"/>
              <a:ea typeface="Arial"/>
              <a:cs typeface="Arial"/>
            </a:endParaRPr>
          </a:p>
        </p:txBody>
      </p:sp>
      <p:sp>
        <p:nvSpPr>
          <p:cNvPr id="23" name="文本框 22">
            <a:extLst xmlns:a="http://schemas.openxmlformats.org/drawingml/2006/main">
              <a:ext uri="{FF2B5EF4-FFF2-40B4-BE49-F238E27FC236}">
                <a16:creationId xmlns:a16="http://schemas.microsoft.com/office/drawing/2014/main" id="{160CD06F-0ACE-0A98-4643-BEAEB1E86051}"/>
              </a:ext>
            </a:extLst>
          </p:cNvPr>
          <p:cNvSpPr>
            <a:spLocks xmlns:a="http://schemas.openxmlformats.org/drawingml/2006/main" noGrp="1"/>
          </p:cNvSpPr>
          <p:nvPr/>
        </p:nvSpPr>
        <p:spPr>
          <a:xfrm xmlns:a="http://schemas.openxmlformats.org/drawingml/2006/main">
            <a:off x="8545830" y="3352800"/>
            <a:ext cx="2381250" cy="2381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None/>
              <a:defRPr sz="1725" b="0">
                <a:solidFill>
                  <a:srgbClr val="202832"/>
                </a:solidFill>
                <a:latin typeface="Arial"/>
                <a:ea typeface="Arial"/>
                <a:cs typeface="Arial"/>
              </a:defRPr>
            </a:pPr>
            <a:r>
              <a:rPr sz="1725" b="1">
                <a:solidFill>
                  <a:srgbClr val="202832"/>
                </a:solidFill>
                <a:latin typeface="Arial"/>
                <a:ea typeface="Arial"/>
                <a:cs typeface="Arial"/>
              </a:rPr>
              <a:t>Can another model help?</a:t>
            </a:r>
            <a:endParaRPr sz="2000">
              <a:solidFill>
                <a:schemeClr val="tx1">
                  <a:lumMod val="75000"/>
                  <a:lumOff val="25000"/>
                </a:schemeClr>
              </a:solidFill>
              <a:latin typeface="Microsoft YaHei"/>
              <a:ea typeface="Microsoft YaHei"/>
              <a:cs typeface="Microsoft YaHei"/>
            </a:endParaRPr>
          </a:p>
          <a:p xmlns:a="http://schemas.openxmlformats.org/drawingml/2006/main">
            <a:pPr>
              <a:lnSpc>
                <a:spcPct val="120000"/>
              </a:lnSpc>
              <a:buNone/>
            </a:pPr>
            <a:r>
              <a:rPr sz="2000">
                <a:solidFill>
                  <a:schemeClr val="tx1">
                    <a:lumMod val="75000"/>
                    <a:lumOff val="25000"/>
                  </a:schemeClr>
                </a:solidFill>
                <a:latin typeface="Microsoft YaHei"/>
                <a:ea typeface="Microsoft YaHei"/>
                <a:cs typeface="Microsoft YaHei"/>
              </a:rPr>
              <a:t/>
            </a:r>
            <a:endParaRPr sz="2000">
              <a:solidFill>
                <a:schemeClr val="tx1">
                  <a:lumMod val="75000"/>
                  <a:lumOff val="25000"/>
                </a:schemeClr>
              </a:solidFill>
              <a:latin typeface="Microsoft YaHei"/>
              <a:ea typeface="Microsoft YaHei"/>
              <a:cs typeface="Microsoft YaHei"/>
            </a:endParaRPr>
          </a:p>
          <a:p xmlns:a="http://schemas.openxmlformats.org/drawingml/2006/main">
            <a:pPr algn="l">
              <a:lnSpc>
                <a:spcPct val="120000"/>
              </a:lnSpc>
              <a:buNone/>
              <a:defRPr sz="1725" b="0">
                <a:solidFill>
                  <a:srgbClr val="202832"/>
                </a:solidFill>
                <a:latin typeface="Arial"/>
                <a:ea typeface="Arial"/>
                <a:cs typeface="Arial"/>
              </a:defRPr>
            </a:pPr>
            <a:r>
              <a:rPr sz="1725" b="0">
                <a:solidFill>
                  <a:srgbClr val="202832"/>
                </a:solidFill>
                <a:latin typeface="Arial"/>
                <a:ea typeface="Arial"/>
                <a:cs typeface="Arial"/>
              </a:rPr>
              <a:t>BioViL-based features lower internal error. The best configuration still depends on the split.</a:t>
            </a:r>
            <a:endParaRPr sz="2000">
              <a:solidFill>
                <a:schemeClr val="tx1">
                  <a:lumMod val="75000"/>
                  <a:lumOff val="25000"/>
                </a:schemeClr>
              </a:solidFill>
              <a:latin typeface="Microsoft YaHei"/>
              <a:ea typeface="Microsoft YaHei"/>
              <a:cs typeface="Microsoft YaHei"/>
            </a:endParaRPr>
          </a:p>
        </p:txBody>
      </p:sp>
      <p:sp>
        <p:nvSpPr>
          <p:cNvPr id="24" name="book_338396">
            <a:extLst xmlns:a="http://schemas.openxmlformats.org/drawingml/2006/main">
              <a:ext uri="{FF2B5EF4-FFF2-40B4-BE49-F238E27FC236}">
                <a16:creationId xmlns:a16="http://schemas.microsoft.com/office/drawing/2014/main" id="{1D2B3A3B-0D4F-1D44-959E-B8D59D83E0C3}"/>
              </a:ext>
            </a:extLst>
          </p:cNvPr>
          <p:cNvSpPr>
            <a:spLocks xmlns:a="http://schemas.openxmlformats.org/drawingml/2006/main" noGrp="1"/>
          </p:cNvSpPr>
          <p:nvPr/>
        </p:nvSpPr>
        <p:spPr>
          <a:xfrm xmlns:a="http://schemas.openxmlformats.org/drawingml/2006/main">
            <a:off x="6831162" y="2621462"/>
            <a:ext cx="405361" cy="509289"/>
          </a:xfrm>
          <a:custGeom xmlns:a="http://schemas.openxmlformats.org/drawingml/2006/main">
            <a:gdLst>
              <a:gd name="T0" fmla="*/ 5109 w 5209"/>
              <a:gd name="T1" fmla="*/ 5380 h 6554"/>
              <a:gd name="T2" fmla="*/ 5161 w 5209"/>
              <a:gd name="T3" fmla="*/ 5303 h 6554"/>
              <a:gd name="T4" fmla="*/ 5170 w 5209"/>
              <a:gd name="T5" fmla="*/ 5277 h 6554"/>
              <a:gd name="T6" fmla="*/ 5185 w 5209"/>
              <a:gd name="T7" fmla="*/ 5205 h 6554"/>
              <a:gd name="T8" fmla="*/ 5188 w 5209"/>
              <a:gd name="T9" fmla="*/ 5188 h 6554"/>
              <a:gd name="T10" fmla="*/ 5188 w 5209"/>
              <a:gd name="T11" fmla="*/ 273 h 6554"/>
              <a:gd name="T12" fmla="*/ 4915 w 5209"/>
              <a:gd name="T13" fmla="*/ 0 h 6554"/>
              <a:gd name="T14" fmla="*/ 4096 w 5209"/>
              <a:gd name="T15" fmla="*/ 0 h 6554"/>
              <a:gd name="T16" fmla="*/ 4096 w 5209"/>
              <a:gd name="T17" fmla="*/ 4915 h 6554"/>
              <a:gd name="T18" fmla="*/ 3550 w 5209"/>
              <a:gd name="T19" fmla="*/ 4915 h 6554"/>
              <a:gd name="T20" fmla="*/ 3550 w 5209"/>
              <a:gd name="T21" fmla="*/ 0 h 6554"/>
              <a:gd name="T22" fmla="*/ 687 w 5209"/>
              <a:gd name="T23" fmla="*/ 0 h 6554"/>
              <a:gd name="T24" fmla="*/ 0 w 5209"/>
              <a:gd name="T25" fmla="*/ 687 h 6554"/>
              <a:gd name="T26" fmla="*/ 0 w 5209"/>
              <a:gd name="T27" fmla="*/ 5734 h 6554"/>
              <a:gd name="T28" fmla="*/ 819 w 5209"/>
              <a:gd name="T29" fmla="*/ 6554 h 6554"/>
              <a:gd name="T30" fmla="*/ 4915 w 5209"/>
              <a:gd name="T31" fmla="*/ 6554 h 6554"/>
              <a:gd name="T32" fmla="*/ 5167 w 5209"/>
              <a:gd name="T33" fmla="*/ 6385 h 6554"/>
              <a:gd name="T34" fmla="*/ 5108 w 5209"/>
              <a:gd name="T35" fmla="*/ 6087 h 6554"/>
              <a:gd name="T36" fmla="*/ 5108 w 5209"/>
              <a:gd name="T37" fmla="*/ 5382 h 6554"/>
              <a:gd name="T38" fmla="*/ 5109 w 5209"/>
              <a:gd name="T39" fmla="*/ 5380 h 6554"/>
              <a:gd name="T40" fmla="*/ 1911 w 5209"/>
              <a:gd name="T41" fmla="*/ 2731 h 6554"/>
              <a:gd name="T42" fmla="*/ 3003 w 5209"/>
              <a:gd name="T43" fmla="*/ 2731 h 6554"/>
              <a:gd name="T44" fmla="*/ 3276 w 5209"/>
              <a:gd name="T45" fmla="*/ 3004 h 6554"/>
              <a:gd name="T46" fmla="*/ 3003 w 5209"/>
              <a:gd name="T47" fmla="*/ 3277 h 6554"/>
              <a:gd name="T48" fmla="*/ 1911 w 5209"/>
              <a:gd name="T49" fmla="*/ 3277 h 6554"/>
              <a:gd name="T50" fmla="*/ 1638 w 5209"/>
              <a:gd name="T51" fmla="*/ 3004 h 6554"/>
              <a:gd name="T52" fmla="*/ 1911 w 5209"/>
              <a:gd name="T53" fmla="*/ 2731 h 6554"/>
              <a:gd name="T54" fmla="*/ 1365 w 5209"/>
              <a:gd name="T55" fmla="*/ 3823 h 6554"/>
              <a:gd name="T56" fmla="*/ 3003 w 5209"/>
              <a:gd name="T57" fmla="*/ 3823 h 6554"/>
              <a:gd name="T58" fmla="*/ 3276 w 5209"/>
              <a:gd name="T59" fmla="*/ 4096 h 6554"/>
              <a:gd name="T60" fmla="*/ 3003 w 5209"/>
              <a:gd name="T61" fmla="*/ 4369 h 6554"/>
              <a:gd name="T62" fmla="*/ 1365 w 5209"/>
              <a:gd name="T63" fmla="*/ 4369 h 6554"/>
              <a:gd name="T64" fmla="*/ 1092 w 5209"/>
              <a:gd name="T65" fmla="*/ 4096 h 6554"/>
              <a:gd name="T66" fmla="*/ 1365 w 5209"/>
              <a:gd name="T67" fmla="*/ 3823 h 6554"/>
              <a:gd name="T68" fmla="*/ 4416 w 5209"/>
              <a:gd name="T69" fmla="*/ 6007 h 6554"/>
              <a:gd name="T70" fmla="*/ 819 w 5209"/>
              <a:gd name="T71" fmla="*/ 6007 h 6554"/>
              <a:gd name="T72" fmla="*/ 546 w 5209"/>
              <a:gd name="T73" fmla="*/ 5734 h 6554"/>
              <a:gd name="T74" fmla="*/ 819 w 5209"/>
              <a:gd name="T75" fmla="*/ 5461 h 6554"/>
              <a:gd name="T76" fmla="*/ 3823 w 5209"/>
              <a:gd name="T77" fmla="*/ 5461 h 6554"/>
              <a:gd name="T78" fmla="*/ 4416 w 5209"/>
              <a:gd name="T79" fmla="*/ 5461 h 6554"/>
              <a:gd name="T80" fmla="*/ 4416 w 5209"/>
              <a:gd name="T81" fmla="*/ 6007 h 6554"/>
            </a:gdLst>
            <a:rect l="0" t="0" r="r" b="b"/>
            <a:pathLst>
              <a:path w="5209" h="6554">
                <a:moveTo>
                  <a:pt x="5109" y="5380"/>
                </a:moveTo>
                <a:cubicBezTo>
                  <a:pt x="5131" y="5357"/>
                  <a:pt x="5148" y="5331"/>
                  <a:pt x="5161" y="5303"/>
                </a:cubicBezTo>
                <a:cubicBezTo>
                  <a:pt x="5165" y="5295"/>
                  <a:pt x="5167" y="5286"/>
                  <a:pt x="5170" y="5277"/>
                </a:cubicBezTo>
                <a:cubicBezTo>
                  <a:pt x="5178" y="5254"/>
                  <a:pt x="5183" y="5230"/>
                  <a:pt x="5185" y="5205"/>
                </a:cubicBezTo>
                <a:cubicBezTo>
                  <a:pt x="5185" y="5199"/>
                  <a:pt x="5188" y="5194"/>
                  <a:pt x="5188" y="5188"/>
                </a:cubicBezTo>
                <a:lnTo>
                  <a:pt x="5188" y="273"/>
                </a:lnTo>
                <a:cubicBezTo>
                  <a:pt x="5188" y="122"/>
                  <a:pt x="5066" y="0"/>
                  <a:pt x="4915" y="0"/>
                </a:cubicBezTo>
                <a:lnTo>
                  <a:pt x="4096" y="0"/>
                </a:lnTo>
                <a:lnTo>
                  <a:pt x="4096" y="4915"/>
                </a:lnTo>
                <a:lnTo>
                  <a:pt x="3550" y="4915"/>
                </a:lnTo>
                <a:lnTo>
                  <a:pt x="3550" y="0"/>
                </a:lnTo>
                <a:lnTo>
                  <a:pt x="687" y="0"/>
                </a:lnTo>
                <a:cubicBezTo>
                  <a:pt x="308" y="0"/>
                  <a:pt x="0" y="308"/>
                  <a:pt x="0" y="687"/>
                </a:cubicBezTo>
                <a:lnTo>
                  <a:pt x="0" y="5734"/>
                </a:lnTo>
                <a:cubicBezTo>
                  <a:pt x="0" y="6186"/>
                  <a:pt x="367" y="6554"/>
                  <a:pt x="819" y="6554"/>
                </a:cubicBezTo>
                <a:lnTo>
                  <a:pt x="4915" y="6554"/>
                </a:lnTo>
                <a:cubicBezTo>
                  <a:pt x="5025" y="6554"/>
                  <a:pt x="5125" y="6487"/>
                  <a:pt x="5167" y="6385"/>
                </a:cubicBezTo>
                <a:cubicBezTo>
                  <a:pt x="5209" y="6283"/>
                  <a:pt x="5186" y="6166"/>
                  <a:pt x="5108" y="6087"/>
                </a:cubicBezTo>
                <a:cubicBezTo>
                  <a:pt x="4851" y="5830"/>
                  <a:pt x="4851" y="5639"/>
                  <a:pt x="5108" y="5382"/>
                </a:cubicBezTo>
                <a:cubicBezTo>
                  <a:pt x="5108" y="5381"/>
                  <a:pt x="5108" y="5381"/>
                  <a:pt x="5109" y="5380"/>
                </a:cubicBezTo>
                <a:close/>
                <a:moveTo>
                  <a:pt x="1911" y="2731"/>
                </a:moveTo>
                <a:lnTo>
                  <a:pt x="3003" y="2731"/>
                </a:lnTo>
                <a:cubicBezTo>
                  <a:pt x="3154" y="2731"/>
                  <a:pt x="3276" y="2853"/>
                  <a:pt x="3276" y="3004"/>
                </a:cubicBezTo>
                <a:cubicBezTo>
                  <a:pt x="3276" y="3154"/>
                  <a:pt x="3154" y="3277"/>
                  <a:pt x="3003" y="3277"/>
                </a:cubicBezTo>
                <a:lnTo>
                  <a:pt x="1911" y="3277"/>
                </a:lnTo>
                <a:cubicBezTo>
                  <a:pt x="1760" y="3277"/>
                  <a:pt x="1638" y="3154"/>
                  <a:pt x="1638" y="3004"/>
                </a:cubicBezTo>
                <a:cubicBezTo>
                  <a:pt x="1638" y="2853"/>
                  <a:pt x="1760" y="2731"/>
                  <a:pt x="1911" y="2731"/>
                </a:cubicBezTo>
                <a:close/>
                <a:moveTo>
                  <a:pt x="1365" y="3823"/>
                </a:moveTo>
                <a:lnTo>
                  <a:pt x="3003" y="3823"/>
                </a:lnTo>
                <a:cubicBezTo>
                  <a:pt x="3154" y="3823"/>
                  <a:pt x="3276" y="3945"/>
                  <a:pt x="3276" y="4096"/>
                </a:cubicBezTo>
                <a:cubicBezTo>
                  <a:pt x="3276" y="4247"/>
                  <a:pt x="3154" y="4369"/>
                  <a:pt x="3003" y="4369"/>
                </a:cubicBezTo>
                <a:lnTo>
                  <a:pt x="1365" y="4369"/>
                </a:lnTo>
                <a:cubicBezTo>
                  <a:pt x="1214" y="4369"/>
                  <a:pt x="1092" y="4247"/>
                  <a:pt x="1092" y="4096"/>
                </a:cubicBezTo>
                <a:cubicBezTo>
                  <a:pt x="1092" y="3945"/>
                  <a:pt x="1214" y="3823"/>
                  <a:pt x="1365" y="3823"/>
                </a:cubicBezTo>
                <a:close/>
                <a:moveTo>
                  <a:pt x="4416" y="6007"/>
                </a:moveTo>
                <a:lnTo>
                  <a:pt x="819" y="6007"/>
                </a:lnTo>
                <a:cubicBezTo>
                  <a:pt x="668" y="6007"/>
                  <a:pt x="546" y="5885"/>
                  <a:pt x="546" y="5734"/>
                </a:cubicBezTo>
                <a:cubicBezTo>
                  <a:pt x="546" y="5584"/>
                  <a:pt x="668" y="5461"/>
                  <a:pt x="819" y="5461"/>
                </a:cubicBezTo>
                <a:lnTo>
                  <a:pt x="3823" y="5461"/>
                </a:lnTo>
                <a:lnTo>
                  <a:pt x="4416" y="5461"/>
                </a:lnTo>
                <a:cubicBezTo>
                  <a:pt x="4354" y="5642"/>
                  <a:pt x="4354" y="5826"/>
                  <a:pt x="4416" y="6007"/>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library_226054">
            <a:extLst xmlns:a="http://schemas.openxmlformats.org/drawingml/2006/main">
              <a:ext uri="{FF2B5EF4-FFF2-40B4-BE49-F238E27FC236}">
                <a16:creationId xmlns:a16="http://schemas.microsoft.com/office/drawing/2014/main" id="{42924B9B-0344-2554-798A-42D49E0AF7A3}"/>
              </a:ext>
            </a:extLst>
          </p:cNvPr>
          <p:cNvSpPr>
            <a:spLocks xmlns:a="http://schemas.openxmlformats.org/drawingml/2006/main" noGrp="1"/>
          </p:cNvSpPr>
          <p:nvPr/>
        </p:nvSpPr>
        <p:spPr>
          <a:xfrm xmlns:a="http://schemas.openxmlformats.org/drawingml/2006/main">
            <a:off x="10328535" y="2641666"/>
            <a:ext cx="557182" cy="456427"/>
          </a:xfrm>
          <a:custGeom xmlns:a="http://schemas.openxmlformats.org/drawingml/2006/main">
            <a:gdLst>
              <a:gd name="connsiteX0" fmla="*/ 111388 w 607617"/>
              <a:gd name="connsiteY0" fmla="*/ 366279 h 497742"/>
              <a:gd name="connsiteX1" fmla="*/ 334208 w 607617"/>
              <a:gd name="connsiteY1" fmla="*/ 366279 h 497742"/>
              <a:gd name="connsiteX2" fmla="*/ 344267 w 607617"/>
              <a:gd name="connsiteY2" fmla="*/ 376326 h 497742"/>
              <a:gd name="connsiteX3" fmla="*/ 334208 w 607617"/>
              <a:gd name="connsiteY3" fmla="*/ 386461 h 497742"/>
              <a:gd name="connsiteX4" fmla="*/ 111388 w 607617"/>
              <a:gd name="connsiteY4" fmla="*/ 386461 h 497742"/>
              <a:gd name="connsiteX5" fmla="*/ 101240 w 607617"/>
              <a:gd name="connsiteY5" fmla="*/ 376326 h 497742"/>
              <a:gd name="connsiteX6" fmla="*/ 111388 w 607617"/>
              <a:gd name="connsiteY6" fmla="*/ 366279 h 497742"/>
              <a:gd name="connsiteX7" fmla="*/ 529117 w 607617"/>
              <a:gd name="connsiteY7" fmla="*/ 354573 h 497742"/>
              <a:gd name="connsiteX8" fmla="*/ 450884 w 607617"/>
              <a:gd name="connsiteY8" fmla="*/ 375457 h 497742"/>
              <a:gd name="connsiteX9" fmla="*/ 461387 w 607617"/>
              <a:gd name="connsiteY9" fmla="*/ 414560 h 497742"/>
              <a:gd name="connsiteX10" fmla="*/ 539619 w 607617"/>
              <a:gd name="connsiteY10" fmla="*/ 393587 h 497742"/>
              <a:gd name="connsiteX11" fmla="*/ 58385 w 607617"/>
              <a:gd name="connsiteY11" fmla="*/ 335910 h 497742"/>
              <a:gd name="connsiteX12" fmla="*/ 60877 w 607617"/>
              <a:gd name="connsiteY12" fmla="*/ 340087 h 497742"/>
              <a:gd name="connsiteX13" fmla="*/ 60877 w 607617"/>
              <a:gd name="connsiteY13" fmla="*/ 412694 h 497742"/>
              <a:gd name="connsiteX14" fmla="*/ 58385 w 607617"/>
              <a:gd name="connsiteY14" fmla="*/ 416871 h 497742"/>
              <a:gd name="connsiteX15" fmla="*/ 334203 w 607617"/>
              <a:gd name="connsiteY15" fmla="*/ 416871 h 497742"/>
              <a:gd name="connsiteX16" fmla="*/ 374699 w 607617"/>
              <a:gd name="connsiteY16" fmla="*/ 376346 h 497742"/>
              <a:gd name="connsiteX17" fmla="*/ 334203 w 607617"/>
              <a:gd name="connsiteY17" fmla="*/ 335910 h 497742"/>
              <a:gd name="connsiteX18" fmla="*/ 303764 w 607617"/>
              <a:gd name="connsiteY18" fmla="*/ 335910 h 497742"/>
              <a:gd name="connsiteX19" fmla="*/ 518704 w 607617"/>
              <a:gd name="connsiteY19" fmla="*/ 315470 h 497742"/>
              <a:gd name="connsiteX20" fmla="*/ 440382 w 607617"/>
              <a:gd name="connsiteY20" fmla="*/ 336443 h 497742"/>
              <a:gd name="connsiteX21" fmla="*/ 445633 w 607617"/>
              <a:gd name="connsiteY21" fmla="*/ 355995 h 497742"/>
              <a:gd name="connsiteX22" fmla="*/ 523955 w 607617"/>
              <a:gd name="connsiteY22" fmla="*/ 335021 h 497742"/>
              <a:gd name="connsiteX23" fmla="*/ 80992 w 607617"/>
              <a:gd name="connsiteY23" fmla="*/ 265170 h 497742"/>
              <a:gd name="connsiteX24" fmla="*/ 70846 w 607617"/>
              <a:gd name="connsiteY24" fmla="*/ 275301 h 497742"/>
              <a:gd name="connsiteX25" fmla="*/ 80992 w 607617"/>
              <a:gd name="connsiteY25" fmla="*/ 285343 h 497742"/>
              <a:gd name="connsiteX26" fmla="*/ 303764 w 607617"/>
              <a:gd name="connsiteY26" fmla="*/ 285343 h 497742"/>
              <a:gd name="connsiteX27" fmla="*/ 313910 w 607617"/>
              <a:gd name="connsiteY27" fmla="*/ 275301 h 497742"/>
              <a:gd name="connsiteX28" fmla="*/ 303764 w 607617"/>
              <a:gd name="connsiteY28" fmla="*/ 265170 h 497742"/>
              <a:gd name="connsiteX29" fmla="*/ 384845 w 607617"/>
              <a:gd name="connsiteY29" fmla="*/ 207493 h 497742"/>
              <a:gd name="connsiteX30" fmla="*/ 347553 w 607617"/>
              <a:gd name="connsiteY30" fmla="*/ 233265 h 497742"/>
              <a:gd name="connsiteX31" fmla="*/ 364552 w 607617"/>
              <a:gd name="connsiteY31" fmla="*/ 275301 h 497742"/>
              <a:gd name="connsiteX32" fmla="*/ 347553 w 607617"/>
              <a:gd name="connsiteY32" fmla="*/ 317247 h 497742"/>
              <a:gd name="connsiteX33" fmla="*/ 394902 w 607617"/>
              <a:gd name="connsiteY33" fmla="*/ 376346 h 497742"/>
              <a:gd name="connsiteX34" fmla="*/ 379327 w 607617"/>
              <a:gd name="connsiteY34" fmla="*/ 416871 h 497742"/>
              <a:gd name="connsiteX35" fmla="*/ 441005 w 607617"/>
              <a:gd name="connsiteY35" fmla="*/ 416871 h 497742"/>
              <a:gd name="connsiteX36" fmla="*/ 111388 w 607617"/>
              <a:gd name="connsiteY36" fmla="*/ 164038 h 497742"/>
              <a:gd name="connsiteX37" fmla="*/ 334208 w 607617"/>
              <a:gd name="connsiteY37" fmla="*/ 164038 h 497742"/>
              <a:gd name="connsiteX38" fmla="*/ 344267 w 607617"/>
              <a:gd name="connsiteY38" fmla="*/ 174164 h 497742"/>
              <a:gd name="connsiteX39" fmla="*/ 334208 w 607617"/>
              <a:gd name="connsiteY39" fmla="*/ 184290 h 497742"/>
              <a:gd name="connsiteX40" fmla="*/ 111388 w 607617"/>
              <a:gd name="connsiteY40" fmla="*/ 184290 h 497742"/>
              <a:gd name="connsiteX41" fmla="*/ 101240 w 607617"/>
              <a:gd name="connsiteY41" fmla="*/ 174164 h 497742"/>
              <a:gd name="connsiteX42" fmla="*/ 111388 w 607617"/>
              <a:gd name="connsiteY42" fmla="*/ 164038 h 497742"/>
              <a:gd name="connsiteX43" fmla="*/ 432372 w 607617"/>
              <a:gd name="connsiteY43" fmla="*/ 150171 h 497742"/>
              <a:gd name="connsiteX44" fmla="*/ 425252 w 607617"/>
              <a:gd name="connsiteY44" fmla="*/ 162524 h 497742"/>
              <a:gd name="connsiteX45" fmla="*/ 456670 w 607617"/>
              <a:gd name="connsiteY45" fmla="*/ 279744 h 497742"/>
              <a:gd name="connsiteX46" fmla="*/ 466460 w 607617"/>
              <a:gd name="connsiteY46" fmla="*/ 287209 h 497742"/>
              <a:gd name="connsiteX47" fmla="*/ 469041 w 607617"/>
              <a:gd name="connsiteY47" fmla="*/ 286854 h 497742"/>
              <a:gd name="connsiteX48" fmla="*/ 476250 w 607617"/>
              <a:gd name="connsiteY48" fmla="*/ 274501 h 497742"/>
              <a:gd name="connsiteX49" fmla="*/ 444743 w 607617"/>
              <a:gd name="connsiteY49" fmla="*/ 157281 h 497742"/>
              <a:gd name="connsiteX50" fmla="*/ 432372 w 607617"/>
              <a:gd name="connsiteY50" fmla="*/ 150171 h 497742"/>
              <a:gd name="connsiteX51" fmla="*/ 58385 w 607617"/>
              <a:gd name="connsiteY51" fmla="*/ 133730 h 497742"/>
              <a:gd name="connsiteX52" fmla="*/ 60877 w 607617"/>
              <a:gd name="connsiteY52" fmla="*/ 137818 h 497742"/>
              <a:gd name="connsiteX53" fmla="*/ 60877 w 607617"/>
              <a:gd name="connsiteY53" fmla="*/ 210515 h 497742"/>
              <a:gd name="connsiteX54" fmla="*/ 58385 w 607617"/>
              <a:gd name="connsiteY54" fmla="*/ 214603 h 497742"/>
              <a:gd name="connsiteX55" fmla="*/ 303764 w 607617"/>
              <a:gd name="connsiteY55" fmla="*/ 214603 h 497742"/>
              <a:gd name="connsiteX56" fmla="*/ 334203 w 607617"/>
              <a:gd name="connsiteY56" fmla="*/ 214603 h 497742"/>
              <a:gd name="connsiteX57" fmla="*/ 374699 w 607617"/>
              <a:gd name="connsiteY57" fmla="*/ 174167 h 497742"/>
              <a:gd name="connsiteX58" fmla="*/ 373898 w 607617"/>
              <a:gd name="connsiteY58" fmla="*/ 166791 h 497742"/>
              <a:gd name="connsiteX59" fmla="*/ 372919 w 607617"/>
              <a:gd name="connsiteY59" fmla="*/ 163058 h 497742"/>
              <a:gd name="connsiteX60" fmla="*/ 334203 w 607617"/>
              <a:gd name="connsiteY60" fmla="*/ 133730 h 497742"/>
              <a:gd name="connsiteX61" fmla="*/ 455780 w 607617"/>
              <a:gd name="connsiteY61" fmla="*/ 81119 h 497742"/>
              <a:gd name="connsiteX62" fmla="*/ 377547 w 607617"/>
              <a:gd name="connsiteY62" fmla="*/ 102004 h 497742"/>
              <a:gd name="connsiteX63" fmla="*/ 382798 w 607617"/>
              <a:gd name="connsiteY63" fmla="*/ 121555 h 497742"/>
              <a:gd name="connsiteX64" fmla="*/ 461031 w 607617"/>
              <a:gd name="connsiteY64" fmla="*/ 100582 h 497742"/>
              <a:gd name="connsiteX65" fmla="*/ 440026 w 607617"/>
              <a:gd name="connsiteY65" fmla="*/ 22465 h 497742"/>
              <a:gd name="connsiteX66" fmla="*/ 361793 w 607617"/>
              <a:gd name="connsiteY66" fmla="*/ 43439 h 497742"/>
              <a:gd name="connsiteX67" fmla="*/ 372296 w 607617"/>
              <a:gd name="connsiteY67" fmla="*/ 82453 h 497742"/>
              <a:gd name="connsiteX68" fmla="*/ 450528 w 607617"/>
              <a:gd name="connsiteY68" fmla="*/ 61568 h 497742"/>
              <a:gd name="connsiteX69" fmla="*/ 444565 w 607617"/>
              <a:gd name="connsiteY69" fmla="*/ 337 h 497742"/>
              <a:gd name="connsiteX70" fmla="*/ 457026 w 607617"/>
              <a:gd name="connsiteY70" fmla="*/ 7446 h 497742"/>
              <a:gd name="connsiteX71" fmla="*/ 535614 w 607617"/>
              <a:gd name="connsiteY71" fmla="*/ 300451 h 497742"/>
              <a:gd name="connsiteX72" fmla="*/ 546117 w 607617"/>
              <a:gd name="connsiteY72" fmla="*/ 339554 h 497742"/>
              <a:gd name="connsiteX73" fmla="*/ 561870 w 607617"/>
              <a:gd name="connsiteY73" fmla="*/ 398119 h 497742"/>
              <a:gd name="connsiteX74" fmla="*/ 554661 w 607617"/>
              <a:gd name="connsiteY74" fmla="*/ 410561 h 497742"/>
              <a:gd name="connsiteX75" fmla="*/ 531164 w 607617"/>
              <a:gd name="connsiteY75" fmla="*/ 416871 h 497742"/>
              <a:gd name="connsiteX76" fmla="*/ 597471 w 607617"/>
              <a:gd name="connsiteY76" fmla="*/ 416871 h 497742"/>
              <a:gd name="connsiteX77" fmla="*/ 607617 w 607617"/>
              <a:gd name="connsiteY77" fmla="*/ 426913 h 497742"/>
              <a:gd name="connsiteX78" fmla="*/ 607617 w 607617"/>
              <a:gd name="connsiteY78" fmla="*/ 487611 h 497742"/>
              <a:gd name="connsiteX79" fmla="*/ 597471 w 607617"/>
              <a:gd name="connsiteY79" fmla="*/ 497742 h 497742"/>
              <a:gd name="connsiteX80" fmla="*/ 10146 w 607617"/>
              <a:gd name="connsiteY80" fmla="*/ 497742 h 497742"/>
              <a:gd name="connsiteX81" fmla="*/ 0 w 607617"/>
              <a:gd name="connsiteY81" fmla="*/ 487611 h 497742"/>
              <a:gd name="connsiteX82" fmla="*/ 0 w 607617"/>
              <a:gd name="connsiteY82" fmla="*/ 426913 h 497742"/>
              <a:gd name="connsiteX83" fmla="*/ 10146 w 607617"/>
              <a:gd name="connsiteY83" fmla="*/ 416782 h 497742"/>
              <a:gd name="connsiteX84" fmla="*/ 34800 w 607617"/>
              <a:gd name="connsiteY84" fmla="*/ 416782 h 497742"/>
              <a:gd name="connsiteX85" fmla="*/ 43522 w 607617"/>
              <a:gd name="connsiteY85" fmla="*/ 402296 h 497742"/>
              <a:gd name="connsiteX86" fmla="*/ 43522 w 607617"/>
              <a:gd name="connsiteY86" fmla="*/ 350485 h 497742"/>
              <a:gd name="connsiteX87" fmla="*/ 34800 w 607617"/>
              <a:gd name="connsiteY87" fmla="*/ 335910 h 497742"/>
              <a:gd name="connsiteX88" fmla="*/ 10146 w 607617"/>
              <a:gd name="connsiteY88" fmla="*/ 335910 h 497742"/>
              <a:gd name="connsiteX89" fmla="*/ 1335 w 607617"/>
              <a:gd name="connsiteY89" fmla="*/ 330756 h 497742"/>
              <a:gd name="connsiteX90" fmla="*/ 1424 w 607617"/>
              <a:gd name="connsiteY90" fmla="*/ 320624 h 497742"/>
              <a:gd name="connsiteX91" fmla="*/ 13083 w 607617"/>
              <a:gd name="connsiteY91" fmla="*/ 301162 h 497742"/>
              <a:gd name="connsiteX92" fmla="*/ 13083 w 607617"/>
              <a:gd name="connsiteY92" fmla="*/ 249351 h 497742"/>
              <a:gd name="connsiteX93" fmla="*/ 1424 w 607617"/>
              <a:gd name="connsiteY93" fmla="*/ 229888 h 497742"/>
              <a:gd name="connsiteX94" fmla="*/ 1335 w 607617"/>
              <a:gd name="connsiteY94" fmla="*/ 219757 h 497742"/>
              <a:gd name="connsiteX95" fmla="*/ 10146 w 607617"/>
              <a:gd name="connsiteY95" fmla="*/ 214603 h 497742"/>
              <a:gd name="connsiteX96" fmla="*/ 34800 w 607617"/>
              <a:gd name="connsiteY96" fmla="*/ 214603 h 497742"/>
              <a:gd name="connsiteX97" fmla="*/ 43522 w 607617"/>
              <a:gd name="connsiteY97" fmla="*/ 200028 h 497742"/>
              <a:gd name="connsiteX98" fmla="*/ 43522 w 607617"/>
              <a:gd name="connsiteY98" fmla="*/ 148216 h 497742"/>
              <a:gd name="connsiteX99" fmla="*/ 31863 w 607617"/>
              <a:gd name="connsiteY99" fmla="*/ 128754 h 497742"/>
              <a:gd name="connsiteX100" fmla="*/ 31685 w 607617"/>
              <a:gd name="connsiteY100" fmla="*/ 118623 h 497742"/>
              <a:gd name="connsiteX101" fmla="*/ 40496 w 607617"/>
              <a:gd name="connsiteY101" fmla="*/ 113468 h 497742"/>
              <a:gd name="connsiteX102" fmla="*/ 334203 w 607617"/>
              <a:gd name="connsiteY102" fmla="*/ 113468 h 497742"/>
              <a:gd name="connsiteX103" fmla="*/ 361348 w 607617"/>
              <a:gd name="connsiteY103" fmla="*/ 119956 h 497742"/>
              <a:gd name="connsiteX104" fmla="*/ 355296 w 607617"/>
              <a:gd name="connsiteY104" fmla="*/ 97472 h 497742"/>
              <a:gd name="connsiteX105" fmla="*/ 339632 w 607617"/>
              <a:gd name="connsiteY105" fmla="*/ 38906 h 497742"/>
              <a:gd name="connsiteX106" fmla="*/ 340611 w 607617"/>
              <a:gd name="connsiteY106" fmla="*/ 31175 h 497742"/>
              <a:gd name="connsiteX107" fmla="*/ 346752 w 607617"/>
              <a:gd name="connsiteY107" fmla="*/ 26464 h 497742"/>
            </a:gdLst>
            <a:rect l="l" t="t" r="r" b="b"/>
            <a:pathLst>
              <a:path w="607617" h="497742">
                <a:moveTo>
                  <a:pt x="111388" y="366279"/>
                </a:moveTo>
                <a:lnTo>
                  <a:pt x="334208" y="366279"/>
                </a:lnTo>
                <a:cubicBezTo>
                  <a:pt x="339816" y="366279"/>
                  <a:pt x="344267" y="370814"/>
                  <a:pt x="344267" y="376326"/>
                </a:cubicBezTo>
                <a:cubicBezTo>
                  <a:pt x="344267" y="381927"/>
                  <a:pt x="339816" y="386461"/>
                  <a:pt x="334208" y="386461"/>
                </a:cubicBezTo>
                <a:lnTo>
                  <a:pt x="111388" y="386461"/>
                </a:lnTo>
                <a:cubicBezTo>
                  <a:pt x="105780" y="386461"/>
                  <a:pt x="101240" y="381927"/>
                  <a:pt x="101240" y="376326"/>
                </a:cubicBezTo>
                <a:cubicBezTo>
                  <a:pt x="101240" y="370814"/>
                  <a:pt x="105780" y="366279"/>
                  <a:pt x="111388" y="366279"/>
                </a:cubicBezTo>
                <a:close/>
                <a:moveTo>
                  <a:pt x="529117" y="354573"/>
                </a:moveTo>
                <a:lnTo>
                  <a:pt x="450884" y="375457"/>
                </a:lnTo>
                <a:lnTo>
                  <a:pt x="461387" y="414560"/>
                </a:lnTo>
                <a:lnTo>
                  <a:pt x="539619" y="393587"/>
                </a:lnTo>
                <a:close/>
                <a:moveTo>
                  <a:pt x="58385" y="335910"/>
                </a:moveTo>
                <a:lnTo>
                  <a:pt x="60877" y="340087"/>
                </a:lnTo>
                <a:cubicBezTo>
                  <a:pt x="74317" y="362482"/>
                  <a:pt x="74317" y="390298"/>
                  <a:pt x="60877" y="412694"/>
                </a:cubicBezTo>
                <a:lnTo>
                  <a:pt x="58385" y="416871"/>
                </a:lnTo>
                <a:lnTo>
                  <a:pt x="334203" y="416871"/>
                </a:lnTo>
                <a:cubicBezTo>
                  <a:pt x="356542" y="416871"/>
                  <a:pt x="374699" y="398652"/>
                  <a:pt x="374699" y="376346"/>
                </a:cubicBezTo>
                <a:cubicBezTo>
                  <a:pt x="374699" y="354040"/>
                  <a:pt x="356542" y="335910"/>
                  <a:pt x="334203" y="335910"/>
                </a:cubicBezTo>
                <a:lnTo>
                  <a:pt x="303764" y="335910"/>
                </a:lnTo>
                <a:close/>
                <a:moveTo>
                  <a:pt x="518704" y="315470"/>
                </a:moveTo>
                <a:lnTo>
                  <a:pt x="440382" y="336443"/>
                </a:lnTo>
                <a:lnTo>
                  <a:pt x="445633" y="355995"/>
                </a:lnTo>
                <a:lnTo>
                  <a:pt x="523955" y="335021"/>
                </a:lnTo>
                <a:close/>
                <a:moveTo>
                  <a:pt x="80992" y="265170"/>
                </a:moveTo>
                <a:cubicBezTo>
                  <a:pt x="75385" y="265170"/>
                  <a:pt x="70846" y="269702"/>
                  <a:pt x="70846" y="275301"/>
                </a:cubicBezTo>
                <a:cubicBezTo>
                  <a:pt x="70846" y="280811"/>
                  <a:pt x="75385" y="285343"/>
                  <a:pt x="80992" y="285343"/>
                </a:cubicBezTo>
                <a:lnTo>
                  <a:pt x="303764" y="285343"/>
                </a:lnTo>
                <a:cubicBezTo>
                  <a:pt x="309371" y="285343"/>
                  <a:pt x="313910" y="280811"/>
                  <a:pt x="313910" y="275301"/>
                </a:cubicBezTo>
                <a:cubicBezTo>
                  <a:pt x="313910" y="269702"/>
                  <a:pt x="309371" y="265170"/>
                  <a:pt x="303764" y="265170"/>
                </a:cubicBezTo>
                <a:close/>
                <a:moveTo>
                  <a:pt x="384845" y="207493"/>
                </a:moveTo>
                <a:cubicBezTo>
                  <a:pt x="376390" y="220379"/>
                  <a:pt x="363039" y="229799"/>
                  <a:pt x="347553" y="233265"/>
                </a:cubicBezTo>
                <a:cubicBezTo>
                  <a:pt x="358055" y="244196"/>
                  <a:pt x="364552" y="258949"/>
                  <a:pt x="364552" y="275301"/>
                </a:cubicBezTo>
                <a:cubicBezTo>
                  <a:pt x="364552" y="291564"/>
                  <a:pt x="358055" y="306316"/>
                  <a:pt x="347553" y="317247"/>
                </a:cubicBezTo>
                <a:cubicBezTo>
                  <a:pt x="374610" y="323379"/>
                  <a:pt x="394902" y="347552"/>
                  <a:pt x="394902" y="376346"/>
                </a:cubicBezTo>
                <a:cubicBezTo>
                  <a:pt x="394902" y="391898"/>
                  <a:pt x="389028" y="406117"/>
                  <a:pt x="379327" y="416871"/>
                </a:cubicBezTo>
                <a:lnTo>
                  <a:pt x="441005" y="416871"/>
                </a:lnTo>
                <a:close/>
                <a:moveTo>
                  <a:pt x="111388" y="164038"/>
                </a:moveTo>
                <a:lnTo>
                  <a:pt x="334208" y="164038"/>
                </a:lnTo>
                <a:cubicBezTo>
                  <a:pt x="339816" y="164038"/>
                  <a:pt x="344267" y="168568"/>
                  <a:pt x="344267" y="174164"/>
                </a:cubicBezTo>
                <a:cubicBezTo>
                  <a:pt x="344267" y="179760"/>
                  <a:pt x="339816" y="184290"/>
                  <a:pt x="334208" y="184290"/>
                </a:cubicBezTo>
                <a:lnTo>
                  <a:pt x="111388" y="184290"/>
                </a:lnTo>
                <a:cubicBezTo>
                  <a:pt x="105780" y="184290"/>
                  <a:pt x="101240" y="179760"/>
                  <a:pt x="101240" y="174164"/>
                </a:cubicBezTo>
                <a:cubicBezTo>
                  <a:pt x="101240" y="168568"/>
                  <a:pt x="105780" y="164038"/>
                  <a:pt x="111388" y="164038"/>
                </a:cubicBezTo>
                <a:close/>
                <a:moveTo>
                  <a:pt x="432372" y="150171"/>
                </a:moveTo>
                <a:cubicBezTo>
                  <a:pt x="426943" y="151593"/>
                  <a:pt x="423739" y="157103"/>
                  <a:pt x="425252" y="162524"/>
                </a:cubicBezTo>
                <a:lnTo>
                  <a:pt x="456670" y="279744"/>
                </a:lnTo>
                <a:cubicBezTo>
                  <a:pt x="457827" y="284277"/>
                  <a:pt x="461921" y="287209"/>
                  <a:pt x="466460" y="287209"/>
                </a:cubicBezTo>
                <a:cubicBezTo>
                  <a:pt x="467350" y="287209"/>
                  <a:pt x="468151" y="287120"/>
                  <a:pt x="469041" y="286854"/>
                </a:cubicBezTo>
                <a:cubicBezTo>
                  <a:pt x="474470" y="285432"/>
                  <a:pt x="477674" y="279922"/>
                  <a:pt x="476250" y="274501"/>
                </a:cubicBezTo>
                <a:lnTo>
                  <a:pt x="444743" y="157281"/>
                </a:lnTo>
                <a:cubicBezTo>
                  <a:pt x="443319" y="151860"/>
                  <a:pt x="437801" y="148661"/>
                  <a:pt x="432372" y="150171"/>
                </a:cubicBezTo>
                <a:close/>
                <a:moveTo>
                  <a:pt x="58385" y="133730"/>
                </a:moveTo>
                <a:lnTo>
                  <a:pt x="60877" y="137818"/>
                </a:lnTo>
                <a:cubicBezTo>
                  <a:pt x="74317" y="160214"/>
                  <a:pt x="74317" y="188030"/>
                  <a:pt x="60877" y="210515"/>
                </a:cubicBezTo>
                <a:lnTo>
                  <a:pt x="58385" y="214603"/>
                </a:lnTo>
                <a:lnTo>
                  <a:pt x="303764" y="214603"/>
                </a:lnTo>
                <a:lnTo>
                  <a:pt x="334203" y="214603"/>
                </a:lnTo>
                <a:cubicBezTo>
                  <a:pt x="356542" y="214603"/>
                  <a:pt x="374699" y="196473"/>
                  <a:pt x="374699" y="174167"/>
                </a:cubicBezTo>
                <a:cubicBezTo>
                  <a:pt x="374699" y="171590"/>
                  <a:pt x="374343" y="169190"/>
                  <a:pt x="373898" y="166791"/>
                </a:cubicBezTo>
                <a:lnTo>
                  <a:pt x="372919" y="163058"/>
                </a:lnTo>
                <a:cubicBezTo>
                  <a:pt x="368112" y="146172"/>
                  <a:pt x="352626" y="133730"/>
                  <a:pt x="334203" y="133730"/>
                </a:cubicBezTo>
                <a:close/>
                <a:moveTo>
                  <a:pt x="455780" y="81119"/>
                </a:moveTo>
                <a:lnTo>
                  <a:pt x="377547" y="102004"/>
                </a:lnTo>
                <a:lnTo>
                  <a:pt x="382798" y="121555"/>
                </a:lnTo>
                <a:lnTo>
                  <a:pt x="461031" y="100582"/>
                </a:lnTo>
                <a:close/>
                <a:moveTo>
                  <a:pt x="440026" y="22465"/>
                </a:moveTo>
                <a:lnTo>
                  <a:pt x="361793" y="43439"/>
                </a:lnTo>
                <a:lnTo>
                  <a:pt x="372296" y="82453"/>
                </a:lnTo>
                <a:lnTo>
                  <a:pt x="450528" y="61568"/>
                </a:lnTo>
                <a:close/>
                <a:moveTo>
                  <a:pt x="444565" y="337"/>
                </a:moveTo>
                <a:cubicBezTo>
                  <a:pt x="449994" y="-1085"/>
                  <a:pt x="455602" y="2114"/>
                  <a:pt x="457026" y="7446"/>
                </a:cubicBezTo>
                <a:lnTo>
                  <a:pt x="535614" y="300451"/>
                </a:lnTo>
                <a:lnTo>
                  <a:pt x="546117" y="339554"/>
                </a:lnTo>
                <a:lnTo>
                  <a:pt x="561870" y="398119"/>
                </a:lnTo>
                <a:cubicBezTo>
                  <a:pt x="563294" y="403540"/>
                  <a:pt x="560090" y="409050"/>
                  <a:pt x="554661" y="410561"/>
                </a:cubicBezTo>
                <a:lnTo>
                  <a:pt x="531164" y="416871"/>
                </a:lnTo>
                <a:lnTo>
                  <a:pt x="597471" y="416871"/>
                </a:lnTo>
                <a:cubicBezTo>
                  <a:pt x="603078" y="416871"/>
                  <a:pt x="607617" y="421314"/>
                  <a:pt x="607617" y="426913"/>
                </a:cubicBezTo>
                <a:lnTo>
                  <a:pt x="607617" y="487611"/>
                </a:lnTo>
                <a:cubicBezTo>
                  <a:pt x="607617" y="493210"/>
                  <a:pt x="603078" y="497742"/>
                  <a:pt x="597471" y="497742"/>
                </a:cubicBezTo>
                <a:lnTo>
                  <a:pt x="10146" y="497742"/>
                </a:lnTo>
                <a:cubicBezTo>
                  <a:pt x="4539" y="497742"/>
                  <a:pt x="0" y="493210"/>
                  <a:pt x="0" y="487611"/>
                </a:cubicBezTo>
                <a:lnTo>
                  <a:pt x="0" y="426913"/>
                </a:lnTo>
                <a:cubicBezTo>
                  <a:pt x="0" y="421314"/>
                  <a:pt x="4539" y="416782"/>
                  <a:pt x="10146" y="416782"/>
                </a:cubicBezTo>
                <a:lnTo>
                  <a:pt x="34800" y="416782"/>
                </a:lnTo>
                <a:lnTo>
                  <a:pt x="43522" y="402296"/>
                </a:lnTo>
                <a:cubicBezTo>
                  <a:pt x="53134" y="386299"/>
                  <a:pt x="53134" y="366481"/>
                  <a:pt x="43522" y="350485"/>
                </a:cubicBezTo>
                <a:lnTo>
                  <a:pt x="34800" y="335910"/>
                </a:lnTo>
                <a:lnTo>
                  <a:pt x="10146" y="335910"/>
                </a:lnTo>
                <a:cubicBezTo>
                  <a:pt x="6497" y="335910"/>
                  <a:pt x="3115" y="333955"/>
                  <a:pt x="1335" y="330756"/>
                </a:cubicBezTo>
                <a:cubicBezTo>
                  <a:pt x="-445" y="327645"/>
                  <a:pt x="-445" y="323735"/>
                  <a:pt x="1424" y="320624"/>
                </a:cubicBezTo>
                <a:lnTo>
                  <a:pt x="13083" y="301162"/>
                </a:lnTo>
                <a:cubicBezTo>
                  <a:pt x="22696" y="285165"/>
                  <a:pt x="22696" y="265347"/>
                  <a:pt x="13083" y="249351"/>
                </a:cubicBezTo>
                <a:lnTo>
                  <a:pt x="1424" y="229888"/>
                </a:lnTo>
                <a:cubicBezTo>
                  <a:pt x="-445" y="226778"/>
                  <a:pt x="-445" y="222868"/>
                  <a:pt x="1335" y="219757"/>
                </a:cubicBezTo>
                <a:cubicBezTo>
                  <a:pt x="3115" y="216558"/>
                  <a:pt x="6497" y="214603"/>
                  <a:pt x="10146" y="214603"/>
                </a:cubicBezTo>
                <a:lnTo>
                  <a:pt x="34800" y="214603"/>
                </a:lnTo>
                <a:lnTo>
                  <a:pt x="43522" y="200028"/>
                </a:lnTo>
                <a:cubicBezTo>
                  <a:pt x="53134" y="184120"/>
                  <a:pt x="53134" y="164213"/>
                  <a:pt x="43522" y="148216"/>
                </a:cubicBezTo>
                <a:lnTo>
                  <a:pt x="31863" y="128754"/>
                </a:lnTo>
                <a:cubicBezTo>
                  <a:pt x="29905" y="125643"/>
                  <a:pt x="29905" y="121822"/>
                  <a:pt x="31685" y="118623"/>
                </a:cubicBezTo>
                <a:cubicBezTo>
                  <a:pt x="33465" y="115423"/>
                  <a:pt x="36847" y="113468"/>
                  <a:pt x="40496" y="113468"/>
                </a:cubicBezTo>
                <a:lnTo>
                  <a:pt x="334203" y="113468"/>
                </a:lnTo>
                <a:cubicBezTo>
                  <a:pt x="343993" y="113468"/>
                  <a:pt x="353160" y="115868"/>
                  <a:pt x="361348" y="119956"/>
                </a:cubicBezTo>
                <a:lnTo>
                  <a:pt x="355296" y="97472"/>
                </a:lnTo>
                <a:lnTo>
                  <a:pt x="339632" y="38906"/>
                </a:lnTo>
                <a:cubicBezTo>
                  <a:pt x="338920" y="36240"/>
                  <a:pt x="339276" y="33485"/>
                  <a:pt x="340611" y="31175"/>
                </a:cubicBezTo>
                <a:cubicBezTo>
                  <a:pt x="341946" y="28864"/>
                  <a:pt x="344171" y="27175"/>
                  <a:pt x="346752" y="26464"/>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图片 10">
            <a:extLst xmlns:a="http://schemas.openxmlformats.org/drawingml/2006/main">
              <a:ext uri="{FF2B5EF4-FFF2-40B4-BE49-F238E27FC236}">
                <a16:creationId xmlns:a16="http://schemas.microsoft.com/office/drawing/2014/main" id="{C2A7CE3C-DC64-4B5D-97A9-DEE462392243}"/>
              </a:ext>
            </a:extLst>
          </p:cNvPr>
          <p:cNvPicPr>
            <a:picLocks xmlns:a="http://schemas.openxmlformats.org/drawingml/2006/main" noChangeAspect="1"/>
          </p:cNvPicPr>
          <p:nvPr/>
        </p:nvPicPr>
        <p:blipFill>
          <a:blip xmlns:r="http://schemas.openxmlformats.org/officeDocument/2006/relationships" xmlns:a="http://schemas.openxmlformats.org/drawingml/2006/main" r:embed="Rb87328877e8f4d91"/>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6" name="2">
            <a:extLst xmlns:a="http://schemas.openxmlformats.org/drawingml/2006/main">
              <a:ext uri="{FF2B5EF4-FFF2-40B4-BE49-F238E27FC236}">
                <a16:creationId xmlns:a16="http://schemas.microsoft.com/office/drawing/2014/main" id="{31A4D13E-8A3F-4848-93F6-69640908E7DD}"/>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a:t>
            </a:r>
          </a:p>
        </p:txBody>
      </p:sp>
      <p:sp>
        <p:nvSpPr>
          <p:cNvPr id="27" name="Study design, assessment and comparison use the same scored ">
            <a:extLst xmlns:a="http://schemas.openxmlformats.org/drawingml/2006/main">
              <a:ext uri="{FF2B5EF4-FFF2-40B4-BE49-F238E27FC236}">
                <a16:creationId xmlns:a16="http://schemas.microsoft.com/office/drawing/2014/main" id="{3EC729DC-C520-430C-A90C-C0350ABEAA47}"/>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Study design, assessment and comparison use the same scored cohort.</a:t>
            </a:r>
          </a:p>
        </p:txBody>
      </p:sp>
    </p:spTree>
    <p:extLst>
      <p:ext uri="{BB962C8B-B14F-4D97-AF65-F5344CB8AC3E}">
        <p14:creationId xmlns:p14="http://schemas.microsoft.com/office/powerpoint/2010/main" val="421896853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2828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target is an expert radiographic score</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0aecf26316d04b65"/>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25A6482D-1A29-49F6-9AD7-D1D9C24FF78F}"/>
              </a:ext>
            </a:extLst>
          </p:cNvPr>
          <p:cNvPicPr>
            <a:picLocks xmlns:a="http://schemas.openxmlformats.org/drawingml/2006/main" noChangeAspect="1"/>
          </p:cNvPicPr>
          <p:nvPr/>
        </p:nvPicPr>
        <p:blipFill>
          <a:blip xmlns:r="http://schemas.openxmlformats.org/officeDocument/2006/relationships" xmlns:a="http://schemas.openxmlformats.org/drawingml/2006/main" r:embed="R90e02241be0d4690"/>
          <a:stretch xmlns:a="http://schemas.openxmlformats.org/drawingml/2006/main"/>
        </p:blipFill>
        <p:spPr>
          <a:xfrm xmlns:a="http://schemas.openxmlformats.org/drawingml/2006/main">
            <a:off x="666750" y="2158096"/>
            <a:ext cx="3429000" cy="2827558"/>
          </a:xfrm>
          <a:prstGeom xmlns:a="http://schemas.openxmlformats.org/drawingml/2006/main" prst="rect">
            <a:avLst/>
          </a:prstGeom>
        </p:spPr>
      </p:pic>
      <p:sp>
        <p:nvSpPr>
          <p:cNvPr id="16" name="Low extent">
            <a:extLst xmlns:a="http://schemas.openxmlformats.org/drawingml/2006/main">
              <a:ext uri="{FF2B5EF4-FFF2-40B4-BE49-F238E27FC236}">
                <a16:creationId xmlns:a16="http://schemas.microsoft.com/office/drawing/2014/main" id="{A1F25C8A-B875-41CE-8C70-C1AD45DCDFE8}"/>
              </a:ext>
            </a:extLst>
          </p:cNvPr>
          <p:cNvSpPr>
            <a:spLocks xmlns:a="http://schemas.openxmlformats.org/drawingml/2006/main" noGrp="1"/>
          </p:cNvSpPr>
          <p:nvPr/>
        </p:nvSpPr>
        <p:spPr>
          <a:xfrm xmlns:a="http://schemas.openxmlformats.org/drawingml/2006/main">
            <a:off x="762000" y="51911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defRPr sz="1875" b="1">
                <a:solidFill>
                  <a:srgbClr val="013D7A"/>
                </a:solidFill>
                <a:latin typeface="Arial"/>
                <a:ea typeface="Arial"/>
                <a:cs typeface="Arial"/>
              </a:defRPr>
            </a:pPr>
            <a:r>
              <a:rPr sz="1875" b="1">
                <a:solidFill>
                  <a:srgbClr val="013D7A"/>
                </a:solidFill>
                <a:latin typeface="Arial"/>
                <a:ea typeface="Arial"/>
                <a:cs typeface="Arial"/>
              </a:rPr>
              <a:t>Low extent</a:t>
            </a:r>
          </a:p>
        </p:txBody>
      </p:sp>
      <p:sp>
        <p:nvSpPr>
          <p:cNvPr id="17" name="Extent 0.0   Opacity 0.0">
            <a:extLst xmlns:a="http://schemas.openxmlformats.org/drawingml/2006/main">
              <a:ext uri="{FF2B5EF4-FFF2-40B4-BE49-F238E27FC236}">
                <a16:creationId xmlns:a16="http://schemas.microsoft.com/office/drawing/2014/main" id="{C22EC861-538C-4E94-9334-FF6A94D9F302}"/>
              </a:ext>
            </a:extLst>
          </p:cNvPr>
          <p:cNvSpPr>
            <a:spLocks xmlns:a="http://schemas.openxmlformats.org/drawingml/2006/main" noGrp="1"/>
          </p:cNvSpPr>
          <p:nvPr/>
        </p:nvSpPr>
        <p:spPr>
          <a:xfrm xmlns:a="http://schemas.openxmlformats.org/drawingml/2006/main">
            <a:off x="762000" y="55721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202832"/>
                </a:solidFill>
                <a:latin typeface="Arial"/>
                <a:ea typeface="Arial"/>
                <a:cs typeface="Arial"/>
              </a:defRPr>
            </a:defPPr>
            <a:lvl1pPr algn="ctr">
              <a:defRPr sz="1725" b="0">
                <a:solidFill>
                  <a:srgbClr val="202832"/>
                </a:solidFill>
                <a:latin typeface="Arial"/>
                <a:ea typeface="Arial"/>
                <a:cs typeface="Arial"/>
              </a:defRPr>
            </a:lvl1pPr>
            <a:lvl2pPr algn="ctr">
              <a:defRPr sz="1725" b="0">
                <a:solidFill>
                  <a:srgbClr val="202832"/>
                </a:solidFill>
                <a:latin typeface="Arial"/>
                <a:ea typeface="Arial"/>
                <a:cs typeface="Arial"/>
              </a:defRPr>
            </a:lvl2pPr>
            <a:lvl3pPr algn="ctr">
              <a:defRPr sz="1725" b="0">
                <a:solidFill>
                  <a:srgbClr val="202832"/>
                </a:solidFill>
                <a:latin typeface="Arial"/>
                <a:ea typeface="Arial"/>
                <a:cs typeface="Arial"/>
              </a:defRPr>
            </a:lvl3pPr>
            <a:lvl4pPr algn="ctr">
              <a:defRPr sz="1725" b="0">
                <a:solidFill>
                  <a:srgbClr val="202832"/>
                </a:solidFill>
                <a:latin typeface="Arial"/>
                <a:ea typeface="Arial"/>
                <a:cs typeface="Arial"/>
              </a:defRPr>
            </a:lvl4pPr>
            <a:lvl5pPr algn="ctr">
              <a:defRPr sz="1725" b="0">
                <a:solidFill>
                  <a:srgbClr val="202832"/>
                </a:solidFill>
                <a:latin typeface="Arial"/>
                <a:ea typeface="Arial"/>
                <a:cs typeface="Arial"/>
              </a:defRPr>
            </a:lvl5pPr>
            <a:lvl6pPr algn="ctr">
              <a:defRPr sz="1725" b="0">
                <a:solidFill>
                  <a:srgbClr val="202832"/>
                </a:solidFill>
                <a:latin typeface="Arial"/>
                <a:ea typeface="Arial"/>
                <a:cs typeface="Arial"/>
              </a:defRPr>
            </a:lvl6pPr>
            <a:lvl7pPr algn="ctr">
              <a:defRPr sz="1725" b="0">
                <a:solidFill>
                  <a:srgbClr val="202832"/>
                </a:solidFill>
                <a:latin typeface="Arial"/>
                <a:ea typeface="Arial"/>
                <a:cs typeface="Arial"/>
              </a:defRPr>
            </a:lvl7pPr>
            <a:lvl8pPr algn="ctr">
              <a:defRPr sz="1725" b="0">
                <a:solidFill>
                  <a:srgbClr val="202832"/>
                </a:solidFill>
                <a:latin typeface="Arial"/>
                <a:ea typeface="Arial"/>
                <a:cs typeface="Arial"/>
              </a:defRPr>
            </a:lvl8pPr>
            <a:lvl9pPr algn="ctr">
              <a:defRPr sz="1725" b="0">
                <a:solidFill>
                  <a:srgbClr val="202832"/>
                </a:solidFill>
                <a:latin typeface="Arial"/>
                <a:ea typeface="Arial"/>
                <a:cs typeface="Arial"/>
              </a:defRPr>
            </a:lvl9pPr>
          </a:lstStyle>
          <a:p xmlns:a="http://schemas.openxmlformats.org/drawingml/2006/main">
            <a:pPr algn="ctr">
              <a:defRPr sz="1725" b="0">
                <a:solidFill>
                  <a:srgbClr val="202832"/>
                </a:solidFill>
                <a:latin typeface="Arial"/>
                <a:ea typeface="Arial"/>
                <a:cs typeface="Arial"/>
              </a:defRPr>
            </a:pPr>
            <a:r>
              <a:rPr sz="1725" b="0">
                <a:solidFill>
                  <a:srgbClr val="202832"/>
                </a:solidFill>
                <a:latin typeface="Arial"/>
                <a:ea typeface="Arial"/>
                <a:cs typeface="Arial"/>
              </a:rPr>
              <a:t>Extent 0.0   Opacity 0.0</a:t>
            </a:r>
          </a:p>
        </p:txBody>
      </p:sp>
      <p:pic>
        <p:nvPicPr>
          <p:cNvPr id="18" name="">
            <a:extLst xmlns:a="http://schemas.openxmlformats.org/drawingml/2006/main">
              <a:ext uri="{FF2B5EF4-FFF2-40B4-BE49-F238E27FC236}">
                <a16:creationId xmlns:a16="http://schemas.microsoft.com/office/drawing/2014/main" id="{F88C5A10-6CA7-44B1-8B01-598DC3D04007}"/>
              </a:ext>
            </a:extLst>
          </p:cNvPr>
          <p:cNvPicPr>
            <a:picLocks xmlns:a="http://schemas.openxmlformats.org/drawingml/2006/main" noChangeAspect="1"/>
          </p:cNvPicPr>
          <p:nvPr/>
        </p:nvPicPr>
        <p:blipFill>
          <a:blip xmlns:r="http://schemas.openxmlformats.org/officeDocument/2006/relationships" xmlns:a="http://schemas.openxmlformats.org/drawingml/2006/main" r:embed="Rc46229b835b840e2"/>
          <a:stretch xmlns:a="http://schemas.openxmlformats.org/drawingml/2006/main"/>
        </p:blipFill>
        <p:spPr>
          <a:xfrm xmlns:a="http://schemas.openxmlformats.org/drawingml/2006/main">
            <a:off x="4572000" y="2234056"/>
            <a:ext cx="3429000" cy="2675639"/>
          </a:xfrm>
          <a:prstGeom xmlns:a="http://schemas.openxmlformats.org/drawingml/2006/main" prst="rect">
            <a:avLst/>
          </a:prstGeom>
        </p:spPr>
      </p:pic>
      <p:sp>
        <p:nvSpPr>
          <p:cNvPr id="19" name="High extent">
            <a:extLst xmlns:a="http://schemas.openxmlformats.org/drawingml/2006/main">
              <a:ext uri="{FF2B5EF4-FFF2-40B4-BE49-F238E27FC236}">
                <a16:creationId xmlns:a16="http://schemas.microsoft.com/office/drawing/2014/main" id="{BD8D97DC-957F-4C31-BB83-E88B2E2EFFCF}"/>
              </a:ext>
            </a:extLst>
          </p:cNvPr>
          <p:cNvSpPr>
            <a:spLocks xmlns:a="http://schemas.openxmlformats.org/drawingml/2006/main" noGrp="1"/>
          </p:cNvSpPr>
          <p:nvPr/>
        </p:nvSpPr>
        <p:spPr>
          <a:xfrm xmlns:a="http://schemas.openxmlformats.org/drawingml/2006/main">
            <a:off x="4667250" y="51911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defRPr sz="1875" b="1">
                <a:solidFill>
                  <a:srgbClr val="013D7A"/>
                </a:solidFill>
                <a:latin typeface="Arial"/>
                <a:ea typeface="Arial"/>
                <a:cs typeface="Arial"/>
              </a:defRPr>
            </a:pPr>
            <a:r>
              <a:rPr sz="1875" b="1">
                <a:solidFill>
                  <a:srgbClr val="013D7A"/>
                </a:solidFill>
                <a:latin typeface="Arial"/>
                <a:ea typeface="Arial"/>
                <a:cs typeface="Arial"/>
              </a:rPr>
              <a:t>High extent</a:t>
            </a:r>
          </a:p>
        </p:txBody>
      </p:sp>
      <p:sp>
        <p:nvSpPr>
          <p:cNvPr id="20" name="Extent 8.0   Opacity 5.0">
            <a:extLst xmlns:a="http://schemas.openxmlformats.org/drawingml/2006/main">
              <a:ext uri="{FF2B5EF4-FFF2-40B4-BE49-F238E27FC236}">
                <a16:creationId xmlns:a16="http://schemas.microsoft.com/office/drawing/2014/main" id="{3ADF1411-63AF-4167-85AC-9DB49DBDAA11}"/>
              </a:ext>
            </a:extLst>
          </p:cNvPr>
          <p:cNvSpPr>
            <a:spLocks xmlns:a="http://schemas.openxmlformats.org/drawingml/2006/main" noGrp="1"/>
          </p:cNvSpPr>
          <p:nvPr/>
        </p:nvSpPr>
        <p:spPr>
          <a:xfrm xmlns:a="http://schemas.openxmlformats.org/drawingml/2006/main">
            <a:off x="4667250" y="5572125"/>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202832"/>
                </a:solidFill>
                <a:latin typeface="Arial"/>
                <a:ea typeface="Arial"/>
                <a:cs typeface="Arial"/>
              </a:defRPr>
            </a:defPPr>
            <a:lvl1pPr algn="ctr">
              <a:defRPr sz="1725" b="0">
                <a:solidFill>
                  <a:srgbClr val="202832"/>
                </a:solidFill>
                <a:latin typeface="Arial"/>
                <a:ea typeface="Arial"/>
                <a:cs typeface="Arial"/>
              </a:defRPr>
            </a:lvl1pPr>
            <a:lvl2pPr algn="ctr">
              <a:defRPr sz="1725" b="0">
                <a:solidFill>
                  <a:srgbClr val="202832"/>
                </a:solidFill>
                <a:latin typeface="Arial"/>
                <a:ea typeface="Arial"/>
                <a:cs typeface="Arial"/>
              </a:defRPr>
            </a:lvl2pPr>
            <a:lvl3pPr algn="ctr">
              <a:defRPr sz="1725" b="0">
                <a:solidFill>
                  <a:srgbClr val="202832"/>
                </a:solidFill>
                <a:latin typeface="Arial"/>
                <a:ea typeface="Arial"/>
                <a:cs typeface="Arial"/>
              </a:defRPr>
            </a:lvl3pPr>
            <a:lvl4pPr algn="ctr">
              <a:defRPr sz="1725" b="0">
                <a:solidFill>
                  <a:srgbClr val="202832"/>
                </a:solidFill>
                <a:latin typeface="Arial"/>
                <a:ea typeface="Arial"/>
                <a:cs typeface="Arial"/>
              </a:defRPr>
            </a:lvl4pPr>
            <a:lvl5pPr algn="ctr">
              <a:defRPr sz="1725" b="0">
                <a:solidFill>
                  <a:srgbClr val="202832"/>
                </a:solidFill>
                <a:latin typeface="Arial"/>
                <a:ea typeface="Arial"/>
                <a:cs typeface="Arial"/>
              </a:defRPr>
            </a:lvl5pPr>
            <a:lvl6pPr algn="ctr">
              <a:defRPr sz="1725" b="0">
                <a:solidFill>
                  <a:srgbClr val="202832"/>
                </a:solidFill>
                <a:latin typeface="Arial"/>
                <a:ea typeface="Arial"/>
                <a:cs typeface="Arial"/>
              </a:defRPr>
            </a:lvl6pPr>
            <a:lvl7pPr algn="ctr">
              <a:defRPr sz="1725" b="0">
                <a:solidFill>
                  <a:srgbClr val="202832"/>
                </a:solidFill>
                <a:latin typeface="Arial"/>
                <a:ea typeface="Arial"/>
                <a:cs typeface="Arial"/>
              </a:defRPr>
            </a:lvl7pPr>
            <a:lvl8pPr algn="ctr">
              <a:defRPr sz="1725" b="0">
                <a:solidFill>
                  <a:srgbClr val="202832"/>
                </a:solidFill>
                <a:latin typeface="Arial"/>
                <a:ea typeface="Arial"/>
                <a:cs typeface="Arial"/>
              </a:defRPr>
            </a:lvl8pPr>
            <a:lvl9pPr algn="ctr">
              <a:defRPr sz="1725" b="0">
                <a:solidFill>
                  <a:srgbClr val="202832"/>
                </a:solidFill>
                <a:latin typeface="Arial"/>
                <a:ea typeface="Arial"/>
                <a:cs typeface="Arial"/>
              </a:defRPr>
            </a:lvl9pPr>
          </a:lstStyle>
          <a:p xmlns:a="http://schemas.openxmlformats.org/drawingml/2006/main">
            <a:pPr algn="ctr">
              <a:defRPr sz="1725" b="0">
                <a:solidFill>
                  <a:srgbClr val="202832"/>
                </a:solidFill>
                <a:latin typeface="Arial"/>
                <a:ea typeface="Arial"/>
                <a:cs typeface="Arial"/>
              </a:defRPr>
            </a:pPr>
            <a:r>
              <a:rPr sz="1725" b="0">
                <a:solidFill>
                  <a:srgbClr val="202832"/>
                </a:solidFill>
                <a:latin typeface="Arial"/>
                <a:ea typeface="Arial"/>
                <a:cs typeface="Arial"/>
              </a:rPr>
              <a:t>Extent 8.0   Opacity 5.0</a:t>
            </a:r>
          </a:p>
        </p:txBody>
      </p:sp>
      <p:sp>
        <p:nvSpPr>
          <p:cNvPr id="21" name="94 images">
            <a:extLst xmlns:a="http://schemas.openxmlformats.org/drawingml/2006/main">
              <a:ext uri="{FF2B5EF4-FFF2-40B4-BE49-F238E27FC236}">
                <a16:creationId xmlns:a16="http://schemas.microsoft.com/office/drawing/2014/main" id="{66968BF7-D3FF-47CD-BC32-4B16D0751C97}"/>
              </a:ext>
            </a:extLst>
          </p:cNvPr>
          <p:cNvSpPr>
            <a:spLocks xmlns:a="http://schemas.openxmlformats.org/drawingml/2006/main" noGrp="1"/>
          </p:cNvSpPr>
          <p:nvPr/>
        </p:nvSpPr>
        <p:spPr>
          <a:xfrm xmlns:a="http://schemas.openxmlformats.org/drawingml/2006/main">
            <a:off x="8858250" y="2238375"/>
            <a:ext cx="257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850" b="1">
                <a:solidFill>
                  <a:srgbClr val="013D7A"/>
                </a:solidFill>
                <a:latin typeface="Arial"/>
                <a:ea typeface="Arial"/>
                <a:cs typeface="Arial"/>
              </a:defRPr>
            </a:defPPr>
            <a:lvl1pPr algn="l">
              <a:defRPr sz="2850" b="1">
                <a:solidFill>
                  <a:srgbClr val="013D7A"/>
                </a:solidFill>
                <a:latin typeface="Arial"/>
                <a:ea typeface="Arial"/>
                <a:cs typeface="Arial"/>
              </a:defRPr>
            </a:lvl1pPr>
            <a:lvl2pPr algn="l">
              <a:defRPr sz="2850" b="1">
                <a:solidFill>
                  <a:srgbClr val="013D7A"/>
                </a:solidFill>
                <a:latin typeface="Arial"/>
                <a:ea typeface="Arial"/>
                <a:cs typeface="Arial"/>
              </a:defRPr>
            </a:lvl2pPr>
            <a:lvl3pPr algn="l">
              <a:defRPr sz="2850" b="1">
                <a:solidFill>
                  <a:srgbClr val="013D7A"/>
                </a:solidFill>
                <a:latin typeface="Arial"/>
                <a:ea typeface="Arial"/>
                <a:cs typeface="Arial"/>
              </a:defRPr>
            </a:lvl3pPr>
            <a:lvl4pPr algn="l">
              <a:defRPr sz="2850" b="1">
                <a:solidFill>
                  <a:srgbClr val="013D7A"/>
                </a:solidFill>
                <a:latin typeface="Arial"/>
                <a:ea typeface="Arial"/>
                <a:cs typeface="Arial"/>
              </a:defRPr>
            </a:lvl4pPr>
            <a:lvl5pPr algn="l">
              <a:defRPr sz="2850" b="1">
                <a:solidFill>
                  <a:srgbClr val="013D7A"/>
                </a:solidFill>
                <a:latin typeface="Arial"/>
                <a:ea typeface="Arial"/>
                <a:cs typeface="Arial"/>
              </a:defRPr>
            </a:lvl5pPr>
            <a:lvl6pPr algn="l">
              <a:defRPr sz="2850" b="1">
                <a:solidFill>
                  <a:srgbClr val="013D7A"/>
                </a:solidFill>
                <a:latin typeface="Arial"/>
                <a:ea typeface="Arial"/>
                <a:cs typeface="Arial"/>
              </a:defRPr>
            </a:lvl6pPr>
            <a:lvl7pPr algn="l">
              <a:defRPr sz="2850" b="1">
                <a:solidFill>
                  <a:srgbClr val="013D7A"/>
                </a:solidFill>
                <a:latin typeface="Arial"/>
                <a:ea typeface="Arial"/>
                <a:cs typeface="Arial"/>
              </a:defRPr>
            </a:lvl7pPr>
            <a:lvl8pPr algn="l">
              <a:defRPr sz="2850" b="1">
                <a:solidFill>
                  <a:srgbClr val="013D7A"/>
                </a:solidFill>
                <a:latin typeface="Arial"/>
                <a:ea typeface="Arial"/>
                <a:cs typeface="Arial"/>
              </a:defRPr>
            </a:lvl8pPr>
            <a:lvl9pPr algn="l">
              <a:defRPr sz="2850" b="1">
                <a:solidFill>
                  <a:srgbClr val="013D7A"/>
                </a:solidFill>
                <a:latin typeface="Arial"/>
                <a:ea typeface="Arial"/>
                <a:cs typeface="Arial"/>
              </a:defRPr>
            </a:lvl9pPr>
          </a:lstStyle>
          <a:p xmlns:a="http://schemas.openxmlformats.org/drawingml/2006/main">
            <a:pPr algn="l">
              <a:defRPr sz="2850" b="1">
                <a:solidFill>
                  <a:srgbClr val="013D7A"/>
                </a:solidFill>
                <a:latin typeface="Arial"/>
                <a:ea typeface="Arial"/>
                <a:cs typeface="Arial"/>
              </a:defRPr>
            </a:pPr>
            <a:r>
              <a:rPr sz="2850" b="1">
                <a:solidFill>
                  <a:srgbClr val="013D7A"/>
                </a:solidFill>
                <a:latin typeface="Arial"/>
                <a:ea typeface="Arial"/>
                <a:cs typeface="Arial"/>
              </a:rPr>
              <a:t>94 images</a:t>
            </a:r>
          </a:p>
          <a:p xmlns:a="http://schemas.openxmlformats.org/drawingml/2006/main">
            <a:pPr algn="l">
              <a:defRPr sz="2850" b="1">
                <a:solidFill>
                  <a:srgbClr val="013D7A"/>
                </a:solidFill>
                <a:latin typeface="Arial"/>
                <a:ea typeface="Arial"/>
                <a:cs typeface="Arial"/>
              </a:defRPr>
            </a:pPr>
            <a:r>
              <a:rPr sz="2850" b="1">
                <a:solidFill>
                  <a:srgbClr val="013D7A"/>
                </a:solidFill>
                <a:latin typeface="Arial"/>
                <a:ea typeface="Arial"/>
                <a:cs typeface="Arial"/>
              </a:rPr>
              <a:t>65 patients</a:t>
            </a:r>
          </a:p>
        </p:txBody>
      </p:sp>
      <p:sp>
        <p:nvSpPr>
          <p:cNvPr id="22" name="Extent  0–8">
            <a:extLst xmlns:a="http://schemas.openxmlformats.org/drawingml/2006/main">
              <a:ext uri="{FF2B5EF4-FFF2-40B4-BE49-F238E27FC236}">
                <a16:creationId xmlns:a16="http://schemas.microsoft.com/office/drawing/2014/main" id="{64B6E77A-0117-4033-9123-DCE59433B88B}"/>
              </a:ext>
            </a:extLst>
          </p:cNvPr>
          <p:cNvSpPr>
            <a:spLocks xmlns:a="http://schemas.openxmlformats.org/drawingml/2006/main" noGrp="1"/>
          </p:cNvSpPr>
          <p:nvPr/>
        </p:nvSpPr>
        <p:spPr>
          <a:xfrm xmlns:a="http://schemas.openxmlformats.org/drawingml/2006/main">
            <a:off x="8858250" y="3476625"/>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0">
                <a:solidFill>
                  <a:srgbClr val="202832"/>
                </a:solidFill>
                <a:latin typeface="Arial"/>
                <a:ea typeface="Arial"/>
                <a:cs typeface="Arial"/>
              </a:defRPr>
            </a:defPPr>
            <a:lvl1pPr algn="l">
              <a:defRPr sz="2100" b="0">
                <a:solidFill>
                  <a:srgbClr val="202832"/>
                </a:solidFill>
                <a:latin typeface="Arial"/>
                <a:ea typeface="Arial"/>
                <a:cs typeface="Arial"/>
              </a:defRPr>
            </a:lvl1pPr>
            <a:lvl2pPr algn="l">
              <a:defRPr sz="2100" b="0">
                <a:solidFill>
                  <a:srgbClr val="202832"/>
                </a:solidFill>
                <a:latin typeface="Arial"/>
                <a:ea typeface="Arial"/>
                <a:cs typeface="Arial"/>
              </a:defRPr>
            </a:lvl2pPr>
            <a:lvl3pPr algn="l">
              <a:defRPr sz="2100" b="0">
                <a:solidFill>
                  <a:srgbClr val="202832"/>
                </a:solidFill>
                <a:latin typeface="Arial"/>
                <a:ea typeface="Arial"/>
                <a:cs typeface="Arial"/>
              </a:defRPr>
            </a:lvl3pPr>
            <a:lvl4pPr algn="l">
              <a:defRPr sz="2100" b="0">
                <a:solidFill>
                  <a:srgbClr val="202832"/>
                </a:solidFill>
                <a:latin typeface="Arial"/>
                <a:ea typeface="Arial"/>
                <a:cs typeface="Arial"/>
              </a:defRPr>
            </a:lvl4pPr>
            <a:lvl5pPr algn="l">
              <a:defRPr sz="2100" b="0">
                <a:solidFill>
                  <a:srgbClr val="202832"/>
                </a:solidFill>
                <a:latin typeface="Arial"/>
                <a:ea typeface="Arial"/>
                <a:cs typeface="Arial"/>
              </a:defRPr>
            </a:lvl5pPr>
            <a:lvl6pPr algn="l">
              <a:defRPr sz="2100" b="0">
                <a:solidFill>
                  <a:srgbClr val="202832"/>
                </a:solidFill>
                <a:latin typeface="Arial"/>
                <a:ea typeface="Arial"/>
                <a:cs typeface="Arial"/>
              </a:defRPr>
            </a:lvl6pPr>
            <a:lvl7pPr algn="l">
              <a:defRPr sz="2100" b="0">
                <a:solidFill>
                  <a:srgbClr val="202832"/>
                </a:solidFill>
                <a:latin typeface="Arial"/>
                <a:ea typeface="Arial"/>
                <a:cs typeface="Arial"/>
              </a:defRPr>
            </a:lvl7pPr>
            <a:lvl8pPr algn="l">
              <a:defRPr sz="2100" b="0">
                <a:solidFill>
                  <a:srgbClr val="202832"/>
                </a:solidFill>
                <a:latin typeface="Arial"/>
                <a:ea typeface="Arial"/>
                <a:cs typeface="Arial"/>
              </a:defRPr>
            </a:lvl8pPr>
            <a:lvl9pPr algn="l">
              <a:defRPr sz="2100" b="0">
                <a:solidFill>
                  <a:srgbClr val="202832"/>
                </a:solidFill>
                <a:latin typeface="Arial"/>
                <a:ea typeface="Arial"/>
                <a:cs typeface="Arial"/>
              </a:defRPr>
            </a:lvl9pPr>
          </a:lstStyle>
          <a:p xmlns:a="http://schemas.openxmlformats.org/drawingml/2006/main">
            <a:pPr algn="l">
              <a:defRPr sz="2100" b="0">
                <a:solidFill>
                  <a:srgbClr val="202832"/>
                </a:solidFill>
                <a:latin typeface="Arial"/>
                <a:ea typeface="Arial"/>
                <a:cs typeface="Arial"/>
              </a:defRPr>
            </a:pPr>
            <a:r>
              <a:rPr sz="2100" b="0">
                <a:solidFill>
                  <a:srgbClr val="202832"/>
                </a:solidFill>
                <a:latin typeface="Arial"/>
                <a:ea typeface="Arial"/>
                <a:cs typeface="Arial"/>
              </a:rPr>
              <a:t>Extent  0–8</a:t>
            </a:r>
          </a:p>
          <a:p xmlns:a="http://schemas.openxmlformats.org/drawingml/2006/main">
            <a:pPr algn="l">
              <a:defRPr sz="2100" b="0">
                <a:solidFill>
                  <a:srgbClr val="202832"/>
                </a:solidFill>
                <a:latin typeface="Arial"/>
                <a:ea typeface="Arial"/>
                <a:cs typeface="Arial"/>
              </a:defRPr>
            </a:pPr>
            <a:r>
              <a:rPr sz="2100" b="0">
                <a:solidFill>
                  <a:srgbClr val="202832"/>
                </a:solidFill>
                <a:latin typeface="Arial"/>
                <a:ea typeface="Arial"/>
                <a:cs typeface="Arial"/>
              </a:rPr>
              <a:t>Opacity  0–6</a:t>
            </a:r>
          </a:p>
        </p:txBody>
      </p:sp>
      <p:sp>
        <p:nvSpPr>
          <p:cNvPr id="23" name="Mean scores from">
            <a:extLst xmlns:a="http://schemas.openxmlformats.org/drawingml/2006/main">
              <a:ext uri="{FF2B5EF4-FFF2-40B4-BE49-F238E27FC236}">
                <a16:creationId xmlns:a16="http://schemas.microsoft.com/office/drawing/2014/main" id="{F38336A9-D467-4EF9-9D85-56D96AF4C952}"/>
              </a:ext>
            </a:extLst>
          </p:cNvPr>
          <p:cNvSpPr>
            <a:spLocks xmlns:a="http://schemas.openxmlformats.org/drawingml/2006/main" noGrp="1"/>
          </p:cNvSpPr>
          <p:nvPr/>
        </p:nvSpPr>
        <p:spPr>
          <a:xfrm xmlns:a="http://schemas.openxmlformats.org/drawingml/2006/main">
            <a:off x="8858250" y="46672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832"/>
                </a:solidFill>
                <a:latin typeface="Arial"/>
                <a:ea typeface="Arial"/>
                <a:cs typeface="Arial"/>
              </a:defRPr>
            </a:defPPr>
            <a:lvl1pPr algn="l">
              <a:defRPr sz="1875" b="0">
                <a:solidFill>
                  <a:srgbClr val="202832"/>
                </a:solidFill>
                <a:latin typeface="Arial"/>
                <a:ea typeface="Arial"/>
                <a:cs typeface="Arial"/>
              </a:defRPr>
            </a:lvl1pPr>
            <a:lvl2pPr algn="l">
              <a:defRPr sz="1875" b="0">
                <a:solidFill>
                  <a:srgbClr val="202832"/>
                </a:solidFill>
                <a:latin typeface="Arial"/>
                <a:ea typeface="Arial"/>
                <a:cs typeface="Arial"/>
              </a:defRPr>
            </a:lvl2pPr>
            <a:lvl3pPr algn="l">
              <a:defRPr sz="1875" b="0">
                <a:solidFill>
                  <a:srgbClr val="202832"/>
                </a:solidFill>
                <a:latin typeface="Arial"/>
                <a:ea typeface="Arial"/>
                <a:cs typeface="Arial"/>
              </a:defRPr>
            </a:lvl3pPr>
            <a:lvl4pPr algn="l">
              <a:defRPr sz="1875" b="0">
                <a:solidFill>
                  <a:srgbClr val="202832"/>
                </a:solidFill>
                <a:latin typeface="Arial"/>
                <a:ea typeface="Arial"/>
                <a:cs typeface="Arial"/>
              </a:defRPr>
            </a:lvl4pPr>
            <a:lvl5pPr algn="l">
              <a:defRPr sz="1875" b="0">
                <a:solidFill>
                  <a:srgbClr val="202832"/>
                </a:solidFill>
                <a:latin typeface="Arial"/>
                <a:ea typeface="Arial"/>
                <a:cs typeface="Arial"/>
              </a:defRPr>
            </a:lvl5pPr>
            <a:lvl6pPr algn="l">
              <a:defRPr sz="1875" b="0">
                <a:solidFill>
                  <a:srgbClr val="202832"/>
                </a:solidFill>
                <a:latin typeface="Arial"/>
                <a:ea typeface="Arial"/>
                <a:cs typeface="Arial"/>
              </a:defRPr>
            </a:lvl6pPr>
            <a:lvl7pPr algn="l">
              <a:defRPr sz="1875" b="0">
                <a:solidFill>
                  <a:srgbClr val="202832"/>
                </a:solidFill>
                <a:latin typeface="Arial"/>
                <a:ea typeface="Arial"/>
                <a:cs typeface="Arial"/>
              </a:defRPr>
            </a:lvl7pPr>
            <a:lvl8pPr algn="l">
              <a:defRPr sz="1875" b="0">
                <a:solidFill>
                  <a:srgbClr val="202832"/>
                </a:solidFill>
                <a:latin typeface="Arial"/>
                <a:ea typeface="Arial"/>
                <a:cs typeface="Arial"/>
              </a:defRPr>
            </a:lvl8pPr>
            <a:lvl9pPr algn="l">
              <a:defRPr sz="1875" b="0">
                <a:solidFill>
                  <a:srgbClr val="202832"/>
                </a:solidFill>
                <a:latin typeface="Arial"/>
                <a:ea typeface="Arial"/>
                <a:cs typeface="Arial"/>
              </a:defRPr>
            </a:lvl9pPr>
          </a:lstStyle>
          <a:p xmlns:a="http://schemas.openxmlformats.org/drawingml/2006/main">
            <a:pPr algn="l">
              <a:defRPr sz="1875" b="0">
                <a:solidFill>
                  <a:srgbClr val="202832"/>
                </a:solidFill>
                <a:latin typeface="Arial"/>
                <a:ea typeface="Arial"/>
                <a:cs typeface="Arial"/>
              </a:defRPr>
            </a:pPr>
            <a:r>
              <a:rPr sz="1875" b="0">
                <a:solidFill>
                  <a:srgbClr val="202832"/>
                </a:solidFill>
                <a:latin typeface="Arial"/>
                <a:ea typeface="Arial"/>
                <a:cs typeface="Arial"/>
              </a:rPr>
              <a:t>Mean scores from</a:t>
            </a:r>
          </a:p>
          <a:p xmlns:a="http://schemas.openxmlformats.org/drawingml/2006/main">
            <a:pPr algn="l">
              <a:defRPr sz="1875" b="0">
                <a:solidFill>
                  <a:srgbClr val="202832"/>
                </a:solidFill>
                <a:latin typeface="Arial"/>
                <a:ea typeface="Arial"/>
                <a:cs typeface="Arial"/>
              </a:defRPr>
            </a:pPr>
            <a:r>
              <a:rPr sz="1875" b="0">
                <a:solidFill>
                  <a:srgbClr val="202832"/>
                </a:solidFill>
                <a:latin typeface="Arial"/>
                <a:ea typeface="Arial"/>
                <a:cs typeface="Arial"/>
              </a:rPr>
              <a:t>three expert raters</a:t>
            </a:r>
          </a:p>
        </p:txBody>
      </p:sp>
      <p:sp>
        <p:nvSpPr>
          <p:cNvPr id="24" name="3">
            <a:extLst xmlns:a="http://schemas.openxmlformats.org/drawingml/2006/main">
              <a:ext uri="{FF2B5EF4-FFF2-40B4-BE49-F238E27FC236}">
                <a16:creationId xmlns:a16="http://schemas.microsoft.com/office/drawing/2014/main" id="{DA6178A7-45A2-45C2-B6F6-0A8A457AC633}"/>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a:t>
            </a:r>
          </a:p>
        </p:txBody>
      </p:sp>
      <p:sp>
        <p:nvSpPr>
          <p:cNvPr id="25" name="Example images illustrate the scoring task. They do not esta">
            <a:extLst xmlns:a="http://schemas.openxmlformats.org/drawingml/2006/main">
              <a:ext uri="{FF2B5EF4-FFF2-40B4-BE49-F238E27FC236}">
                <a16:creationId xmlns:a16="http://schemas.microsoft.com/office/drawing/2014/main" id="{1B90081B-C5A2-4955-86D8-82C19818A458}"/>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Example images illustrate the scoring task. They do not establish diagnostic performance.</a:t>
            </a:r>
          </a:p>
        </p:txBody>
      </p:sp>
    </p:spTree>
    <p:extLst>
      <p:ext uri="{BB962C8B-B14F-4D97-AF65-F5344CB8AC3E}">
        <p14:creationId xmlns:p14="http://schemas.microsoft.com/office/powerpoint/2010/main" val="9223975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2828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Study</a:t>
            </a:r>
            <a:endParaRPr sz="1800">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9581BA13-2676-48FA-846D-DB133F119D95}"/>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original method learns a small regression head</a:t>
            </a:r>
            <a:endParaRPr sz="2800" b="1">
              <a:solidFill>
                <a:schemeClr val="accent1"/>
              </a:solidFill>
              <a:latin typeface="Arial"/>
              <a:ea typeface="Arial"/>
              <a:cs typeface="Arial"/>
            </a:endParaRPr>
          </a:p>
        </p:txBody>
      </p:sp>
      <p:sp>
        <p:nvSpPr>
          <p:cNvPr id="2" name="圆角矩形 1">
            <a:extLst xmlns:a="http://schemas.openxmlformats.org/drawingml/2006/main">
              <a:ext uri="{FF2B5EF4-FFF2-40B4-BE49-F238E27FC236}">
                <a16:creationId xmlns:a16="http://schemas.microsoft.com/office/drawing/2014/main" id="{8830FEE1-E432-C1D8-4B42-563258A1A162}"/>
              </a:ext>
            </a:extLst>
          </p:cNvPr>
          <p:cNvSpPr>
            <a:spLocks xmlns:a="http://schemas.openxmlformats.org/drawingml/2006/main" noGrp="1"/>
          </p:cNvSpPr>
          <p:nvPr/>
        </p:nvSpPr>
        <p:spPr>
          <a:xfrm xmlns:a="http://schemas.openxmlformats.org/drawingml/2006/main">
            <a:off x="808383" y="3844646"/>
            <a:ext cx="10575235" cy="226944"/>
          </a:xfrm>
          <a:prstGeom xmlns:a="http://schemas.openxmlformats.org/drawingml/2006/main" prst="roundRect">
            <a:avLst>
              <a:gd name="adj" fmla="val 50000"/>
            </a:avLst>
          </a:prstGeom>
          <a:solidFill xmlns:a="http://schemas.openxmlformats.org/drawingml/2006/main">
            <a:schemeClr val="accent1">
              <a:alpha val="44962"/>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椭圆 2">
            <a:extLst xmlns:a="http://schemas.openxmlformats.org/drawingml/2006/main">
              <a:ext uri="{FF2B5EF4-FFF2-40B4-BE49-F238E27FC236}">
                <a16:creationId xmlns:a16="http://schemas.microsoft.com/office/drawing/2014/main" id="{05525C01-30F0-6414-CAB0-7364782C0171}"/>
              </a:ext>
            </a:extLst>
          </p:cNvPr>
          <p:cNvSpPr>
            <a:spLocks xmlns:a="http://schemas.openxmlformats.org/drawingml/2006/main" noGrp="1"/>
          </p:cNvSpPr>
          <p:nvPr/>
        </p:nvSpPr>
        <p:spPr>
          <a:xfrm xmlns:a="http://schemas.openxmlformats.org/drawingml/2006/main">
            <a:off x="1858616"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椭圆 9">
            <a:extLst xmlns:a="http://schemas.openxmlformats.org/drawingml/2006/main">
              <a:ext uri="{FF2B5EF4-FFF2-40B4-BE49-F238E27FC236}">
                <a16:creationId xmlns:a16="http://schemas.microsoft.com/office/drawing/2014/main" id="{F9A4279F-D117-FCB8-30EB-5DDD7666C79F}"/>
              </a:ext>
            </a:extLst>
          </p:cNvPr>
          <p:cNvSpPr>
            <a:spLocks xmlns:a="http://schemas.openxmlformats.org/drawingml/2006/main" noGrp="1"/>
          </p:cNvSpPr>
          <p:nvPr/>
        </p:nvSpPr>
        <p:spPr>
          <a:xfrm xmlns:a="http://schemas.openxmlformats.org/drawingml/2006/main">
            <a:off x="4350025"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椭圆 11">
            <a:extLst xmlns:a="http://schemas.openxmlformats.org/drawingml/2006/main">
              <a:ext uri="{FF2B5EF4-FFF2-40B4-BE49-F238E27FC236}">
                <a16:creationId xmlns:a16="http://schemas.microsoft.com/office/drawing/2014/main" id="{83CBF3D4-617B-9EC2-9E53-C37F81E616B7}"/>
              </a:ext>
            </a:extLst>
          </p:cNvPr>
          <p:cNvSpPr>
            <a:spLocks xmlns:a="http://schemas.openxmlformats.org/drawingml/2006/main" noGrp="1"/>
          </p:cNvSpPr>
          <p:nvPr/>
        </p:nvSpPr>
        <p:spPr>
          <a:xfrm xmlns:a="http://schemas.openxmlformats.org/drawingml/2006/main">
            <a:off x="6841434"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椭圆 14">
            <a:extLst xmlns:a="http://schemas.openxmlformats.org/drawingml/2006/main">
              <a:ext uri="{FF2B5EF4-FFF2-40B4-BE49-F238E27FC236}">
                <a16:creationId xmlns:a16="http://schemas.microsoft.com/office/drawing/2014/main" id="{BA6F9FC9-6A81-0D3A-64EB-75F5B074FF24}"/>
              </a:ext>
            </a:extLst>
          </p:cNvPr>
          <p:cNvSpPr>
            <a:spLocks xmlns:a="http://schemas.openxmlformats.org/drawingml/2006/main" noGrp="1"/>
          </p:cNvSpPr>
          <p:nvPr/>
        </p:nvSpPr>
        <p:spPr>
          <a:xfrm xmlns:a="http://schemas.openxmlformats.org/drawingml/2006/main">
            <a:off x="9332842"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文本框 15">
            <a:extLst xmlns:a="http://schemas.openxmlformats.org/drawingml/2006/main">
              <a:ext uri="{FF2B5EF4-FFF2-40B4-BE49-F238E27FC236}">
                <a16:creationId xmlns:a16="http://schemas.microsoft.com/office/drawing/2014/main" id="{BFA78C95-76B2-5AD4-8795-079DC1216108}"/>
              </a:ext>
            </a:extLst>
          </p:cNvPr>
          <p:cNvSpPr>
            <a:spLocks xmlns:a="http://schemas.openxmlformats.org/drawingml/2006/main" noGrp="1"/>
          </p:cNvSpPr>
          <p:nvPr/>
        </p:nvSpPr>
        <p:spPr>
          <a:xfrm xmlns:a="http://schemas.openxmlformats.org/drawingml/2006/main" flipH="1">
            <a:off x="3471242" y="2159368"/>
            <a:ext cx="2758108" cy="7452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950" b="1">
                <a:solidFill>
                  <a:srgbClr val="013D7A"/>
                </a:solidFill>
                <a:latin typeface="Arial"/>
                <a:ea typeface="Arial"/>
                <a:cs typeface="Arial"/>
              </a:defRPr>
            </a:defPPr>
            <a:lvl1pPr algn="ctr">
              <a:defRPr sz="1950" b="1">
                <a:solidFill>
                  <a:srgbClr val="013D7A"/>
                </a:solidFill>
                <a:latin typeface="Arial"/>
                <a:ea typeface="Arial"/>
                <a:cs typeface="Arial"/>
              </a:defRPr>
            </a:lvl1pPr>
            <a:lvl2pPr algn="ctr">
              <a:defRPr sz="1950" b="1">
                <a:solidFill>
                  <a:srgbClr val="013D7A"/>
                </a:solidFill>
                <a:latin typeface="Arial"/>
                <a:ea typeface="Arial"/>
                <a:cs typeface="Arial"/>
              </a:defRPr>
            </a:lvl2pPr>
            <a:lvl3pPr algn="ctr">
              <a:defRPr sz="1950" b="1">
                <a:solidFill>
                  <a:srgbClr val="013D7A"/>
                </a:solidFill>
                <a:latin typeface="Arial"/>
                <a:ea typeface="Arial"/>
                <a:cs typeface="Arial"/>
              </a:defRPr>
            </a:lvl3pPr>
            <a:lvl4pPr algn="ctr">
              <a:defRPr sz="1950" b="1">
                <a:solidFill>
                  <a:srgbClr val="013D7A"/>
                </a:solidFill>
                <a:latin typeface="Arial"/>
                <a:ea typeface="Arial"/>
                <a:cs typeface="Arial"/>
              </a:defRPr>
            </a:lvl4pPr>
            <a:lvl5pPr algn="ctr">
              <a:defRPr sz="1950" b="1">
                <a:solidFill>
                  <a:srgbClr val="013D7A"/>
                </a:solidFill>
                <a:latin typeface="Arial"/>
                <a:ea typeface="Arial"/>
                <a:cs typeface="Arial"/>
              </a:defRPr>
            </a:lvl5pPr>
            <a:lvl6pPr algn="ctr">
              <a:defRPr sz="1950" b="1">
                <a:solidFill>
                  <a:srgbClr val="013D7A"/>
                </a:solidFill>
                <a:latin typeface="Arial"/>
                <a:ea typeface="Arial"/>
                <a:cs typeface="Arial"/>
              </a:defRPr>
            </a:lvl6pPr>
            <a:lvl7pPr algn="ctr">
              <a:defRPr sz="1950" b="1">
                <a:solidFill>
                  <a:srgbClr val="013D7A"/>
                </a:solidFill>
                <a:latin typeface="Arial"/>
                <a:ea typeface="Arial"/>
                <a:cs typeface="Arial"/>
              </a:defRPr>
            </a:lvl7pPr>
            <a:lvl8pPr algn="ctr">
              <a:defRPr sz="1950" b="1">
                <a:solidFill>
                  <a:srgbClr val="013D7A"/>
                </a:solidFill>
                <a:latin typeface="Arial"/>
                <a:ea typeface="Arial"/>
                <a:cs typeface="Arial"/>
              </a:defRPr>
            </a:lvl8pPr>
            <a:lvl9pPr algn="ctr">
              <a:defRPr sz="1950" b="1">
                <a:solidFill>
                  <a:srgbClr val="013D7A"/>
                </a:solidFill>
                <a:latin typeface="Arial"/>
                <a:ea typeface="Arial"/>
                <a:cs typeface="Arial"/>
              </a:defRPr>
            </a:lvl9pPr>
          </a:lstStyle>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Frozen DenseNet121</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Extract features</a:t>
            </a:r>
            <a:endParaRPr sz="2000" b="1">
              <a:solidFill>
                <a:schemeClr val="accent1"/>
              </a:solidFill>
              <a:latin typeface="Microsoft YaHei"/>
              <a:ea typeface="Microsoft YaHei"/>
              <a:cs typeface="Microsoft YaHei"/>
            </a:endParaRPr>
          </a:p>
        </p:txBody>
      </p:sp>
      <p:sp>
        <p:nvSpPr>
          <p:cNvPr id="17" name="文本框 16">
            <a:extLst xmlns:a="http://schemas.openxmlformats.org/drawingml/2006/main">
              <a:ext uri="{FF2B5EF4-FFF2-40B4-BE49-F238E27FC236}">
                <a16:creationId xmlns:a16="http://schemas.microsoft.com/office/drawing/2014/main" id="{99478835-C3F1-0B38-0A22-9B4F044CBB3A}"/>
              </a:ext>
            </a:extLst>
          </p:cNvPr>
          <p:cNvSpPr>
            <a:spLocks xmlns:a="http://schemas.openxmlformats.org/drawingml/2006/main" noGrp="1"/>
          </p:cNvSpPr>
          <p:nvPr/>
        </p:nvSpPr>
        <p:spPr>
          <a:xfrm xmlns:a="http://schemas.openxmlformats.org/drawingml/2006/main" flipH="1">
            <a:off x="8312430" y="2159368"/>
            <a:ext cx="3041370" cy="7452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950" b="1">
                <a:solidFill>
                  <a:srgbClr val="013D7A"/>
                </a:solidFill>
                <a:latin typeface="Arial"/>
                <a:ea typeface="Arial"/>
                <a:cs typeface="Arial"/>
              </a:defRPr>
            </a:defPPr>
            <a:lvl1pPr algn="ctr">
              <a:defRPr sz="1950" b="1">
                <a:solidFill>
                  <a:srgbClr val="013D7A"/>
                </a:solidFill>
                <a:latin typeface="Arial"/>
                <a:ea typeface="Arial"/>
                <a:cs typeface="Arial"/>
              </a:defRPr>
            </a:lvl1pPr>
            <a:lvl2pPr algn="ctr">
              <a:defRPr sz="1950" b="1">
                <a:solidFill>
                  <a:srgbClr val="013D7A"/>
                </a:solidFill>
                <a:latin typeface="Arial"/>
                <a:ea typeface="Arial"/>
                <a:cs typeface="Arial"/>
              </a:defRPr>
            </a:lvl2pPr>
            <a:lvl3pPr algn="ctr">
              <a:defRPr sz="1950" b="1">
                <a:solidFill>
                  <a:srgbClr val="013D7A"/>
                </a:solidFill>
                <a:latin typeface="Arial"/>
                <a:ea typeface="Arial"/>
                <a:cs typeface="Arial"/>
              </a:defRPr>
            </a:lvl3pPr>
            <a:lvl4pPr algn="ctr">
              <a:defRPr sz="1950" b="1">
                <a:solidFill>
                  <a:srgbClr val="013D7A"/>
                </a:solidFill>
                <a:latin typeface="Arial"/>
                <a:ea typeface="Arial"/>
                <a:cs typeface="Arial"/>
              </a:defRPr>
            </a:lvl4pPr>
            <a:lvl5pPr algn="ctr">
              <a:defRPr sz="1950" b="1">
                <a:solidFill>
                  <a:srgbClr val="013D7A"/>
                </a:solidFill>
                <a:latin typeface="Arial"/>
                <a:ea typeface="Arial"/>
                <a:cs typeface="Arial"/>
              </a:defRPr>
            </a:lvl5pPr>
            <a:lvl6pPr algn="ctr">
              <a:defRPr sz="1950" b="1">
                <a:solidFill>
                  <a:srgbClr val="013D7A"/>
                </a:solidFill>
                <a:latin typeface="Arial"/>
                <a:ea typeface="Arial"/>
                <a:cs typeface="Arial"/>
              </a:defRPr>
            </a:lvl6pPr>
            <a:lvl7pPr algn="ctr">
              <a:defRPr sz="1950" b="1">
                <a:solidFill>
                  <a:srgbClr val="013D7A"/>
                </a:solidFill>
                <a:latin typeface="Arial"/>
                <a:ea typeface="Arial"/>
                <a:cs typeface="Arial"/>
              </a:defRPr>
            </a:lvl7pPr>
            <a:lvl8pPr algn="ctr">
              <a:defRPr sz="1950" b="1">
                <a:solidFill>
                  <a:srgbClr val="013D7A"/>
                </a:solidFill>
                <a:latin typeface="Arial"/>
                <a:ea typeface="Arial"/>
                <a:cs typeface="Arial"/>
              </a:defRPr>
            </a:lvl8pPr>
            <a:lvl9pPr algn="ctr">
              <a:defRPr sz="1950" b="1">
                <a:solidFill>
                  <a:srgbClr val="013D7A"/>
                </a:solidFill>
                <a:latin typeface="Arial"/>
                <a:ea typeface="Arial"/>
                <a:cs typeface="Arial"/>
              </a:defRPr>
            </a:lvl9pPr>
          </a:lstStyle>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Linear regression</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Predict two scores</a:t>
            </a:r>
            <a:endParaRPr sz="2000" b="1">
              <a:solidFill>
                <a:schemeClr val="accent1"/>
              </a:solidFill>
              <a:latin typeface="Microsoft YaHei"/>
              <a:ea typeface="Microsoft YaHei"/>
              <a:cs typeface="Microsoft YaHei"/>
            </a:endParaRPr>
          </a:p>
        </p:txBody>
      </p:sp>
      <p:sp>
        <p:nvSpPr>
          <p:cNvPr id="18" name="文本框 17">
            <a:extLst xmlns:a="http://schemas.openxmlformats.org/drawingml/2006/main">
              <a:ext uri="{FF2B5EF4-FFF2-40B4-BE49-F238E27FC236}">
                <a16:creationId xmlns:a16="http://schemas.microsoft.com/office/drawing/2014/main" id="{7622D6B4-3E5E-8819-5251-411C98C02F68}"/>
              </a:ext>
            </a:extLst>
          </p:cNvPr>
          <p:cNvSpPr>
            <a:spLocks xmlns:a="http://schemas.openxmlformats.org/drawingml/2006/main" noGrp="1"/>
          </p:cNvSpPr>
          <p:nvPr/>
        </p:nvSpPr>
        <p:spPr>
          <a:xfrm xmlns:a="http://schemas.openxmlformats.org/drawingml/2006/main">
            <a:off x="2024722"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01</a:t>
            </a:r>
            <a:endParaRPr sz="2400" b="1">
              <a:solidFill>
                <a:schemeClr val="bg1"/>
              </a:solidFill>
              <a:latin typeface="Arial"/>
              <a:ea typeface="Arial"/>
              <a:cs typeface="Arial"/>
            </a:endParaRPr>
          </a:p>
        </p:txBody>
      </p:sp>
      <p:sp>
        <p:nvSpPr>
          <p:cNvPr id="19" name="文本框 18">
            <a:extLst xmlns:a="http://schemas.openxmlformats.org/drawingml/2006/main">
              <a:ext uri="{FF2B5EF4-FFF2-40B4-BE49-F238E27FC236}">
                <a16:creationId xmlns:a16="http://schemas.microsoft.com/office/drawing/2014/main" id="{B43E284B-64C0-E81D-E911-14BF3A17449A}"/>
              </a:ext>
            </a:extLst>
          </p:cNvPr>
          <p:cNvSpPr>
            <a:spLocks xmlns:a="http://schemas.openxmlformats.org/drawingml/2006/main" noGrp="1"/>
          </p:cNvSpPr>
          <p:nvPr/>
        </p:nvSpPr>
        <p:spPr>
          <a:xfrm xmlns:a="http://schemas.openxmlformats.org/drawingml/2006/main">
            <a:off x="4516131"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02</a:t>
            </a:r>
            <a:endParaRPr sz="2400" b="1">
              <a:solidFill>
                <a:schemeClr val="bg1"/>
              </a:solidFill>
              <a:latin typeface="Arial"/>
              <a:ea typeface="Arial"/>
              <a:cs typeface="Arial"/>
            </a:endParaRPr>
          </a:p>
        </p:txBody>
      </p:sp>
      <p:sp>
        <p:nvSpPr>
          <p:cNvPr id="20" name="文本框 19">
            <a:extLst xmlns:a="http://schemas.openxmlformats.org/drawingml/2006/main">
              <a:ext uri="{FF2B5EF4-FFF2-40B4-BE49-F238E27FC236}">
                <a16:creationId xmlns:a16="http://schemas.microsoft.com/office/drawing/2014/main" id="{D7F7A1A6-2516-5AF3-084C-81C18CA0AC3F}"/>
              </a:ext>
            </a:extLst>
          </p:cNvPr>
          <p:cNvSpPr>
            <a:spLocks xmlns:a="http://schemas.openxmlformats.org/drawingml/2006/main" noGrp="1"/>
          </p:cNvSpPr>
          <p:nvPr/>
        </p:nvSpPr>
        <p:spPr>
          <a:xfrm xmlns:a="http://schemas.openxmlformats.org/drawingml/2006/main">
            <a:off x="7007540"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03</a:t>
            </a:r>
            <a:endParaRPr sz="2400" b="1">
              <a:solidFill>
                <a:schemeClr val="bg1"/>
              </a:solidFill>
              <a:latin typeface="Arial"/>
              <a:ea typeface="Arial"/>
              <a:cs typeface="Arial"/>
            </a:endParaRPr>
          </a:p>
        </p:txBody>
      </p:sp>
      <p:sp>
        <p:nvSpPr>
          <p:cNvPr id="21" name="文本框 20">
            <a:extLst xmlns:a="http://schemas.openxmlformats.org/drawingml/2006/main">
              <a:ext uri="{FF2B5EF4-FFF2-40B4-BE49-F238E27FC236}">
                <a16:creationId xmlns:a16="http://schemas.microsoft.com/office/drawing/2014/main" id="{470DFDD3-4691-AA11-9C19-930F98F4F9EA}"/>
              </a:ext>
            </a:extLst>
          </p:cNvPr>
          <p:cNvSpPr>
            <a:spLocks xmlns:a="http://schemas.openxmlformats.org/drawingml/2006/main" noGrp="1"/>
          </p:cNvSpPr>
          <p:nvPr/>
        </p:nvSpPr>
        <p:spPr>
          <a:xfrm xmlns:a="http://schemas.openxmlformats.org/drawingml/2006/main">
            <a:off x="9498948"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04</a:t>
            </a:r>
            <a:endParaRPr sz="2400" b="1">
              <a:solidFill>
                <a:schemeClr val="bg1"/>
              </a:solidFill>
              <a:latin typeface="Arial"/>
              <a:ea typeface="Arial"/>
              <a:cs typeface="Arial"/>
            </a:endParaRPr>
          </a:p>
        </p:txBody>
      </p:sp>
      <p:sp>
        <p:nvSpPr>
          <p:cNvPr id="22" name="文本框 21">
            <a:extLst xmlns:a="http://schemas.openxmlformats.org/drawingml/2006/main">
              <a:ext uri="{FF2B5EF4-FFF2-40B4-BE49-F238E27FC236}">
                <a16:creationId xmlns:a16="http://schemas.microsoft.com/office/drawing/2014/main" id="{AA71BBCD-67E6-3022-9746-1E9641A9CFA4}"/>
              </a:ext>
            </a:extLst>
          </p:cNvPr>
          <p:cNvSpPr>
            <a:spLocks xmlns:a="http://schemas.openxmlformats.org/drawingml/2006/main" noGrp="1"/>
          </p:cNvSpPr>
          <p:nvPr/>
        </p:nvSpPr>
        <p:spPr>
          <a:xfrm xmlns:a="http://schemas.openxmlformats.org/drawingml/2006/main" flipH="1">
            <a:off x="975692" y="4705026"/>
            <a:ext cx="2758108" cy="7452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950" b="1">
                <a:solidFill>
                  <a:srgbClr val="013D7A"/>
                </a:solidFill>
                <a:latin typeface="Arial"/>
                <a:ea typeface="Arial"/>
                <a:cs typeface="Arial"/>
              </a:defRPr>
            </a:defPPr>
            <a:lvl1pPr algn="ctr">
              <a:defRPr sz="1950" b="1">
                <a:solidFill>
                  <a:srgbClr val="013D7A"/>
                </a:solidFill>
                <a:latin typeface="Arial"/>
                <a:ea typeface="Arial"/>
                <a:cs typeface="Arial"/>
              </a:defRPr>
            </a:lvl1pPr>
            <a:lvl2pPr algn="ctr">
              <a:defRPr sz="1950" b="1">
                <a:solidFill>
                  <a:srgbClr val="013D7A"/>
                </a:solidFill>
                <a:latin typeface="Arial"/>
                <a:ea typeface="Arial"/>
                <a:cs typeface="Arial"/>
              </a:defRPr>
            </a:lvl2pPr>
            <a:lvl3pPr algn="ctr">
              <a:defRPr sz="1950" b="1">
                <a:solidFill>
                  <a:srgbClr val="013D7A"/>
                </a:solidFill>
                <a:latin typeface="Arial"/>
                <a:ea typeface="Arial"/>
                <a:cs typeface="Arial"/>
              </a:defRPr>
            </a:lvl3pPr>
            <a:lvl4pPr algn="ctr">
              <a:defRPr sz="1950" b="1">
                <a:solidFill>
                  <a:srgbClr val="013D7A"/>
                </a:solidFill>
                <a:latin typeface="Arial"/>
                <a:ea typeface="Arial"/>
                <a:cs typeface="Arial"/>
              </a:defRPr>
            </a:lvl4pPr>
            <a:lvl5pPr algn="ctr">
              <a:defRPr sz="1950" b="1">
                <a:solidFill>
                  <a:srgbClr val="013D7A"/>
                </a:solidFill>
                <a:latin typeface="Arial"/>
                <a:ea typeface="Arial"/>
                <a:cs typeface="Arial"/>
              </a:defRPr>
            </a:lvl5pPr>
            <a:lvl6pPr algn="ctr">
              <a:defRPr sz="1950" b="1">
                <a:solidFill>
                  <a:srgbClr val="013D7A"/>
                </a:solidFill>
                <a:latin typeface="Arial"/>
                <a:ea typeface="Arial"/>
                <a:cs typeface="Arial"/>
              </a:defRPr>
            </a:lvl6pPr>
            <a:lvl7pPr algn="ctr">
              <a:defRPr sz="1950" b="1">
                <a:solidFill>
                  <a:srgbClr val="013D7A"/>
                </a:solidFill>
                <a:latin typeface="Arial"/>
                <a:ea typeface="Arial"/>
                <a:cs typeface="Arial"/>
              </a:defRPr>
            </a:lvl7pPr>
            <a:lvl8pPr algn="ctr">
              <a:defRPr sz="1950" b="1">
                <a:solidFill>
                  <a:srgbClr val="013D7A"/>
                </a:solidFill>
                <a:latin typeface="Arial"/>
                <a:ea typeface="Arial"/>
                <a:cs typeface="Arial"/>
              </a:defRPr>
            </a:lvl8pPr>
            <a:lvl9pPr algn="ctr">
              <a:defRPr sz="1950" b="1">
                <a:solidFill>
                  <a:srgbClr val="013D7A"/>
                </a:solidFill>
                <a:latin typeface="Arial"/>
                <a:ea typeface="Arial"/>
                <a:cs typeface="Arial"/>
              </a:defRPr>
            </a:lvl9pPr>
          </a:lstStyle>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Chest radiograph</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Normalize and crop</a:t>
            </a:r>
            <a:endParaRPr sz="2000" b="1">
              <a:solidFill>
                <a:schemeClr val="accent1"/>
              </a:solidFill>
              <a:latin typeface="Microsoft YaHei"/>
              <a:ea typeface="Microsoft YaHei"/>
              <a:cs typeface="Microsoft YaHei"/>
            </a:endParaRPr>
          </a:p>
        </p:txBody>
      </p:sp>
      <p:sp>
        <p:nvSpPr>
          <p:cNvPr id="23" name="文本框 22">
            <a:extLst xmlns:a="http://schemas.openxmlformats.org/drawingml/2006/main">
              <a:ext uri="{FF2B5EF4-FFF2-40B4-BE49-F238E27FC236}">
                <a16:creationId xmlns:a16="http://schemas.microsoft.com/office/drawing/2014/main" id="{206C3556-0C5E-02B5-9B60-7F2C442553F0}"/>
              </a:ext>
            </a:extLst>
          </p:cNvPr>
          <p:cNvSpPr>
            <a:spLocks xmlns:a="http://schemas.openxmlformats.org/drawingml/2006/main" noGrp="1"/>
          </p:cNvSpPr>
          <p:nvPr/>
        </p:nvSpPr>
        <p:spPr>
          <a:xfrm xmlns:a="http://schemas.openxmlformats.org/drawingml/2006/main" flipH="1">
            <a:off x="5816880" y="4705026"/>
            <a:ext cx="3041370" cy="7452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950" b="1">
                <a:solidFill>
                  <a:srgbClr val="013D7A"/>
                </a:solidFill>
                <a:latin typeface="Arial"/>
                <a:ea typeface="Arial"/>
                <a:cs typeface="Arial"/>
              </a:defRPr>
            </a:defPPr>
            <a:lvl1pPr algn="ctr">
              <a:defRPr sz="1950" b="1">
                <a:solidFill>
                  <a:srgbClr val="013D7A"/>
                </a:solidFill>
                <a:latin typeface="Arial"/>
                <a:ea typeface="Arial"/>
                <a:cs typeface="Arial"/>
              </a:defRPr>
            </a:lvl1pPr>
            <a:lvl2pPr algn="ctr">
              <a:defRPr sz="1950" b="1">
                <a:solidFill>
                  <a:srgbClr val="013D7A"/>
                </a:solidFill>
                <a:latin typeface="Arial"/>
                <a:ea typeface="Arial"/>
                <a:cs typeface="Arial"/>
              </a:defRPr>
            </a:lvl2pPr>
            <a:lvl3pPr algn="ctr">
              <a:defRPr sz="1950" b="1">
                <a:solidFill>
                  <a:srgbClr val="013D7A"/>
                </a:solidFill>
                <a:latin typeface="Arial"/>
                <a:ea typeface="Arial"/>
                <a:cs typeface="Arial"/>
              </a:defRPr>
            </a:lvl3pPr>
            <a:lvl4pPr algn="ctr">
              <a:defRPr sz="1950" b="1">
                <a:solidFill>
                  <a:srgbClr val="013D7A"/>
                </a:solidFill>
                <a:latin typeface="Arial"/>
                <a:ea typeface="Arial"/>
                <a:cs typeface="Arial"/>
              </a:defRPr>
            </a:lvl4pPr>
            <a:lvl5pPr algn="ctr">
              <a:defRPr sz="1950" b="1">
                <a:solidFill>
                  <a:srgbClr val="013D7A"/>
                </a:solidFill>
                <a:latin typeface="Arial"/>
                <a:ea typeface="Arial"/>
                <a:cs typeface="Arial"/>
              </a:defRPr>
            </a:lvl5pPr>
            <a:lvl6pPr algn="ctr">
              <a:defRPr sz="1950" b="1">
                <a:solidFill>
                  <a:srgbClr val="013D7A"/>
                </a:solidFill>
                <a:latin typeface="Arial"/>
                <a:ea typeface="Arial"/>
                <a:cs typeface="Arial"/>
              </a:defRPr>
            </a:lvl6pPr>
            <a:lvl7pPr algn="ctr">
              <a:defRPr sz="1950" b="1">
                <a:solidFill>
                  <a:srgbClr val="013D7A"/>
                </a:solidFill>
                <a:latin typeface="Arial"/>
                <a:ea typeface="Arial"/>
                <a:cs typeface="Arial"/>
              </a:defRPr>
            </a:lvl7pPr>
            <a:lvl8pPr algn="ctr">
              <a:defRPr sz="1950" b="1">
                <a:solidFill>
                  <a:srgbClr val="013D7A"/>
                </a:solidFill>
                <a:latin typeface="Arial"/>
                <a:ea typeface="Arial"/>
                <a:cs typeface="Arial"/>
              </a:defRPr>
            </a:lvl8pPr>
            <a:lvl9pPr algn="ctr">
              <a:defRPr sz="1950" b="1">
                <a:solidFill>
                  <a:srgbClr val="013D7A"/>
                </a:solidFill>
                <a:latin typeface="Arial"/>
                <a:ea typeface="Arial"/>
                <a:cs typeface="Arial"/>
              </a:defRPr>
            </a:lvl9pPr>
          </a:lstStyle>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1, 4, 18 or 1024</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950" b="1">
                <a:solidFill>
                  <a:srgbClr val="013D7A"/>
                </a:solidFill>
                <a:latin typeface="Arial"/>
                <a:ea typeface="Arial"/>
                <a:cs typeface="Arial"/>
              </a:defRPr>
            </a:pPr>
            <a:r>
              <a:rPr sz="1950" b="1">
                <a:solidFill>
                  <a:srgbClr val="013D7A"/>
                </a:solidFill>
                <a:latin typeface="Arial"/>
                <a:ea typeface="Arial"/>
                <a:cs typeface="Arial"/>
              </a:rPr>
              <a:t>features</a:t>
            </a:r>
            <a:endParaRPr sz="2000" b="1">
              <a:solidFill>
                <a:schemeClr val="accent1"/>
              </a:solidFill>
              <a:latin typeface="Microsoft YaHei"/>
              <a:ea typeface="Microsoft YaHei"/>
              <a:cs typeface="Microsoft YaHei"/>
            </a:endParaRPr>
          </a:p>
        </p:txBody>
      </p:sp>
      <p:pic>
        <p:nvPicPr>
          <p:cNvPr id="11" name="图片 10">
            <a:extLst xmlns:a="http://schemas.openxmlformats.org/drawingml/2006/main">
              <a:ext uri="{FF2B5EF4-FFF2-40B4-BE49-F238E27FC236}">
                <a16:creationId xmlns:a16="http://schemas.microsoft.com/office/drawing/2014/main" id="{09EA7A1B-E84C-42F6-8E23-745741076609}"/>
              </a:ext>
            </a:extLst>
          </p:cNvPr>
          <p:cNvPicPr>
            <a:picLocks xmlns:a="http://schemas.openxmlformats.org/drawingml/2006/main" noChangeAspect="1"/>
          </p:cNvPicPr>
          <p:nvPr/>
        </p:nvPicPr>
        <p:blipFill>
          <a:blip xmlns:r="http://schemas.openxmlformats.org/officeDocument/2006/relationships" xmlns:a="http://schemas.openxmlformats.org/drawingml/2006/main" r:embed="R3c9dd1adad8141f4"/>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4" name="The severity labels train the regression head. The image enc">
            <a:extLst xmlns:a="http://schemas.openxmlformats.org/drawingml/2006/main">
              <a:ext uri="{FF2B5EF4-FFF2-40B4-BE49-F238E27FC236}">
                <a16:creationId xmlns:a16="http://schemas.microsoft.com/office/drawing/2014/main" id="{923F5A21-D827-4218-BB04-82A88CD94A03}"/>
              </a:ext>
            </a:extLst>
          </p:cNvPr>
          <p:cNvSpPr>
            <a:spLocks xmlns:a="http://schemas.openxmlformats.org/drawingml/2006/main" noGrp="1"/>
          </p:cNvSpPr>
          <p:nvPr/>
        </p:nvSpPr>
        <p:spPr>
          <a:xfrm xmlns:a="http://schemas.openxmlformats.org/drawingml/2006/main">
            <a:off x="952500" y="6048375"/>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202832"/>
                </a:solidFill>
                <a:latin typeface="Arial"/>
                <a:ea typeface="Arial"/>
                <a:cs typeface="Arial"/>
              </a:defRPr>
            </a:defPPr>
            <a:lvl1pPr algn="ctr">
              <a:defRPr sz="1725" b="0">
                <a:solidFill>
                  <a:srgbClr val="202832"/>
                </a:solidFill>
                <a:latin typeface="Arial"/>
                <a:ea typeface="Arial"/>
                <a:cs typeface="Arial"/>
              </a:defRPr>
            </a:lvl1pPr>
            <a:lvl2pPr algn="ctr">
              <a:defRPr sz="1725" b="0">
                <a:solidFill>
                  <a:srgbClr val="202832"/>
                </a:solidFill>
                <a:latin typeface="Arial"/>
                <a:ea typeface="Arial"/>
                <a:cs typeface="Arial"/>
              </a:defRPr>
            </a:lvl2pPr>
            <a:lvl3pPr algn="ctr">
              <a:defRPr sz="1725" b="0">
                <a:solidFill>
                  <a:srgbClr val="202832"/>
                </a:solidFill>
                <a:latin typeface="Arial"/>
                <a:ea typeface="Arial"/>
                <a:cs typeface="Arial"/>
              </a:defRPr>
            </a:lvl3pPr>
            <a:lvl4pPr algn="ctr">
              <a:defRPr sz="1725" b="0">
                <a:solidFill>
                  <a:srgbClr val="202832"/>
                </a:solidFill>
                <a:latin typeface="Arial"/>
                <a:ea typeface="Arial"/>
                <a:cs typeface="Arial"/>
              </a:defRPr>
            </a:lvl4pPr>
            <a:lvl5pPr algn="ctr">
              <a:defRPr sz="1725" b="0">
                <a:solidFill>
                  <a:srgbClr val="202832"/>
                </a:solidFill>
                <a:latin typeface="Arial"/>
                <a:ea typeface="Arial"/>
                <a:cs typeface="Arial"/>
              </a:defRPr>
            </a:lvl5pPr>
            <a:lvl6pPr algn="ctr">
              <a:defRPr sz="1725" b="0">
                <a:solidFill>
                  <a:srgbClr val="202832"/>
                </a:solidFill>
                <a:latin typeface="Arial"/>
                <a:ea typeface="Arial"/>
                <a:cs typeface="Arial"/>
              </a:defRPr>
            </a:lvl6pPr>
            <a:lvl7pPr algn="ctr">
              <a:defRPr sz="1725" b="0">
                <a:solidFill>
                  <a:srgbClr val="202832"/>
                </a:solidFill>
                <a:latin typeface="Arial"/>
                <a:ea typeface="Arial"/>
                <a:cs typeface="Arial"/>
              </a:defRPr>
            </a:lvl7pPr>
            <a:lvl8pPr algn="ctr">
              <a:defRPr sz="1725" b="0">
                <a:solidFill>
                  <a:srgbClr val="202832"/>
                </a:solidFill>
                <a:latin typeface="Arial"/>
                <a:ea typeface="Arial"/>
                <a:cs typeface="Arial"/>
              </a:defRPr>
            </a:lvl8pPr>
            <a:lvl9pPr algn="ctr">
              <a:defRPr sz="1725" b="0">
                <a:solidFill>
                  <a:srgbClr val="202832"/>
                </a:solidFill>
                <a:latin typeface="Arial"/>
                <a:ea typeface="Arial"/>
                <a:cs typeface="Arial"/>
              </a:defRPr>
            </a:lvl9pPr>
          </a:lstStyle>
          <a:p xmlns:a="http://schemas.openxmlformats.org/drawingml/2006/main">
            <a:pPr algn="ctr">
              <a:defRPr sz="1725" b="0">
                <a:solidFill>
                  <a:srgbClr val="202832"/>
                </a:solidFill>
                <a:latin typeface="Arial"/>
                <a:ea typeface="Arial"/>
                <a:cs typeface="Arial"/>
              </a:defRPr>
            </a:pPr>
            <a:r>
              <a:rPr sz="1725" b="0">
                <a:solidFill>
                  <a:srgbClr val="202832"/>
                </a:solidFill>
                <a:latin typeface="Arial"/>
                <a:ea typeface="Arial"/>
                <a:cs typeface="Arial"/>
              </a:rPr>
              <a:t>The severity labels train the regression head. The image encoder stays frozen.</a:t>
            </a:r>
          </a:p>
        </p:txBody>
      </p:sp>
      <p:sp>
        <p:nvSpPr>
          <p:cNvPr id="25" name="4">
            <a:extLst xmlns:a="http://schemas.openxmlformats.org/drawingml/2006/main">
              <a:ext uri="{FF2B5EF4-FFF2-40B4-BE49-F238E27FC236}">
                <a16:creationId xmlns:a16="http://schemas.microsoft.com/office/drawing/2014/main" id="{0F074E6B-6AEE-4495-A01A-F2CD5576741B}"/>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4</a:t>
            </a:r>
          </a:p>
        </p:txBody>
      </p:sp>
    </p:spTree>
    <p:extLst>
      <p:ext uri="{BB962C8B-B14F-4D97-AF65-F5344CB8AC3E}">
        <p14:creationId xmlns:p14="http://schemas.microsoft.com/office/powerpoint/2010/main" val="285548045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2828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Metadata versions change the apparent cohort</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380dfd0f29a94b35"/>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4566518D-A4AC-4044-BDEB-C82175BE0FE5}"/>
              </a:ext>
            </a:extLst>
          </p:cNvPr>
          <p:cNvGraphicFramePr/>
          <p:nvPr/>
        </p:nvGraphicFramePr>
        <p:xfrm>
          <a:off xmlns:a="http://schemas.openxmlformats.org/drawingml/2006/main" x="619125" y="2095500"/>
          <a:ext xmlns:a="http://schemas.openxmlformats.org/drawingml/2006/main" cx="10953750" cy="2095500"/>
        </p:xfrm>
        <a:graphic xmlns:a="http://schemas.openxmlformats.org/drawingml/2006/main">
          <a:graphicData uri="http://schemas.openxmlformats.org/drawingml/2006/table">
            <a:tbl>
              <a:tblPr/>
              <a:tblGrid>
                <a:gridCol w="4476750"/>
                <a:gridCol w="2952750"/>
                <a:gridCol w="3524250"/>
              </a:tblGrid>
              <a:tr h="523875">
                <a:tc>
                  <a:txBody>
                    <a:bodyPr wrap="square">
                      <a:noAutofit/>
                    </a:bodyPr>
                    <a:lstStyle/>
                    <a:p>
                      <a:pPr algn="l"/>
                      <a:r>
                        <a:rPr sz="1650" b="1">
                          <a:solidFill>
                            <a:srgbClr val="FFFFFF"/>
                          </a:solidFill>
                          <a:latin typeface="Arial"/>
                          <a:ea typeface="Arial"/>
                          <a:cs typeface="Arial"/>
                        </a:rPr>
                        <a:t>Version or join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Scored matches</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View labels</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23875">
                <a:tc>
                  <a:txBody>
                    <a:bodyPr wrap="square">
                      <a:noAutofit/>
                    </a:bodyPr>
                    <a:lstStyle/>
                    <a:p>
                      <a:pPr algn="l"/>
                      <a:r>
                        <a:rPr sz="1650" b="0">
                          <a:solidFill>
                            <a:srgbClr val="202832"/>
                          </a:solidFill>
                          <a:latin typeface="Arial"/>
                          <a:ea typeface="Arial"/>
                          <a:cs typeface="Arial"/>
                        </a:rPr>
                        <a:t>Fixed 30 March 2020 snapshot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94 images, 65 patients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94 labelled PA</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23875">
                <a:tc>
                  <a:txBody>
                    <a:bodyPr wrap="square">
                      <a:noAutofit/>
                    </a:bodyPr>
                    <a:lstStyle/>
                    <a:p>
                      <a:pPr algn="l"/>
                      <a:r>
                        <a:rPr sz="1650" b="0">
                          <a:solidFill>
                            <a:srgbClr val="202832"/>
                          </a:solidFill>
                          <a:latin typeface="Arial"/>
                          <a:ea typeface="Arial"/>
                          <a:cs typeface="Arial"/>
                        </a:rPr>
                        <a:t>Later public metadata</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93 scored matches</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82 PA, 8 AP, 3 AP Supine</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23875">
                <a:tc>
                  <a:txBody>
                    <a:bodyPr wrap="square">
                      <a:noAutofit/>
                    </a:bodyPr>
                    <a:lstStyle/>
                    <a:p>
                      <a:pPr algn="l"/>
                      <a:r>
                        <a:rPr sz="1650" b="0">
                          <a:solidFill>
                            <a:srgbClr val="202832"/>
                          </a:solidFill>
                          <a:latin typeface="Arial"/>
                          <a:ea typeface="Arial"/>
                          <a:cs typeface="Arial"/>
                        </a:rPr>
                        <a:t>Original score file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94 labelled images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Scores joined by filename</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bl>
          </a:graphicData>
        </a:graphic>
      </p:graphicFrame>
      <p:sp>
        <p:nvSpPr>
          <p:cNvPr id="16" name="What changed">
            <a:extLst xmlns:a="http://schemas.openxmlformats.org/drawingml/2006/main">
              <a:ext uri="{FF2B5EF4-FFF2-40B4-BE49-F238E27FC236}">
                <a16:creationId xmlns:a16="http://schemas.microsoft.com/office/drawing/2014/main" id="{5A72805C-129B-4EF0-AE6D-8FE9AA3AF760}"/>
              </a:ext>
            </a:extLst>
          </p:cNvPr>
          <p:cNvSpPr>
            <a:spLocks xmlns:a="http://schemas.openxmlformats.org/drawingml/2006/main" noGrp="1"/>
          </p:cNvSpPr>
          <p:nvPr/>
        </p:nvSpPr>
        <p:spPr>
          <a:xfrm xmlns:a="http://schemas.openxmlformats.org/drawingml/2006/main">
            <a:off x="666750" y="45720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13D7A"/>
                </a:solidFill>
                <a:latin typeface="Arial"/>
                <a:ea typeface="Arial"/>
                <a:cs typeface="Arial"/>
              </a:defRPr>
            </a:defPPr>
            <a:lvl1pPr algn="l">
              <a:defRPr sz="2100" b="1">
                <a:solidFill>
                  <a:srgbClr val="013D7A"/>
                </a:solidFill>
                <a:latin typeface="Arial"/>
                <a:ea typeface="Arial"/>
                <a:cs typeface="Arial"/>
              </a:defRPr>
            </a:lvl1pPr>
            <a:lvl2pPr algn="l">
              <a:defRPr sz="2100" b="1">
                <a:solidFill>
                  <a:srgbClr val="013D7A"/>
                </a:solidFill>
                <a:latin typeface="Arial"/>
                <a:ea typeface="Arial"/>
                <a:cs typeface="Arial"/>
              </a:defRPr>
            </a:lvl2pPr>
            <a:lvl3pPr algn="l">
              <a:defRPr sz="2100" b="1">
                <a:solidFill>
                  <a:srgbClr val="013D7A"/>
                </a:solidFill>
                <a:latin typeface="Arial"/>
                <a:ea typeface="Arial"/>
                <a:cs typeface="Arial"/>
              </a:defRPr>
            </a:lvl3pPr>
            <a:lvl4pPr algn="l">
              <a:defRPr sz="2100" b="1">
                <a:solidFill>
                  <a:srgbClr val="013D7A"/>
                </a:solidFill>
                <a:latin typeface="Arial"/>
                <a:ea typeface="Arial"/>
                <a:cs typeface="Arial"/>
              </a:defRPr>
            </a:lvl4pPr>
            <a:lvl5pPr algn="l">
              <a:defRPr sz="2100" b="1">
                <a:solidFill>
                  <a:srgbClr val="013D7A"/>
                </a:solidFill>
                <a:latin typeface="Arial"/>
                <a:ea typeface="Arial"/>
                <a:cs typeface="Arial"/>
              </a:defRPr>
            </a:lvl5pPr>
            <a:lvl6pPr algn="l">
              <a:defRPr sz="2100" b="1">
                <a:solidFill>
                  <a:srgbClr val="013D7A"/>
                </a:solidFill>
                <a:latin typeface="Arial"/>
                <a:ea typeface="Arial"/>
                <a:cs typeface="Arial"/>
              </a:defRPr>
            </a:lvl6pPr>
            <a:lvl7pPr algn="l">
              <a:defRPr sz="2100" b="1">
                <a:solidFill>
                  <a:srgbClr val="013D7A"/>
                </a:solidFill>
                <a:latin typeface="Arial"/>
                <a:ea typeface="Arial"/>
                <a:cs typeface="Arial"/>
              </a:defRPr>
            </a:lvl7pPr>
            <a:lvl8pPr algn="l">
              <a:defRPr sz="2100" b="1">
                <a:solidFill>
                  <a:srgbClr val="013D7A"/>
                </a:solidFill>
                <a:latin typeface="Arial"/>
                <a:ea typeface="Arial"/>
                <a:cs typeface="Arial"/>
              </a:defRPr>
            </a:lvl8pPr>
            <a:lvl9pPr algn="l">
              <a:defRPr sz="2100" b="1">
                <a:solidFill>
                  <a:srgbClr val="013D7A"/>
                </a:solidFill>
                <a:latin typeface="Arial"/>
                <a:ea typeface="Arial"/>
                <a:cs typeface="Arial"/>
              </a:defRPr>
            </a:lvl9pPr>
          </a:lstStyle>
          <a:p xmlns:a="http://schemas.openxmlformats.org/drawingml/2006/main">
            <a:pPr algn="l">
              <a:defRPr sz="2100" b="1">
                <a:solidFill>
                  <a:srgbClr val="013D7A"/>
                </a:solidFill>
                <a:latin typeface="Arial"/>
                <a:ea typeface="Arial"/>
                <a:cs typeface="Arial"/>
              </a:defRPr>
            </a:pPr>
            <a:r>
              <a:rPr sz="2100" b="1">
                <a:solidFill>
                  <a:srgbClr val="013D7A"/>
                </a:solidFill>
                <a:latin typeface="Arial"/>
                <a:ea typeface="Arial"/>
                <a:cs typeface="Arial"/>
              </a:rPr>
              <a:t>What changed</a:t>
            </a:r>
          </a:p>
        </p:txBody>
      </p:sp>
      <p:sp>
        <p:nvSpPr>
          <p:cNvPr id="17" name="One scored filename has no later metadata row. Eleven view l">
            <a:extLst xmlns:a="http://schemas.openxmlformats.org/drawingml/2006/main">
              <a:ext uri="{FF2B5EF4-FFF2-40B4-BE49-F238E27FC236}">
                <a16:creationId xmlns:a16="http://schemas.microsoft.com/office/drawing/2014/main" id="{56A9E527-AFBE-459C-AFC0-B3D95F79F8B1}"/>
              </a:ext>
            </a:extLst>
          </p:cNvPr>
          <p:cNvSpPr>
            <a:spLocks xmlns:a="http://schemas.openxmlformats.org/drawingml/2006/main" noGrp="1"/>
          </p:cNvSpPr>
          <p:nvPr/>
        </p:nvSpPr>
        <p:spPr>
          <a:xfrm xmlns:a="http://schemas.openxmlformats.org/drawingml/2006/main">
            <a:off x="666750" y="5114925"/>
            <a:ext cx="4857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One scored filename has no later metadata row. Eleven view labels changed.</a:t>
            </a:r>
          </a:p>
        </p:txBody>
      </p:sp>
      <p:sp>
        <p:nvSpPr>
          <p:cNvPr id="18" name="Why retain the snapshot">
            <a:extLst xmlns:a="http://schemas.openxmlformats.org/drawingml/2006/main">
              <a:ext uri="{FF2B5EF4-FFF2-40B4-BE49-F238E27FC236}">
                <a16:creationId xmlns:a16="http://schemas.microsoft.com/office/drawing/2014/main" id="{F8A3AF4F-8DCB-4B8B-A64C-18F0119BB27A}"/>
              </a:ext>
            </a:extLst>
          </p:cNvPr>
          <p:cNvSpPr>
            <a:spLocks xmlns:a="http://schemas.openxmlformats.org/drawingml/2006/main" noGrp="1"/>
          </p:cNvSpPr>
          <p:nvPr/>
        </p:nvSpPr>
        <p:spPr>
          <a:xfrm xmlns:a="http://schemas.openxmlformats.org/drawingml/2006/main">
            <a:off x="6477000" y="45720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13D7A"/>
                </a:solidFill>
                <a:latin typeface="Arial"/>
                <a:ea typeface="Arial"/>
                <a:cs typeface="Arial"/>
              </a:defRPr>
            </a:defPPr>
            <a:lvl1pPr algn="l">
              <a:defRPr sz="2100" b="1">
                <a:solidFill>
                  <a:srgbClr val="013D7A"/>
                </a:solidFill>
                <a:latin typeface="Arial"/>
                <a:ea typeface="Arial"/>
                <a:cs typeface="Arial"/>
              </a:defRPr>
            </a:lvl1pPr>
            <a:lvl2pPr algn="l">
              <a:defRPr sz="2100" b="1">
                <a:solidFill>
                  <a:srgbClr val="013D7A"/>
                </a:solidFill>
                <a:latin typeface="Arial"/>
                <a:ea typeface="Arial"/>
                <a:cs typeface="Arial"/>
              </a:defRPr>
            </a:lvl2pPr>
            <a:lvl3pPr algn="l">
              <a:defRPr sz="2100" b="1">
                <a:solidFill>
                  <a:srgbClr val="013D7A"/>
                </a:solidFill>
                <a:latin typeface="Arial"/>
                <a:ea typeface="Arial"/>
                <a:cs typeface="Arial"/>
              </a:defRPr>
            </a:lvl3pPr>
            <a:lvl4pPr algn="l">
              <a:defRPr sz="2100" b="1">
                <a:solidFill>
                  <a:srgbClr val="013D7A"/>
                </a:solidFill>
                <a:latin typeface="Arial"/>
                <a:ea typeface="Arial"/>
                <a:cs typeface="Arial"/>
              </a:defRPr>
            </a:lvl4pPr>
            <a:lvl5pPr algn="l">
              <a:defRPr sz="2100" b="1">
                <a:solidFill>
                  <a:srgbClr val="013D7A"/>
                </a:solidFill>
                <a:latin typeface="Arial"/>
                <a:ea typeface="Arial"/>
                <a:cs typeface="Arial"/>
              </a:defRPr>
            </a:lvl5pPr>
            <a:lvl6pPr algn="l">
              <a:defRPr sz="2100" b="1">
                <a:solidFill>
                  <a:srgbClr val="013D7A"/>
                </a:solidFill>
                <a:latin typeface="Arial"/>
                <a:ea typeface="Arial"/>
                <a:cs typeface="Arial"/>
              </a:defRPr>
            </a:lvl6pPr>
            <a:lvl7pPr algn="l">
              <a:defRPr sz="2100" b="1">
                <a:solidFill>
                  <a:srgbClr val="013D7A"/>
                </a:solidFill>
                <a:latin typeface="Arial"/>
                <a:ea typeface="Arial"/>
                <a:cs typeface="Arial"/>
              </a:defRPr>
            </a:lvl7pPr>
            <a:lvl8pPr algn="l">
              <a:defRPr sz="2100" b="1">
                <a:solidFill>
                  <a:srgbClr val="013D7A"/>
                </a:solidFill>
                <a:latin typeface="Arial"/>
                <a:ea typeface="Arial"/>
                <a:cs typeface="Arial"/>
              </a:defRPr>
            </a:lvl8pPr>
            <a:lvl9pPr algn="l">
              <a:defRPr sz="2100" b="1">
                <a:solidFill>
                  <a:srgbClr val="013D7A"/>
                </a:solidFill>
                <a:latin typeface="Arial"/>
                <a:ea typeface="Arial"/>
                <a:cs typeface="Arial"/>
              </a:defRPr>
            </a:lvl9pPr>
          </a:lstStyle>
          <a:p xmlns:a="http://schemas.openxmlformats.org/drawingml/2006/main">
            <a:pPr algn="l">
              <a:defRPr sz="2100" b="1">
                <a:solidFill>
                  <a:srgbClr val="013D7A"/>
                </a:solidFill>
                <a:latin typeface="Arial"/>
                <a:ea typeface="Arial"/>
                <a:cs typeface="Arial"/>
              </a:defRPr>
            </a:pPr>
            <a:r>
              <a:rPr sz="2100" b="1">
                <a:solidFill>
                  <a:srgbClr val="013D7A"/>
                </a:solidFill>
                <a:latin typeface="Arial"/>
                <a:ea typeface="Arial"/>
                <a:cs typeface="Arial"/>
              </a:rPr>
              <a:t>Why retain the snapshot</a:t>
            </a:r>
          </a:p>
        </p:txBody>
      </p:sp>
      <p:sp>
        <p:nvSpPr>
          <p:cNvPr id="19" name="It reconstructs the historical analysis. It does not prove t">
            <a:extLst xmlns:a="http://schemas.openxmlformats.org/drawingml/2006/main">
              <a:ext uri="{FF2B5EF4-FFF2-40B4-BE49-F238E27FC236}">
                <a16:creationId xmlns:a16="http://schemas.microsoft.com/office/drawing/2014/main" id="{DFFDB4E0-9917-4E0C-8B6C-3824D88A3C6E}"/>
              </a:ext>
            </a:extLst>
          </p:cNvPr>
          <p:cNvSpPr>
            <a:spLocks xmlns:a="http://schemas.openxmlformats.org/drawingml/2006/main" noGrp="1"/>
          </p:cNvSpPr>
          <p:nvPr/>
        </p:nvSpPr>
        <p:spPr>
          <a:xfrm xmlns:a="http://schemas.openxmlformats.org/drawingml/2006/main">
            <a:off x="6477000" y="5114925"/>
            <a:ext cx="4953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It reconstructs the historical analysis. It does not prove that old metadata are more accurate.</a:t>
            </a:r>
          </a:p>
        </p:txBody>
      </p:sp>
      <p:sp>
        <p:nvSpPr>
          <p:cNvPr id="20" name="5">
            <a:extLst xmlns:a="http://schemas.openxmlformats.org/drawingml/2006/main">
              <a:ext uri="{FF2B5EF4-FFF2-40B4-BE49-F238E27FC236}">
                <a16:creationId xmlns:a16="http://schemas.microsoft.com/office/drawing/2014/main" id="{25F18534-A2F6-44C1-BAEE-07DF2F549BF8}"/>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5</a:t>
            </a:r>
          </a:p>
        </p:txBody>
      </p:sp>
      <p:sp>
        <p:nvSpPr>
          <p:cNvPr id="21" name="Historical reconstruction and evaluation with revised view l">
            <a:extLst xmlns:a="http://schemas.openxmlformats.org/drawingml/2006/main">
              <a:ext uri="{FF2B5EF4-FFF2-40B4-BE49-F238E27FC236}">
                <a16:creationId xmlns:a16="http://schemas.microsoft.com/office/drawing/2014/main" id="{52C2ED85-E053-43DC-8ABF-0E65CCFCCF98}"/>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Historical reconstruction and evaluation with revised view labels answer different questions.</a:t>
            </a:r>
          </a:p>
        </p:txBody>
      </p:sp>
    </p:spTree>
    <p:extLst>
      <p:ext uri="{BB962C8B-B14F-4D97-AF65-F5344CB8AC3E}">
        <p14:creationId xmlns:p14="http://schemas.microsoft.com/office/powerpoint/2010/main" val="9223975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2828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Clinical fields remain incomplete</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ddf3c810167140c9"/>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AFD5EE32-03C5-47AA-BFDF-6C9547225294}"/>
              </a:ext>
            </a:extLst>
          </p:cNvPr>
          <p:cNvGraphicFramePr/>
          <p:nvPr/>
        </p:nvGraphicFramePr>
        <p:xfrm>
          <a:off xmlns:a="http://schemas.openxmlformats.org/drawingml/2006/main" x="619125" y="2095500"/>
          <a:ext xmlns:a="http://schemas.openxmlformats.org/drawingml/2006/main" cx="7000875" cy="3762375"/>
        </p:xfrm>
        <a:graphic xmlns:a="http://schemas.openxmlformats.org/drawingml/2006/main">
          <a:graphicData uri="http://schemas.openxmlformats.org/drawingml/2006/chart">
            <c:chart xmlns:r="http://schemas.openxmlformats.org/officeDocument/2006/relationships" xmlns:c="http://schemas.openxmlformats.org/drawingml/2006/chart" r:id="R007922da199d45a2"/>
          </a:graphicData>
        </a:graphic>
      </p:graphicFrame>
      <p:sp>
        <p:nvSpPr>
          <p:cNvPr id="16" name="The regression inputs are complete">
            <a:extLst xmlns:a="http://schemas.openxmlformats.org/drawingml/2006/main">
              <a:ext uri="{FF2B5EF4-FFF2-40B4-BE49-F238E27FC236}">
                <a16:creationId xmlns:a16="http://schemas.microsoft.com/office/drawing/2014/main" id="{41753E4D-AA4B-4E3C-846D-1B37FBF91F40}"/>
              </a:ext>
            </a:extLst>
          </p:cNvPr>
          <p:cNvSpPr>
            <a:spLocks xmlns:a="http://schemas.openxmlformats.org/drawingml/2006/main" noGrp="1"/>
          </p:cNvSpPr>
          <p:nvPr/>
        </p:nvSpPr>
        <p:spPr>
          <a:xfrm xmlns:a="http://schemas.openxmlformats.org/drawingml/2006/main">
            <a:off x="8143875" y="2238375"/>
            <a:ext cx="333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13D7A"/>
                </a:solidFill>
                <a:latin typeface="Arial"/>
                <a:ea typeface="Arial"/>
                <a:cs typeface="Arial"/>
              </a:defRPr>
            </a:defPPr>
            <a:lvl1pPr algn="l">
              <a:defRPr sz="2175" b="1">
                <a:solidFill>
                  <a:srgbClr val="013D7A"/>
                </a:solidFill>
                <a:latin typeface="Arial"/>
                <a:ea typeface="Arial"/>
                <a:cs typeface="Arial"/>
              </a:defRPr>
            </a:lvl1pPr>
            <a:lvl2pPr algn="l">
              <a:defRPr sz="2175" b="1">
                <a:solidFill>
                  <a:srgbClr val="013D7A"/>
                </a:solidFill>
                <a:latin typeface="Arial"/>
                <a:ea typeface="Arial"/>
                <a:cs typeface="Arial"/>
              </a:defRPr>
            </a:lvl2pPr>
            <a:lvl3pPr algn="l">
              <a:defRPr sz="2175" b="1">
                <a:solidFill>
                  <a:srgbClr val="013D7A"/>
                </a:solidFill>
                <a:latin typeface="Arial"/>
                <a:ea typeface="Arial"/>
                <a:cs typeface="Arial"/>
              </a:defRPr>
            </a:lvl3pPr>
            <a:lvl4pPr algn="l">
              <a:defRPr sz="2175" b="1">
                <a:solidFill>
                  <a:srgbClr val="013D7A"/>
                </a:solidFill>
                <a:latin typeface="Arial"/>
                <a:ea typeface="Arial"/>
                <a:cs typeface="Arial"/>
              </a:defRPr>
            </a:lvl4pPr>
            <a:lvl5pPr algn="l">
              <a:defRPr sz="2175" b="1">
                <a:solidFill>
                  <a:srgbClr val="013D7A"/>
                </a:solidFill>
                <a:latin typeface="Arial"/>
                <a:ea typeface="Arial"/>
                <a:cs typeface="Arial"/>
              </a:defRPr>
            </a:lvl5pPr>
            <a:lvl6pPr algn="l">
              <a:defRPr sz="2175" b="1">
                <a:solidFill>
                  <a:srgbClr val="013D7A"/>
                </a:solidFill>
                <a:latin typeface="Arial"/>
                <a:ea typeface="Arial"/>
                <a:cs typeface="Arial"/>
              </a:defRPr>
            </a:lvl6pPr>
            <a:lvl7pPr algn="l">
              <a:defRPr sz="2175" b="1">
                <a:solidFill>
                  <a:srgbClr val="013D7A"/>
                </a:solidFill>
                <a:latin typeface="Arial"/>
                <a:ea typeface="Arial"/>
                <a:cs typeface="Arial"/>
              </a:defRPr>
            </a:lvl7pPr>
            <a:lvl8pPr algn="l">
              <a:defRPr sz="2175" b="1">
                <a:solidFill>
                  <a:srgbClr val="013D7A"/>
                </a:solidFill>
                <a:latin typeface="Arial"/>
                <a:ea typeface="Arial"/>
                <a:cs typeface="Arial"/>
              </a:defRPr>
            </a:lvl8pPr>
            <a:lvl9pPr algn="l">
              <a:defRPr sz="2175" b="1">
                <a:solidFill>
                  <a:srgbClr val="013D7A"/>
                </a:solidFill>
                <a:latin typeface="Arial"/>
                <a:ea typeface="Arial"/>
                <a:cs typeface="Arial"/>
              </a:defRPr>
            </a:lvl9pPr>
          </a:lstStyle>
          <a:p xmlns:a="http://schemas.openxmlformats.org/drawingml/2006/main">
            <a:pPr algn="l">
              <a:defRPr sz="2175" b="1">
                <a:solidFill>
                  <a:srgbClr val="013D7A"/>
                </a:solidFill>
                <a:latin typeface="Arial"/>
                <a:ea typeface="Arial"/>
                <a:cs typeface="Arial"/>
              </a:defRPr>
            </a:pPr>
            <a:r>
              <a:rPr sz="2175" b="1">
                <a:solidFill>
                  <a:srgbClr val="013D7A"/>
                </a:solidFill>
                <a:latin typeface="Arial"/>
                <a:ea typeface="Arial"/>
                <a:cs typeface="Arial"/>
              </a:rPr>
              <a:t>The regression inputs are complete</a:t>
            </a:r>
          </a:p>
        </p:txBody>
      </p:sp>
      <p:sp>
        <p:nvSpPr>
          <p:cNvPr id="17" name="All 94 images, patient identifiers and both targets are pres">
            <a:extLst xmlns:a="http://schemas.openxmlformats.org/drawingml/2006/main">
              <a:ext uri="{FF2B5EF4-FFF2-40B4-BE49-F238E27FC236}">
                <a16:creationId xmlns:a16="http://schemas.microsoft.com/office/drawing/2014/main" id="{5F9A64F7-927A-4406-A9D1-9633C80363C2}"/>
              </a:ext>
            </a:extLst>
          </p:cNvPr>
          <p:cNvSpPr>
            <a:spLocks xmlns:a="http://schemas.openxmlformats.org/drawingml/2006/main" noGrp="1"/>
          </p:cNvSpPr>
          <p:nvPr/>
        </p:nvSpPr>
        <p:spPr>
          <a:xfrm xmlns:a="http://schemas.openxmlformats.org/drawingml/2006/main">
            <a:off x="8143875" y="314325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832"/>
                </a:solidFill>
                <a:latin typeface="Arial"/>
                <a:ea typeface="Arial"/>
                <a:cs typeface="Arial"/>
              </a:defRPr>
            </a:defPPr>
            <a:lvl1pPr algn="l">
              <a:defRPr sz="1875" b="0">
                <a:solidFill>
                  <a:srgbClr val="202832"/>
                </a:solidFill>
                <a:latin typeface="Arial"/>
                <a:ea typeface="Arial"/>
                <a:cs typeface="Arial"/>
              </a:defRPr>
            </a:lvl1pPr>
            <a:lvl2pPr algn="l">
              <a:defRPr sz="1875" b="0">
                <a:solidFill>
                  <a:srgbClr val="202832"/>
                </a:solidFill>
                <a:latin typeface="Arial"/>
                <a:ea typeface="Arial"/>
                <a:cs typeface="Arial"/>
              </a:defRPr>
            </a:lvl2pPr>
            <a:lvl3pPr algn="l">
              <a:defRPr sz="1875" b="0">
                <a:solidFill>
                  <a:srgbClr val="202832"/>
                </a:solidFill>
                <a:latin typeface="Arial"/>
                <a:ea typeface="Arial"/>
                <a:cs typeface="Arial"/>
              </a:defRPr>
            </a:lvl3pPr>
            <a:lvl4pPr algn="l">
              <a:defRPr sz="1875" b="0">
                <a:solidFill>
                  <a:srgbClr val="202832"/>
                </a:solidFill>
                <a:latin typeface="Arial"/>
                <a:ea typeface="Arial"/>
                <a:cs typeface="Arial"/>
              </a:defRPr>
            </a:lvl4pPr>
            <a:lvl5pPr algn="l">
              <a:defRPr sz="1875" b="0">
                <a:solidFill>
                  <a:srgbClr val="202832"/>
                </a:solidFill>
                <a:latin typeface="Arial"/>
                <a:ea typeface="Arial"/>
                <a:cs typeface="Arial"/>
              </a:defRPr>
            </a:lvl5pPr>
            <a:lvl6pPr algn="l">
              <a:defRPr sz="1875" b="0">
                <a:solidFill>
                  <a:srgbClr val="202832"/>
                </a:solidFill>
                <a:latin typeface="Arial"/>
                <a:ea typeface="Arial"/>
                <a:cs typeface="Arial"/>
              </a:defRPr>
            </a:lvl6pPr>
            <a:lvl7pPr algn="l">
              <a:defRPr sz="1875" b="0">
                <a:solidFill>
                  <a:srgbClr val="202832"/>
                </a:solidFill>
                <a:latin typeface="Arial"/>
                <a:ea typeface="Arial"/>
                <a:cs typeface="Arial"/>
              </a:defRPr>
            </a:lvl7pPr>
            <a:lvl8pPr algn="l">
              <a:defRPr sz="1875" b="0">
                <a:solidFill>
                  <a:srgbClr val="202832"/>
                </a:solidFill>
                <a:latin typeface="Arial"/>
                <a:ea typeface="Arial"/>
                <a:cs typeface="Arial"/>
              </a:defRPr>
            </a:lvl8pPr>
            <a:lvl9pPr algn="l">
              <a:defRPr sz="1875" b="0">
                <a:solidFill>
                  <a:srgbClr val="202832"/>
                </a:solidFill>
                <a:latin typeface="Arial"/>
                <a:ea typeface="Arial"/>
                <a:cs typeface="Arial"/>
              </a:defRPr>
            </a:lvl9pPr>
          </a:lstStyle>
          <a:p xmlns:a="http://schemas.openxmlformats.org/drawingml/2006/main">
            <a:pPr algn="l">
              <a:defRPr sz="1875" b="0">
                <a:solidFill>
                  <a:srgbClr val="202832"/>
                </a:solidFill>
                <a:latin typeface="Arial"/>
                <a:ea typeface="Arial"/>
                <a:cs typeface="Arial"/>
              </a:defRPr>
            </a:pPr>
            <a:r>
              <a:rPr sz="1875" b="0">
                <a:solidFill>
                  <a:srgbClr val="202832"/>
                </a:solidFill>
                <a:latin typeface="Arial"/>
                <a:ea typeface="Arial"/>
                <a:cs typeface="Arial"/>
              </a:rPr>
              <a:t>All 94 images, patient identifiers and both targets are present.</a:t>
            </a:r>
          </a:p>
        </p:txBody>
      </p:sp>
      <p:sp>
        <p:nvSpPr>
          <p:cNvPr id="18" name="Age, sex and clinical outcomes stay missing and are not mode">
            <a:extLst xmlns:a="http://schemas.openxmlformats.org/drawingml/2006/main">
              <a:ext uri="{FF2B5EF4-FFF2-40B4-BE49-F238E27FC236}">
                <a16:creationId xmlns:a16="http://schemas.microsoft.com/office/drawing/2014/main" id="{A97C2746-E18B-42C9-84BE-617B3A85DFDA}"/>
              </a:ext>
            </a:extLst>
          </p:cNvPr>
          <p:cNvSpPr>
            <a:spLocks xmlns:a="http://schemas.openxmlformats.org/drawingml/2006/main" noGrp="1"/>
          </p:cNvSpPr>
          <p:nvPr/>
        </p:nvSpPr>
        <p:spPr>
          <a:xfrm xmlns:a="http://schemas.openxmlformats.org/drawingml/2006/main">
            <a:off x="8143875" y="4429125"/>
            <a:ext cx="333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0">
                <a:solidFill>
                  <a:srgbClr val="202832"/>
                </a:solidFill>
                <a:latin typeface="Arial"/>
                <a:ea typeface="Arial"/>
                <a:cs typeface="Arial"/>
              </a:defRPr>
            </a:defPPr>
            <a:lvl1pPr algn="l">
              <a:defRPr sz="1875" b="0">
                <a:solidFill>
                  <a:srgbClr val="202832"/>
                </a:solidFill>
                <a:latin typeface="Arial"/>
                <a:ea typeface="Arial"/>
                <a:cs typeface="Arial"/>
              </a:defRPr>
            </a:lvl1pPr>
            <a:lvl2pPr algn="l">
              <a:defRPr sz="1875" b="0">
                <a:solidFill>
                  <a:srgbClr val="202832"/>
                </a:solidFill>
                <a:latin typeface="Arial"/>
                <a:ea typeface="Arial"/>
                <a:cs typeface="Arial"/>
              </a:defRPr>
            </a:lvl2pPr>
            <a:lvl3pPr algn="l">
              <a:defRPr sz="1875" b="0">
                <a:solidFill>
                  <a:srgbClr val="202832"/>
                </a:solidFill>
                <a:latin typeface="Arial"/>
                <a:ea typeface="Arial"/>
                <a:cs typeface="Arial"/>
              </a:defRPr>
            </a:lvl3pPr>
            <a:lvl4pPr algn="l">
              <a:defRPr sz="1875" b="0">
                <a:solidFill>
                  <a:srgbClr val="202832"/>
                </a:solidFill>
                <a:latin typeface="Arial"/>
                <a:ea typeface="Arial"/>
                <a:cs typeface="Arial"/>
              </a:defRPr>
            </a:lvl4pPr>
            <a:lvl5pPr algn="l">
              <a:defRPr sz="1875" b="0">
                <a:solidFill>
                  <a:srgbClr val="202832"/>
                </a:solidFill>
                <a:latin typeface="Arial"/>
                <a:ea typeface="Arial"/>
                <a:cs typeface="Arial"/>
              </a:defRPr>
            </a:lvl5pPr>
            <a:lvl6pPr algn="l">
              <a:defRPr sz="1875" b="0">
                <a:solidFill>
                  <a:srgbClr val="202832"/>
                </a:solidFill>
                <a:latin typeface="Arial"/>
                <a:ea typeface="Arial"/>
                <a:cs typeface="Arial"/>
              </a:defRPr>
            </a:lvl6pPr>
            <a:lvl7pPr algn="l">
              <a:defRPr sz="1875" b="0">
                <a:solidFill>
                  <a:srgbClr val="202832"/>
                </a:solidFill>
                <a:latin typeface="Arial"/>
                <a:ea typeface="Arial"/>
                <a:cs typeface="Arial"/>
              </a:defRPr>
            </a:lvl7pPr>
            <a:lvl8pPr algn="l">
              <a:defRPr sz="1875" b="0">
                <a:solidFill>
                  <a:srgbClr val="202832"/>
                </a:solidFill>
                <a:latin typeface="Arial"/>
                <a:ea typeface="Arial"/>
                <a:cs typeface="Arial"/>
              </a:defRPr>
            </a:lvl8pPr>
            <a:lvl9pPr algn="l">
              <a:defRPr sz="1875" b="0">
                <a:solidFill>
                  <a:srgbClr val="202832"/>
                </a:solidFill>
                <a:latin typeface="Arial"/>
                <a:ea typeface="Arial"/>
                <a:cs typeface="Arial"/>
              </a:defRPr>
            </a:lvl9pPr>
          </a:lstStyle>
          <a:p xmlns:a="http://schemas.openxmlformats.org/drawingml/2006/main">
            <a:pPr algn="l">
              <a:defRPr sz="1875" b="0">
                <a:solidFill>
                  <a:srgbClr val="202832"/>
                </a:solidFill>
                <a:latin typeface="Arial"/>
                <a:ea typeface="Arial"/>
                <a:cs typeface="Arial"/>
              </a:defRPr>
            </a:pPr>
            <a:r>
              <a:rPr sz="1875" b="0">
                <a:solidFill>
                  <a:srgbClr val="202832"/>
                </a:solidFill>
                <a:latin typeface="Arial"/>
                <a:ea typeface="Arial"/>
                <a:cs typeface="Arial"/>
              </a:rPr>
              <a:t>Age, sex and clinical outcomes stay missing and are not model inputs.</a:t>
            </a:r>
          </a:p>
        </p:txBody>
      </p:sp>
      <p:sp>
        <p:nvSpPr>
          <p:cNvPr id="19" name="6">
            <a:extLst xmlns:a="http://schemas.openxmlformats.org/drawingml/2006/main">
              <a:ext uri="{FF2B5EF4-FFF2-40B4-BE49-F238E27FC236}">
                <a16:creationId xmlns:a16="http://schemas.microsoft.com/office/drawing/2014/main" id="{DA3B4328-8A43-45AE-8754-CCF9D12BBD9F}"/>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6</a:t>
            </a:r>
          </a:p>
        </p:txBody>
      </p:sp>
      <p:sp>
        <p:nvSpPr>
          <p:cNvPr id="20" name="Counts refer to image records. Missing clinical fields const">
            <a:extLst xmlns:a="http://schemas.openxmlformats.org/drawingml/2006/main">
              <a:ext uri="{FF2B5EF4-FFF2-40B4-BE49-F238E27FC236}">
                <a16:creationId xmlns:a16="http://schemas.microsoft.com/office/drawing/2014/main" id="{A77CFB2C-E066-49A3-8E02-D375C19FCEDD}"/>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Counts refer to image records. Missing clinical fields constrain outcome and longitudinal analyses.</a:t>
            </a:r>
          </a:p>
        </p:txBody>
      </p:sp>
    </p:spTree>
    <p:extLst>
      <p:ext uri="{BB962C8B-B14F-4D97-AF65-F5344CB8AC3E}">
        <p14:creationId xmlns:p14="http://schemas.microsoft.com/office/powerpoint/2010/main" val="922397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2828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strongest original configurations reproduce closely</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1f399e8af79f4187"/>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5BB6B4AD-4BBB-4E6E-947D-17BC41325310}"/>
              </a:ext>
            </a:extLst>
          </p:cNvPr>
          <p:cNvGraphicFramePr/>
          <p:nvPr/>
        </p:nvGraphicFramePr>
        <p:xfrm>
          <a:off xmlns:a="http://schemas.openxmlformats.org/drawingml/2006/main" x="619125" y="2143125"/>
          <a:ext xmlns:a="http://schemas.openxmlformats.org/drawingml/2006/main" cx="10953750" cy="2667000"/>
        </p:xfrm>
        <a:graphic xmlns:a="http://schemas.openxmlformats.org/drawingml/2006/main">
          <a:graphicData uri="http://schemas.openxmlformats.org/drawingml/2006/table">
            <a:tbl>
              <a:tblPr/>
              <a:tblGrid>
                <a:gridCol w="3810000"/>
                <a:gridCol w="1428750"/>
                <a:gridCol w="3143250"/>
                <a:gridCol w="2571750"/>
              </a:tblGrid>
              <a:tr h="533400">
                <a:tc>
                  <a:txBody>
                    <a:bodyPr wrap="square">
                      <a:noAutofit/>
                    </a:bodyPr>
                    <a:lstStyle/>
                    <a:p>
                      <a:pPr algn="l"/>
                      <a:r>
                        <a:rPr sz="1650" b="1">
                          <a:solidFill>
                            <a:srgbClr val="FFFFFF"/>
                          </a:solidFill>
                          <a:latin typeface="Arial"/>
                          <a:ea typeface="Arial"/>
                          <a:cs typeface="Arial"/>
                        </a:rPr>
                        <a:t>Target and configuration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Paper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Our original-method rerun</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Group notebook</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33400">
                <a:tc>
                  <a:txBody>
                    <a:bodyPr wrap="square">
                      <a:noAutofit/>
                    </a:bodyPr>
                    <a:lstStyle/>
                    <a:p>
                      <a:pPr algn="l"/>
                      <a:r>
                        <a:rPr sz="1650" b="0">
                          <a:solidFill>
                            <a:srgbClr val="202832"/>
                          </a:solidFill>
                          <a:latin typeface="Arial"/>
                          <a:ea typeface="Arial"/>
                          <a:cs typeface="Arial"/>
                        </a:rPr>
                        <a:t>Extent, OLS on 1 output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1.14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1.165 ± 0.104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1.161 ± 0.102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33400">
                <a:tc>
                  <a:txBody>
                    <a:bodyPr wrap="square">
                      <a:noAutofit/>
                    </a:bodyPr>
                    <a:lstStyle/>
                    <a:p>
                      <a:pPr algn="l"/>
                      <a:r>
                        <a:rPr sz="1650" b="0">
                          <a:solidFill>
                            <a:srgbClr val="202832"/>
                          </a:solidFill>
                          <a:latin typeface="Arial"/>
                          <a:ea typeface="Arial"/>
                          <a:cs typeface="Arial"/>
                        </a:rPr>
                        <a:t>Opacity, OLS on 4 outputs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0.76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0.766 ± 0.072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0.761 ± 0.071</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33400">
                <a:tc>
                  <a:txBody>
                    <a:bodyPr wrap="square">
                      <a:noAutofit/>
                    </a:bodyPr>
                    <a:lstStyle/>
                    <a:p>
                      <a:pPr algn="l"/>
                      <a:r>
                        <a:rPr sz="1650" b="0">
                          <a:solidFill>
                            <a:srgbClr val="202832"/>
                          </a:solidFill>
                          <a:latin typeface="Arial"/>
                          <a:ea typeface="Arial"/>
                          <a:cs typeface="Arial"/>
                        </a:rPr>
                        <a:t>Opacity, OLS on 18 outputs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0.86</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0.917 ± 0.123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0.897 ± 0.122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33400">
                <a:tc>
                  <a:txBody>
                    <a:bodyPr wrap="square">
                      <a:noAutofit/>
                    </a:bodyPr>
                    <a:lstStyle/>
                    <a:p>
                      <a:pPr algn="l"/>
                      <a:r>
                        <a:rPr sz="1650" b="0">
                          <a:solidFill>
                            <a:srgbClr val="202832"/>
                          </a:solidFill>
                          <a:latin typeface="Arial"/>
                          <a:ea typeface="Arial"/>
                          <a:cs typeface="Arial"/>
                        </a:rPr>
                        <a:t>Extent, intercept-only mean</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2.00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2.072 ± 0.167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2.072 ± 0.167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Agreement is strongest for the low-dimensional references.">
            <a:extLst xmlns:a="http://schemas.openxmlformats.org/drawingml/2006/main">
              <a:ext uri="{FF2B5EF4-FFF2-40B4-BE49-F238E27FC236}">
                <a16:creationId xmlns:a16="http://schemas.microsoft.com/office/drawing/2014/main" id="{C7FD5DAC-AA6C-4ED8-B5DD-1A6ABCF48E7E}"/>
              </a:ext>
            </a:extLst>
          </p:cNvPr>
          <p:cNvSpPr>
            <a:spLocks xmlns:a="http://schemas.openxmlformats.org/drawingml/2006/main" noGrp="1"/>
          </p:cNvSpPr>
          <p:nvPr/>
        </p:nvSpPr>
        <p:spPr>
          <a:xfrm xmlns:a="http://schemas.openxmlformats.org/drawingml/2006/main">
            <a:off x="714375" y="5143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75" b="1">
                <a:solidFill>
                  <a:srgbClr val="013D7A"/>
                </a:solidFill>
                <a:latin typeface="Arial"/>
                <a:ea typeface="Arial"/>
                <a:cs typeface="Arial"/>
              </a:defRPr>
            </a:defPPr>
            <a:lvl1pPr algn="l">
              <a:defRPr sz="2175" b="1">
                <a:solidFill>
                  <a:srgbClr val="013D7A"/>
                </a:solidFill>
                <a:latin typeface="Arial"/>
                <a:ea typeface="Arial"/>
                <a:cs typeface="Arial"/>
              </a:defRPr>
            </a:lvl1pPr>
            <a:lvl2pPr algn="l">
              <a:defRPr sz="2175" b="1">
                <a:solidFill>
                  <a:srgbClr val="013D7A"/>
                </a:solidFill>
                <a:latin typeface="Arial"/>
                <a:ea typeface="Arial"/>
                <a:cs typeface="Arial"/>
              </a:defRPr>
            </a:lvl2pPr>
            <a:lvl3pPr algn="l">
              <a:defRPr sz="2175" b="1">
                <a:solidFill>
                  <a:srgbClr val="013D7A"/>
                </a:solidFill>
                <a:latin typeface="Arial"/>
                <a:ea typeface="Arial"/>
                <a:cs typeface="Arial"/>
              </a:defRPr>
            </a:lvl3pPr>
            <a:lvl4pPr algn="l">
              <a:defRPr sz="2175" b="1">
                <a:solidFill>
                  <a:srgbClr val="013D7A"/>
                </a:solidFill>
                <a:latin typeface="Arial"/>
                <a:ea typeface="Arial"/>
                <a:cs typeface="Arial"/>
              </a:defRPr>
            </a:lvl4pPr>
            <a:lvl5pPr algn="l">
              <a:defRPr sz="2175" b="1">
                <a:solidFill>
                  <a:srgbClr val="013D7A"/>
                </a:solidFill>
                <a:latin typeface="Arial"/>
                <a:ea typeface="Arial"/>
                <a:cs typeface="Arial"/>
              </a:defRPr>
            </a:lvl5pPr>
            <a:lvl6pPr algn="l">
              <a:defRPr sz="2175" b="1">
                <a:solidFill>
                  <a:srgbClr val="013D7A"/>
                </a:solidFill>
                <a:latin typeface="Arial"/>
                <a:ea typeface="Arial"/>
                <a:cs typeface="Arial"/>
              </a:defRPr>
            </a:lvl6pPr>
            <a:lvl7pPr algn="l">
              <a:defRPr sz="2175" b="1">
                <a:solidFill>
                  <a:srgbClr val="013D7A"/>
                </a:solidFill>
                <a:latin typeface="Arial"/>
                <a:ea typeface="Arial"/>
                <a:cs typeface="Arial"/>
              </a:defRPr>
            </a:lvl7pPr>
            <a:lvl8pPr algn="l">
              <a:defRPr sz="2175" b="1">
                <a:solidFill>
                  <a:srgbClr val="013D7A"/>
                </a:solidFill>
                <a:latin typeface="Arial"/>
                <a:ea typeface="Arial"/>
                <a:cs typeface="Arial"/>
              </a:defRPr>
            </a:lvl8pPr>
            <a:lvl9pPr algn="l">
              <a:defRPr sz="2175" b="1">
                <a:solidFill>
                  <a:srgbClr val="013D7A"/>
                </a:solidFill>
                <a:latin typeface="Arial"/>
                <a:ea typeface="Arial"/>
                <a:cs typeface="Arial"/>
              </a:defRPr>
            </a:lvl9pPr>
          </a:lstStyle>
          <a:p xmlns:a="http://schemas.openxmlformats.org/drawingml/2006/main">
            <a:pPr algn="l">
              <a:defRPr sz="2175" b="1">
                <a:solidFill>
                  <a:srgbClr val="013D7A"/>
                </a:solidFill>
                <a:latin typeface="Arial"/>
                <a:ea typeface="Arial"/>
                <a:cs typeface="Arial"/>
              </a:defRPr>
            </a:pPr>
            <a:r>
              <a:rPr sz="2175" b="1">
                <a:solidFill>
                  <a:srgbClr val="013D7A"/>
                </a:solidFill>
                <a:latin typeface="Arial"/>
                <a:ea typeface="Arial"/>
                <a:cs typeface="Arial"/>
              </a:rPr>
              <a:t>Agreement is strongest for the low-dimensional references.</a:t>
            </a:r>
          </a:p>
        </p:txBody>
      </p:sp>
      <p:sp>
        <p:nvSpPr>
          <p:cNvPr id="17" name="Matching 94 images is necessary. Row order, grouping, featur">
            <a:extLst xmlns:a="http://schemas.openxmlformats.org/drawingml/2006/main">
              <a:ext uri="{FF2B5EF4-FFF2-40B4-BE49-F238E27FC236}">
                <a16:creationId xmlns:a16="http://schemas.microsoft.com/office/drawing/2014/main" id="{FC63A0A6-6B79-4A73-8C26-1873A500884F}"/>
              </a:ext>
            </a:extLst>
          </p:cNvPr>
          <p:cNvSpPr>
            <a:spLocks xmlns:a="http://schemas.openxmlformats.org/drawingml/2006/main" noGrp="1"/>
          </p:cNvSpPr>
          <p:nvPr/>
        </p:nvSpPr>
        <p:spPr>
          <a:xfrm xmlns:a="http://schemas.openxmlformats.org/drawingml/2006/main">
            <a:off x="714375" y="5667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832"/>
                </a:solidFill>
                <a:latin typeface="Arial"/>
                <a:ea typeface="Arial"/>
                <a:cs typeface="Arial"/>
              </a:defRPr>
            </a:defPPr>
            <a:lvl1pPr algn="l">
              <a:defRPr sz="1800" b="0">
                <a:solidFill>
                  <a:srgbClr val="202832"/>
                </a:solidFill>
                <a:latin typeface="Arial"/>
                <a:ea typeface="Arial"/>
                <a:cs typeface="Arial"/>
              </a:defRPr>
            </a:lvl1pPr>
            <a:lvl2pPr algn="l">
              <a:defRPr sz="1800" b="0">
                <a:solidFill>
                  <a:srgbClr val="202832"/>
                </a:solidFill>
                <a:latin typeface="Arial"/>
                <a:ea typeface="Arial"/>
                <a:cs typeface="Arial"/>
              </a:defRPr>
            </a:lvl2pPr>
            <a:lvl3pPr algn="l">
              <a:defRPr sz="1800" b="0">
                <a:solidFill>
                  <a:srgbClr val="202832"/>
                </a:solidFill>
                <a:latin typeface="Arial"/>
                <a:ea typeface="Arial"/>
                <a:cs typeface="Arial"/>
              </a:defRPr>
            </a:lvl3pPr>
            <a:lvl4pPr algn="l">
              <a:defRPr sz="1800" b="0">
                <a:solidFill>
                  <a:srgbClr val="202832"/>
                </a:solidFill>
                <a:latin typeface="Arial"/>
                <a:ea typeface="Arial"/>
                <a:cs typeface="Arial"/>
              </a:defRPr>
            </a:lvl4pPr>
            <a:lvl5pPr algn="l">
              <a:defRPr sz="1800" b="0">
                <a:solidFill>
                  <a:srgbClr val="202832"/>
                </a:solidFill>
                <a:latin typeface="Arial"/>
                <a:ea typeface="Arial"/>
                <a:cs typeface="Arial"/>
              </a:defRPr>
            </a:lvl5pPr>
            <a:lvl6pPr algn="l">
              <a:defRPr sz="1800" b="0">
                <a:solidFill>
                  <a:srgbClr val="202832"/>
                </a:solidFill>
                <a:latin typeface="Arial"/>
                <a:ea typeface="Arial"/>
                <a:cs typeface="Arial"/>
              </a:defRPr>
            </a:lvl6pPr>
            <a:lvl7pPr algn="l">
              <a:defRPr sz="1800" b="0">
                <a:solidFill>
                  <a:srgbClr val="202832"/>
                </a:solidFill>
                <a:latin typeface="Arial"/>
                <a:ea typeface="Arial"/>
                <a:cs typeface="Arial"/>
              </a:defRPr>
            </a:lvl7pPr>
            <a:lvl8pPr algn="l">
              <a:defRPr sz="1800" b="0">
                <a:solidFill>
                  <a:srgbClr val="202832"/>
                </a:solidFill>
                <a:latin typeface="Arial"/>
                <a:ea typeface="Arial"/>
                <a:cs typeface="Arial"/>
              </a:defRPr>
            </a:lvl8pPr>
            <a:lvl9pPr algn="l">
              <a:defRPr sz="1800" b="0">
                <a:solidFill>
                  <a:srgbClr val="202832"/>
                </a:solidFill>
                <a:latin typeface="Arial"/>
                <a:ea typeface="Arial"/>
                <a:cs typeface="Arial"/>
              </a:defRPr>
            </a:lvl9pPr>
          </a:lstStyle>
          <a:p xmlns:a="http://schemas.openxmlformats.org/drawingml/2006/main">
            <a:pPr algn="l">
              <a:defRPr sz="1800" b="0">
                <a:solidFill>
                  <a:srgbClr val="202832"/>
                </a:solidFill>
                <a:latin typeface="Arial"/>
                <a:ea typeface="Arial"/>
                <a:cs typeface="Arial"/>
              </a:defRPr>
            </a:pPr>
            <a:r>
              <a:rPr sz="1800" b="0">
                <a:solidFill>
                  <a:srgbClr val="202832"/>
                </a:solidFill>
                <a:latin typeface="Arial"/>
                <a:ea typeface="Arial"/>
                <a:cs typeface="Arial"/>
              </a:rPr>
              <a:t>Matching 94 images is necessary. Row order, grouping, feature extraction and the software environment also matter.</a:t>
            </a:r>
          </a:p>
        </p:txBody>
      </p:sp>
      <p:sp>
        <p:nvSpPr>
          <p:cNvPr id="18" name="7">
            <a:extLst xmlns:a="http://schemas.openxmlformats.org/drawingml/2006/main">
              <a:ext uri="{FF2B5EF4-FFF2-40B4-BE49-F238E27FC236}">
                <a16:creationId xmlns:a16="http://schemas.microsoft.com/office/drawing/2014/main" id="{177A4B36-D431-494D-83A5-0361E7056827}"/>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7</a:t>
            </a:r>
          </a:p>
        </p:txBody>
      </p:sp>
      <p:sp>
        <p:nvSpPr>
          <p:cNvPr id="19" name="New alternative models are compared with these rerun baselin">
            <a:extLst xmlns:a="http://schemas.openxmlformats.org/drawingml/2006/main">
              <a:ext uri="{FF2B5EF4-FFF2-40B4-BE49-F238E27FC236}">
                <a16:creationId xmlns:a16="http://schemas.microsoft.com/office/drawing/2014/main" id="{F7E2660B-14D6-4AC7-B5E3-56F262E1D495}"/>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New alternative models are compared with these rerun baselines on identical patient splits.</a:t>
            </a:r>
          </a:p>
        </p:txBody>
      </p:sp>
    </p:spTree>
    <p:extLst>
      <p:ext uri="{BB962C8B-B14F-4D97-AF65-F5344CB8AC3E}">
        <p14:creationId xmlns:p14="http://schemas.microsoft.com/office/powerpoint/2010/main" val="9223975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2828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Visual fidelity varies more than average error</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914164fcdbfe42ad"/>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9463AE2E-C5B2-450D-937E-898E49EC3A62}"/>
              </a:ext>
            </a:extLst>
          </p:cNvPr>
          <p:cNvPicPr>
            <a:picLocks xmlns:a="http://schemas.openxmlformats.org/drawingml/2006/main" noChangeAspect="1"/>
          </p:cNvPicPr>
          <p:nvPr/>
        </p:nvPicPr>
        <p:blipFill>
          <a:blip xmlns:r="http://schemas.openxmlformats.org/officeDocument/2006/relationships" xmlns:a="http://schemas.openxmlformats.org/drawingml/2006/main" r:embed="R01aca9377fec43d2"/>
          <a:stretch xmlns:a="http://schemas.openxmlformats.org/drawingml/2006/main"/>
        </p:blipFill>
        <p:spPr>
          <a:xfrm xmlns:a="http://schemas.openxmlformats.org/drawingml/2006/main">
            <a:off x="816461" y="2047875"/>
            <a:ext cx="4939328" cy="295275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706113F5-A5D8-4E9D-9512-3AED834A27E9}"/>
              </a:ext>
            </a:extLst>
          </p:cNvPr>
          <p:cNvPicPr>
            <a:picLocks xmlns:a="http://schemas.openxmlformats.org/drawingml/2006/main" noChangeAspect="1"/>
          </p:cNvPicPr>
          <p:nvPr/>
        </p:nvPicPr>
        <p:blipFill>
          <a:blip xmlns:r="http://schemas.openxmlformats.org/officeDocument/2006/relationships" xmlns:a="http://schemas.openxmlformats.org/drawingml/2006/main" r:embed="Rd91240b41a3f4243"/>
          <a:srcRect xmlns:a="http://schemas.openxmlformats.org/drawingml/2006/main" l="0" t="0" r="0" b="50000"/>
          <a:stretch xmlns:a="http://schemas.openxmlformats.org/drawingml/2006/main"/>
        </p:blipFill>
        <p:spPr>
          <a:xfrm xmlns:a="http://schemas.openxmlformats.org/drawingml/2006/main">
            <a:off x="6334125" y="2047875"/>
            <a:ext cx="5238750" cy="2952750"/>
          </a:xfrm>
          <a:prstGeom xmlns:a="http://schemas.openxmlformats.org/drawingml/2006/main" prst="rect">
            <a:avLst/>
          </a:prstGeom>
        </p:spPr>
      </p:pic>
      <p:sp>
        <p:nvSpPr>
          <p:cNvPr id="17" name="t-SNE">
            <a:extLst xmlns:a="http://schemas.openxmlformats.org/drawingml/2006/main">
              <a:ext uri="{FF2B5EF4-FFF2-40B4-BE49-F238E27FC236}">
                <a16:creationId xmlns:a16="http://schemas.microsoft.com/office/drawing/2014/main" id="{543F474C-1BC9-4386-889D-368B797FF89A}"/>
              </a:ext>
            </a:extLst>
          </p:cNvPr>
          <p:cNvSpPr>
            <a:spLocks xmlns:a="http://schemas.openxmlformats.org/drawingml/2006/main" noGrp="1"/>
          </p:cNvSpPr>
          <p:nvPr/>
        </p:nvSpPr>
        <p:spPr>
          <a:xfrm xmlns:a="http://schemas.openxmlformats.org/drawingml/2006/main">
            <a:off x="714375" y="50958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13D7A"/>
                </a:solidFill>
                <a:latin typeface="Arial"/>
                <a:ea typeface="Arial"/>
                <a:cs typeface="Arial"/>
              </a:defRPr>
            </a:defPPr>
            <a:lvl1pPr algn="l">
              <a:defRPr sz="2100" b="1">
                <a:solidFill>
                  <a:srgbClr val="013D7A"/>
                </a:solidFill>
                <a:latin typeface="Arial"/>
                <a:ea typeface="Arial"/>
                <a:cs typeface="Arial"/>
              </a:defRPr>
            </a:lvl1pPr>
            <a:lvl2pPr algn="l">
              <a:defRPr sz="2100" b="1">
                <a:solidFill>
                  <a:srgbClr val="013D7A"/>
                </a:solidFill>
                <a:latin typeface="Arial"/>
                <a:ea typeface="Arial"/>
                <a:cs typeface="Arial"/>
              </a:defRPr>
            </a:lvl2pPr>
            <a:lvl3pPr algn="l">
              <a:defRPr sz="2100" b="1">
                <a:solidFill>
                  <a:srgbClr val="013D7A"/>
                </a:solidFill>
                <a:latin typeface="Arial"/>
                <a:ea typeface="Arial"/>
                <a:cs typeface="Arial"/>
              </a:defRPr>
            </a:lvl3pPr>
            <a:lvl4pPr algn="l">
              <a:defRPr sz="2100" b="1">
                <a:solidFill>
                  <a:srgbClr val="013D7A"/>
                </a:solidFill>
                <a:latin typeface="Arial"/>
                <a:ea typeface="Arial"/>
                <a:cs typeface="Arial"/>
              </a:defRPr>
            </a:lvl4pPr>
            <a:lvl5pPr algn="l">
              <a:defRPr sz="2100" b="1">
                <a:solidFill>
                  <a:srgbClr val="013D7A"/>
                </a:solidFill>
                <a:latin typeface="Arial"/>
                <a:ea typeface="Arial"/>
                <a:cs typeface="Arial"/>
              </a:defRPr>
            </a:lvl5pPr>
            <a:lvl6pPr algn="l">
              <a:defRPr sz="2100" b="1">
                <a:solidFill>
                  <a:srgbClr val="013D7A"/>
                </a:solidFill>
                <a:latin typeface="Arial"/>
                <a:ea typeface="Arial"/>
                <a:cs typeface="Arial"/>
              </a:defRPr>
            </a:lvl6pPr>
            <a:lvl7pPr algn="l">
              <a:defRPr sz="2100" b="1">
                <a:solidFill>
                  <a:srgbClr val="013D7A"/>
                </a:solidFill>
                <a:latin typeface="Arial"/>
                <a:ea typeface="Arial"/>
                <a:cs typeface="Arial"/>
              </a:defRPr>
            </a:lvl7pPr>
            <a:lvl8pPr algn="l">
              <a:defRPr sz="2100" b="1">
                <a:solidFill>
                  <a:srgbClr val="013D7A"/>
                </a:solidFill>
                <a:latin typeface="Arial"/>
                <a:ea typeface="Arial"/>
                <a:cs typeface="Arial"/>
              </a:defRPr>
            </a:lvl8pPr>
            <a:lvl9pPr algn="l">
              <a:defRPr sz="2100" b="1">
                <a:solidFill>
                  <a:srgbClr val="013D7A"/>
                </a:solidFill>
                <a:latin typeface="Arial"/>
                <a:ea typeface="Arial"/>
                <a:cs typeface="Arial"/>
              </a:defRPr>
            </a:lvl9pPr>
          </a:lstStyle>
          <a:p xmlns:a="http://schemas.openxmlformats.org/drawingml/2006/main">
            <a:pPr algn="l">
              <a:defRPr sz="2100" b="1">
                <a:solidFill>
                  <a:srgbClr val="013D7A"/>
                </a:solidFill>
                <a:latin typeface="Arial"/>
                <a:ea typeface="Arial"/>
                <a:cs typeface="Arial"/>
              </a:defRPr>
            </a:pPr>
            <a:r>
              <a:rPr sz="2100" b="1">
                <a:solidFill>
                  <a:srgbClr val="013D7A"/>
                </a:solidFill>
                <a:latin typeface="Arial"/>
                <a:ea typeface="Arial"/>
                <a:cs typeface="Arial"/>
              </a:rPr>
              <a:t>t-SNE</a:t>
            </a:r>
          </a:p>
        </p:txBody>
      </p:sp>
      <p:sp>
        <p:nvSpPr>
          <p:cNvPr id="18" name="The paper states 208 images. The author notebook stores a 19">
            <a:extLst xmlns:a="http://schemas.openxmlformats.org/drawingml/2006/main">
              <a:ext uri="{FF2B5EF4-FFF2-40B4-BE49-F238E27FC236}">
                <a16:creationId xmlns:a16="http://schemas.microsoft.com/office/drawing/2014/main" id="{C3E71ED9-FC31-47EF-BF85-53529EF8EA99}"/>
              </a:ext>
            </a:extLst>
          </p:cNvPr>
          <p:cNvSpPr>
            <a:spLocks xmlns:a="http://schemas.openxmlformats.org/drawingml/2006/main" noGrp="1"/>
          </p:cNvSpPr>
          <p:nvPr/>
        </p:nvSpPr>
        <p:spPr>
          <a:xfrm xmlns:a="http://schemas.openxmlformats.org/drawingml/2006/main">
            <a:off x="714375" y="5638800"/>
            <a:ext cx="5048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The paper states 208 images. The author notebook stores a 199-image run.</a:t>
            </a:r>
          </a:p>
        </p:txBody>
      </p:sp>
      <p:sp>
        <p:nvSpPr>
          <p:cNvPr id="19" name="Gradient saliency">
            <a:extLst xmlns:a="http://schemas.openxmlformats.org/drawingml/2006/main">
              <a:ext uri="{FF2B5EF4-FFF2-40B4-BE49-F238E27FC236}">
                <a16:creationId xmlns:a16="http://schemas.microsoft.com/office/drawing/2014/main" id="{8B0BF955-DB82-482B-8577-DE52704DB987}"/>
              </a:ext>
            </a:extLst>
          </p:cNvPr>
          <p:cNvSpPr>
            <a:spLocks xmlns:a="http://schemas.openxmlformats.org/drawingml/2006/main" noGrp="1"/>
          </p:cNvSpPr>
          <p:nvPr/>
        </p:nvSpPr>
        <p:spPr>
          <a:xfrm xmlns:a="http://schemas.openxmlformats.org/drawingml/2006/main">
            <a:off x="6429375" y="50958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13D7A"/>
                </a:solidFill>
                <a:latin typeface="Arial"/>
                <a:ea typeface="Arial"/>
                <a:cs typeface="Arial"/>
              </a:defRPr>
            </a:defPPr>
            <a:lvl1pPr algn="l">
              <a:defRPr sz="2100" b="1">
                <a:solidFill>
                  <a:srgbClr val="013D7A"/>
                </a:solidFill>
                <a:latin typeface="Arial"/>
                <a:ea typeface="Arial"/>
                <a:cs typeface="Arial"/>
              </a:defRPr>
            </a:lvl1pPr>
            <a:lvl2pPr algn="l">
              <a:defRPr sz="2100" b="1">
                <a:solidFill>
                  <a:srgbClr val="013D7A"/>
                </a:solidFill>
                <a:latin typeface="Arial"/>
                <a:ea typeface="Arial"/>
                <a:cs typeface="Arial"/>
              </a:defRPr>
            </a:lvl2pPr>
            <a:lvl3pPr algn="l">
              <a:defRPr sz="2100" b="1">
                <a:solidFill>
                  <a:srgbClr val="013D7A"/>
                </a:solidFill>
                <a:latin typeface="Arial"/>
                <a:ea typeface="Arial"/>
                <a:cs typeface="Arial"/>
              </a:defRPr>
            </a:lvl3pPr>
            <a:lvl4pPr algn="l">
              <a:defRPr sz="2100" b="1">
                <a:solidFill>
                  <a:srgbClr val="013D7A"/>
                </a:solidFill>
                <a:latin typeface="Arial"/>
                <a:ea typeface="Arial"/>
                <a:cs typeface="Arial"/>
              </a:defRPr>
            </a:lvl4pPr>
            <a:lvl5pPr algn="l">
              <a:defRPr sz="2100" b="1">
                <a:solidFill>
                  <a:srgbClr val="013D7A"/>
                </a:solidFill>
                <a:latin typeface="Arial"/>
                <a:ea typeface="Arial"/>
                <a:cs typeface="Arial"/>
              </a:defRPr>
            </a:lvl5pPr>
            <a:lvl6pPr algn="l">
              <a:defRPr sz="2100" b="1">
                <a:solidFill>
                  <a:srgbClr val="013D7A"/>
                </a:solidFill>
                <a:latin typeface="Arial"/>
                <a:ea typeface="Arial"/>
                <a:cs typeface="Arial"/>
              </a:defRPr>
            </a:lvl6pPr>
            <a:lvl7pPr algn="l">
              <a:defRPr sz="2100" b="1">
                <a:solidFill>
                  <a:srgbClr val="013D7A"/>
                </a:solidFill>
                <a:latin typeface="Arial"/>
                <a:ea typeface="Arial"/>
                <a:cs typeface="Arial"/>
              </a:defRPr>
            </a:lvl7pPr>
            <a:lvl8pPr algn="l">
              <a:defRPr sz="2100" b="1">
                <a:solidFill>
                  <a:srgbClr val="013D7A"/>
                </a:solidFill>
                <a:latin typeface="Arial"/>
                <a:ea typeface="Arial"/>
                <a:cs typeface="Arial"/>
              </a:defRPr>
            </a:lvl8pPr>
            <a:lvl9pPr algn="l">
              <a:defRPr sz="2100" b="1">
                <a:solidFill>
                  <a:srgbClr val="013D7A"/>
                </a:solidFill>
                <a:latin typeface="Arial"/>
                <a:ea typeface="Arial"/>
                <a:cs typeface="Arial"/>
              </a:defRPr>
            </a:lvl9pPr>
          </a:lstStyle>
          <a:p xmlns:a="http://schemas.openxmlformats.org/drawingml/2006/main">
            <a:pPr algn="l">
              <a:defRPr sz="2100" b="1">
                <a:solidFill>
                  <a:srgbClr val="013D7A"/>
                </a:solidFill>
                <a:latin typeface="Arial"/>
                <a:ea typeface="Arial"/>
                <a:cs typeface="Arial"/>
              </a:defRPr>
            </a:pPr>
            <a:r>
              <a:rPr sz="2100" b="1">
                <a:solidFill>
                  <a:srgbClr val="013D7A"/>
                </a:solidFill>
                <a:latin typeface="Arial"/>
                <a:ea typeface="Arial"/>
                <a:cs typeface="Arial"/>
              </a:rPr>
              <a:t>Gradient saliency</a:t>
            </a:r>
          </a:p>
        </p:txBody>
      </p:sp>
      <p:sp>
        <p:nvSpPr>
          <p:cNvPr id="20" name="Cases, cropping, weights and smoothing affect the heatmap. V">
            <a:extLst xmlns:a="http://schemas.openxmlformats.org/drawingml/2006/main">
              <a:ext uri="{FF2B5EF4-FFF2-40B4-BE49-F238E27FC236}">
                <a16:creationId xmlns:a16="http://schemas.microsoft.com/office/drawing/2014/main" id="{15490498-51A7-4294-8683-8DE37C2BF6D6}"/>
              </a:ext>
            </a:extLst>
          </p:cNvPr>
          <p:cNvSpPr>
            <a:spLocks xmlns:a="http://schemas.openxmlformats.org/drawingml/2006/main" noGrp="1"/>
          </p:cNvSpPr>
          <p:nvPr/>
        </p:nvSpPr>
        <p:spPr>
          <a:xfrm xmlns:a="http://schemas.openxmlformats.org/drawingml/2006/main">
            <a:off x="6429375" y="5638800"/>
            <a:ext cx="5048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Cases, cropping, weights and smoothing affect the heatmap. Visual plausibility needs validation.</a:t>
            </a:r>
          </a:p>
        </p:txBody>
      </p:sp>
      <p:sp>
        <p:nvSpPr>
          <p:cNvPr id="21" name="8">
            <a:extLst xmlns:a="http://schemas.openxmlformats.org/drawingml/2006/main">
              <a:ext uri="{FF2B5EF4-FFF2-40B4-BE49-F238E27FC236}">
                <a16:creationId xmlns:a16="http://schemas.microsoft.com/office/drawing/2014/main" id="{3C1AC5D5-6CFB-4F23-B476-288966A2E9D9}"/>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8</a:t>
            </a:r>
          </a:p>
        </p:txBody>
      </p:sp>
      <p:sp>
        <p:nvSpPr>
          <p:cNvPr id="22" name="Graphics reproduced by the group. They illustrate limits of ">
            <a:extLst xmlns:a="http://schemas.openxmlformats.org/drawingml/2006/main">
              <a:ext uri="{FF2B5EF4-FFF2-40B4-BE49-F238E27FC236}">
                <a16:creationId xmlns:a16="http://schemas.microsoft.com/office/drawing/2014/main" id="{EE598921-ECFD-4D61-B814-66EEC8365DAB}"/>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Graphics reproduced by the group. They illustrate limits of exact visual replication.</a:t>
            </a:r>
          </a:p>
        </p:txBody>
      </p:sp>
    </p:spTree>
    <p:extLst>
      <p:ext uri="{BB962C8B-B14F-4D97-AF65-F5344CB8AC3E}">
        <p14:creationId xmlns:p14="http://schemas.microsoft.com/office/powerpoint/2010/main" val="9223975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5114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8EE4F380-BE2E-435F-9193-5DE6F070042B}"/>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Data collection has oversight and sampling limits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Assessment</a:t>
            </a:r>
            <a:endParaRPr sz="1800">
              <a:latin typeface="Arial"/>
              <a:ea typeface="Arial"/>
              <a:cs typeface="Arial"/>
            </a:endParaRPr>
          </a:p>
        </p:txBody>
      </p:sp>
      <p:sp>
        <p:nvSpPr>
          <p:cNvPr id="2" name="矩形 1">
            <a:extLst xmlns:a="http://schemas.openxmlformats.org/drawingml/2006/main">
              <a:ext uri="{FF2B5EF4-FFF2-40B4-BE49-F238E27FC236}">
                <a16:creationId xmlns:a16="http://schemas.microsoft.com/office/drawing/2014/main" id="{0A6CCBE0-8B92-6EA3-4270-17006009BF1C}"/>
              </a:ext>
            </a:extLst>
          </p:cNvPr>
          <p:cNvSpPr>
            <a:spLocks xmlns:a="http://schemas.openxmlformats.org/drawingml/2006/main" noGrp="1"/>
          </p:cNvSpPr>
          <p:nvPr/>
        </p:nvSpPr>
        <p:spPr>
          <a:xfrm xmlns:a="http://schemas.openxmlformats.org/drawingml/2006/main">
            <a:off x="1300842" y="2026886"/>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hexagonal_73861">
            <a:extLst xmlns:a="http://schemas.openxmlformats.org/drawingml/2006/main">
              <a:ext uri="{FF2B5EF4-FFF2-40B4-BE49-F238E27FC236}">
                <a16:creationId xmlns:a16="http://schemas.microsoft.com/office/drawing/2014/main" id="{52F38808-649B-681C-25A6-AF6E6A8A885C}"/>
              </a:ext>
            </a:extLst>
          </p:cNvPr>
          <p:cNvSpPr>
            <a:spLocks xmlns:a="http://schemas.openxmlformats.org/drawingml/2006/main" noGrp="1"/>
          </p:cNvSpPr>
          <p:nvPr/>
        </p:nvSpPr>
        <p:spPr>
          <a:xfrm xmlns:a="http://schemas.openxmlformats.org/drawingml/2006/main" rot="16200000">
            <a:off x="1731390" y="2279166"/>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file_91765">
            <a:extLst xmlns:a="http://schemas.openxmlformats.org/drawingml/2006/main">
              <a:ext uri="{FF2B5EF4-FFF2-40B4-BE49-F238E27FC236}">
                <a16:creationId xmlns:a16="http://schemas.microsoft.com/office/drawing/2014/main" id="{FBF73034-CD15-D209-CA7D-9801C75470F2}"/>
              </a:ext>
            </a:extLst>
          </p:cNvPr>
          <p:cNvSpPr>
            <a:spLocks xmlns:a="http://schemas.openxmlformats.org/drawingml/2006/main" noGrp="1"/>
          </p:cNvSpPr>
          <p:nvPr/>
        </p:nvSpPr>
        <p:spPr>
          <a:xfrm xmlns:a="http://schemas.openxmlformats.org/drawingml/2006/main">
            <a:off x="2039514" y="2482457"/>
            <a:ext cx="237202" cy="346154"/>
          </a:xfrm>
          <a:custGeom xmlns:a="http://schemas.openxmlformats.org/drawingml/2006/main">
            <a:gdLst>
              <a:gd name="T0" fmla="*/ 854 w 2400"/>
              <a:gd name="T1" fmla="*/ 1453 h 3507"/>
              <a:gd name="T2" fmla="*/ 440 w 2400"/>
              <a:gd name="T3" fmla="*/ 1453 h 3507"/>
              <a:gd name="T4" fmla="*/ 440 w 2400"/>
              <a:gd name="T5" fmla="*/ 1040 h 3507"/>
              <a:gd name="T6" fmla="*/ 854 w 2400"/>
              <a:gd name="T7" fmla="*/ 1040 h 3507"/>
              <a:gd name="T8" fmla="*/ 854 w 2400"/>
              <a:gd name="T9" fmla="*/ 1453 h 3507"/>
              <a:gd name="T10" fmla="*/ 1707 w 2400"/>
              <a:gd name="T11" fmla="*/ 50 h 3507"/>
              <a:gd name="T12" fmla="*/ 1707 w 2400"/>
              <a:gd name="T13" fmla="*/ 653 h 3507"/>
              <a:gd name="T14" fmla="*/ 2333 w 2400"/>
              <a:gd name="T15" fmla="*/ 653 h 3507"/>
              <a:gd name="T16" fmla="*/ 1707 w 2400"/>
              <a:gd name="T17" fmla="*/ 50 h 3507"/>
              <a:gd name="T18" fmla="*/ 2400 w 2400"/>
              <a:gd name="T19" fmla="*/ 853 h 3507"/>
              <a:gd name="T20" fmla="*/ 2400 w 2400"/>
              <a:gd name="T21" fmla="*/ 3407 h 3507"/>
              <a:gd name="T22" fmla="*/ 2373 w 2400"/>
              <a:gd name="T23" fmla="*/ 3477 h 3507"/>
              <a:gd name="T24" fmla="*/ 2305 w 2400"/>
              <a:gd name="T25" fmla="*/ 3507 h 3507"/>
              <a:gd name="T26" fmla="*/ 2304 w 2400"/>
              <a:gd name="T27" fmla="*/ 3507 h 3507"/>
              <a:gd name="T28" fmla="*/ 102 w 2400"/>
              <a:gd name="T29" fmla="*/ 3500 h 3507"/>
              <a:gd name="T30" fmla="*/ 0 w 2400"/>
              <a:gd name="T31" fmla="*/ 3400 h 3507"/>
              <a:gd name="T32" fmla="*/ 0 w 2400"/>
              <a:gd name="T33" fmla="*/ 100 h 3507"/>
              <a:gd name="T34" fmla="*/ 105 w 2400"/>
              <a:gd name="T35" fmla="*/ 0 h 3507"/>
              <a:gd name="T36" fmla="*/ 1507 w 2400"/>
              <a:gd name="T37" fmla="*/ 0 h 3507"/>
              <a:gd name="T38" fmla="*/ 1507 w 2400"/>
              <a:gd name="T39" fmla="*/ 753 h 3507"/>
              <a:gd name="T40" fmla="*/ 1611 w 2400"/>
              <a:gd name="T41" fmla="*/ 853 h 3507"/>
              <a:gd name="T42" fmla="*/ 2400 w 2400"/>
              <a:gd name="T43" fmla="*/ 853 h 3507"/>
              <a:gd name="T44" fmla="*/ 1067 w 2400"/>
              <a:gd name="T45" fmla="*/ 940 h 3507"/>
              <a:gd name="T46" fmla="*/ 967 w 2400"/>
              <a:gd name="T47" fmla="*/ 840 h 3507"/>
              <a:gd name="T48" fmla="*/ 340 w 2400"/>
              <a:gd name="T49" fmla="*/ 840 h 3507"/>
              <a:gd name="T50" fmla="*/ 240 w 2400"/>
              <a:gd name="T51" fmla="*/ 940 h 3507"/>
              <a:gd name="T52" fmla="*/ 240 w 2400"/>
              <a:gd name="T53" fmla="*/ 1567 h 3507"/>
              <a:gd name="T54" fmla="*/ 340 w 2400"/>
              <a:gd name="T55" fmla="*/ 1667 h 3507"/>
              <a:gd name="T56" fmla="*/ 967 w 2400"/>
              <a:gd name="T57" fmla="*/ 1667 h 3507"/>
              <a:gd name="T58" fmla="*/ 1067 w 2400"/>
              <a:gd name="T59" fmla="*/ 1567 h 3507"/>
              <a:gd name="T60" fmla="*/ 1067 w 2400"/>
              <a:gd name="T61" fmla="*/ 940 h 3507"/>
              <a:gd name="T62" fmla="*/ 2185 w 2400"/>
              <a:gd name="T63" fmla="*/ 2420 h 3507"/>
              <a:gd name="T64" fmla="*/ 2085 w 2400"/>
              <a:gd name="T65" fmla="*/ 2320 h 3507"/>
              <a:gd name="T66" fmla="*/ 325 w 2400"/>
              <a:gd name="T67" fmla="*/ 2320 h 3507"/>
              <a:gd name="T68" fmla="*/ 225 w 2400"/>
              <a:gd name="T69" fmla="*/ 2420 h 3507"/>
              <a:gd name="T70" fmla="*/ 325 w 2400"/>
              <a:gd name="T71" fmla="*/ 2520 h 3507"/>
              <a:gd name="T72" fmla="*/ 2085 w 2400"/>
              <a:gd name="T73" fmla="*/ 2520 h 3507"/>
              <a:gd name="T74" fmla="*/ 2185 w 2400"/>
              <a:gd name="T75" fmla="*/ 2420 h 3507"/>
              <a:gd name="T76" fmla="*/ 2185 w 2400"/>
              <a:gd name="T77" fmla="*/ 2007 h 3507"/>
              <a:gd name="T78" fmla="*/ 2085 w 2400"/>
              <a:gd name="T79" fmla="*/ 1907 h 3507"/>
              <a:gd name="T80" fmla="*/ 325 w 2400"/>
              <a:gd name="T81" fmla="*/ 1907 h 3507"/>
              <a:gd name="T82" fmla="*/ 225 w 2400"/>
              <a:gd name="T83" fmla="*/ 2007 h 3507"/>
              <a:gd name="T84" fmla="*/ 325 w 2400"/>
              <a:gd name="T85" fmla="*/ 2107 h 3507"/>
              <a:gd name="T86" fmla="*/ 2085 w 2400"/>
              <a:gd name="T87" fmla="*/ 2107 h 3507"/>
              <a:gd name="T88" fmla="*/ 2185 w 2400"/>
              <a:gd name="T89" fmla="*/ 2007 h 3507"/>
              <a:gd name="T90" fmla="*/ 2185 w 2400"/>
              <a:gd name="T91" fmla="*/ 1567 h 3507"/>
              <a:gd name="T92" fmla="*/ 2085 w 2400"/>
              <a:gd name="T93" fmla="*/ 1467 h 3507"/>
              <a:gd name="T94" fmla="*/ 1418 w 2400"/>
              <a:gd name="T95" fmla="*/ 1467 h 3507"/>
              <a:gd name="T96" fmla="*/ 1318 w 2400"/>
              <a:gd name="T97" fmla="*/ 1567 h 3507"/>
              <a:gd name="T98" fmla="*/ 1418 w 2400"/>
              <a:gd name="T99" fmla="*/ 1667 h 3507"/>
              <a:gd name="T100" fmla="*/ 2085 w 2400"/>
              <a:gd name="T101" fmla="*/ 1667 h 3507"/>
              <a:gd name="T102" fmla="*/ 2185 w 2400"/>
              <a:gd name="T103" fmla="*/ 1567 h 3507"/>
            </a:gdLst>
            <a:rect l="0" t="0" r="r" b="b"/>
            <a:pathLst>
              <a:path w="2400" h="3507">
                <a:moveTo>
                  <a:pt x="854" y="1453"/>
                </a:moveTo>
                <a:lnTo>
                  <a:pt x="440" y="1453"/>
                </a:lnTo>
                <a:lnTo>
                  <a:pt x="440" y="1040"/>
                </a:lnTo>
                <a:lnTo>
                  <a:pt x="854" y="1040"/>
                </a:lnTo>
                <a:lnTo>
                  <a:pt x="854" y="1453"/>
                </a:lnTo>
                <a:close/>
                <a:moveTo>
                  <a:pt x="1707" y="50"/>
                </a:moveTo>
                <a:lnTo>
                  <a:pt x="1707" y="653"/>
                </a:lnTo>
                <a:lnTo>
                  <a:pt x="2333" y="653"/>
                </a:lnTo>
                <a:lnTo>
                  <a:pt x="1707" y="50"/>
                </a:lnTo>
                <a:close/>
                <a:moveTo>
                  <a:pt x="2400" y="853"/>
                </a:moveTo>
                <a:lnTo>
                  <a:pt x="2400" y="3407"/>
                </a:lnTo>
                <a:cubicBezTo>
                  <a:pt x="2400" y="3433"/>
                  <a:pt x="2392" y="3459"/>
                  <a:pt x="2373" y="3477"/>
                </a:cubicBezTo>
                <a:cubicBezTo>
                  <a:pt x="2354" y="3496"/>
                  <a:pt x="2331" y="3507"/>
                  <a:pt x="2305" y="3507"/>
                </a:cubicBezTo>
                <a:lnTo>
                  <a:pt x="2304" y="3507"/>
                </a:lnTo>
                <a:lnTo>
                  <a:pt x="102" y="3500"/>
                </a:lnTo>
                <a:cubicBezTo>
                  <a:pt x="47" y="3499"/>
                  <a:pt x="0" y="3455"/>
                  <a:pt x="0" y="3400"/>
                </a:cubicBezTo>
                <a:lnTo>
                  <a:pt x="0" y="100"/>
                </a:lnTo>
                <a:cubicBezTo>
                  <a:pt x="0" y="45"/>
                  <a:pt x="50" y="0"/>
                  <a:pt x="105" y="0"/>
                </a:cubicBezTo>
                <a:lnTo>
                  <a:pt x="1507" y="0"/>
                </a:lnTo>
                <a:lnTo>
                  <a:pt x="1507" y="753"/>
                </a:lnTo>
                <a:cubicBezTo>
                  <a:pt x="1507" y="809"/>
                  <a:pt x="1556" y="853"/>
                  <a:pt x="1611" y="853"/>
                </a:cubicBezTo>
                <a:lnTo>
                  <a:pt x="2400" y="853"/>
                </a:lnTo>
                <a:close/>
                <a:moveTo>
                  <a:pt x="1067" y="940"/>
                </a:moveTo>
                <a:cubicBezTo>
                  <a:pt x="1067" y="885"/>
                  <a:pt x="1022" y="840"/>
                  <a:pt x="967" y="840"/>
                </a:cubicBezTo>
                <a:lnTo>
                  <a:pt x="340" y="840"/>
                </a:lnTo>
                <a:cubicBezTo>
                  <a:pt x="285" y="840"/>
                  <a:pt x="240" y="885"/>
                  <a:pt x="240" y="940"/>
                </a:cubicBezTo>
                <a:lnTo>
                  <a:pt x="240" y="1567"/>
                </a:lnTo>
                <a:cubicBezTo>
                  <a:pt x="240" y="1622"/>
                  <a:pt x="285" y="1667"/>
                  <a:pt x="340" y="1667"/>
                </a:cubicBezTo>
                <a:lnTo>
                  <a:pt x="967" y="1667"/>
                </a:lnTo>
                <a:cubicBezTo>
                  <a:pt x="1022" y="1667"/>
                  <a:pt x="1067" y="1622"/>
                  <a:pt x="1067" y="1567"/>
                </a:cubicBezTo>
                <a:lnTo>
                  <a:pt x="1067" y="940"/>
                </a:lnTo>
                <a:close/>
                <a:moveTo>
                  <a:pt x="2185" y="2420"/>
                </a:moveTo>
                <a:cubicBezTo>
                  <a:pt x="2185" y="2365"/>
                  <a:pt x="2140" y="2320"/>
                  <a:pt x="2085" y="2320"/>
                </a:cubicBezTo>
                <a:lnTo>
                  <a:pt x="325" y="2320"/>
                </a:lnTo>
                <a:cubicBezTo>
                  <a:pt x="270" y="2320"/>
                  <a:pt x="225" y="2365"/>
                  <a:pt x="225" y="2420"/>
                </a:cubicBezTo>
                <a:cubicBezTo>
                  <a:pt x="225" y="2475"/>
                  <a:pt x="270" y="2520"/>
                  <a:pt x="325" y="2520"/>
                </a:cubicBezTo>
                <a:lnTo>
                  <a:pt x="2085" y="2520"/>
                </a:lnTo>
                <a:cubicBezTo>
                  <a:pt x="2140" y="2520"/>
                  <a:pt x="2185" y="2475"/>
                  <a:pt x="2185" y="2420"/>
                </a:cubicBezTo>
                <a:close/>
                <a:moveTo>
                  <a:pt x="2185" y="2007"/>
                </a:moveTo>
                <a:cubicBezTo>
                  <a:pt x="2185" y="1951"/>
                  <a:pt x="2140" y="1907"/>
                  <a:pt x="2085" y="1907"/>
                </a:cubicBezTo>
                <a:lnTo>
                  <a:pt x="325" y="1907"/>
                </a:lnTo>
                <a:cubicBezTo>
                  <a:pt x="270" y="1907"/>
                  <a:pt x="225" y="1951"/>
                  <a:pt x="225" y="2007"/>
                </a:cubicBezTo>
                <a:cubicBezTo>
                  <a:pt x="225" y="2062"/>
                  <a:pt x="270" y="2107"/>
                  <a:pt x="325" y="2107"/>
                </a:cubicBezTo>
                <a:lnTo>
                  <a:pt x="2085" y="2107"/>
                </a:lnTo>
                <a:cubicBezTo>
                  <a:pt x="2140" y="2107"/>
                  <a:pt x="2185" y="2062"/>
                  <a:pt x="2185" y="2007"/>
                </a:cubicBezTo>
                <a:close/>
                <a:moveTo>
                  <a:pt x="2185" y="1567"/>
                </a:moveTo>
                <a:cubicBezTo>
                  <a:pt x="2185" y="1511"/>
                  <a:pt x="2140" y="1467"/>
                  <a:pt x="2085" y="1467"/>
                </a:cubicBezTo>
                <a:lnTo>
                  <a:pt x="1418" y="1467"/>
                </a:lnTo>
                <a:cubicBezTo>
                  <a:pt x="1363" y="1467"/>
                  <a:pt x="1318" y="1511"/>
                  <a:pt x="1318" y="1567"/>
                </a:cubicBezTo>
                <a:cubicBezTo>
                  <a:pt x="1318" y="1622"/>
                  <a:pt x="1363" y="1667"/>
                  <a:pt x="1418" y="1667"/>
                </a:cubicBezTo>
                <a:lnTo>
                  <a:pt x="2085" y="1667"/>
                </a:lnTo>
                <a:cubicBezTo>
                  <a:pt x="2140" y="1667"/>
                  <a:pt x="2185" y="1622"/>
                  <a:pt x="2185" y="1567"/>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3FAABD1D-B39C-AD47-0BA8-8CCB74CEBF36}"/>
              </a:ext>
            </a:extLst>
          </p:cNvPr>
          <p:cNvSpPr>
            <a:spLocks xmlns:a="http://schemas.openxmlformats.org/drawingml/2006/main" noGrp="1"/>
          </p:cNvSpPr>
          <p:nvPr/>
        </p:nvSpPr>
        <p:spPr>
          <a:xfrm xmlns:a="http://schemas.openxmlformats.org/drawingml/2006/main">
            <a:off x="2905125" y="217170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1  Ethical approval</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CERSES-20-058-D and consent handling are reported.</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Source-level reuse still needs traceable attribution.</a:t>
            </a:r>
            <a:endParaRPr sz="2000">
              <a:solidFill>
                <a:schemeClr val="tx1">
                  <a:lumMod val="75000"/>
                  <a:lumOff val="25000"/>
                </a:schemeClr>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9BBFB361-C24B-7921-EABC-8971FF9C7261}"/>
              </a:ext>
            </a:extLst>
          </p:cNvPr>
          <p:cNvSpPr>
            <a:spLocks xmlns:a="http://schemas.openxmlformats.org/drawingml/2006/main" noGrp="1"/>
          </p:cNvSpPr>
          <p:nvPr/>
        </p:nvSpPr>
        <p:spPr>
          <a:xfrm xmlns:a="http://schemas.openxmlformats.org/drawingml/2006/main">
            <a:off x="1300842" y="3539163"/>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hexagonal_73861">
            <a:extLst xmlns:a="http://schemas.openxmlformats.org/drawingml/2006/main">
              <a:ext uri="{FF2B5EF4-FFF2-40B4-BE49-F238E27FC236}">
                <a16:creationId xmlns:a16="http://schemas.microsoft.com/office/drawing/2014/main" id="{E0F1EED2-53FB-9088-2C82-D5A58537E79C}"/>
              </a:ext>
            </a:extLst>
          </p:cNvPr>
          <p:cNvSpPr>
            <a:spLocks xmlns:a="http://schemas.openxmlformats.org/drawingml/2006/main" noGrp="1"/>
          </p:cNvSpPr>
          <p:nvPr/>
        </p:nvSpPr>
        <p:spPr>
          <a:xfrm xmlns:a="http://schemas.openxmlformats.org/drawingml/2006/main" rot="16200000">
            <a:off x="1731390" y="3791443"/>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文本框 16">
            <a:extLst xmlns:a="http://schemas.openxmlformats.org/drawingml/2006/main">
              <a:ext uri="{FF2B5EF4-FFF2-40B4-BE49-F238E27FC236}">
                <a16:creationId xmlns:a16="http://schemas.microsoft.com/office/drawing/2014/main" id="{807AF698-247A-905E-032C-A286C7C19387}"/>
              </a:ext>
            </a:extLst>
          </p:cNvPr>
          <p:cNvSpPr>
            <a:spLocks xmlns:a="http://schemas.openxmlformats.org/drawingml/2006/main" noGrp="1"/>
          </p:cNvSpPr>
          <p:nvPr/>
        </p:nvSpPr>
        <p:spPr>
          <a:xfrm xmlns:a="http://schemas.openxmlformats.org/drawingml/2006/main">
            <a:off x="2905125" y="368427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2  Data collection</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The public collection is a convenience sample.</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International sources do not establish representativeness.</a:t>
            </a:r>
            <a:endParaRPr sz="2000">
              <a:solidFill>
                <a:schemeClr val="tx1">
                  <a:lumMod val="75000"/>
                  <a:lumOff val="25000"/>
                </a:schemeClr>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34530528-EF3E-CE96-3AA9-959DE8FFFEF1}"/>
              </a:ext>
            </a:extLst>
          </p:cNvPr>
          <p:cNvSpPr>
            <a:spLocks xmlns:a="http://schemas.openxmlformats.org/drawingml/2006/main" noGrp="1"/>
          </p:cNvSpPr>
          <p:nvPr/>
        </p:nvSpPr>
        <p:spPr>
          <a:xfrm xmlns:a="http://schemas.openxmlformats.org/drawingml/2006/main">
            <a:off x="1300842" y="5051440"/>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hexagonal_73861">
            <a:extLst xmlns:a="http://schemas.openxmlformats.org/drawingml/2006/main">
              <a:ext uri="{FF2B5EF4-FFF2-40B4-BE49-F238E27FC236}">
                <a16:creationId xmlns:a16="http://schemas.microsoft.com/office/drawing/2014/main" id="{3AA9A527-62AC-6888-76B1-BB368195F9C4}"/>
              </a:ext>
            </a:extLst>
          </p:cNvPr>
          <p:cNvSpPr>
            <a:spLocks xmlns:a="http://schemas.openxmlformats.org/drawingml/2006/main" noGrp="1"/>
          </p:cNvSpPr>
          <p:nvPr/>
        </p:nvSpPr>
        <p:spPr>
          <a:xfrm xmlns:a="http://schemas.openxmlformats.org/drawingml/2006/main" rot="16200000">
            <a:off x="1731390" y="5303720"/>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文本框 19">
            <a:extLst xmlns:a="http://schemas.openxmlformats.org/drawingml/2006/main">
              <a:ext uri="{FF2B5EF4-FFF2-40B4-BE49-F238E27FC236}">
                <a16:creationId xmlns:a16="http://schemas.microsoft.com/office/drawing/2014/main" id="{5199480A-0C41-A332-A0F8-1949E19E9D52}"/>
              </a:ext>
            </a:extLst>
          </p:cNvPr>
          <p:cNvSpPr>
            <a:spLocks xmlns:a="http://schemas.openxmlformats.org/drawingml/2006/main" noGrp="1"/>
          </p:cNvSpPr>
          <p:nvPr/>
        </p:nvSpPr>
        <p:spPr>
          <a:xfrm xmlns:a="http://schemas.openxmlformats.org/drawingml/2006/main">
            <a:off x="2905125" y="519684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3  Data quality</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Three experts provide labels, with reader disagreement.</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Clinical fields remain incomplete.</a:t>
            </a:r>
            <a:endParaRPr sz="2000">
              <a:solidFill>
                <a:schemeClr val="tx1">
                  <a:lumMod val="75000"/>
                  <a:lumOff val="25000"/>
                </a:schemeClr>
              </a:solidFill>
              <a:latin typeface="Arial"/>
              <a:ea typeface="Arial"/>
              <a:cs typeface="Arial"/>
            </a:endParaRPr>
          </a:p>
        </p:txBody>
      </p:sp>
      <p:sp>
        <p:nvSpPr>
          <p:cNvPr id="21" name="edit-text_62029">
            <a:extLst xmlns:a="http://schemas.openxmlformats.org/drawingml/2006/main">
              <a:ext uri="{FF2B5EF4-FFF2-40B4-BE49-F238E27FC236}">
                <a16:creationId xmlns:a16="http://schemas.microsoft.com/office/drawing/2014/main" id="{987B202C-F6C2-866F-606C-940E68D8D2EE}"/>
              </a:ext>
            </a:extLst>
          </p:cNvPr>
          <p:cNvSpPr>
            <a:spLocks xmlns:a="http://schemas.openxmlformats.org/drawingml/2006/main" noGrp="1"/>
          </p:cNvSpPr>
          <p:nvPr/>
        </p:nvSpPr>
        <p:spPr>
          <a:xfrm xmlns:a="http://schemas.openxmlformats.org/drawingml/2006/main">
            <a:off x="1985561" y="3994734"/>
            <a:ext cx="345108" cy="346154"/>
          </a:xfrm>
          <a:custGeom xmlns:a="http://schemas.openxmlformats.org/drawingml/2006/main">
            <a:gdLst>
              <a:gd name="T0" fmla="*/ 5740 w 5955"/>
              <a:gd name="T1" fmla="*/ 215 h 5983"/>
              <a:gd name="T2" fmla="*/ 5222 w 5955"/>
              <a:gd name="T3" fmla="*/ 0 h 5983"/>
              <a:gd name="T4" fmla="*/ 4703 w 5955"/>
              <a:gd name="T5" fmla="*/ 215 h 5983"/>
              <a:gd name="T6" fmla="*/ 3846 w 5955"/>
              <a:gd name="T7" fmla="*/ 1072 h 5983"/>
              <a:gd name="T8" fmla="*/ 177 w 5955"/>
              <a:gd name="T9" fmla="*/ 1072 h 5983"/>
              <a:gd name="T10" fmla="*/ 0 w 5955"/>
              <a:gd name="T11" fmla="*/ 1248 h 5983"/>
              <a:gd name="T12" fmla="*/ 0 w 5955"/>
              <a:gd name="T13" fmla="*/ 4481 h 5983"/>
              <a:gd name="T14" fmla="*/ 177 w 5955"/>
              <a:gd name="T15" fmla="*/ 4658 h 5983"/>
              <a:gd name="T16" fmla="*/ 2879 w 5955"/>
              <a:gd name="T17" fmla="*/ 4658 h 5983"/>
              <a:gd name="T18" fmla="*/ 2879 w 5955"/>
              <a:gd name="T19" fmla="*/ 5807 h 5983"/>
              <a:gd name="T20" fmla="*/ 2988 w 5955"/>
              <a:gd name="T21" fmla="*/ 5970 h 5983"/>
              <a:gd name="T22" fmla="*/ 3056 w 5955"/>
              <a:gd name="T23" fmla="*/ 5983 h 5983"/>
              <a:gd name="T24" fmla="*/ 3181 w 5955"/>
              <a:gd name="T25" fmla="*/ 5932 h 5983"/>
              <a:gd name="T26" fmla="*/ 4463 w 5955"/>
              <a:gd name="T27" fmla="*/ 4658 h 5983"/>
              <a:gd name="T28" fmla="*/ 5223 w 5955"/>
              <a:gd name="T29" fmla="*/ 4658 h 5983"/>
              <a:gd name="T30" fmla="*/ 5399 w 5955"/>
              <a:gd name="T31" fmla="*/ 4481 h 5983"/>
              <a:gd name="T32" fmla="*/ 5399 w 5955"/>
              <a:gd name="T33" fmla="*/ 1593 h 5983"/>
              <a:gd name="T34" fmla="*/ 5740 w 5955"/>
              <a:gd name="T35" fmla="*/ 1252 h 5983"/>
              <a:gd name="T36" fmla="*/ 5955 w 5955"/>
              <a:gd name="T37" fmla="*/ 733 h 5983"/>
              <a:gd name="T38" fmla="*/ 5740 w 5955"/>
              <a:gd name="T39" fmla="*/ 215 h 5983"/>
              <a:gd name="T40" fmla="*/ 3240 w 5955"/>
              <a:gd name="T41" fmla="*/ 2839 h 5983"/>
              <a:gd name="T42" fmla="*/ 3149 w 5955"/>
              <a:gd name="T43" fmla="*/ 2812 h 5983"/>
              <a:gd name="T44" fmla="*/ 3122 w 5955"/>
              <a:gd name="T45" fmla="*/ 2721 h 5983"/>
              <a:gd name="T46" fmla="*/ 3231 w 5955"/>
              <a:gd name="T47" fmla="*/ 2190 h 5983"/>
              <a:gd name="T48" fmla="*/ 3771 w 5955"/>
              <a:gd name="T49" fmla="*/ 2730 h 5983"/>
              <a:gd name="T50" fmla="*/ 3240 w 5955"/>
              <a:gd name="T51" fmla="*/ 2839 h 5983"/>
              <a:gd name="T52" fmla="*/ 3967 w 5955"/>
              <a:gd name="T53" fmla="*/ 2560 h 5983"/>
              <a:gd name="T54" fmla="*/ 3401 w 5955"/>
              <a:gd name="T55" fmla="*/ 1994 h 5983"/>
              <a:gd name="T56" fmla="*/ 4670 w 5955"/>
              <a:gd name="T57" fmla="*/ 725 h 5983"/>
              <a:gd name="T58" fmla="*/ 5236 w 5955"/>
              <a:gd name="T59" fmla="*/ 1291 h 5983"/>
              <a:gd name="T60" fmla="*/ 3967 w 5955"/>
              <a:gd name="T61" fmla="*/ 2560 h 5983"/>
              <a:gd name="T62" fmla="*/ 5500 w 5955"/>
              <a:gd name="T63" fmla="*/ 1026 h 5983"/>
              <a:gd name="T64" fmla="*/ 5419 w 5955"/>
              <a:gd name="T65" fmla="*/ 1108 h 5983"/>
              <a:gd name="T66" fmla="*/ 4853 w 5955"/>
              <a:gd name="T67" fmla="*/ 542 h 5983"/>
              <a:gd name="T68" fmla="*/ 4935 w 5955"/>
              <a:gd name="T69" fmla="*/ 461 h 5983"/>
              <a:gd name="T70" fmla="*/ 5500 w 5955"/>
              <a:gd name="T71" fmla="*/ 461 h 5983"/>
              <a:gd name="T72" fmla="*/ 5500 w 5955"/>
              <a:gd name="T73" fmla="*/ 1026 h 5983"/>
            </a:gdLst>
            <a:rect l="0" t="0" r="r" b="b"/>
            <a:pathLst>
              <a:path w="5955" h="5983">
                <a:moveTo>
                  <a:pt x="5740" y="215"/>
                </a:moveTo>
                <a:cubicBezTo>
                  <a:pt x="5602" y="76"/>
                  <a:pt x="5418" y="0"/>
                  <a:pt x="5222" y="0"/>
                </a:cubicBezTo>
                <a:cubicBezTo>
                  <a:pt x="5026" y="0"/>
                  <a:pt x="4842" y="76"/>
                  <a:pt x="4703" y="215"/>
                </a:cubicBezTo>
                <a:lnTo>
                  <a:pt x="3846" y="1072"/>
                </a:lnTo>
                <a:lnTo>
                  <a:pt x="177" y="1072"/>
                </a:lnTo>
                <a:cubicBezTo>
                  <a:pt x="79" y="1072"/>
                  <a:pt x="0" y="1151"/>
                  <a:pt x="0" y="1248"/>
                </a:cubicBezTo>
                <a:lnTo>
                  <a:pt x="0" y="4481"/>
                </a:lnTo>
                <a:cubicBezTo>
                  <a:pt x="0" y="4579"/>
                  <a:pt x="79" y="4658"/>
                  <a:pt x="177" y="4658"/>
                </a:cubicBezTo>
                <a:lnTo>
                  <a:pt x="2879" y="4658"/>
                </a:lnTo>
                <a:lnTo>
                  <a:pt x="2879" y="5807"/>
                </a:lnTo>
                <a:cubicBezTo>
                  <a:pt x="2879" y="5878"/>
                  <a:pt x="2922" y="5943"/>
                  <a:pt x="2988" y="5970"/>
                </a:cubicBezTo>
                <a:cubicBezTo>
                  <a:pt x="3010" y="5979"/>
                  <a:pt x="3033" y="5983"/>
                  <a:pt x="3056" y="5983"/>
                </a:cubicBezTo>
                <a:cubicBezTo>
                  <a:pt x="3102" y="5983"/>
                  <a:pt x="3147" y="5965"/>
                  <a:pt x="3181" y="5932"/>
                </a:cubicBezTo>
                <a:lnTo>
                  <a:pt x="4463" y="4658"/>
                </a:lnTo>
                <a:lnTo>
                  <a:pt x="5223" y="4658"/>
                </a:lnTo>
                <a:cubicBezTo>
                  <a:pt x="5320" y="4658"/>
                  <a:pt x="5399" y="4579"/>
                  <a:pt x="5399" y="4481"/>
                </a:cubicBezTo>
                <a:lnTo>
                  <a:pt x="5399" y="1593"/>
                </a:lnTo>
                <a:lnTo>
                  <a:pt x="5740" y="1252"/>
                </a:lnTo>
                <a:cubicBezTo>
                  <a:pt x="5879" y="1113"/>
                  <a:pt x="5955" y="929"/>
                  <a:pt x="5955" y="733"/>
                </a:cubicBezTo>
                <a:cubicBezTo>
                  <a:pt x="5955" y="537"/>
                  <a:pt x="5879" y="353"/>
                  <a:pt x="5740" y="215"/>
                </a:cubicBezTo>
                <a:close/>
                <a:moveTo>
                  <a:pt x="3240" y="2839"/>
                </a:moveTo>
                <a:cubicBezTo>
                  <a:pt x="3207" y="2846"/>
                  <a:pt x="3173" y="2835"/>
                  <a:pt x="3149" y="2812"/>
                </a:cubicBezTo>
                <a:cubicBezTo>
                  <a:pt x="3125" y="2788"/>
                  <a:pt x="3115" y="2754"/>
                  <a:pt x="3122" y="2721"/>
                </a:cubicBezTo>
                <a:lnTo>
                  <a:pt x="3231" y="2190"/>
                </a:lnTo>
                <a:lnTo>
                  <a:pt x="3771" y="2730"/>
                </a:lnTo>
                <a:lnTo>
                  <a:pt x="3240" y="2839"/>
                </a:lnTo>
                <a:close/>
                <a:moveTo>
                  <a:pt x="3967" y="2560"/>
                </a:moveTo>
                <a:lnTo>
                  <a:pt x="3401" y="1994"/>
                </a:lnTo>
                <a:lnTo>
                  <a:pt x="4670" y="725"/>
                </a:lnTo>
                <a:lnTo>
                  <a:pt x="5236" y="1291"/>
                </a:lnTo>
                <a:lnTo>
                  <a:pt x="3967" y="2560"/>
                </a:lnTo>
                <a:close/>
                <a:moveTo>
                  <a:pt x="5500" y="1026"/>
                </a:moveTo>
                <a:lnTo>
                  <a:pt x="5419" y="1108"/>
                </a:lnTo>
                <a:lnTo>
                  <a:pt x="4853" y="542"/>
                </a:lnTo>
                <a:lnTo>
                  <a:pt x="4935" y="461"/>
                </a:lnTo>
                <a:cubicBezTo>
                  <a:pt x="5091" y="304"/>
                  <a:pt x="5344" y="304"/>
                  <a:pt x="5500" y="461"/>
                </a:cubicBezTo>
                <a:cubicBezTo>
                  <a:pt x="5656" y="617"/>
                  <a:pt x="5656" y="870"/>
                  <a:pt x="5500" y="1026"/>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school-material_304636">
            <a:extLst xmlns:a="http://schemas.openxmlformats.org/drawingml/2006/main">
              <a:ext uri="{FF2B5EF4-FFF2-40B4-BE49-F238E27FC236}">
                <a16:creationId xmlns:a16="http://schemas.microsoft.com/office/drawing/2014/main" id="{F388813E-7455-473D-9127-B0109AB0DA1E}"/>
              </a:ext>
            </a:extLst>
          </p:cNvPr>
          <p:cNvSpPr>
            <a:spLocks xmlns:a="http://schemas.openxmlformats.org/drawingml/2006/main" noGrp="1"/>
          </p:cNvSpPr>
          <p:nvPr/>
        </p:nvSpPr>
        <p:spPr>
          <a:xfrm xmlns:a="http://schemas.openxmlformats.org/drawingml/2006/main">
            <a:off x="1985038" y="5531814"/>
            <a:ext cx="346154" cy="296548"/>
          </a:xfrm>
          <a:custGeom xmlns:a="http://schemas.openxmlformats.org/drawingml/2006/main">
            <a:gdLst>
              <a:gd name="connsiteX0" fmla="*/ 493946 w 607639"/>
              <a:gd name="connsiteY0" fmla="*/ 400670 h 520561"/>
              <a:gd name="connsiteX1" fmla="*/ 590080 w 607639"/>
              <a:gd name="connsiteY1" fmla="*/ 400670 h 520561"/>
              <a:gd name="connsiteX2" fmla="*/ 596667 w 607639"/>
              <a:gd name="connsiteY2" fmla="*/ 410360 h 520561"/>
              <a:gd name="connsiteX3" fmla="*/ 561685 w 607639"/>
              <a:gd name="connsiteY3" fmla="*/ 496061 h 520561"/>
              <a:gd name="connsiteX4" fmla="*/ 522430 w 607639"/>
              <a:gd name="connsiteY4" fmla="*/ 496061 h 520561"/>
              <a:gd name="connsiteX5" fmla="*/ 487448 w 607639"/>
              <a:gd name="connsiteY5" fmla="*/ 410360 h 520561"/>
              <a:gd name="connsiteX6" fmla="*/ 493946 w 607639"/>
              <a:gd name="connsiteY6" fmla="*/ 400670 h 520561"/>
              <a:gd name="connsiteX7" fmla="*/ 110192 w 607639"/>
              <a:gd name="connsiteY7" fmla="*/ 349855 h 520561"/>
              <a:gd name="connsiteX8" fmla="*/ 89186 w 607639"/>
              <a:gd name="connsiteY8" fmla="*/ 373492 h 520561"/>
              <a:gd name="connsiteX9" fmla="*/ 110815 w 607639"/>
              <a:gd name="connsiteY9" fmla="*/ 392242 h 520561"/>
              <a:gd name="connsiteX10" fmla="*/ 316512 w 607639"/>
              <a:gd name="connsiteY10" fmla="*/ 392242 h 520561"/>
              <a:gd name="connsiteX11" fmla="*/ 337606 w 607639"/>
              <a:gd name="connsiteY11" fmla="*/ 368694 h 520561"/>
              <a:gd name="connsiteX12" fmla="*/ 315977 w 607639"/>
              <a:gd name="connsiteY12" fmla="*/ 349855 h 520561"/>
              <a:gd name="connsiteX13" fmla="*/ 110192 w 607639"/>
              <a:gd name="connsiteY13" fmla="*/ 239842 h 520561"/>
              <a:gd name="connsiteX14" fmla="*/ 89186 w 607639"/>
              <a:gd name="connsiteY14" fmla="*/ 263391 h 520561"/>
              <a:gd name="connsiteX15" fmla="*/ 110815 w 607639"/>
              <a:gd name="connsiteY15" fmla="*/ 282141 h 520561"/>
              <a:gd name="connsiteX16" fmla="*/ 316512 w 607639"/>
              <a:gd name="connsiteY16" fmla="*/ 282141 h 520561"/>
              <a:gd name="connsiteX17" fmla="*/ 337606 w 607639"/>
              <a:gd name="connsiteY17" fmla="*/ 258592 h 520561"/>
              <a:gd name="connsiteX18" fmla="*/ 315977 w 607639"/>
              <a:gd name="connsiteY18" fmla="*/ 239842 h 520561"/>
              <a:gd name="connsiteX19" fmla="*/ 158256 w 607639"/>
              <a:gd name="connsiteY19" fmla="*/ 129829 h 520561"/>
              <a:gd name="connsiteX20" fmla="*/ 137161 w 607639"/>
              <a:gd name="connsiteY20" fmla="*/ 153378 h 520561"/>
              <a:gd name="connsiteX21" fmla="*/ 158790 w 607639"/>
              <a:gd name="connsiteY21" fmla="*/ 172128 h 520561"/>
              <a:gd name="connsiteX22" fmla="*/ 268447 w 607639"/>
              <a:gd name="connsiteY22" fmla="*/ 172128 h 520561"/>
              <a:gd name="connsiteX23" fmla="*/ 289542 w 607639"/>
              <a:gd name="connsiteY23" fmla="*/ 148579 h 520561"/>
              <a:gd name="connsiteX24" fmla="*/ 267913 w 607639"/>
              <a:gd name="connsiteY24" fmla="*/ 129829 h 520561"/>
              <a:gd name="connsiteX25" fmla="*/ 483297 w 607639"/>
              <a:gd name="connsiteY25" fmla="*/ 115657 h 520561"/>
              <a:gd name="connsiteX26" fmla="*/ 600518 w 607639"/>
              <a:gd name="connsiteY26" fmla="*/ 115657 h 520561"/>
              <a:gd name="connsiteX27" fmla="*/ 607639 w 607639"/>
              <a:gd name="connsiteY27" fmla="*/ 122679 h 520561"/>
              <a:gd name="connsiteX28" fmla="*/ 607639 w 607639"/>
              <a:gd name="connsiteY28" fmla="*/ 351291 h 520561"/>
              <a:gd name="connsiteX29" fmla="*/ 600518 w 607639"/>
              <a:gd name="connsiteY29" fmla="*/ 358402 h 520561"/>
              <a:gd name="connsiteX30" fmla="*/ 483297 w 607639"/>
              <a:gd name="connsiteY30" fmla="*/ 358402 h 520561"/>
              <a:gd name="connsiteX31" fmla="*/ 476176 w 607639"/>
              <a:gd name="connsiteY31" fmla="*/ 351291 h 520561"/>
              <a:gd name="connsiteX32" fmla="*/ 476176 w 607639"/>
              <a:gd name="connsiteY32" fmla="*/ 122679 h 520561"/>
              <a:gd name="connsiteX33" fmla="*/ 483297 w 607639"/>
              <a:gd name="connsiteY33" fmla="*/ 115657 h 520561"/>
              <a:gd name="connsiteX34" fmla="*/ 497360 w 607639"/>
              <a:gd name="connsiteY34" fmla="*/ 0 h 520561"/>
              <a:gd name="connsiteX35" fmla="*/ 586455 w 607639"/>
              <a:gd name="connsiteY35" fmla="*/ 0 h 520561"/>
              <a:gd name="connsiteX36" fmla="*/ 607639 w 607639"/>
              <a:gd name="connsiteY36" fmla="*/ 21146 h 520561"/>
              <a:gd name="connsiteX37" fmla="*/ 607639 w 607639"/>
              <a:gd name="connsiteY37" fmla="*/ 66280 h 520561"/>
              <a:gd name="connsiteX38" fmla="*/ 600518 w 607639"/>
              <a:gd name="connsiteY38" fmla="*/ 73388 h 520561"/>
              <a:gd name="connsiteX39" fmla="*/ 483297 w 607639"/>
              <a:gd name="connsiteY39" fmla="*/ 73388 h 520561"/>
              <a:gd name="connsiteX40" fmla="*/ 476176 w 607639"/>
              <a:gd name="connsiteY40" fmla="*/ 66280 h 520561"/>
              <a:gd name="connsiteX41" fmla="*/ 476176 w 607639"/>
              <a:gd name="connsiteY41" fmla="*/ 21146 h 520561"/>
              <a:gd name="connsiteX42" fmla="*/ 497360 w 607639"/>
              <a:gd name="connsiteY42" fmla="*/ 0 h 520561"/>
              <a:gd name="connsiteX43" fmla="*/ 21184 w 607639"/>
              <a:gd name="connsiteY43" fmla="*/ 0 h 520561"/>
              <a:gd name="connsiteX44" fmla="*/ 404184 w 607639"/>
              <a:gd name="connsiteY44" fmla="*/ 0 h 520561"/>
              <a:gd name="connsiteX45" fmla="*/ 425368 w 607639"/>
              <a:gd name="connsiteY45" fmla="*/ 21149 h 520561"/>
              <a:gd name="connsiteX46" fmla="*/ 425368 w 607639"/>
              <a:gd name="connsiteY46" fmla="*/ 499412 h 520561"/>
              <a:gd name="connsiteX47" fmla="*/ 404184 w 607639"/>
              <a:gd name="connsiteY47" fmla="*/ 520561 h 520561"/>
              <a:gd name="connsiteX48" fmla="*/ 21184 w 607639"/>
              <a:gd name="connsiteY48" fmla="*/ 520561 h 520561"/>
              <a:gd name="connsiteX49" fmla="*/ 0 w 607639"/>
              <a:gd name="connsiteY49" fmla="*/ 499412 h 520561"/>
              <a:gd name="connsiteX50" fmla="*/ 0 w 607639"/>
              <a:gd name="connsiteY50" fmla="*/ 21149 h 520561"/>
              <a:gd name="connsiteX51" fmla="*/ 21184 w 607639"/>
              <a:gd name="connsiteY51" fmla="*/ 0 h 520561"/>
            </a:gdLst>
            <a:rect l="l" t="t" r="r" b="b"/>
            <a:pathLst>
              <a:path w="607639" h="520561">
                <a:moveTo>
                  <a:pt x="493946" y="400670"/>
                </a:moveTo>
                <a:lnTo>
                  <a:pt x="590080" y="400670"/>
                </a:lnTo>
                <a:cubicBezTo>
                  <a:pt x="595154" y="400670"/>
                  <a:pt x="598536" y="405737"/>
                  <a:pt x="596667" y="410360"/>
                </a:cubicBezTo>
                <a:lnTo>
                  <a:pt x="561685" y="496061"/>
                </a:lnTo>
                <a:cubicBezTo>
                  <a:pt x="554475" y="513575"/>
                  <a:pt x="529551" y="513575"/>
                  <a:pt x="522430" y="496061"/>
                </a:cubicBezTo>
                <a:lnTo>
                  <a:pt x="487448" y="410360"/>
                </a:lnTo>
                <a:cubicBezTo>
                  <a:pt x="485490" y="405737"/>
                  <a:pt x="488962" y="400670"/>
                  <a:pt x="493946" y="400670"/>
                </a:cubicBezTo>
                <a:close/>
                <a:moveTo>
                  <a:pt x="110192" y="349855"/>
                </a:moveTo>
                <a:cubicBezTo>
                  <a:pt x="97731" y="349855"/>
                  <a:pt x="87762" y="360696"/>
                  <a:pt x="89186" y="373492"/>
                </a:cubicBezTo>
                <a:cubicBezTo>
                  <a:pt x="90343" y="384245"/>
                  <a:pt x="99867" y="392242"/>
                  <a:pt x="110815" y="392242"/>
                </a:cubicBezTo>
                <a:lnTo>
                  <a:pt x="316512" y="392242"/>
                </a:lnTo>
                <a:cubicBezTo>
                  <a:pt x="329062" y="392242"/>
                  <a:pt x="339030" y="381401"/>
                  <a:pt x="337606" y="368694"/>
                </a:cubicBezTo>
                <a:cubicBezTo>
                  <a:pt x="336360" y="357852"/>
                  <a:pt x="326836" y="349855"/>
                  <a:pt x="315977" y="349855"/>
                </a:cubicBezTo>
                <a:close/>
                <a:moveTo>
                  <a:pt x="110192" y="239842"/>
                </a:moveTo>
                <a:cubicBezTo>
                  <a:pt x="97731" y="239842"/>
                  <a:pt x="87762" y="250683"/>
                  <a:pt x="89186" y="263391"/>
                </a:cubicBezTo>
                <a:cubicBezTo>
                  <a:pt x="90343" y="274232"/>
                  <a:pt x="99867" y="282141"/>
                  <a:pt x="110815" y="282141"/>
                </a:cubicBezTo>
                <a:lnTo>
                  <a:pt x="316512" y="282141"/>
                </a:lnTo>
                <a:cubicBezTo>
                  <a:pt x="329062" y="282141"/>
                  <a:pt x="339030" y="271388"/>
                  <a:pt x="337606" y="258592"/>
                </a:cubicBezTo>
                <a:cubicBezTo>
                  <a:pt x="336360" y="247840"/>
                  <a:pt x="326836" y="239842"/>
                  <a:pt x="315977" y="239842"/>
                </a:cubicBezTo>
                <a:close/>
                <a:moveTo>
                  <a:pt x="158256" y="129829"/>
                </a:moveTo>
                <a:cubicBezTo>
                  <a:pt x="145795" y="129829"/>
                  <a:pt x="135826" y="140582"/>
                  <a:pt x="137161" y="153378"/>
                </a:cubicBezTo>
                <a:cubicBezTo>
                  <a:pt x="138407" y="164219"/>
                  <a:pt x="147931" y="172128"/>
                  <a:pt x="158790" y="172128"/>
                </a:cubicBezTo>
                <a:lnTo>
                  <a:pt x="268447" y="172128"/>
                </a:lnTo>
                <a:cubicBezTo>
                  <a:pt x="280997" y="172128"/>
                  <a:pt x="290966" y="161287"/>
                  <a:pt x="289542" y="148579"/>
                </a:cubicBezTo>
                <a:cubicBezTo>
                  <a:pt x="288385" y="137738"/>
                  <a:pt x="278772" y="129829"/>
                  <a:pt x="267913" y="129829"/>
                </a:cubicBezTo>
                <a:close/>
                <a:moveTo>
                  <a:pt x="483297" y="115657"/>
                </a:moveTo>
                <a:lnTo>
                  <a:pt x="600518" y="115657"/>
                </a:lnTo>
                <a:cubicBezTo>
                  <a:pt x="604435" y="115657"/>
                  <a:pt x="607639" y="118857"/>
                  <a:pt x="607639" y="122679"/>
                </a:cubicBezTo>
                <a:lnTo>
                  <a:pt x="607639" y="351291"/>
                </a:lnTo>
                <a:cubicBezTo>
                  <a:pt x="607639" y="355202"/>
                  <a:pt x="604435" y="358402"/>
                  <a:pt x="600518" y="358402"/>
                </a:cubicBezTo>
                <a:lnTo>
                  <a:pt x="483297" y="358402"/>
                </a:lnTo>
                <a:cubicBezTo>
                  <a:pt x="479380" y="358402"/>
                  <a:pt x="476176" y="355202"/>
                  <a:pt x="476176" y="351291"/>
                </a:cubicBezTo>
                <a:lnTo>
                  <a:pt x="476176" y="122679"/>
                </a:lnTo>
                <a:cubicBezTo>
                  <a:pt x="476176" y="118857"/>
                  <a:pt x="479380" y="115657"/>
                  <a:pt x="483297" y="115657"/>
                </a:cubicBezTo>
                <a:close/>
                <a:moveTo>
                  <a:pt x="497360" y="0"/>
                </a:moveTo>
                <a:lnTo>
                  <a:pt x="586455" y="0"/>
                </a:lnTo>
                <a:cubicBezTo>
                  <a:pt x="598115" y="0"/>
                  <a:pt x="607639" y="9507"/>
                  <a:pt x="607639" y="21146"/>
                </a:cubicBezTo>
                <a:lnTo>
                  <a:pt x="607639" y="66280"/>
                </a:lnTo>
                <a:cubicBezTo>
                  <a:pt x="607639" y="70189"/>
                  <a:pt x="604435" y="73388"/>
                  <a:pt x="600518" y="73388"/>
                </a:cubicBezTo>
                <a:lnTo>
                  <a:pt x="483297" y="73388"/>
                </a:lnTo>
                <a:cubicBezTo>
                  <a:pt x="479380" y="73388"/>
                  <a:pt x="476176" y="70189"/>
                  <a:pt x="476176" y="66280"/>
                </a:cubicBezTo>
                <a:lnTo>
                  <a:pt x="476176" y="21146"/>
                </a:lnTo>
                <a:cubicBezTo>
                  <a:pt x="476176" y="9507"/>
                  <a:pt x="485700" y="0"/>
                  <a:pt x="497360" y="0"/>
                </a:cubicBezTo>
                <a:close/>
                <a:moveTo>
                  <a:pt x="21184" y="0"/>
                </a:moveTo>
                <a:lnTo>
                  <a:pt x="404184" y="0"/>
                </a:lnTo>
                <a:cubicBezTo>
                  <a:pt x="415844" y="0"/>
                  <a:pt x="425368" y="9508"/>
                  <a:pt x="425368" y="21149"/>
                </a:cubicBezTo>
                <a:lnTo>
                  <a:pt x="425368" y="499412"/>
                </a:lnTo>
                <a:cubicBezTo>
                  <a:pt x="425368" y="511142"/>
                  <a:pt x="415844" y="520561"/>
                  <a:pt x="404184" y="520561"/>
                </a:cubicBezTo>
                <a:lnTo>
                  <a:pt x="21184" y="520561"/>
                </a:lnTo>
                <a:cubicBezTo>
                  <a:pt x="9524" y="520561"/>
                  <a:pt x="0" y="511142"/>
                  <a:pt x="0" y="499412"/>
                </a:cubicBezTo>
                <a:lnTo>
                  <a:pt x="0" y="21149"/>
                </a:lnTo>
                <a:cubicBezTo>
                  <a:pt x="0" y="9508"/>
                  <a:pt x="9524" y="0"/>
                  <a:pt x="21184" y="0"/>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图片 10">
            <a:extLst xmlns:a="http://schemas.openxmlformats.org/drawingml/2006/main">
              <a:ext uri="{FF2B5EF4-FFF2-40B4-BE49-F238E27FC236}">
                <a16:creationId xmlns:a16="http://schemas.microsoft.com/office/drawing/2014/main" id="{DA1C0D50-2D61-4CD3-BF3C-55766B039B3F}"/>
              </a:ext>
            </a:extLst>
          </p:cNvPr>
          <p:cNvPicPr>
            <a:picLocks xmlns:a="http://schemas.openxmlformats.org/drawingml/2006/main" noChangeAspect="1"/>
          </p:cNvPicPr>
          <p:nvPr/>
        </p:nvPicPr>
        <p:blipFill>
          <a:blip xmlns:r="http://schemas.openxmlformats.org/officeDocument/2006/relationships" xmlns:a="http://schemas.openxmlformats.org/drawingml/2006/main" r:embed="R11e7186a5e814e8d"/>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3" name="9">
            <a:extLst xmlns:a="http://schemas.openxmlformats.org/drawingml/2006/main">
              <a:ext uri="{FF2B5EF4-FFF2-40B4-BE49-F238E27FC236}">
                <a16:creationId xmlns:a16="http://schemas.microsoft.com/office/drawing/2014/main" id="{1BA80FA4-C26A-4AD8-BAF7-AEEC260DABA5}"/>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9</a:t>
            </a:r>
          </a:p>
        </p:txBody>
      </p:sp>
      <p:sp>
        <p:nvSpPr>
          <p:cNvPr id="24" name="Classroom checklist from Lecture 9. These judgments assess t">
            <a:extLst xmlns:a="http://schemas.openxmlformats.org/drawingml/2006/main">
              <a:ext uri="{FF2B5EF4-FFF2-40B4-BE49-F238E27FC236}">
                <a16:creationId xmlns:a16="http://schemas.microsoft.com/office/drawing/2014/main" id="{F1E8853D-8BB2-40B9-8ACB-BA614EC63460}"/>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Classroom checklist from Lecture 9. These judgments assess the original 2020 study.</a:t>
            </a:r>
          </a:p>
        </p:txBody>
      </p:sp>
    </p:spTree>
    <p:extLst>
      <p:ext uri="{BB962C8B-B14F-4D97-AF65-F5344CB8AC3E}">
        <p14:creationId xmlns:p14="http://schemas.microsoft.com/office/powerpoint/2010/main" val="157718822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5114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8EE4F380-BE2E-435F-9193-5DE6F070042B}"/>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design suits few labels but leaves comparison gaps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Assessment</a:t>
            </a:r>
            <a:endParaRPr sz="1800">
              <a:latin typeface="Arial"/>
              <a:ea typeface="Arial"/>
              <a:cs typeface="Arial"/>
            </a:endParaRPr>
          </a:p>
        </p:txBody>
      </p:sp>
      <p:sp>
        <p:nvSpPr>
          <p:cNvPr id="2" name="矩形 1">
            <a:extLst xmlns:a="http://schemas.openxmlformats.org/drawingml/2006/main">
              <a:ext uri="{FF2B5EF4-FFF2-40B4-BE49-F238E27FC236}">
                <a16:creationId xmlns:a16="http://schemas.microsoft.com/office/drawing/2014/main" id="{0A6CCBE0-8B92-6EA3-4270-17006009BF1C}"/>
              </a:ext>
            </a:extLst>
          </p:cNvPr>
          <p:cNvSpPr>
            <a:spLocks xmlns:a="http://schemas.openxmlformats.org/drawingml/2006/main" noGrp="1"/>
          </p:cNvSpPr>
          <p:nvPr/>
        </p:nvSpPr>
        <p:spPr>
          <a:xfrm xmlns:a="http://schemas.openxmlformats.org/drawingml/2006/main">
            <a:off x="1300842" y="2026886"/>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hexagonal_73861">
            <a:extLst xmlns:a="http://schemas.openxmlformats.org/drawingml/2006/main">
              <a:ext uri="{FF2B5EF4-FFF2-40B4-BE49-F238E27FC236}">
                <a16:creationId xmlns:a16="http://schemas.microsoft.com/office/drawing/2014/main" id="{52F38808-649B-681C-25A6-AF6E6A8A885C}"/>
              </a:ext>
            </a:extLst>
          </p:cNvPr>
          <p:cNvSpPr>
            <a:spLocks xmlns:a="http://schemas.openxmlformats.org/drawingml/2006/main" noGrp="1"/>
          </p:cNvSpPr>
          <p:nvPr/>
        </p:nvSpPr>
        <p:spPr>
          <a:xfrm xmlns:a="http://schemas.openxmlformats.org/drawingml/2006/main" rot="16200000">
            <a:off x="1731390" y="2279166"/>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file_91765">
            <a:extLst xmlns:a="http://schemas.openxmlformats.org/drawingml/2006/main">
              <a:ext uri="{FF2B5EF4-FFF2-40B4-BE49-F238E27FC236}">
                <a16:creationId xmlns:a16="http://schemas.microsoft.com/office/drawing/2014/main" id="{FBF73034-CD15-D209-CA7D-9801C75470F2}"/>
              </a:ext>
            </a:extLst>
          </p:cNvPr>
          <p:cNvSpPr>
            <a:spLocks xmlns:a="http://schemas.openxmlformats.org/drawingml/2006/main" noGrp="1"/>
          </p:cNvSpPr>
          <p:nvPr/>
        </p:nvSpPr>
        <p:spPr>
          <a:xfrm xmlns:a="http://schemas.openxmlformats.org/drawingml/2006/main">
            <a:off x="2039514" y="2482457"/>
            <a:ext cx="237202" cy="346154"/>
          </a:xfrm>
          <a:custGeom xmlns:a="http://schemas.openxmlformats.org/drawingml/2006/main">
            <a:gdLst>
              <a:gd name="T0" fmla="*/ 854 w 2400"/>
              <a:gd name="T1" fmla="*/ 1453 h 3507"/>
              <a:gd name="T2" fmla="*/ 440 w 2400"/>
              <a:gd name="T3" fmla="*/ 1453 h 3507"/>
              <a:gd name="T4" fmla="*/ 440 w 2400"/>
              <a:gd name="T5" fmla="*/ 1040 h 3507"/>
              <a:gd name="T6" fmla="*/ 854 w 2400"/>
              <a:gd name="T7" fmla="*/ 1040 h 3507"/>
              <a:gd name="T8" fmla="*/ 854 w 2400"/>
              <a:gd name="T9" fmla="*/ 1453 h 3507"/>
              <a:gd name="T10" fmla="*/ 1707 w 2400"/>
              <a:gd name="T11" fmla="*/ 50 h 3507"/>
              <a:gd name="T12" fmla="*/ 1707 w 2400"/>
              <a:gd name="T13" fmla="*/ 653 h 3507"/>
              <a:gd name="T14" fmla="*/ 2333 w 2400"/>
              <a:gd name="T15" fmla="*/ 653 h 3507"/>
              <a:gd name="T16" fmla="*/ 1707 w 2400"/>
              <a:gd name="T17" fmla="*/ 50 h 3507"/>
              <a:gd name="T18" fmla="*/ 2400 w 2400"/>
              <a:gd name="T19" fmla="*/ 853 h 3507"/>
              <a:gd name="T20" fmla="*/ 2400 w 2400"/>
              <a:gd name="T21" fmla="*/ 3407 h 3507"/>
              <a:gd name="T22" fmla="*/ 2373 w 2400"/>
              <a:gd name="T23" fmla="*/ 3477 h 3507"/>
              <a:gd name="T24" fmla="*/ 2305 w 2400"/>
              <a:gd name="T25" fmla="*/ 3507 h 3507"/>
              <a:gd name="T26" fmla="*/ 2304 w 2400"/>
              <a:gd name="T27" fmla="*/ 3507 h 3507"/>
              <a:gd name="T28" fmla="*/ 102 w 2400"/>
              <a:gd name="T29" fmla="*/ 3500 h 3507"/>
              <a:gd name="T30" fmla="*/ 0 w 2400"/>
              <a:gd name="T31" fmla="*/ 3400 h 3507"/>
              <a:gd name="T32" fmla="*/ 0 w 2400"/>
              <a:gd name="T33" fmla="*/ 100 h 3507"/>
              <a:gd name="T34" fmla="*/ 105 w 2400"/>
              <a:gd name="T35" fmla="*/ 0 h 3507"/>
              <a:gd name="T36" fmla="*/ 1507 w 2400"/>
              <a:gd name="T37" fmla="*/ 0 h 3507"/>
              <a:gd name="T38" fmla="*/ 1507 w 2400"/>
              <a:gd name="T39" fmla="*/ 753 h 3507"/>
              <a:gd name="T40" fmla="*/ 1611 w 2400"/>
              <a:gd name="T41" fmla="*/ 853 h 3507"/>
              <a:gd name="T42" fmla="*/ 2400 w 2400"/>
              <a:gd name="T43" fmla="*/ 853 h 3507"/>
              <a:gd name="T44" fmla="*/ 1067 w 2400"/>
              <a:gd name="T45" fmla="*/ 940 h 3507"/>
              <a:gd name="T46" fmla="*/ 967 w 2400"/>
              <a:gd name="T47" fmla="*/ 840 h 3507"/>
              <a:gd name="T48" fmla="*/ 340 w 2400"/>
              <a:gd name="T49" fmla="*/ 840 h 3507"/>
              <a:gd name="T50" fmla="*/ 240 w 2400"/>
              <a:gd name="T51" fmla="*/ 940 h 3507"/>
              <a:gd name="T52" fmla="*/ 240 w 2400"/>
              <a:gd name="T53" fmla="*/ 1567 h 3507"/>
              <a:gd name="T54" fmla="*/ 340 w 2400"/>
              <a:gd name="T55" fmla="*/ 1667 h 3507"/>
              <a:gd name="T56" fmla="*/ 967 w 2400"/>
              <a:gd name="T57" fmla="*/ 1667 h 3507"/>
              <a:gd name="T58" fmla="*/ 1067 w 2400"/>
              <a:gd name="T59" fmla="*/ 1567 h 3507"/>
              <a:gd name="T60" fmla="*/ 1067 w 2400"/>
              <a:gd name="T61" fmla="*/ 940 h 3507"/>
              <a:gd name="T62" fmla="*/ 2185 w 2400"/>
              <a:gd name="T63" fmla="*/ 2420 h 3507"/>
              <a:gd name="T64" fmla="*/ 2085 w 2400"/>
              <a:gd name="T65" fmla="*/ 2320 h 3507"/>
              <a:gd name="T66" fmla="*/ 325 w 2400"/>
              <a:gd name="T67" fmla="*/ 2320 h 3507"/>
              <a:gd name="T68" fmla="*/ 225 w 2400"/>
              <a:gd name="T69" fmla="*/ 2420 h 3507"/>
              <a:gd name="T70" fmla="*/ 325 w 2400"/>
              <a:gd name="T71" fmla="*/ 2520 h 3507"/>
              <a:gd name="T72" fmla="*/ 2085 w 2400"/>
              <a:gd name="T73" fmla="*/ 2520 h 3507"/>
              <a:gd name="T74" fmla="*/ 2185 w 2400"/>
              <a:gd name="T75" fmla="*/ 2420 h 3507"/>
              <a:gd name="T76" fmla="*/ 2185 w 2400"/>
              <a:gd name="T77" fmla="*/ 2007 h 3507"/>
              <a:gd name="T78" fmla="*/ 2085 w 2400"/>
              <a:gd name="T79" fmla="*/ 1907 h 3507"/>
              <a:gd name="T80" fmla="*/ 325 w 2400"/>
              <a:gd name="T81" fmla="*/ 1907 h 3507"/>
              <a:gd name="T82" fmla="*/ 225 w 2400"/>
              <a:gd name="T83" fmla="*/ 2007 h 3507"/>
              <a:gd name="T84" fmla="*/ 325 w 2400"/>
              <a:gd name="T85" fmla="*/ 2107 h 3507"/>
              <a:gd name="T86" fmla="*/ 2085 w 2400"/>
              <a:gd name="T87" fmla="*/ 2107 h 3507"/>
              <a:gd name="T88" fmla="*/ 2185 w 2400"/>
              <a:gd name="T89" fmla="*/ 2007 h 3507"/>
              <a:gd name="T90" fmla="*/ 2185 w 2400"/>
              <a:gd name="T91" fmla="*/ 1567 h 3507"/>
              <a:gd name="T92" fmla="*/ 2085 w 2400"/>
              <a:gd name="T93" fmla="*/ 1467 h 3507"/>
              <a:gd name="T94" fmla="*/ 1418 w 2400"/>
              <a:gd name="T95" fmla="*/ 1467 h 3507"/>
              <a:gd name="T96" fmla="*/ 1318 w 2400"/>
              <a:gd name="T97" fmla="*/ 1567 h 3507"/>
              <a:gd name="T98" fmla="*/ 1418 w 2400"/>
              <a:gd name="T99" fmla="*/ 1667 h 3507"/>
              <a:gd name="T100" fmla="*/ 2085 w 2400"/>
              <a:gd name="T101" fmla="*/ 1667 h 3507"/>
              <a:gd name="T102" fmla="*/ 2185 w 2400"/>
              <a:gd name="T103" fmla="*/ 1567 h 3507"/>
            </a:gdLst>
            <a:rect l="0" t="0" r="r" b="b"/>
            <a:pathLst>
              <a:path w="2400" h="3507">
                <a:moveTo>
                  <a:pt x="854" y="1453"/>
                </a:moveTo>
                <a:lnTo>
                  <a:pt x="440" y="1453"/>
                </a:lnTo>
                <a:lnTo>
                  <a:pt x="440" y="1040"/>
                </a:lnTo>
                <a:lnTo>
                  <a:pt x="854" y="1040"/>
                </a:lnTo>
                <a:lnTo>
                  <a:pt x="854" y="1453"/>
                </a:lnTo>
                <a:close/>
                <a:moveTo>
                  <a:pt x="1707" y="50"/>
                </a:moveTo>
                <a:lnTo>
                  <a:pt x="1707" y="653"/>
                </a:lnTo>
                <a:lnTo>
                  <a:pt x="2333" y="653"/>
                </a:lnTo>
                <a:lnTo>
                  <a:pt x="1707" y="50"/>
                </a:lnTo>
                <a:close/>
                <a:moveTo>
                  <a:pt x="2400" y="853"/>
                </a:moveTo>
                <a:lnTo>
                  <a:pt x="2400" y="3407"/>
                </a:lnTo>
                <a:cubicBezTo>
                  <a:pt x="2400" y="3433"/>
                  <a:pt x="2392" y="3459"/>
                  <a:pt x="2373" y="3477"/>
                </a:cubicBezTo>
                <a:cubicBezTo>
                  <a:pt x="2354" y="3496"/>
                  <a:pt x="2331" y="3507"/>
                  <a:pt x="2305" y="3507"/>
                </a:cubicBezTo>
                <a:lnTo>
                  <a:pt x="2304" y="3507"/>
                </a:lnTo>
                <a:lnTo>
                  <a:pt x="102" y="3500"/>
                </a:lnTo>
                <a:cubicBezTo>
                  <a:pt x="47" y="3499"/>
                  <a:pt x="0" y="3455"/>
                  <a:pt x="0" y="3400"/>
                </a:cubicBezTo>
                <a:lnTo>
                  <a:pt x="0" y="100"/>
                </a:lnTo>
                <a:cubicBezTo>
                  <a:pt x="0" y="45"/>
                  <a:pt x="50" y="0"/>
                  <a:pt x="105" y="0"/>
                </a:cubicBezTo>
                <a:lnTo>
                  <a:pt x="1507" y="0"/>
                </a:lnTo>
                <a:lnTo>
                  <a:pt x="1507" y="753"/>
                </a:lnTo>
                <a:cubicBezTo>
                  <a:pt x="1507" y="809"/>
                  <a:pt x="1556" y="853"/>
                  <a:pt x="1611" y="853"/>
                </a:cubicBezTo>
                <a:lnTo>
                  <a:pt x="2400" y="853"/>
                </a:lnTo>
                <a:close/>
                <a:moveTo>
                  <a:pt x="1067" y="940"/>
                </a:moveTo>
                <a:cubicBezTo>
                  <a:pt x="1067" y="885"/>
                  <a:pt x="1022" y="840"/>
                  <a:pt x="967" y="840"/>
                </a:cubicBezTo>
                <a:lnTo>
                  <a:pt x="340" y="840"/>
                </a:lnTo>
                <a:cubicBezTo>
                  <a:pt x="285" y="840"/>
                  <a:pt x="240" y="885"/>
                  <a:pt x="240" y="940"/>
                </a:cubicBezTo>
                <a:lnTo>
                  <a:pt x="240" y="1567"/>
                </a:lnTo>
                <a:cubicBezTo>
                  <a:pt x="240" y="1622"/>
                  <a:pt x="285" y="1667"/>
                  <a:pt x="340" y="1667"/>
                </a:cubicBezTo>
                <a:lnTo>
                  <a:pt x="967" y="1667"/>
                </a:lnTo>
                <a:cubicBezTo>
                  <a:pt x="1022" y="1667"/>
                  <a:pt x="1067" y="1622"/>
                  <a:pt x="1067" y="1567"/>
                </a:cubicBezTo>
                <a:lnTo>
                  <a:pt x="1067" y="940"/>
                </a:lnTo>
                <a:close/>
                <a:moveTo>
                  <a:pt x="2185" y="2420"/>
                </a:moveTo>
                <a:cubicBezTo>
                  <a:pt x="2185" y="2365"/>
                  <a:pt x="2140" y="2320"/>
                  <a:pt x="2085" y="2320"/>
                </a:cubicBezTo>
                <a:lnTo>
                  <a:pt x="325" y="2320"/>
                </a:lnTo>
                <a:cubicBezTo>
                  <a:pt x="270" y="2320"/>
                  <a:pt x="225" y="2365"/>
                  <a:pt x="225" y="2420"/>
                </a:cubicBezTo>
                <a:cubicBezTo>
                  <a:pt x="225" y="2475"/>
                  <a:pt x="270" y="2520"/>
                  <a:pt x="325" y="2520"/>
                </a:cubicBezTo>
                <a:lnTo>
                  <a:pt x="2085" y="2520"/>
                </a:lnTo>
                <a:cubicBezTo>
                  <a:pt x="2140" y="2520"/>
                  <a:pt x="2185" y="2475"/>
                  <a:pt x="2185" y="2420"/>
                </a:cubicBezTo>
                <a:close/>
                <a:moveTo>
                  <a:pt x="2185" y="2007"/>
                </a:moveTo>
                <a:cubicBezTo>
                  <a:pt x="2185" y="1951"/>
                  <a:pt x="2140" y="1907"/>
                  <a:pt x="2085" y="1907"/>
                </a:cubicBezTo>
                <a:lnTo>
                  <a:pt x="325" y="1907"/>
                </a:lnTo>
                <a:cubicBezTo>
                  <a:pt x="270" y="1907"/>
                  <a:pt x="225" y="1951"/>
                  <a:pt x="225" y="2007"/>
                </a:cubicBezTo>
                <a:cubicBezTo>
                  <a:pt x="225" y="2062"/>
                  <a:pt x="270" y="2107"/>
                  <a:pt x="325" y="2107"/>
                </a:cubicBezTo>
                <a:lnTo>
                  <a:pt x="2085" y="2107"/>
                </a:lnTo>
                <a:cubicBezTo>
                  <a:pt x="2140" y="2107"/>
                  <a:pt x="2185" y="2062"/>
                  <a:pt x="2185" y="2007"/>
                </a:cubicBezTo>
                <a:close/>
                <a:moveTo>
                  <a:pt x="2185" y="1567"/>
                </a:moveTo>
                <a:cubicBezTo>
                  <a:pt x="2185" y="1511"/>
                  <a:pt x="2140" y="1467"/>
                  <a:pt x="2085" y="1467"/>
                </a:cubicBezTo>
                <a:lnTo>
                  <a:pt x="1418" y="1467"/>
                </a:lnTo>
                <a:cubicBezTo>
                  <a:pt x="1363" y="1467"/>
                  <a:pt x="1318" y="1511"/>
                  <a:pt x="1318" y="1567"/>
                </a:cubicBezTo>
                <a:cubicBezTo>
                  <a:pt x="1318" y="1622"/>
                  <a:pt x="1363" y="1667"/>
                  <a:pt x="1418" y="1667"/>
                </a:cubicBezTo>
                <a:lnTo>
                  <a:pt x="2085" y="1667"/>
                </a:lnTo>
                <a:cubicBezTo>
                  <a:pt x="2140" y="1667"/>
                  <a:pt x="2185" y="1622"/>
                  <a:pt x="2185" y="1567"/>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3FAABD1D-B39C-AD47-0BA8-8CCB74CEBF36}"/>
              </a:ext>
            </a:extLst>
          </p:cNvPr>
          <p:cNvSpPr>
            <a:spLocks xmlns:a="http://schemas.openxmlformats.org/drawingml/2006/main" noGrp="1"/>
          </p:cNvSpPr>
          <p:nvPr/>
        </p:nvSpPr>
        <p:spPr>
          <a:xfrm xmlns:a="http://schemas.openxmlformats.org/drawingml/2006/main">
            <a:off x="2905125" y="217170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4  Preprocessing</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Cropping, normalization and 224-pixel input are specified.</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Their sensitivity to acquisition differences is untested.</a:t>
            </a:r>
            <a:endParaRPr sz="2000">
              <a:solidFill>
                <a:schemeClr val="tx1">
                  <a:lumMod val="75000"/>
                  <a:lumOff val="25000"/>
                </a:schemeClr>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9BBFB361-C24B-7921-EABC-8971FF9C7261}"/>
              </a:ext>
            </a:extLst>
          </p:cNvPr>
          <p:cNvSpPr>
            <a:spLocks xmlns:a="http://schemas.openxmlformats.org/drawingml/2006/main" noGrp="1"/>
          </p:cNvSpPr>
          <p:nvPr/>
        </p:nvSpPr>
        <p:spPr>
          <a:xfrm xmlns:a="http://schemas.openxmlformats.org/drawingml/2006/main">
            <a:off x="1300842" y="3539163"/>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hexagonal_73861">
            <a:extLst xmlns:a="http://schemas.openxmlformats.org/drawingml/2006/main">
              <a:ext uri="{FF2B5EF4-FFF2-40B4-BE49-F238E27FC236}">
                <a16:creationId xmlns:a16="http://schemas.microsoft.com/office/drawing/2014/main" id="{E0F1EED2-53FB-9088-2C82-D5A58537E79C}"/>
              </a:ext>
            </a:extLst>
          </p:cNvPr>
          <p:cNvSpPr>
            <a:spLocks xmlns:a="http://schemas.openxmlformats.org/drawingml/2006/main" noGrp="1"/>
          </p:cNvSpPr>
          <p:nvPr/>
        </p:nvSpPr>
        <p:spPr>
          <a:xfrm xmlns:a="http://schemas.openxmlformats.org/drawingml/2006/main" rot="16200000">
            <a:off x="1731390" y="3791443"/>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文本框 16">
            <a:extLst xmlns:a="http://schemas.openxmlformats.org/drawingml/2006/main">
              <a:ext uri="{FF2B5EF4-FFF2-40B4-BE49-F238E27FC236}">
                <a16:creationId xmlns:a16="http://schemas.microsoft.com/office/drawing/2014/main" id="{807AF698-247A-905E-032C-A286C7C19387}"/>
              </a:ext>
            </a:extLst>
          </p:cNvPr>
          <p:cNvSpPr>
            <a:spLocks xmlns:a="http://schemas.openxmlformats.org/drawingml/2006/main" noGrp="1"/>
          </p:cNvSpPr>
          <p:nvPr/>
        </p:nvSpPr>
        <p:spPr>
          <a:xfrm xmlns:a="http://schemas.openxmlformats.org/drawingml/2006/main">
            <a:off x="2905125" y="368427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5  Model choice</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Frozen transfer learning limits new parameters.</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The paper compares few alternative regressors.</a:t>
            </a:r>
            <a:endParaRPr sz="2000">
              <a:solidFill>
                <a:schemeClr val="tx1">
                  <a:lumMod val="75000"/>
                  <a:lumOff val="25000"/>
                </a:schemeClr>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34530528-EF3E-CE96-3AA9-959DE8FFFEF1}"/>
              </a:ext>
            </a:extLst>
          </p:cNvPr>
          <p:cNvSpPr>
            <a:spLocks xmlns:a="http://schemas.openxmlformats.org/drawingml/2006/main" noGrp="1"/>
          </p:cNvSpPr>
          <p:nvPr/>
        </p:nvSpPr>
        <p:spPr>
          <a:xfrm xmlns:a="http://schemas.openxmlformats.org/drawingml/2006/main">
            <a:off x="1300842" y="5051440"/>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hexagonal_73861">
            <a:extLst xmlns:a="http://schemas.openxmlformats.org/drawingml/2006/main">
              <a:ext uri="{FF2B5EF4-FFF2-40B4-BE49-F238E27FC236}">
                <a16:creationId xmlns:a16="http://schemas.microsoft.com/office/drawing/2014/main" id="{3AA9A527-62AC-6888-76B1-BB368195F9C4}"/>
              </a:ext>
            </a:extLst>
          </p:cNvPr>
          <p:cNvSpPr>
            <a:spLocks xmlns:a="http://schemas.openxmlformats.org/drawingml/2006/main" noGrp="1"/>
          </p:cNvSpPr>
          <p:nvPr/>
        </p:nvSpPr>
        <p:spPr>
          <a:xfrm xmlns:a="http://schemas.openxmlformats.org/drawingml/2006/main" rot="16200000">
            <a:off x="1731390" y="5303720"/>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文本框 19">
            <a:extLst xmlns:a="http://schemas.openxmlformats.org/drawingml/2006/main">
              <a:ext uri="{FF2B5EF4-FFF2-40B4-BE49-F238E27FC236}">
                <a16:creationId xmlns:a16="http://schemas.microsoft.com/office/drawing/2014/main" id="{5199480A-0C41-A332-A0F8-1949E19E9D52}"/>
              </a:ext>
            </a:extLst>
          </p:cNvPr>
          <p:cNvSpPr>
            <a:spLocks xmlns:a="http://schemas.openxmlformats.org/drawingml/2006/main" noGrp="1"/>
          </p:cNvSpPr>
          <p:nvPr/>
        </p:nvSpPr>
        <p:spPr>
          <a:xfrm xmlns:a="http://schemas.openxmlformats.org/drawingml/2006/main">
            <a:off x="2905125" y="519684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6  Data splitting</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All scans from a patient stay in one partition.</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Repeated internal splits do not test a new hospital.</a:t>
            </a:r>
            <a:endParaRPr sz="2000">
              <a:solidFill>
                <a:schemeClr val="tx1">
                  <a:lumMod val="75000"/>
                  <a:lumOff val="25000"/>
                </a:schemeClr>
              </a:solidFill>
              <a:latin typeface="Arial"/>
              <a:ea typeface="Arial"/>
              <a:cs typeface="Arial"/>
            </a:endParaRPr>
          </a:p>
        </p:txBody>
      </p:sp>
      <p:sp>
        <p:nvSpPr>
          <p:cNvPr id="21" name="edit-text_62029">
            <a:extLst xmlns:a="http://schemas.openxmlformats.org/drawingml/2006/main">
              <a:ext uri="{FF2B5EF4-FFF2-40B4-BE49-F238E27FC236}">
                <a16:creationId xmlns:a16="http://schemas.microsoft.com/office/drawing/2014/main" id="{987B202C-F6C2-866F-606C-940E68D8D2EE}"/>
              </a:ext>
            </a:extLst>
          </p:cNvPr>
          <p:cNvSpPr>
            <a:spLocks xmlns:a="http://schemas.openxmlformats.org/drawingml/2006/main" noGrp="1"/>
          </p:cNvSpPr>
          <p:nvPr/>
        </p:nvSpPr>
        <p:spPr>
          <a:xfrm xmlns:a="http://schemas.openxmlformats.org/drawingml/2006/main">
            <a:off x="1985561" y="3994734"/>
            <a:ext cx="345108" cy="346154"/>
          </a:xfrm>
          <a:custGeom xmlns:a="http://schemas.openxmlformats.org/drawingml/2006/main">
            <a:gdLst>
              <a:gd name="T0" fmla="*/ 5740 w 5955"/>
              <a:gd name="T1" fmla="*/ 215 h 5983"/>
              <a:gd name="T2" fmla="*/ 5222 w 5955"/>
              <a:gd name="T3" fmla="*/ 0 h 5983"/>
              <a:gd name="T4" fmla="*/ 4703 w 5955"/>
              <a:gd name="T5" fmla="*/ 215 h 5983"/>
              <a:gd name="T6" fmla="*/ 3846 w 5955"/>
              <a:gd name="T7" fmla="*/ 1072 h 5983"/>
              <a:gd name="T8" fmla="*/ 177 w 5955"/>
              <a:gd name="T9" fmla="*/ 1072 h 5983"/>
              <a:gd name="T10" fmla="*/ 0 w 5955"/>
              <a:gd name="T11" fmla="*/ 1248 h 5983"/>
              <a:gd name="T12" fmla="*/ 0 w 5955"/>
              <a:gd name="T13" fmla="*/ 4481 h 5983"/>
              <a:gd name="T14" fmla="*/ 177 w 5955"/>
              <a:gd name="T15" fmla="*/ 4658 h 5983"/>
              <a:gd name="T16" fmla="*/ 2879 w 5955"/>
              <a:gd name="T17" fmla="*/ 4658 h 5983"/>
              <a:gd name="T18" fmla="*/ 2879 w 5955"/>
              <a:gd name="T19" fmla="*/ 5807 h 5983"/>
              <a:gd name="T20" fmla="*/ 2988 w 5955"/>
              <a:gd name="T21" fmla="*/ 5970 h 5983"/>
              <a:gd name="T22" fmla="*/ 3056 w 5955"/>
              <a:gd name="T23" fmla="*/ 5983 h 5983"/>
              <a:gd name="T24" fmla="*/ 3181 w 5955"/>
              <a:gd name="T25" fmla="*/ 5932 h 5983"/>
              <a:gd name="T26" fmla="*/ 4463 w 5955"/>
              <a:gd name="T27" fmla="*/ 4658 h 5983"/>
              <a:gd name="T28" fmla="*/ 5223 w 5955"/>
              <a:gd name="T29" fmla="*/ 4658 h 5983"/>
              <a:gd name="T30" fmla="*/ 5399 w 5955"/>
              <a:gd name="T31" fmla="*/ 4481 h 5983"/>
              <a:gd name="T32" fmla="*/ 5399 w 5955"/>
              <a:gd name="T33" fmla="*/ 1593 h 5983"/>
              <a:gd name="T34" fmla="*/ 5740 w 5955"/>
              <a:gd name="T35" fmla="*/ 1252 h 5983"/>
              <a:gd name="T36" fmla="*/ 5955 w 5955"/>
              <a:gd name="T37" fmla="*/ 733 h 5983"/>
              <a:gd name="T38" fmla="*/ 5740 w 5955"/>
              <a:gd name="T39" fmla="*/ 215 h 5983"/>
              <a:gd name="T40" fmla="*/ 3240 w 5955"/>
              <a:gd name="T41" fmla="*/ 2839 h 5983"/>
              <a:gd name="T42" fmla="*/ 3149 w 5955"/>
              <a:gd name="T43" fmla="*/ 2812 h 5983"/>
              <a:gd name="T44" fmla="*/ 3122 w 5955"/>
              <a:gd name="T45" fmla="*/ 2721 h 5983"/>
              <a:gd name="T46" fmla="*/ 3231 w 5955"/>
              <a:gd name="T47" fmla="*/ 2190 h 5983"/>
              <a:gd name="T48" fmla="*/ 3771 w 5955"/>
              <a:gd name="T49" fmla="*/ 2730 h 5983"/>
              <a:gd name="T50" fmla="*/ 3240 w 5955"/>
              <a:gd name="T51" fmla="*/ 2839 h 5983"/>
              <a:gd name="T52" fmla="*/ 3967 w 5955"/>
              <a:gd name="T53" fmla="*/ 2560 h 5983"/>
              <a:gd name="T54" fmla="*/ 3401 w 5955"/>
              <a:gd name="T55" fmla="*/ 1994 h 5983"/>
              <a:gd name="T56" fmla="*/ 4670 w 5955"/>
              <a:gd name="T57" fmla="*/ 725 h 5983"/>
              <a:gd name="T58" fmla="*/ 5236 w 5955"/>
              <a:gd name="T59" fmla="*/ 1291 h 5983"/>
              <a:gd name="T60" fmla="*/ 3967 w 5955"/>
              <a:gd name="T61" fmla="*/ 2560 h 5983"/>
              <a:gd name="T62" fmla="*/ 5500 w 5955"/>
              <a:gd name="T63" fmla="*/ 1026 h 5983"/>
              <a:gd name="T64" fmla="*/ 5419 w 5955"/>
              <a:gd name="T65" fmla="*/ 1108 h 5983"/>
              <a:gd name="T66" fmla="*/ 4853 w 5955"/>
              <a:gd name="T67" fmla="*/ 542 h 5983"/>
              <a:gd name="T68" fmla="*/ 4935 w 5955"/>
              <a:gd name="T69" fmla="*/ 461 h 5983"/>
              <a:gd name="T70" fmla="*/ 5500 w 5955"/>
              <a:gd name="T71" fmla="*/ 461 h 5983"/>
              <a:gd name="T72" fmla="*/ 5500 w 5955"/>
              <a:gd name="T73" fmla="*/ 1026 h 5983"/>
            </a:gdLst>
            <a:rect l="0" t="0" r="r" b="b"/>
            <a:pathLst>
              <a:path w="5955" h="5983">
                <a:moveTo>
                  <a:pt x="5740" y="215"/>
                </a:moveTo>
                <a:cubicBezTo>
                  <a:pt x="5602" y="76"/>
                  <a:pt x="5418" y="0"/>
                  <a:pt x="5222" y="0"/>
                </a:cubicBezTo>
                <a:cubicBezTo>
                  <a:pt x="5026" y="0"/>
                  <a:pt x="4842" y="76"/>
                  <a:pt x="4703" y="215"/>
                </a:cubicBezTo>
                <a:lnTo>
                  <a:pt x="3846" y="1072"/>
                </a:lnTo>
                <a:lnTo>
                  <a:pt x="177" y="1072"/>
                </a:lnTo>
                <a:cubicBezTo>
                  <a:pt x="79" y="1072"/>
                  <a:pt x="0" y="1151"/>
                  <a:pt x="0" y="1248"/>
                </a:cubicBezTo>
                <a:lnTo>
                  <a:pt x="0" y="4481"/>
                </a:lnTo>
                <a:cubicBezTo>
                  <a:pt x="0" y="4579"/>
                  <a:pt x="79" y="4658"/>
                  <a:pt x="177" y="4658"/>
                </a:cubicBezTo>
                <a:lnTo>
                  <a:pt x="2879" y="4658"/>
                </a:lnTo>
                <a:lnTo>
                  <a:pt x="2879" y="5807"/>
                </a:lnTo>
                <a:cubicBezTo>
                  <a:pt x="2879" y="5878"/>
                  <a:pt x="2922" y="5943"/>
                  <a:pt x="2988" y="5970"/>
                </a:cubicBezTo>
                <a:cubicBezTo>
                  <a:pt x="3010" y="5979"/>
                  <a:pt x="3033" y="5983"/>
                  <a:pt x="3056" y="5983"/>
                </a:cubicBezTo>
                <a:cubicBezTo>
                  <a:pt x="3102" y="5983"/>
                  <a:pt x="3147" y="5965"/>
                  <a:pt x="3181" y="5932"/>
                </a:cubicBezTo>
                <a:lnTo>
                  <a:pt x="4463" y="4658"/>
                </a:lnTo>
                <a:lnTo>
                  <a:pt x="5223" y="4658"/>
                </a:lnTo>
                <a:cubicBezTo>
                  <a:pt x="5320" y="4658"/>
                  <a:pt x="5399" y="4579"/>
                  <a:pt x="5399" y="4481"/>
                </a:cubicBezTo>
                <a:lnTo>
                  <a:pt x="5399" y="1593"/>
                </a:lnTo>
                <a:lnTo>
                  <a:pt x="5740" y="1252"/>
                </a:lnTo>
                <a:cubicBezTo>
                  <a:pt x="5879" y="1113"/>
                  <a:pt x="5955" y="929"/>
                  <a:pt x="5955" y="733"/>
                </a:cubicBezTo>
                <a:cubicBezTo>
                  <a:pt x="5955" y="537"/>
                  <a:pt x="5879" y="353"/>
                  <a:pt x="5740" y="215"/>
                </a:cubicBezTo>
                <a:close/>
                <a:moveTo>
                  <a:pt x="3240" y="2839"/>
                </a:moveTo>
                <a:cubicBezTo>
                  <a:pt x="3207" y="2846"/>
                  <a:pt x="3173" y="2835"/>
                  <a:pt x="3149" y="2812"/>
                </a:cubicBezTo>
                <a:cubicBezTo>
                  <a:pt x="3125" y="2788"/>
                  <a:pt x="3115" y="2754"/>
                  <a:pt x="3122" y="2721"/>
                </a:cubicBezTo>
                <a:lnTo>
                  <a:pt x="3231" y="2190"/>
                </a:lnTo>
                <a:lnTo>
                  <a:pt x="3771" y="2730"/>
                </a:lnTo>
                <a:lnTo>
                  <a:pt x="3240" y="2839"/>
                </a:lnTo>
                <a:close/>
                <a:moveTo>
                  <a:pt x="3967" y="2560"/>
                </a:moveTo>
                <a:lnTo>
                  <a:pt x="3401" y="1994"/>
                </a:lnTo>
                <a:lnTo>
                  <a:pt x="4670" y="725"/>
                </a:lnTo>
                <a:lnTo>
                  <a:pt x="5236" y="1291"/>
                </a:lnTo>
                <a:lnTo>
                  <a:pt x="3967" y="2560"/>
                </a:lnTo>
                <a:close/>
                <a:moveTo>
                  <a:pt x="5500" y="1026"/>
                </a:moveTo>
                <a:lnTo>
                  <a:pt x="5419" y="1108"/>
                </a:lnTo>
                <a:lnTo>
                  <a:pt x="4853" y="542"/>
                </a:lnTo>
                <a:lnTo>
                  <a:pt x="4935" y="461"/>
                </a:lnTo>
                <a:cubicBezTo>
                  <a:pt x="5091" y="304"/>
                  <a:pt x="5344" y="304"/>
                  <a:pt x="5500" y="461"/>
                </a:cubicBezTo>
                <a:cubicBezTo>
                  <a:pt x="5656" y="617"/>
                  <a:pt x="5656" y="870"/>
                  <a:pt x="5500" y="1026"/>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school-material_304636">
            <a:extLst xmlns:a="http://schemas.openxmlformats.org/drawingml/2006/main">
              <a:ext uri="{FF2B5EF4-FFF2-40B4-BE49-F238E27FC236}">
                <a16:creationId xmlns:a16="http://schemas.microsoft.com/office/drawing/2014/main" id="{F388813E-7455-473D-9127-B0109AB0DA1E}"/>
              </a:ext>
            </a:extLst>
          </p:cNvPr>
          <p:cNvSpPr>
            <a:spLocks xmlns:a="http://schemas.openxmlformats.org/drawingml/2006/main" noGrp="1"/>
          </p:cNvSpPr>
          <p:nvPr/>
        </p:nvSpPr>
        <p:spPr>
          <a:xfrm xmlns:a="http://schemas.openxmlformats.org/drawingml/2006/main">
            <a:off x="1985038" y="5531814"/>
            <a:ext cx="346154" cy="296548"/>
          </a:xfrm>
          <a:custGeom xmlns:a="http://schemas.openxmlformats.org/drawingml/2006/main">
            <a:gdLst>
              <a:gd name="connsiteX0" fmla="*/ 493946 w 607639"/>
              <a:gd name="connsiteY0" fmla="*/ 400670 h 520561"/>
              <a:gd name="connsiteX1" fmla="*/ 590080 w 607639"/>
              <a:gd name="connsiteY1" fmla="*/ 400670 h 520561"/>
              <a:gd name="connsiteX2" fmla="*/ 596667 w 607639"/>
              <a:gd name="connsiteY2" fmla="*/ 410360 h 520561"/>
              <a:gd name="connsiteX3" fmla="*/ 561685 w 607639"/>
              <a:gd name="connsiteY3" fmla="*/ 496061 h 520561"/>
              <a:gd name="connsiteX4" fmla="*/ 522430 w 607639"/>
              <a:gd name="connsiteY4" fmla="*/ 496061 h 520561"/>
              <a:gd name="connsiteX5" fmla="*/ 487448 w 607639"/>
              <a:gd name="connsiteY5" fmla="*/ 410360 h 520561"/>
              <a:gd name="connsiteX6" fmla="*/ 493946 w 607639"/>
              <a:gd name="connsiteY6" fmla="*/ 400670 h 520561"/>
              <a:gd name="connsiteX7" fmla="*/ 110192 w 607639"/>
              <a:gd name="connsiteY7" fmla="*/ 349855 h 520561"/>
              <a:gd name="connsiteX8" fmla="*/ 89186 w 607639"/>
              <a:gd name="connsiteY8" fmla="*/ 373492 h 520561"/>
              <a:gd name="connsiteX9" fmla="*/ 110815 w 607639"/>
              <a:gd name="connsiteY9" fmla="*/ 392242 h 520561"/>
              <a:gd name="connsiteX10" fmla="*/ 316512 w 607639"/>
              <a:gd name="connsiteY10" fmla="*/ 392242 h 520561"/>
              <a:gd name="connsiteX11" fmla="*/ 337606 w 607639"/>
              <a:gd name="connsiteY11" fmla="*/ 368694 h 520561"/>
              <a:gd name="connsiteX12" fmla="*/ 315977 w 607639"/>
              <a:gd name="connsiteY12" fmla="*/ 349855 h 520561"/>
              <a:gd name="connsiteX13" fmla="*/ 110192 w 607639"/>
              <a:gd name="connsiteY13" fmla="*/ 239842 h 520561"/>
              <a:gd name="connsiteX14" fmla="*/ 89186 w 607639"/>
              <a:gd name="connsiteY14" fmla="*/ 263391 h 520561"/>
              <a:gd name="connsiteX15" fmla="*/ 110815 w 607639"/>
              <a:gd name="connsiteY15" fmla="*/ 282141 h 520561"/>
              <a:gd name="connsiteX16" fmla="*/ 316512 w 607639"/>
              <a:gd name="connsiteY16" fmla="*/ 282141 h 520561"/>
              <a:gd name="connsiteX17" fmla="*/ 337606 w 607639"/>
              <a:gd name="connsiteY17" fmla="*/ 258592 h 520561"/>
              <a:gd name="connsiteX18" fmla="*/ 315977 w 607639"/>
              <a:gd name="connsiteY18" fmla="*/ 239842 h 520561"/>
              <a:gd name="connsiteX19" fmla="*/ 158256 w 607639"/>
              <a:gd name="connsiteY19" fmla="*/ 129829 h 520561"/>
              <a:gd name="connsiteX20" fmla="*/ 137161 w 607639"/>
              <a:gd name="connsiteY20" fmla="*/ 153378 h 520561"/>
              <a:gd name="connsiteX21" fmla="*/ 158790 w 607639"/>
              <a:gd name="connsiteY21" fmla="*/ 172128 h 520561"/>
              <a:gd name="connsiteX22" fmla="*/ 268447 w 607639"/>
              <a:gd name="connsiteY22" fmla="*/ 172128 h 520561"/>
              <a:gd name="connsiteX23" fmla="*/ 289542 w 607639"/>
              <a:gd name="connsiteY23" fmla="*/ 148579 h 520561"/>
              <a:gd name="connsiteX24" fmla="*/ 267913 w 607639"/>
              <a:gd name="connsiteY24" fmla="*/ 129829 h 520561"/>
              <a:gd name="connsiteX25" fmla="*/ 483297 w 607639"/>
              <a:gd name="connsiteY25" fmla="*/ 115657 h 520561"/>
              <a:gd name="connsiteX26" fmla="*/ 600518 w 607639"/>
              <a:gd name="connsiteY26" fmla="*/ 115657 h 520561"/>
              <a:gd name="connsiteX27" fmla="*/ 607639 w 607639"/>
              <a:gd name="connsiteY27" fmla="*/ 122679 h 520561"/>
              <a:gd name="connsiteX28" fmla="*/ 607639 w 607639"/>
              <a:gd name="connsiteY28" fmla="*/ 351291 h 520561"/>
              <a:gd name="connsiteX29" fmla="*/ 600518 w 607639"/>
              <a:gd name="connsiteY29" fmla="*/ 358402 h 520561"/>
              <a:gd name="connsiteX30" fmla="*/ 483297 w 607639"/>
              <a:gd name="connsiteY30" fmla="*/ 358402 h 520561"/>
              <a:gd name="connsiteX31" fmla="*/ 476176 w 607639"/>
              <a:gd name="connsiteY31" fmla="*/ 351291 h 520561"/>
              <a:gd name="connsiteX32" fmla="*/ 476176 w 607639"/>
              <a:gd name="connsiteY32" fmla="*/ 122679 h 520561"/>
              <a:gd name="connsiteX33" fmla="*/ 483297 w 607639"/>
              <a:gd name="connsiteY33" fmla="*/ 115657 h 520561"/>
              <a:gd name="connsiteX34" fmla="*/ 497360 w 607639"/>
              <a:gd name="connsiteY34" fmla="*/ 0 h 520561"/>
              <a:gd name="connsiteX35" fmla="*/ 586455 w 607639"/>
              <a:gd name="connsiteY35" fmla="*/ 0 h 520561"/>
              <a:gd name="connsiteX36" fmla="*/ 607639 w 607639"/>
              <a:gd name="connsiteY36" fmla="*/ 21146 h 520561"/>
              <a:gd name="connsiteX37" fmla="*/ 607639 w 607639"/>
              <a:gd name="connsiteY37" fmla="*/ 66280 h 520561"/>
              <a:gd name="connsiteX38" fmla="*/ 600518 w 607639"/>
              <a:gd name="connsiteY38" fmla="*/ 73388 h 520561"/>
              <a:gd name="connsiteX39" fmla="*/ 483297 w 607639"/>
              <a:gd name="connsiteY39" fmla="*/ 73388 h 520561"/>
              <a:gd name="connsiteX40" fmla="*/ 476176 w 607639"/>
              <a:gd name="connsiteY40" fmla="*/ 66280 h 520561"/>
              <a:gd name="connsiteX41" fmla="*/ 476176 w 607639"/>
              <a:gd name="connsiteY41" fmla="*/ 21146 h 520561"/>
              <a:gd name="connsiteX42" fmla="*/ 497360 w 607639"/>
              <a:gd name="connsiteY42" fmla="*/ 0 h 520561"/>
              <a:gd name="connsiteX43" fmla="*/ 21184 w 607639"/>
              <a:gd name="connsiteY43" fmla="*/ 0 h 520561"/>
              <a:gd name="connsiteX44" fmla="*/ 404184 w 607639"/>
              <a:gd name="connsiteY44" fmla="*/ 0 h 520561"/>
              <a:gd name="connsiteX45" fmla="*/ 425368 w 607639"/>
              <a:gd name="connsiteY45" fmla="*/ 21149 h 520561"/>
              <a:gd name="connsiteX46" fmla="*/ 425368 w 607639"/>
              <a:gd name="connsiteY46" fmla="*/ 499412 h 520561"/>
              <a:gd name="connsiteX47" fmla="*/ 404184 w 607639"/>
              <a:gd name="connsiteY47" fmla="*/ 520561 h 520561"/>
              <a:gd name="connsiteX48" fmla="*/ 21184 w 607639"/>
              <a:gd name="connsiteY48" fmla="*/ 520561 h 520561"/>
              <a:gd name="connsiteX49" fmla="*/ 0 w 607639"/>
              <a:gd name="connsiteY49" fmla="*/ 499412 h 520561"/>
              <a:gd name="connsiteX50" fmla="*/ 0 w 607639"/>
              <a:gd name="connsiteY50" fmla="*/ 21149 h 520561"/>
              <a:gd name="connsiteX51" fmla="*/ 21184 w 607639"/>
              <a:gd name="connsiteY51" fmla="*/ 0 h 520561"/>
            </a:gdLst>
            <a:rect l="l" t="t" r="r" b="b"/>
            <a:pathLst>
              <a:path w="607639" h="520561">
                <a:moveTo>
                  <a:pt x="493946" y="400670"/>
                </a:moveTo>
                <a:lnTo>
                  <a:pt x="590080" y="400670"/>
                </a:lnTo>
                <a:cubicBezTo>
                  <a:pt x="595154" y="400670"/>
                  <a:pt x="598536" y="405737"/>
                  <a:pt x="596667" y="410360"/>
                </a:cubicBezTo>
                <a:lnTo>
                  <a:pt x="561685" y="496061"/>
                </a:lnTo>
                <a:cubicBezTo>
                  <a:pt x="554475" y="513575"/>
                  <a:pt x="529551" y="513575"/>
                  <a:pt x="522430" y="496061"/>
                </a:cubicBezTo>
                <a:lnTo>
                  <a:pt x="487448" y="410360"/>
                </a:lnTo>
                <a:cubicBezTo>
                  <a:pt x="485490" y="405737"/>
                  <a:pt x="488962" y="400670"/>
                  <a:pt x="493946" y="400670"/>
                </a:cubicBezTo>
                <a:close/>
                <a:moveTo>
                  <a:pt x="110192" y="349855"/>
                </a:moveTo>
                <a:cubicBezTo>
                  <a:pt x="97731" y="349855"/>
                  <a:pt x="87762" y="360696"/>
                  <a:pt x="89186" y="373492"/>
                </a:cubicBezTo>
                <a:cubicBezTo>
                  <a:pt x="90343" y="384245"/>
                  <a:pt x="99867" y="392242"/>
                  <a:pt x="110815" y="392242"/>
                </a:cubicBezTo>
                <a:lnTo>
                  <a:pt x="316512" y="392242"/>
                </a:lnTo>
                <a:cubicBezTo>
                  <a:pt x="329062" y="392242"/>
                  <a:pt x="339030" y="381401"/>
                  <a:pt x="337606" y="368694"/>
                </a:cubicBezTo>
                <a:cubicBezTo>
                  <a:pt x="336360" y="357852"/>
                  <a:pt x="326836" y="349855"/>
                  <a:pt x="315977" y="349855"/>
                </a:cubicBezTo>
                <a:close/>
                <a:moveTo>
                  <a:pt x="110192" y="239842"/>
                </a:moveTo>
                <a:cubicBezTo>
                  <a:pt x="97731" y="239842"/>
                  <a:pt x="87762" y="250683"/>
                  <a:pt x="89186" y="263391"/>
                </a:cubicBezTo>
                <a:cubicBezTo>
                  <a:pt x="90343" y="274232"/>
                  <a:pt x="99867" y="282141"/>
                  <a:pt x="110815" y="282141"/>
                </a:cubicBezTo>
                <a:lnTo>
                  <a:pt x="316512" y="282141"/>
                </a:lnTo>
                <a:cubicBezTo>
                  <a:pt x="329062" y="282141"/>
                  <a:pt x="339030" y="271388"/>
                  <a:pt x="337606" y="258592"/>
                </a:cubicBezTo>
                <a:cubicBezTo>
                  <a:pt x="336360" y="247840"/>
                  <a:pt x="326836" y="239842"/>
                  <a:pt x="315977" y="239842"/>
                </a:cubicBezTo>
                <a:close/>
                <a:moveTo>
                  <a:pt x="158256" y="129829"/>
                </a:moveTo>
                <a:cubicBezTo>
                  <a:pt x="145795" y="129829"/>
                  <a:pt x="135826" y="140582"/>
                  <a:pt x="137161" y="153378"/>
                </a:cubicBezTo>
                <a:cubicBezTo>
                  <a:pt x="138407" y="164219"/>
                  <a:pt x="147931" y="172128"/>
                  <a:pt x="158790" y="172128"/>
                </a:cubicBezTo>
                <a:lnTo>
                  <a:pt x="268447" y="172128"/>
                </a:lnTo>
                <a:cubicBezTo>
                  <a:pt x="280997" y="172128"/>
                  <a:pt x="290966" y="161287"/>
                  <a:pt x="289542" y="148579"/>
                </a:cubicBezTo>
                <a:cubicBezTo>
                  <a:pt x="288385" y="137738"/>
                  <a:pt x="278772" y="129829"/>
                  <a:pt x="267913" y="129829"/>
                </a:cubicBezTo>
                <a:close/>
                <a:moveTo>
                  <a:pt x="483297" y="115657"/>
                </a:moveTo>
                <a:lnTo>
                  <a:pt x="600518" y="115657"/>
                </a:lnTo>
                <a:cubicBezTo>
                  <a:pt x="604435" y="115657"/>
                  <a:pt x="607639" y="118857"/>
                  <a:pt x="607639" y="122679"/>
                </a:cubicBezTo>
                <a:lnTo>
                  <a:pt x="607639" y="351291"/>
                </a:lnTo>
                <a:cubicBezTo>
                  <a:pt x="607639" y="355202"/>
                  <a:pt x="604435" y="358402"/>
                  <a:pt x="600518" y="358402"/>
                </a:cubicBezTo>
                <a:lnTo>
                  <a:pt x="483297" y="358402"/>
                </a:lnTo>
                <a:cubicBezTo>
                  <a:pt x="479380" y="358402"/>
                  <a:pt x="476176" y="355202"/>
                  <a:pt x="476176" y="351291"/>
                </a:cubicBezTo>
                <a:lnTo>
                  <a:pt x="476176" y="122679"/>
                </a:lnTo>
                <a:cubicBezTo>
                  <a:pt x="476176" y="118857"/>
                  <a:pt x="479380" y="115657"/>
                  <a:pt x="483297" y="115657"/>
                </a:cubicBezTo>
                <a:close/>
                <a:moveTo>
                  <a:pt x="497360" y="0"/>
                </a:moveTo>
                <a:lnTo>
                  <a:pt x="586455" y="0"/>
                </a:lnTo>
                <a:cubicBezTo>
                  <a:pt x="598115" y="0"/>
                  <a:pt x="607639" y="9507"/>
                  <a:pt x="607639" y="21146"/>
                </a:cubicBezTo>
                <a:lnTo>
                  <a:pt x="607639" y="66280"/>
                </a:lnTo>
                <a:cubicBezTo>
                  <a:pt x="607639" y="70189"/>
                  <a:pt x="604435" y="73388"/>
                  <a:pt x="600518" y="73388"/>
                </a:cubicBezTo>
                <a:lnTo>
                  <a:pt x="483297" y="73388"/>
                </a:lnTo>
                <a:cubicBezTo>
                  <a:pt x="479380" y="73388"/>
                  <a:pt x="476176" y="70189"/>
                  <a:pt x="476176" y="66280"/>
                </a:cubicBezTo>
                <a:lnTo>
                  <a:pt x="476176" y="21146"/>
                </a:lnTo>
                <a:cubicBezTo>
                  <a:pt x="476176" y="9507"/>
                  <a:pt x="485700" y="0"/>
                  <a:pt x="497360" y="0"/>
                </a:cubicBezTo>
                <a:close/>
                <a:moveTo>
                  <a:pt x="21184" y="0"/>
                </a:moveTo>
                <a:lnTo>
                  <a:pt x="404184" y="0"/>
                </a:lnTo>
                <a:cubicBezTo>
                  <a:pt x="415844" y="0"/>
                  <a:pt x="425368" y="9508"/>
                  <a:pt x="425368" y="21149"/>
                </a:cubicBezTo>
                <a:lnTo>
                  <a:pt x="425368" y="499412"/>
                </a:lnTo>
                <a:cubicBezTo>
                  <a:pt x="425368" y="511142"/>
                  <a:pt x="415844" y="520561"/>
                  <a:pt x="404184" y="520561"/>
                </a:cubicBezTo>
                <a:lnTo>
                  <a:pt x="21184" y="520561"/>
                </a:lnTo>
                <a:cubicBezTo>
                  <a:pt x="9524" y="520561"/>
                  <a:pt x="0" y="511142"/>
                  <a:pt x="0" y="499412"/>
                </a:cubicBezTo>
                <a:lnTo>
                  <a:pt x="0" y="21149"/>
                </a:lnTo>
                <a:cubicBezTo>
                  <a:pt x="0" y="9508"/>
                  <a:pt x="9524" y="0"/>
                  <a:pt x="21184" y="0"/>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图片 10">
            <a:extLst xmlns:a="http://schemas.openxmlformats.org/drawingml/2006/main">
              <a:ext uri="{FF2B5EF4-FFF2-40B4-BE49-F238E27FC236}">
                <a16:creationId xmlns:a16="http://schemas.microsoft.com/office/drawing/2014/main" id="{DA1C0D50-2D61-4CD3-BF3C-55766B039B3F}"/>
              </a:ext>
            </a:extLst>
          </p:cNvPr>
          <p:cNvPicPr>
            <a:picLocks xmlns:a="http://schemas.openxmlformats.org/drawingml/2006/main" noChangeAspect="1"/>
          </p:cNvPicPr>
          <p:nvPr/>
        </p:nvPicPr>
        <p:blipFill>
          <a:blip xmlns:r="http://schemas.openxmlformats.org/officeDocument/2006/relationships" xmlns:a="http://schemas.openxmlformats.org/drawingml/2006/main" r:embed="R80864667a5b34287"/>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3" name="10">
            <a:extLst xmlns:a="http://schemas.openxmlformats.org/drawingml/2006/main">
              <a:ext uri="{FF2B5EF4-FFF2-40B4-BE49-F238E27FC236}">
                <a16:creationId xmlns:a16="http://schemas.microsoft.com/office/drawing/2014/main" id="{A3F52263-9F48-42A2-8DA4-2FCB6C4362A8}"/>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10</a:t>
            </a:r>
          </a:p>
        </p:txBody>
      </p:sp>
      <p:sp>
        <p:nvSpPr>
          <p:cNvPr id="24" name="Classroom checklist from Lecture 9. These judgments assess t">
            <a:extLst xmlns:a="http://schemas.openxmlformats.org/drawingml/2006/main">
              <a:ext uri="{FF2B5EF4-FFF2-40B4-BE49-F238E27FC236}">
                <a16:creationId xmlns:a16="http://schemas.microsoft.com/office/drawing/2014/main" id="{887A14AD-70BA-486F-8193-01F33C30EEF5}"/>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Classroom checklist from Lecture 9. These judgments assess the original 2020 study.</a:t>
            </a:r>
          </a:p>
        </p:txBody>
      </p:sp>
    </p:spTree>
    <p:extLst>
      <p:ext uri="{BB962C8B-B14F-4D97-AF65-F5344CB8AC3E}">
        <p14:creationId xmlns:p14="http://schemas.microsoft.com/office/powerpoint/2010/main" val="15771882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5114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8EE4F380-BE2E-435F-9193-5DE6F070042B}"/>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Reported metrics need error and explanation checks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Assessment</a:t>
            </a:r>
            <a:endParaRPr sz="1800">
              <a:latin typeface="Arial"/>
              <a:ea typeface="Arial"/>
              <a:cs typeface="Arial"/>
            </a:endParaRPr>
          </a:p>
        </p:txBody>
      </p:sp>
      <p:sp>
        <p:nvSpPr>
          <p:cNvPr id="2" name="矩形 1">
            <a:extLst xmlns:a="http://schemas.openxmlformats.org/drawingml/2006/main">
              <a:ext uri="{FF2B5EF4-FFF2-40B4-BE49-F238E27FC236}">
                <a16:creationId xmlns:a16="http://schemas.microsoft.com/office/drawing/2014/main" id="{0A6CCBE0-8B92-6EA3-4270-17006009BF1C}"/>
              </a:ext>
            </a:extLst>
          </p:cNvPr>
          <p:cNvSpPr>
            <a:spLocks xmlns:a="http://schemas.openxmlformats.org/drawingml/2006/main" noGrp="1"/>
          </p:cNvSpPr>
          <p:nvPr/>
        </p:nvSpPr>
        <p:spPr>
          <a:xfrm xmlns:a="http://schemas.openxmlformats.org/drawingml/2006/main">
            <a:off x="1300842" y="2026886"/>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hexagonal_73861">
            <a:extLst xmlns:a="http://schemas.openxmlformats.org/drawingml/2006/main">
              <a:ext uri="{FF2B5EF4-FFF2-40B4-BE49-F238E27FC236}">
                <a16:creationId xmlns:a16="http://schemas.microsoft.com/office/drawing/2014/main" id="{52F38808-649B-681C-25A6-AF6E6A8A885C}"/>
              </a:ext>
            </a:extLst>
          </p:cNvPr>
          <p:cNvSpPr>
            <a:spLocks xmlns:a="http://schemas.openxmlformats.org/drawingml/2006/main" noGrp="1"/>
          </p:cNvSpPr>
          <p:nvPr/>
        </p:nvSpPr>
        <p:spPr>
          <a:xfrm xmlns:a="http://schemas.openxmlformats.org/drawingml/2006/main" rot="16200000">
            <a:off x="1731390" y="2279166"/>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file_91765">
            <a:extLst xmlns:a="http://schemas.openxmlformats.org/drawingml/2006/main">
              <a:ext uri="{FF2B5EF4-FFF2-40B4-BE49-F238E27FC236}">
                <a16:creationId xmlns:a16="http://schemas.microsoft.com/office/drawing/2014/main" id="{FBF73034-CD15-D209-CA7D-9801C75470F2}"/>
              </a:ext>
            </a:extLst>
          </p:cNvPr>
          <p:cNvSpPr>
            <a:spLocks xmlns:a="http://schemas.openxmlformats.org/drawingml/2006/main" noGrp="1"/>
          </p:cNvSpPr>
          <p:nvPr/>
        </p:nvSpPr>
        <p:spPr>
          <a:xfrm xmlns:a="http://schemas.openxmlformats.org/drawingml/2006/main">
            <a:off x="2039514" y="2482457"/>
            <a:ext cx="237202" cy="346154"/>
          </a:xfrm>
          <a:custGeom xmlns:a="http://schemas.openxmlformats.org/drawingml/2006/main">
            <a:gdLst>
              <a:gd name="T0" fmla="*/ 854 w 2400"/>
              <a:gd name="T1" fmla="*/ 1453 h 3507"/>
              <a:gd name="T2" fmla="*/ 440 w 2400"/>
              <a:gd name="T3" fmla="*/ 1453 h 3507"/>
              <a:gd name="T4" fmla="*/ 440 w 2400"/>
              <a:gd name="T5" fmla="*/ 1040 h 3507"/>
              <a:gd name="T6" fmla="*/ 854 w 2400"/>
              <a:gd name="T7" fmla="*/ 1040 h 3507"/>
              <a:gd name="T8" fmla="*/ 854 w 2400"/>
              <a:gd name="T9" fmla="*/ 1453 h 3507"/>
              <a:gd name="T10" fmla="*/ 1707 w 2400"/>
              <a:gd name="T11" fmla="*/ 50 h 3507"/>
              <a:gd name="T12" fmla="*/ 1707 w 2400"/>
              <a:gd name="T13" fmla="*/ 653 h 3507"/>
              <a:gd name="T14" fmla="*/ 2333 w 2400"/>
              <a:gd name="T15" fmla="*/ 653 h 3507"/>
              <a:gd name="T16" fmla="*/ 1707 w 2400"/>
              <a:gd name="T17" fmla="*/ 50 h 3507"/>
              <a:gd name="T18" fmla="*/ 2400 w 2400"/>
              <a:gd name="T19" fmla="*/ 853 h 3507"/>
              <a:gd name="T20" fmla="*/ 2400 w 2400"/>
              <a:gd name="T21" fmla="*/ 3407 h 3507"/>
              <a:gd name="T22" fmla="*/ 2373 w 2400"/>
              <a:gd name="T23" fmla="*/ 3477 h 3507"/>
              <a:gd name="T24" fmla="*/ 2305 w 2400"/>
              <a:gd name="T25" fmla="*/ 3507 h 3507"/>
              <a:gd name="T26" fmla="*/ 2304 w 2400"/>
              <a:gd name="T27" fmla="*/ 3507 h 3507"/>
              <a:gd name="T28" fmla="*/ 102 w 2400"/>
              <a:gd name="T29" fmla="*/ 3500 h 3507"/>
              <a:gd name="T30" fmla="*/ 0 w 2400"/>
              <a:gd name="T31" fmla="*/ 3400 h 3507"/>
              <a:gd name="T32" fmla="*/ 0 w 2400"/>
              <a:gd name="T33" fmla="*/ 100 h 3507"/>
              <a:gd name="T34" fmla="*/ 105 w 2400"/>
              <a:gd name="T35" fmla="*/ 0 h 3507"/>
              <a:gd name="T36" fmla="*/ 1507 w 2400"/>
              <a:gd name="T37" fmla="*/ 0 h 3507"/>
              <a:gd name="T38" fmla="*/ 1507 w 2400"/>
              <a:gd name="T39" fmla="*/ 753 h 3507"/>
              <a:gd name="T40" fmla="*/ 1611 w 2400"/>
              <a:gd name="T41" fmla="*/ 853 h 3507"/>
              <a:gd name="T42" fmla="*/ 2400 w 2400"/>
              <a:gd name="T43" fmla="*/ 853 h 3507"/>
              <a:gd name="T44" fmla="*/ 1067 w 2400"/>
              <a:gd name="T45" fmla="*/ 940 h 3507"/>
              <a:gd name="T46" fmla="*/ 967 w 2400"/>
              <a:gd name="T47" fmla="*/ 840 h 3507"/>
              <a:gd name="T48" fmla="*/ 340 w 2400"/>
              <a:gd name="T49" fmla="*/ 840 h 3507"/>
              <a:gd name="T50" fmla="*/ 240 w 2400"/>
              <a:gd name="T51" fmla="*/ 940 h 3507"/>
              <a:gd name="T52" fmla="*/ 240 w 2400"/>
              <a:gd name="T53" fmla="*/ 1567 h 3507"/>
              <a:gd name="T54" fmla="*/ 340 w 2400"/>
              <a:gd name="T55" fmla="*/ 1667 h 3507"/>
              <a:gd name="T56" fmla="*/ 967 w 2400"/>
              <a:gd name="T57" fmla="*/ 1667 h 3507"/>
              <a:gd name="T58" fmla="*/ 1067 w 2400"/>
              <a:gd name="T59" fmla="*/ 1567 h 3507"/>
              <a:gd name="T60" fmla="*/ 1067 w 2400"/>
              <a:gd name="T61" fmla="*/ 940 h 3507"/>
              <a:gd name="T62" fmla="*/ 2185 w 2400"/>
              <a:gd name="T63" fmla="*/ 2420 h 3507"/>
              <a:gd name="T64" fmla="*/ 2085 w 2400"/>
              <a:gd name="T65" fmla="*/ 2320 h 3507"/>
              <a:gd name="T66" fmla="*/ 325 w 2400"/>
              <a:gd name="T67" fmla="*/ 2320 h 3507"/>
              <a:gd name="T68" fmla="*/ 225 w 2400"/>
              <a:gd name="T69" fmla="*/ 2420 h 3507"/>
              <a:gd name="T70" fmla="*/ 325 w 2400"/>
              <a:gd name="T71" fmla="*/ 2520 h 3507"/>
              <a:gd name="T72" fmla="*/ 2085 w 2400"/>
              <a:gd name="T73" fmla="*/ 2520 h 3507"/>
              <a:gd name="T74" fmla="*/ 2185 w 2400"/>
              <a:gd name="T75" fmla="*/ 2420 h 3507"/>
              <a:gd name="T76" fmla="*/ 2185 w 2400"/>
              <a:gd name="T77" fmla="*/ 2007 h 3507"/>
              <a:gd name="T78" fmla="*/ 2085 w 2400"/>
              <a:gd name="T79" fmla="*/ 1907 h 3507"/>
              <a:gd name="T80" fmla="*/ 325 w 2400"/>
              <a:gd name="T81" fmla="*/ 1907 h 3507"/>
              <a:gd name="T82" fmla="*/ 225 w 2400"/>
              <a:gd name="T83" fmla="*/ 2007 h 3507"/>
              <a:gd name="T84" fmla="*/ 325 w 2400"/>
              <a:gd name="T85" fmla="*/ 2107 h 3507"/>
              <a:gd name="T86" fmla="*/ 2085 w 2400"/>
              <a:gd name="T87" fmla="*/ 2107 h 3507"/>
              <a:gd name="T88" fmla="*/ 2185 w 2400"/>
              <a:gd name="T89" fmla="*/ 2007 h 3507"/>
              <a:gd name="T90" fmla="*/ 2185 w 2400"/>
              <a:gd name="T91" fmla="*/ 1567 h 3507"/>
              <a:gd name="T92" fmla="*/ 2085 w 2400"/>
              <a:gd name="T93" fmla="*/ 1467 h 3507"/>
              <a:gd name="T94" fmla="*/ 1418 w 2400"/>
              <a:gd name="T95" fmla="*/ 1467 h 3507"/>
              <a:gd name="T96" fmla="*/ 1318 w 2400"/>
              <a:gd name="T97" fmla="*/ 1567 h 3507"/>
              <a:gd name="T98" fmla="*/ 1418 w 2400"/>
              <a:gd name="T99" fmla="*/ 1667 h 3507"/>
              <a:gd name="T100" fmla="*/ 2085 w 2400"/>
              <a:gd name="T101" fmla="*/ 1667 h 3507"/>
              <a:gd name="T102" fmla="*/ 2185 w 2400"/>
              <a:gd name="T103" fmla="*/ 1567 h 3507"/>
            </a:gdLst>
            <a:rect l="0" t="0" r="r" b="b"/>
            <a:pathLst>
              <a:path w="2400" h="3507">
                <a:moveTo>
                  <a:pt x="854" y="1453"/>
                </a:moveTo>
                <a:lnTo>
                  <a:pt x="440" y="1453"/>
                </a:lnTo>
                <a:lnTo>
                  <a:pt x="440" y="1040"/>
                </a:lnTo>
                <a:lnTo>
                  <a:pt x="854" y="1040"/>
                </a:lnTo>
                <a:lnTo>
                  <a:pt x="854" y="1453"/>
                </a:lnTo>
                <a:close/>
                <a:moveTo>
                  <a:pt x="1707" y="50"/>
                </a:moveTo>
                <a:lnTo>
                  <a:pt x="1707" y="653"/>
                </a:lnTo>
                <a:lnTo>
                  <a:pt x="2333" y="653"/>
                </a:lnTo>
                <a:lnTo>
                  <a:pt x="1707" y="50"/>
                </a:lnTo>
                <a:close/>
                <a:moveTo>
                  <a:pt x="2400" y="853"/>
                </a:moveTo>
                <a:lnTo>
                  <a:pt x="2400" y="3407"/>
                </a:lnTo>
                <a:cubicBezTo>
                  <a:pt x="2400" y="3433"/>
                  <a:pt x="2392" y="3459"/>
                  <a:pt x="2373" y="3477"/>
                </a:cubicBezTo>
                <a:cubicBezTo>
                  <a:pt x="2354" y="3496"/>
                  <a:pt x="2331" y="3507"/>
                  <a:pt x="2305" y="3507"/>
                </a:cubicBezTo>
                <a:lnTo>
                  <a:pt x="2304" y="3507"/>
                </a:lnTo>
                <a:lnTo>
                  <a:pt x="102" y="3500"/>
                </a:lnTo>
                <a:cubicBezTo>
                  <a:pt x="47" y="3499"/>
                  <a:pt x="0" y="3455"/>
                  <a:pt x="0" y="3400"/>
                </a:cubicBezTo>
                <a:lnTo>
                  <a:pt x="0" y="100"/>
                </a:lnTo>
                <a:cubicBezTo>
                  <a:pt x="0" y="45"/>
                  <a:pt x="50" y="0"/>
                  <a:pt x="105" y="0"/>
                </a:cubicBezTo>
                <a:lnTo>
                  <a:pt x="1507" y="0"/>
                </a:lnTo>
                <a:lnTo>
                  <a:pt x="1507" y="753"/>
                </a:lnTo>
                <a:cubicBezTo>
                  <a:pt x="1507" y="809"/>
                  <a:pt x="1556" y="853"/>
                  <a:pt x="1611" y="853"/>
                </a:cubicBezTo>
                <a:lnTo>
                  <a:pt x="2400" y="853"/>
                </a:lnTo>
                <a:close/>
                <a:moveTo>
                  <a:pt x="1067" y="940"/>
                </a:moveTo>
                <a:cubicBezTo>
                  <a:pt x="1067" y="885"/>
                  <a:pt x="1022" y="840"/>
                  <a:pt x="967" y="840"/>
                </a:cubicBezTo>
                <a:lnTo>
                  <a:pt x="340" y="840"/>
                </a:lnTo>
                <a:cubicBezTo>
                  <a:pt x="285" y="840"/>
                  <a:pt x="240" y="885"/>
                  <a:pt x="240" y="940"/>
                </a:cubicBezTo>
                <a:lnTo>
                  <a:pt x="240" y="1567"/>
                </a:lnTo>
                <a:cubicBezTo>
                  <a:pt x="240" y="1622"/>
                  <a:pt x="285" y="1667"/>
                  <a:pt x="340" y="1667"/>
                </a:cubicBezTo>
                <a:lnTo>
                  <a:pt x="967" y="1667"/>
                </a:lnTo>
                <a:cubicBezTo>
                  <a:pt x="1022" y="1667"/>
                  <a:pt x="1067" y="1622"/>
                  <a:pt x="1067" y="1567"/>
                </a:cubicBezTo>
                <a:lnTo>
                  <a:pt x="1067" y="940"/>
                </a:lnTo>
                <a:close/>
                <a:moveTo>
                  <a:pt x="2185" y="2420"/>
                </a:moveTo>
                <a:cubicBezTo>
                  <a:pt x="2185" y="2365"/>
                  <a:pt x="2140" y="2320"/>
                  <a:pt x="2085" y="2320"/>
                </a:cubicBezTo>
                <a:lnTo>
                  <a:pt x="325" y="2320"/>
                </a:lnTo>
                <a:cubicBezTo>
                  <a:pt x="270" y="2320"/>
                  <a:pt x="225" y="2365"/>
                  <a:pt x="225" y="2420"/>
                </a:cubicBezTo>
                <a:cubicBezTo>
                  <a:pt x="225" y="2475"/>
                  <a:pt x="270" y="2520"/>
                  <a:pt x="325" y="2520"/>
                </a:cubicBezTo>
                <a:lnTo>
                  <a:pt x="2085" y="2520"/>
                </a:lnTo>
                <a:cubicBezTo>
                  <a:pt x="2140" y="2520"/>
                  <a:pt x="2185" y="2475"/>
                  <a:pt x="2185" y="2420"/>
                </a:cubicBezTo>
                <a:close/>
                <a:moveTo>
                  <a:pt x="2185" y="2007"/>
                </a:moveTo>
                <a:cubicBezTo>
                  <a:pt x="2185" y="1951"/>
                  <a:pt x="2140" y="1907"/>
                  <a:pt x="2085" y="1907"/>
                </a:cubicBezTo>
                <a:lnTo>
                  <a:pt x="325" y="1907"/>
                </a:lnTo>
                <a:cubicBezTo>
                  <a:pt x="270" y="1907"/>
                  <a:pt x="225" y="1951"/>
                  <a:pt x="225" y="2007"/>
                </a:cubicBezTo>
                <a:cubicBezTo>
                  <a:pt x="225" y="2062"/>
                  <a:pt x="270" y="2107"/>
                  <a:pt x="325" y="2107"/>
                </a:cubicBezTo>
                <a:lnTo>
                  <a:pt x="2085" y="2107"/>
                </a:lnTo>
                <a:cubicBezTo>
                  <a:pt x="2140" y="2107"/>
                  <a:pt x="2185" y="2062"/>
                  <a:pt x="2185" y="2007"/>
                </a:cubicBezTo>
                <a:close/>
                <a:moveTo>
                  <a:pt x="2185" y="1567"/>
                </a:moveTo>
                <a:cubicBezTo>
                  <a:pt x="2185" y="1511"/>
                  <a:pt x="2140" y="1467"/>
                  <a:pt x="2085" y="1467"/>
                </a:cubicBezTo>
                <a:lnTo>
                  <a:pt x="1418" y="1467"/>
                </a:lnTo>
                <a:cubicBezTo>
                  <a:pt x="1363" y="1467"/>
                  <a:pt x="1318" y="1511"/>
                  <a:pt x="1318" y="1567"/>
                </a:cubicBezTo>
                <a:cubicBezTo>
                  <a:pt x="1318" y="1622"/>
                  <a:pt x="1363" y="1667"/>
                  <a:pt x="1418" y="1667"/>
                </a:cubicBezTo>
                <a:lnTo>
                  <a:pt x="2085" y="1667"/>
                </a:lnTo>
                <a:cubicBezTo>
                  <a:pt x="2140" y="1667"/>
                  <a:pt x="2185" y="1622"/>
                  <a:pt x="2185" y="1567"/>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3FAABD1D-B39C-AD47-0BA8-8CCB74CEBF36}"/>
              </a:ext>
            </a:extLst>
          </p:cNvPr>
          <p:cNvSpPr>
            <a:spLocks xmlns:a="http://schemas.openxmlformats.org/drawingml/2006/main" noGrp="1"/>
          </p:cNvSpPr>
          <p:nvPr/>
        </p:nvSpPr>
        <p:spPr>
          <a:xfrm xmlns:a="http://schemas.openxmlformats.org/drawingml/2006/main">
            <a:off x="2905125" y="217170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7  Metrics</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MAE is interpretable in score units.</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Correlation and split SD do not establish calibration or certainty.</a:t>
            </a:r>
            <a:endParaRPr sz="2000">
              <a:solidFill>
                <a:schemeClr val="tx1">
                  <a:lumMod val="75000"/>
                  <a:lumOff val="25000"/>
                </a:schemeClr>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9BBFB361-C24B-7921-EABC-8971FF9C7261}"/>
              </a:ext>
            </a:extLst>
          </p:cNvPr>
          <p:cNvSpPr>
            <a:spLocks xmlns:a="http://schemas.openxmlformats.org/drawingml/2006/main" noGrp="1"/>
          </p:cNvSpPr>
          <p:nvPr/>
        </p:nvSpPr>
        <p:spPr>
          <a:xfrm xmlns:a="http://schemas.openxmlformats.org/drawingml/2006/main">
            <a:off x="1300842" y="3539163"/>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hexagonal_73861">
            <a:extLst xmlns:a="http://schemas.openxmlformats.org/drawingml/2006/main">
              <a:ext uri="{FF2B5EF4-FFF2-40B4-BE49-F238E27FC236}">
                <a16:creationId xmlns:a16="http://schemas.microsoft.com/office/drawing/2014/main" id="{E0F1EED2-53FB-9088-2C82-D5A58537E79C}"/>
              </a:ext>
            </a:extLst>
          </p:cNvPr>
          <p:cNvSpPr>
            <a:spLocks xmlns:a="http://schemas.openxmlformats.org/drawingml/2006/main" noGrp="1"/>
          </p:cNvSpPr>
          <p:nvPr/>
        </p:nvSpPr>
        <p:spPr>
          <a:xfrm xmlns:a="http://schemas.openxmlformats.org/drawingml/2006/main" rot="16200000">
            <a:off x="1731390" y="3791443"/>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文本框 16">
            <a:extLst xmlns:a="http://schemas.openxmlformats.org/drawingml/2006/main">
              <a:ext uri="{FF2B5EF4-FFF2-40B4-BE49-F238E27FC236}">
                <a16:creationId xmlns:a16="http://schemas.microsoft.com/office/drawing/2014/main" id="{807AF698-247A-905E-032C-A286C7C19387}"/>
              </a:ext>
            </a:extLst>
          </p:cNvPr>
          <p:cNvSpPr>
            <a:spLocks xmlns:a="http://schemas.openxmlformats.org/drawingml/2006/main" noGrp="1"/>
          </p:cNvSpPr>
          <p:nvPr/>
        </p:nvSpPr>
        <p:spPr>
          <a:xfrm xmlns:a="http://schemas.openxmlformats.org/drawingml/2006/main">
            <a:off x="2905125" y="368427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8  Explanations</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Saliency and t-SNE support exploratory inspection.</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Neither validates causal reliance on lung pathology.</a:t>
            </a:r>
            <a:endParaRPr sz="2000">
              <a:solidFill>
                <a:schemeClr val="tx1">
                  <a:lumMod val="75000"/>
                  <a:lumOff val="25000"/>
                </a:schemeClr>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34530528-EF3E-CE96-3AA9-959DE8FFFEF1}"/>
              </a:ext>
            </a:extLst>
          </p:cNvPr>
          <p:cNvSpPr>
            <a:spLocks xmlns:a="http://schemas.openxmlformats.org/drawingml/2006/main" noGrp="1"/>
          </p:cNvSpPr>
          <p:nvPr/>
        </p:nvSpPr>
        <p:spPr>
          <a:xfrm xmlns:a="http://schemas.openxmlformats.org/drawingml/2006/main">
            <a:off x="1300842" y="5051440"/>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hexagonal_73861">
            <a:extLst xmlns:a="http://schemas.openxmlformats.org/drawingml/2006/main">
              <a:ext uri="{FF2B5EF4-FFF2-40B4-BE49-F238E27FC236}">
                <a16:creationId xmlns:a16="http://schemas.microsoft.com/office/drawing/2014/main" id="{3AA9A527-62AC-6888-76B1-BB368195F9C4}"/>
              </a:ext>
            </a:extLst>
          </p:cNvPr>
          <p:cNvSpPr>
            <a:spLocks xmlns:a="http://schemas.openxmlformats.org/drawingml/2006/main" noGrp="1"/>
          </p:cNvSpPr>
          <p:nvPr/>
        </p:nvSpPr>
        <p:spPr>
          <a:xfrm xmlns:a="http://schemas.openxmlformats.org/drawingml/2006/main" rot="16200000">
            <a:off x="1731390" y="5303720"/>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文本框 19">
            <a:extLst xmlns:a="http://schemas.openxmlformats.org/drawingml/2006/main">
              <a:ext uri="{FF2B5EF4-FFF2-40B4-BE49-F238E27FC236}">
                <a16:creationId xmlns:a16="http://schemas.microsoft.com/office/drawing/2014/main" id="{5199480A-0C41-A332-A0F8-1949E19E9D52}"/>
              </a:ext>
            </a:extLst>
          </p:cNvPr>
          <p:cNvSpPr>
            <a:spLocks xmlns:a="http://schemas.openxmlformats.org/drawingml/2006/main" noGrp="1"/>
          </p:cNvSpPr>
          <p:nvPr/>
        </p:nvSpPr>
        <p:spPr>
          <a:xfrm xmlns:a="http://schemas.openxmlformats.org/drawingml/2006/main">
            <a:off x="2905125" y="519684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9  Reproducibility and generalization</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Public resources enable a broad rerun.</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Data versions and an external cohort remain unresolved.</a:t>
            </a:r>
            <a:endParaRPr sz="2000">
              <a:solidFill>
                <a:schemeClr val="tx1">
                  <a:lumMod val="75000"/>
                  <a:lumOff val="25000"/>
                </a:schemeClr>
              </a:solidFill>
              <a:latin typeface="Arial"/>
              <a:ea typeface="Arial"/>
              <a:cs typeface="Arial"/>
            </a:endParaRPr>
          </a:p>
        </p:txBody>
      </p:sp>
      <p:sp>
        <p:nvSpPr>
          <p:cNvPr id="21" name="edit-text_62029">
            <a:extLst xmlns:a="http://schemas.openxmlformats.org/drawingml/2006/main">
              <a:ext uri="{FF2B5EF4-FFF2-40B4-BE49-F238E27FC236}">
                <a16:creationId xmlns:a16="http://schemas.microsoft.com/office/drawing/2014/main" id="{987B202C-F6C2-866F-606C-940E68D8D2EE}"/>
              </a:ext>
            </a:extLst>
          </p:cNvPr>
          <p:cNvSpPr>
            <a:spLocks xmlns:a="http://schemas.openxmlformats.org/drawingml/2006/main" noGrp="1"/>
          </p:cNvSpPr>
          <p:nvPr/>
        </p:nvSpPr>
        <p:spPr>
          <a:xfrm xmlns:a="http://schemas.openxmlformats.org/drawingml/2006/main">
            <a:off x="1985561" y="3994734"/>
            <a:ext cx="345108" cy="346154"/>
          </a:xfrm>
          <a:custGeom xmlns:a="http://schemas.openxmlformats.org/drawingml/2006/main">
            <a:gdLst>
              <a:gd name="T0" fmla="*/ 5740 w 5955"/>
              <a:gd name="T1" fmla="*/ 215 h 5983"/>
              <a:gd name="T2" fmla="*/ 5222 w 5955"/>
              <a:gd name="T3" fmla="*/ 0 h 5983"/>
              <a:gd name="T4" fmla="*/ 4703 w 5955"/>
              <a:gd name="T5" fmla="*/ 215 h 5983"/>
              <a:gd name="T6" fmla="*/ 3846 w 5955"/>
              <a:gd name="T7" fmla="*/ 1072 h 5983"/>
              <a:gd name="T8" fmla="*/ 177 w 5955"/>
              <a:gd name="T9" fmla="*/ 1072 h 5983"/>
              <a:gd name="T10" fmla="*/ 0 w 5955"/>
              <a:gd name="T11" fmla="*/ 1248 h 5983"/>
              <a:gd name="T12" fmla="*/ 0 w 5955"/>
              <a:gd name="T13" fmla="*/ 4481 h 5983"/>
              <a:gd name="T14" fmla="*/ 177 w 5955"/>
              <a:gd name="T15" fmla="*/ 4658 h 5983"/>
              <a:gd name="T16" fmla="*/ 2879 w 5955"/>
              <a:gd name="T17" fmla="*/ 4658 h 5983"/>
              <a:gd name="T18" fmla="*/ 2879 w 5955"/>
              <a:gd name="T19" fmla="*/ 5807 h 5983"/>
              <a:gd name="T20" fmla="*/ 2988 w 5955"/>
              <a:gd name="T21" fmla="*/ 5970 h 5983"/>
              <a:gd name="T22" fmla="*/ 3056 w 5955"/>
              <a:gd name="T23" fmla="*/ 5983 h 5983"/>
              <a:gd name="T24" fmla="*/ 3181 w 5955"/>
              <a:gd name="T25" fmla="*/ 5932 h 5983"/>
              <a:gd name="T26" fmla="*/ 4463 w 5955"/>
              <a:gd name="T27" fmla="*/ 4658 h 5983"/>
              <a:gd name="T28" fmla="*/ 5223 w 5955"/>
              <a:gd name="T29" fmla="*/ 4658 h 5983"/>
              <a:gd name="T30" fmla="*/ 5399 w 5955"/>
              <a:gd name="T31" fmla="*/ 4481 h 5983"/>
              <a:gd name="T32" fmla="*/ 5399 w 5955"/>
              <a:gd name="T33" fmla="*/ 1593 h 5983"/>
              <a:gd name="T34" fmla="*/ 5740 w 5955"/>
              <a:gd name="T35" fmla="*/ 1252 h 5983"/>
              <a:gd name="T36" fmla="*/ 5955 w 5955"/>
              <a:gd name="T37" fmla="*/ 733 h 5983"/>
              <a:gd name="T38" fmla="*/ 5740 w 5955"/>
              <a:gd name="T39" fmla="*/ 215 h 5983"/>
              <a:gd name="T40" fmla="*/ 3240 w 5955"/>
              <a:gd name="T41" fmla="*/ 2839 h 5983"/>
              <a:gd name="T42" fmla="*/ 3149 w 5955"/>
              <a:gd name="T43" fmla="*/ 2812 h 5983"/>
              <a:gd name="T44" fmla="*/ 3122 w 5955"/>
              <a:gd name="T45" fmla="*/ 2721 h 5983"/>
              <a:gd name="T46" fmla="*/ 3231 w 5955"/>
              <a:gd name="T47" fmla="*/ 2190 h 5983"/>
              <a:gd name="T48" fmla="*/ 3771 w 5955"/>
              <a:gd name="T49" fmla="*/ 2730 h 5983"/>
              <a:gd name="T50" fmla="*/ 3240 w 5955"/>
              <a:gd name="T51" fmla="*/ 2839 h 5983"/>
              <a:gd name="T52" fmla="*/ 3967 w 5955"/>
              <a:gd name="T53" fmla="*/ 2560 h 5983"/>
              <a:gd name="T54" fmla="*/ 3401 w 5955"/>
              <a:gd name="T55" fmla="*/ 1994 h 5983"/>
              <a:gd name="T56" fmla="*/ 4670 w 5955"/>
              <a:gd name="T57" fmla="*/ 725 h 5983"/>
              <a:gd name="T58" fmla="*/ 5236 w 5955"/>
              <a:gd name="T59" fmla="*/ 1291 h 5983"/>
              <a:gd name="T60" fmla="*/ 3967 w 5955"/>
              <a:gd name="T61" fmla="*/ 2560 h 5983"/>
              <a:gd name="T62" fmla="*/ 5500 w 5955"/>
              <a:gd name="T63" fmla="*/ 1026 h 5983"/>
              <a:gd name="T64" fmla="*/ 5419 w 5955"/>
              <a:gd name="T65" fmla="*/ 1108 h 5983"/>
              <a:gd name="T66" fmla="*/ 4853 w 5955"/>
              <a:gd name="T67" fmla="*/ 542 h 5983"/>
              <a:gd name="T68" fmla="*/ 4935 w 5955"/>
              <a:gd name="T69" fmla="*/ 461 h 5983"/>
              <a:gd name="T70" fmla="*/ 5500 w 5955"/>
              <a:gd name="T71" fmla="*/ 461 h 5983"/>
              <a:gd name="T72" fmla="*/ 5500 w 5955"/>
              <a:gd name="T73" fmla="*/ 1026 h 5983"/>
            </a:gdLst>
            <a:rect l="0" t="0" r="r" b="b"/>
            <a:pathLst>
              <a:path w="5955" h="5983">
                <a:moveTo>
                  <a:pt x="5740" y="215"/>
                </a:moveTo>
                <a:cubicBezTo>
                  <a:pt x="5602" y="76"/>
                  <a:pt x="5418" y="0"/>
                  <a:pt x="5222" y="0"/>
                </a:cubicBezTo>
                <a:cubicBezTo>
                  <a:pt x="5026" y="0"/>
                  <a:pt x="4842" y="76"/>
                  <a:pt x="4703" y="215"/>
                </a:cubicBezTo>
                <a:lnTo>
                  <a:pt x="3846" y="1072"/>
                </a:lnTo>
                <a:lnTo>
                  <a:pt x="177" y="1072"/>
                </a:lnTo>
                <a:cubicBezTo>
                  <a:pt x="79" y="1072"/>
                  <a:pt x="0" y="1151"/>
                  <a:pt x="0" y="1248"/>
                </a:cubicBezTo>
                <a:lnTo>
                  <a:pt x="0" y="4481"/>
                </a:lnTo>
                <a:cubicBezTo>
                  <a:pt x="0" y="4579"/>
                  <a:pt x="79" y="4658"/>
                  <a:pt x="177" y="4658"/>
                </a:cubicBezTo>
                <a:lnTo>
                  <a:pt x="2879" y="4658"/>
                </a:lnTo>
                <a:lnTo>
                  <a:pt x="2879" y="5807"/>
                </a:lnTo>
                <a:cubicBezTo>
                  <a:pt x="2879" y="5878"/>
                  <a:pt x="2922" y="5943"/>
                  <a:pt x="2988" y="5970"/>
                </a:cubicBezTo>
                <a:cubicBezTo>
                  <a:pt x="3010" y="5979"/>
                  <a:pt x="3033" y="5983"/>
                  <a:pt x="3056" y="5983"/>
                </a:cubicBezTo>
                <a:cubicBezTo>
                  <a:pt x="3102" y="5983"/>
                  <a:pt x="3147" y="5965"/>
                  <a:pt x="3181" y="5932"/>
                </a:cubicBezTo>
                <a:lnTo>
                  <a:pt x="4463" y="4658"/>
                </a:lnTo>
                <a:lnTo>
                  <a:pt x="5223" y="4658"/>
                </a:lnTo>
                <a:cubicBezTo>
                  <a:pt x="5320" y="4658"/>
                  <a:pt x="5399" y="4579"/>
                  <a:pt x="5399" y="4481"/>
                </a:cubicBezTo>
                <a:lnTo>
                  <a:pt x="5399" y="1593"/>
                </a:lnTo>
                <a:lnTo>
                  <a:pt x="5740" y="1252"/>
                </a:lnTo>
                <a:cubicBezTo>
                  <a:pt x="5879" y="1113"/>
                  <a:pt x="5955" y="929"/>
                  <a:pt x="5955" y="733"/>
                </a:cubicBezTo>
                <a:cubicBezTo>
                  <a:pt x="5955" y="537"/>
                  <a:pt x="5879" y="353"/>
                  <a:pt x="5740" y="215"/>
                </a:cubicBezTo>
                <a:close/>
                <a:moveTo>
                  <a:pt x="3240" y="2839"/>
                </a:moveTo>
                <a:cubicBezTo>
                  <a:pt x="3207" y="2846"/>
                  <a:pt x="3173" y="2835"/>
                  <a:pt x="3149" y="2812"/>
                </a:cubicBezTo>
                <a:cubicBezTo>
                  <a:pt x="3125" y="2788"/>
                  <a:pt x="3115" y="2754"/>
                  <a:pt x="3122" y="2721"/>
                </a:cubicBezTo>
                <a:lnTo>
                  <a:pt x="3231" y="2190"/>
                </a:lnTo>
                <a:lnTo>
                  <a:pt x="3771" y="2730"/>
                </a:lnTo>
                <a:lnTo>
                  <a:pt x="3240" y="2839"/>
                </a:lnTo>
                <a:close/>
                <a:moveTo>
                  <a:pt x="3967" y="2560"/>
                </a:moveTo>
                <a:lnTo>
                  <a:pt x="3401" y="1994"/>
                </a:lnTo>
                <a:lnTo>
                  <a:pt x="4670" y="725"/>
                </a:lnTo>
                <a:lnTo>
                  <a:pt x="5236" y="1291"/>
                </a:lnTo>
                <a:lnTo>
                  <a:pt x="3967" y="2560"/>
                </a:lnTo>
                <a:close/>
                <a:moveTo>
                  <a:pt x="5500" y="1026"/>
                </a:moveTo>
                <a:lnTo>
                  <a:pt x="5419" y="1108"/>
                </a:lnTo>
                <a:lnTo>
                  <a:pt x="4853" y="542"/>
                </a:lnTo>
                <a:lnTo>
                  <a:pt x="4935" y="461"/>
                </a:lnTo>
                <a:cubicBezTo>
                  <a:pt x="5091" y="304"/>
                  <a:pt x="5344" y="304"/>
                  <a:pt x="5500" y="461"/>
                </a:cubicBezTo>
                <a:cubicBezTo>
                  <a:pt x="5656" y="617"/>
                  <a:pt x="5656" y="870"/>
                  <a:pt x="5500" y="1026"/>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school-material_304636">
            <a:extLst xmlns:a="http://schemas.openxmlformats.org/drawingml/2006/main">
              <a:ext uri="{FF2B5EF4-FFF2-40B4-BE49-F238E27FC236}">
                <a16:creationId xmlns:a16="http://schemas.microsoft.com/office/drawing/2014/main" id="{F388813E-7455-473D-9127-B0109AB0DA1E}"/>
              </a:ext>
            </a:extLst>
          </p:cNvPr>
          <p:cNvSpPr>
            <a:spLocks xmlns:a="http://schemas.openxmlformats.org/drawingml/2006/main" noGrp="1"/>
          </p:cNvSpPr>
          <p:nvPr/>
        </p:nvSpPr>
        <p:spPr>
          <a:xfrm xmlns:a="http://schemas.openxmlformats.org/drawingml/2006/main">
            <a:off x="1985038" y="5531814"/>
            <a:ext cx="346154" cy="296548"/>
          </a:xfrm>
          <a:custGeom xmlns:a="http://schemas.openxmlformats.org/drawingml/2006/main">
            <a:gdLst>
              <a:gd name="connsiteX0" fmla="*/ 493946 w 607639"/>
              <a:gd name="connsiteY0" fmla="*/ 400670 h 520561"/>
              <a:gd name="connsiteX1" fmla="*/ 590080 w 607639"/>
              <a:gd name="connsiteY1" fmla="*/ 400670 h 520561"/>
              <a:gd name="connsiteX2" fmla="*/ 596667 w 607639"/>
              <a:gd name="connsiteY2" fmla="*/ 410360 h 520561"/>
              <a:gd name="connsiteX3" fmla="*/ 561685 w 607639"/>
              <a:gd name="connsiteY3" fmla="*/ 496061 h 520561"/>
              <a:gd name="connsiteX4" fmla="*/ 522430 w 607639"/>
              <a:gd name="connsiteY4" fmla="*/ 496061 h 520561"/>
              <a:gd name="connsiteX5" fmla="*/ 487448 w 607639"/>
              <a:gd name="connsiteY5" fmla="*/ 410360 h 520561"/>
              <a:gd name="connsiteX6" fmla="*/ 493946 w 607639"/>
              <a:gd name="connsiteY6" fmla="*/ 400670 h 520561"/>
              <a:gd name="connsiteX7" fmla="*/ 110192 w 607639"/>
              <a:gd name="connsiteY7" fmla="*/ 349855 h 520561"/>
              <a:gd name="connsiteX8" fmla="*/ 89186 w 607639"/>
              <a:gd name="connsiteY8" fmla="*/ 373492 h 520561"/>
              <a:gd name="connsiteX9" fmla="*/ 110815 w 607639"/>
              <a:gd name="connsiteY9" fmla="*/ 392242 h 520561"/>
              <a:gd name="connsiteX10" fmla="*/ 316512 w 607639"/>
              <a:gd name="connsiteY10" fmla="*/ 392242 h 520561"/>
              <a:gd name="connsiteX11" fmla="*/ 337606 w 607639"/>
              <a:gd name="connsiteY11" fmla="*/ 368694 h 520561"/>
              <a:gd name="connsiteX12" fmla="*/ 315977 w 607639"/>
              <a:gd name="connsiteY12" fmla="*/ 349855 h 520561"/>
              <a:gd name="connsiteX13" fmla="*/ 110192 w 607639"/>
              <a:gd name="connsiteY13" fmla="*/ 239842 h 520561"/>
              <a:gd name="connsiteX14" fmla="*/ 89186 w 607639"/>
              <a:gd name="connsiteY14" fmla="*/ 263391 h 520561"/>
              <a:gd name="connsiteX15" fmla="*/ 110815 w 607639"/>
              <a:gd name="connsiteY15" fmla="*/ 282141 h 520561"/>
              <a:gd name="connsiteX16" fmla="*/ 316512 w 607639"/>
              <a:gd name="connsiteY16" fmla="*/ 282141 h 520561"/>
              <a:gd name="connsiteX17" fmla="*/ 337606 w 607639"/>
              <a:gd name="connsiteY17" fmla="*/ 258592 h 520561"/>
              <a:gd name="connsiteX18" fmla="*/ 315977 w 607639"/>
              <a:gd name="connsiteY18" fmla="*/ 239842 h 520561"/>
              <a:gd name="connsiteX19" fmla="*/ 158256 w 607639"/>
              <a:gd name="connsiteY19" fmla="*/ 129829 h 520561"/>
              <a:gd name="connsiteX20" fmla="*/ 137161 w 607639"/>
              <a:gd name="connsiteY20" fmla="*/ 153378 h 520561"/>
              <a:gd name="connsiteX21" fmla="*/ 158790 w 607639"/>
              <a:gd name="connsiteY21" fmla="*/ 172128 h 520561"/>
              <a:gd name="connsiteX22" fmla="*/ 268447 w 607639"/>
              <a:gd name="connsiteY22" fmla="*/ 172128 h 520561"/>
              <a:gd name="connsiteX23" fmla="*/ 289542 w 607639"/>
              <a:gd name="connsiteY23" fmla="*/ 148579 h 520561"/>
              <a:gd name="connsiteX24" fmla="*/ 267913 w 607639"/>
              <a:gd name="connsiteY24" fmla="*/ 129829 h 520561"/>
              <a:gd name="connsiteX25" fmla="*/ 483297 w 607639"/>
              <a:gd name="connsiteY25" fmla="*/ 115657 h 520561"/>
              <a:gd name="connsiteX26" fmla="*/ 600518 w 607639"/>
              <a:gd name="connsiteY26" fmla="*/ 115657 h 520561"/>
              <a:gd name="connsiteX27" fmla="*/ 607639 w 607639"/>
              <a:gd name="connsiteY27" fmla="*/ 122679 h 520561"/>
              <a:gd name="connsiteX28" fmla="*/ 607639 w 607639"/>
              <a:gd name="connsiteY28" fmla="*/ 351291 h 520561"/>
              <a:gd name="connsiteX29" fmla="*/ 600518 w 607639"/>
              <a:gd name="connsiteY29" fmla="*/ 358402 h 520561"/>
              <a:gd name="connsiteX30" fmla="*/ 483297 w 607639"/>
              <a:gd name="connsiteY30" fmla="*/ 358402 h 520561"/>
              <a:gd name="connsiteX31" fmla="*/ 476176 w 607639"/>
              <a:gd name="connsiteY31" fmla="*/ 351291 h 520561"/>
              <a:gd name="connsiteX32" fmla="*/ 476176 w 607639"/>
              <a:gd name="connsiteY32" fmla="*/ 122679 h 520561"/>
              <a:gd name="connsiteX33" fmla="*/ 483297 w 607639"/>
              <a:gd name="connsiteY33" fmla="*/ 115657 h 520561"/>
              <a:gd name="connsiteX34" fmla="*/ 497360 w 607639"/>
              <a:gd name="connsiteY34" fmla="*/ 0 h 520561"/>
              <a:gd name="connsiteX35" fmla="*/ 586455 w 607639"/>
              <a:gd name="connsiteY35" fmla="*/ 0 h 520561"/>
              <a:gd name="connsiteX36" fmla="*/ 607639 w 607639"/>
              <a:gd name="connsiteY36" fmla="*/ 21146 h 520561"/>
              <a:gd name="connsiteX37" fmla="*/ 607639 w 607639"/>
              <a:gd name="connsiteY37" fmla="*/ 66280 h 520561"/>
              <a:gd name="connsiteX38" fmla="*/ 600518 w 607639"/>
              <a:gd name="connsiteY38" fmla="*/ 73388 h 520561"/>
              <a:gd name="connsiteX39" fmla="*/ 483297 w 607639"/>
              <a:gd name="connsiteY39" fmla="*/ 73388 h 520561"/>
              <a:gd name="connsiteX40" fmla="*/ 476176 w 607639"/>
              <a:gd name="connsiteY40" fmla="*/ 66280 h 520561"/>
              <a:gd name="connsiteX41" fmla="*/ 476176 w 607639"/>
              <a:gd name="connsiteY41" fmla="*/ 21146 h 520561"/>
              <a:gd name="connsiteX42" fmla="*/ 497360 w 607639"/>
              <a:gd name="connsiteY42" fmla="*/ 0 h 520561"/>
              <a:gd name="connsiteX43" fmla="*/ 21184 w 607639"/>
              <a:gd name="connsiteY43" fmla="*/ 0 h 520561"/>
              <a:gd name="connsiteX44" fmla="*/ 404184 w 607639"/>
              <a:gd name="connsiteY44" fmla="*/ 0 h 520561"/>
              <a:gd name="connsiteX45" fmla="*/ 425368 w 607639"/>
              <a:gd name="connsiteY45" fmla="*/ 21149 h 520561"/>
              <a:gd name="connsiteX46" fmla="*/ 425368 w 607639"/>
              <a:gd name="connsiteY46" fmla="*/ 499412 h 520561"/>
              <a:gd name="connsiteX47" fmla="*/ 404184 w 607639"/>
              <a:gd name="connsiteY47" fmla="*/ 520561 h 520561"/>
              <a:gd name="connsiteX48" fmla="*/ 21184 w 607639"/>
              <a:gd name="connsiteY48" fmla="*/ 520561 h 520561"/>
              <a:gd name="connsiteX49" fmla="*/ 0 w 607639"/>
              <a:gd name="connsiteY49" fmla="*/ 499412 h 520561"/>
              <a:gd name="connsiteX50" fmla="*/ 0 w 607639"/>
              <a:gd name="connsiteY50" fmla="*/ 21149 h 520561"/>
              <a:gd name="connsiteX51" fmla="*/ 21184 w 607639"/>
              <a:gd name="connsiteY51" fmla="*/ 0 h 520561"/>
            </a:gdLst>
            <a:rect l="l" t="t" r="r" b="b"/>
            <a:pathLst>
              <a:path w="607639" h="520561">
                <a:moveTo>
                  <a:pt x="493946" y="400670"/>
                </a:moveTo>
                <a:lnTo>
                  <a:pt x="590080" y="400670"/>
                </a:lnTo>
                <a:cubicBezTo>
                  <a:pt x="595154" y="400670"/>
                  <a:pt x="598536" y="405737"/>
                  <a:pt x="596667" y="410360"/>
                </a:cubicBezTo>
                <a:lnTo>
                  <a:pt x="561685" y="496061"/>
                </a:lnTo>
                <a:cubicBezTo>
                  <a:pt x="554475" y="513575"/>
                  <a:pt x="529551" y="513575"/>
                  <a:pt x="522430" y="496061"/>
                </a:cubicBezTo>
                <a:lnTo>
                  <a:pt x="487448" y="410360"/>
                </a:lnTo>
                <a:cubicBezTo>
                  <a:pt x="485490" y="405737"/>
                  <a:pt x="488962" y="400670"/>
                  <a:pt x="493946" y="400670"/>
                </a:cubicBezTo>
                <a:close/>
                <a:moveTo>
                  <a:pt x="110192" y="349855"/>
                </a:moveTo>
                <a:cubicBezTo>
                  <a:pt x="97731" y="349855"/>
                  <a:pt x="87762" y="360696"/>
                  <a:pt x="89186" y="373492"/>
                </a:cubicBezTo>
                <a:cubicBezTo>
                  <a:pt x="90343" y="384245"/>
                  <a:pt x="99867" y="392242"/>
                  <a:pt x="110815" y="392242"/>
                </a:cubicBezTo>
                <a:lnTo>
                  <a:pt x="316512" y="392242"/>
                </a:lnTo>
                <a:cubicBezTo>
                  <a:pt x="329062" y="392242"/>
                  <a:pt x="339030" y="381401"/>
                  <a:pt x="337606" y="368694"/>
                </a:cubicBezTo>
                <a:cubicBezTo>
                  <a:pt x="336360" y="357852"/>
                  <a:pt x="326836" y="349855"/>
                  <a:pt x="315977" y="349855"/>
                </a:cubicBezTo>
                <a:close/>
                <a:moveTo>
                  <a:pt x="110192" y="239842"/>
                </a:moveTo>
                <a:cubicBezTo>
                  <a:pt x="97731" y="239842"/>
                  <a:pt x="87762" y="250683"/>
                  <a:pt x="89186" y="263391"/>
                </a:cubicBezTo>
                <a:cubicBezTo>
                  <a:pt x="90343" y="274232"/>
                  <a:pt x="99867" y="282141"/>
                  <a:pt x="110815" y="282141"/>
                </a:cubicBezTo>
                <a:lnTo>
                  <a:pt x="316512" y="282141"/>
                </a:lnTo>
                <a:cubicBezTo>
                  <a:pt x="329062" y="282141"/>
                  <a:pt x="339030" y="271388"/>
                  <a:pt x="337606" y="258592"/>
                </a:cubicBezTo>
                <a:cubicBezTo>
                  <a:pt x="336360" y="247840"/>
                  <a:pt x="326836" y="239842"/>
                  <a:pt x="315977" y="239842"/>
                </a:cubicBezTo>
                <a:close/>
                <a:moveTo>
                  <a:pt x="158256" y="129829"/>
                </a:moveTo>
                <a:cubicBezTo>
                  <a:pt x="145795" y="129829"/>
                  <a:pt x="135826" y="140582"/>
                  <a:pt x="137161" y="153378"/>
                </a:cubicBezTo>
                <a:cubicBezTo>
                  <a:pt x="138407" y="164219"/>
                  <a:pt x="147931" y="172128"/>
                  <a:pt x="158790" y="172128"/>
                </a:cubicBezTo>
                <a:lnTo>
                  <a:pt x="268447" y="172128"/>
                </a:lnTo>
                <a:cubicBezTo>
                  <a:pt x="280997" y="172128"/>
                  <a:pt x="290966" y="161287"/>
                  <a:pt x="289542" y="148579"/>
                </a:cubicBezTo>
                <a:cubicBezTo>
                  <a:pt x="288385" y="137738"/>
                  <a:pt x="278772" y="129829"/>
                  <a:pt x="267913" y="129829"/>
                </a:cubicBezTo>
                <a:close/>
                <a:moveTo>
                  <a:pt x="483297" y="115657"/>
                </a:moveTo>
                <a:lnTo>
                  <a:pt x="600518" y="115657"/>
                </a:lnTo>
                <a:cubicBezTo>
                  <a:pt x="604435" y="115657"/>
                  <a:pt x="607639" y="118857"/>
                  <a:pt x="607639" y="122679"/>
                </a:cubicBezTo>
                <a:lnTo>
                  <a:pt x="607639" y="351291"/>
                </a:lnTo>
                <a:cubicBezTo>
                  <a:pt x="607639" y="355202"/>
                  <a:pt x="604435" y="358402"/>
                  <a:pt x="600518" y="358402"/>
                </a:cubicBezTo>
                <a:lnTo>
                  <a:pt x="483297" y="358402"/>
                </a:lnTo>
                <a:cubicBezTo>
                  <a:pt x="479380" y="358402"/>
                  <a:pt x="476176" y="355202"/>
                  <a:pt x="476176" y="351291"/>
                </a:cubicBezTo>
                <a:lnTo>
                  <a:pt x="476176" y="122679"/>
                </a:lnTo>
                <a:cubicBezTo>
                  <a:pt x="476176" y="118857"/>
                  <a:pt x="479380" y="115657"/>
                  <a:pt x="483297" y="115657"/>
                </a:cubicBezTo>
                <a:close/>
                <a:moveTo>
                  <a:pt x="497360" y="0"/>
                </a:moveTo>
                <a:lnTo>
                  <a:pt x="586455" y="0"/>
                </a:lnTo>
                <a:cubicBezTo>
                  <a:pt x="598115" y="0"/>
                  <a:pt x="607639" y="9507"/>
                  <a:pt x="607639" y="21146"/>
                </a:cubicBezTo>
                <a:lnTo>
                  <a:pt x="607639" y="66280"/>
                </a:lnTo>
                <a:cubicBezTo>
                  <a:pt x="607639" y="70189"/>
                  <a:pt x="604435" y="73388"/>
                  <a:pt x="600518" y="73388"/>
                </a:cubicBezTo>
                <a:lnTo>
                  <a:pt x="483297" y="73388"/>
                </a:lnTo>
                <a:cubicBezTo>
                  <a:pt x="479380" y="73388"/>
                  <a:pt x="476176" y="70189"/>
                  <a:pt x="476176" y="66280"/>
                </a:cubicBezTo>
                <a:lnTo>
                  <a:pt x="476176" y="21146"/>
                </a:lnTo>
                <a:cubicBezTo>
                  <a:pt x="476176" y="9507"/>
                  <a:pt x="485700" y="0"/>
                  <a:pt x="497360" y="0"/>
                </a:cubicBezTo>
                <a:close/>
                <a:moveTo>
                  <a:pt x="21184" y="0"/>
                </a:moveTo>
                <a:lnTo>
                  <a:pt x="404184" y="0"/>
                </a:lnTo>
                <a:cubicBezTo>
                  <a:pt x="415844" y="0"/>
                  <a:pt x="425368" y="9508"/>
                  <a:pt x="425368" y="21149"/>
                </a:cubicBezTo>
                <a:lnTo>
                  <a:pt x="425368" y="499412"/>
                </a:lnTo>
                <a:cubicBezTo>
                  <a:pt x="425368" y="511142"/>
                  <a:pt x="415844" y="520561"/>
                  <a:pt x="404184" y="520561"/>
                </a:cubicBezTo>
                <a:lnTo>
                  <a:pt x="21184" y="520561"/>
                </a:lnTo>
                <a:cubicBezTo>
                  <a:pt x="9524" y="520561"/>
                  <a:pt x="0" y="511142"/>
                  <a:pt x="0" y="499412"/>
                </a:cubicBezTo>
                <a:lnTo>
                  <a:pt x="0" y="21149"/>
                </a:lnTo>
                <a:cubicBezTo>
                  <a:pt x="0" y="9508"/>
                  <a:pt x="9524" y="0"/>
                  <a:pt x="21184" y="0"/>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图片 10">
            <a:extLst xmlns:a="http://schemas.openxmlformats.org/drawingml/2006/main">
              <a:ext uri="{FF2B5EF4-FFF2-40B4-BE49-F238E27FC236}">
                <a16:creationId xmlns:a16="http://schemas.microsoft.com/office/drawing/2014/main" id="{DA1C0D50-2D61-4CD3-BF3C-55766B039B3F}"/>
              </a:ext>
            </a:extLst>
          </p:cNvPr>
          <p:cNvPicPr>
            <a:picLocks xmlns:a="http://schemas.openxmlformats.org/drawingml/2006/main" noChangeAspect="1"/>
          </p:cNvPicPr>
          <p:nvPr/>
        </p:nvPicPr>
        <p:blipFill>
          <a:blip xmlns:r="http://schemas.openxmlformats.org/officeDocument/2006/relationships" xmlns:a="http://schemas.openxmlformats.org/drawingml/2006/main" r:embed="Re5b986bf9371412e"/>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3" name="11">
            <a:extLst xmlns:a="http://schemas.openxmlformats.org/drawingml/2006/main">
              <a:ext uri="{FF2B5EF4-FFF2-40B4-BE49-F238E27FC236}">
                <a16:creationId xmlns:a16="http://schemas.microsoft.com/office/drawing/2014/main" id="{82458F74-C4F4-4F5B-AA99-8D5AE32A76D4}"/>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11</a:t>
            </a:r>
          </a:p>
        </p:txBody>
      </p:sp>
      <p:sp>
        <p:nvSpPr>
          <p:cNvPr id="24" name="Classroom checklist from Lecture 9. These judgments assess t">
            <a:extLst xmlns:a="http://schemas.openxmlformats.org/drawingml/2006/main">
              <a:ext uri="{FF2B5EF4-FFF2-40B4-BE49-F238E27FC236}">
                <a16:creationId xmlns:a16="http://schemas.microsoft.com/office/drawing/2014/main" id="{555E94A7-4BD8-450D-8482-5C3254B2BD20}"/>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Classroom checklist from Lecture 9. These judgments assess the original 2020 study.</a:t>
            </a:r>
          </a:p>
        </p:txBody>
      </p:sp>
    </p:spTree>
    <p:extLst>
      <p:ext uri="{BB962C8B-B14F-4D97-AF65-F5344CB8AC3E}">
        <p14:creationId xmlns:p14="http://schemas.microsoft.com/office/powerpoint/2010/main" val="157718822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5114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8EE4F380-BE2E-435F-9193-5DE6F070042B}"/>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Clinical relevance exceeds the evidence for deployment</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Assessment</a:t>
            </a:r>
            <a:endParaRPr sz="1800">
              <a:latin typeface="Arial"/>
              <a:ea typeface="Arial"/>
              <a:cs typeface="Arial"/>
            </a:endParaRPr>
          </a:p>
        </p:txBody>
      </p:sp>
      <p:sp>
        <p:nvSpPr>
          <p:cNvPr id="2" name="矩形 1">
            <a:extLst xmlns:a="http://schemas.openxmlformats.org/drawingml/2006/main">
              <a:ext uri="{FF2B5EF4-FFF2-40B4-BE49-F238E27FC236}">
                <a16:creationId xmlns:a16="http://schemas.microsoft.com/office/drawing/2014/main" id="{0A6CCBE0-8B92-6EA3-4270-17006009BF1C}"/>
              </a:ext>
            </a:extLst>
          </p:cNvPr>
          <p:cNvSpPr>
            <a:spLocks xmlns:a="http://schemas.openxmlformats.org/drawingml/2006/main" noGrp="1"/>
          </p:cNvSpPr>
          <p:nvPr/>
        </p:nvSpPr>
        <p:spPr>
          <a:xfrm xmlns:a="http://schemas.openxmlformats.org/drawingml/2006/main">
            <a:off x="1300842" y="2026886"/>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hexagonal_73861">
            <a:extLst xmlns:a="http://schemas.openxmlformats.org/drawingml/2006/main">
              <a:ext uri="{FF2B5EF4-FFF2-40B4-BE49-F238E27FC236}">
                <a16:creationId xmlns:a16="http://schemas.microsoft.com/office/drawing/2014/main" id="{52F38808-649B-681C-25A6-AF6E6A8A885C}"/>
              </a:ext>
            </a:extLst>
          </p:cNvPr>
          <p:cNvSpPr>
            <a:spLocks xmlns:a="http://schemas.openxmlformats.org/drawingml/2006/main" noGrp="1"/>
          </p:cNvSpPr>
          <p:nvPr/>
        </p:nvSpPr>
        <p:spPr>
          <a:xfrm xmlns:a="http://schemas.openxmlformats.org/drawingml/2006/main" rot="16200000">
            <a:off x="1731390" y="2279166"/>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file_91765">
            <a:extLst xmlns:a="http://schemas.openxmlformats.org/drawingml/2006/main">
              <a:ext uri="{FF2B5EF4-FFF2-40B4-BE49-F238E27FC236}">
                <a16:creationId xmlns:a16="http://schemas.microsoft.com/office/drawing/2014/main" id="{FBF73034-CD15-D209-CA7D-9801C75470F2}"/>
              </a:ext>
            </a:extLst>
          </p:cNvPr>
          <p:cNvSpPr>
            <a:spLocks xmlns:a="http://schemas.openxmlformats.org/drawingml/2006/main" noGrp="1"/>
          </p:cNvSpPr>
          <p:nvPr/>
        </p:nvSpPr>
        <p:spPr>
          <a:xfrm xmlns:a="http://schemas.openxmlformats.org/drawingml/2006/main">
            <a:off x="2039514" y="2482457"/>
            <a:ext cx="237202" cy="346154"/>
          </a:xfrm>
          <a:custGeom xmlns:a="http://schemas.openxmlformats.org/drawingml/2006/main">
            <a:gdLst>
              <a:gd name="T0" fmla="*/ 854 w 2400"/>
              <a:gd name="T1" fmla="*/ 1453 h 3507"/>
              <a:gd name="T2" fmla="*/ 440 w 2400"/>
              <a:gd name="T3" fmla="*/ 1453 h 3507"/>
              <a:gd name="T4" fmla="*/ 440 w 2400"/>
              <a:gd name="T5" fmla="*/ 1040 h 3507"/>
              <a:gd name="T6" fmla="*/ 854 w 2400"/>
              <a:gd name="T7" fmla="*/ 1040 h 3507"/>
              <a:gd name="T8" fmla="*/ 854 w 2400"/>
              <a:gd name="T9" fmla="*/ 1453 h 3507"/>
              <a:gd name="T10" fmla="*/ 1707 w 2400"/>
              <a:gd name="T11" fmla="*/ 50 h 3507"/>
              <a:gd name="T12" fmla="*/ 1707 w 2400"/>
              <a:gd name="T13" fmla="*/ 653 h 3507"/>
              <a:gd name="T14" fmla="*/ 2333 w 2400"/>
              <a:gd name="T15" fmla="*/ 653 h 3507"/>
              <a:gd name="T16" fmla="*/ 1707 w 2400"/>
              <a:gd name="T17" fmla="*/ 50 h 3507"/>
              <a:gd name="T18" fmla="*/ 2400 w 2400"/>
              <a:gd name="T19" fmla="*/ 853 h 3507"/>
              <a:gd name="T20" fmla="*/ 2400 w 2400"/>
              <a:gd name="T21" fmla="*/ 3407 h 3507"/>
              <a:gd name="T22" fmla="*/ 2373 w 2400"/>
              <a:gd name="T23" fmla="*/ 3477 h 3507"/>
              <a:gd name="T24" fmla="*/ 2305 w 2400"/>
              <a:gd name="T25" fmla="*/ 3507 h 3507"/>
              <a:gd name="T26" fmla="*/ 2304 w 2400"/>
              <a:gd name="T27" fmla="*/ 3507 h 3507"/>
              <a:gd name="T28" fmla="*/ 102 w 2400"/>
              <a:gd name="T29" fmla="*/ 3500 h 3507"/>
              <a:gd name="T30" fmla="*/ 0 w 2400"/>
              <a:gd name="T31" fmla="*/ 3400 h 3507"/>
              <a:gd name="T32" fmla="*/ 0 w 2400"/>
              <a:gd name="T33" fmla="*/ 100 h 3507"/>
              <a:gd name="T34" fmla="*/ 105 w 2400"/>
              <a:gd name="T35" fmla="*/ 0 h 3507"/>
              <a:gd name="T36" fmla="*/ 1507 w 2400"/>
              <a:gd name="T37" fmla="*/ 0 h 3507"/>
              <a:gd name="T38" fmla="*/ 1507 w 2400"/>
              <a:gd name="T39" fmla="*/ 753 h 3507"/>
              <a:gd name="T40" fmla="*/ 1611 w 2400"/>
              <a:gd name="T41" fmla="*/ 853 h 3507"/>
              <a:gd name="T42" fmla="*/ 2400 w 2400"/>
              <a:gd name="T43" fmla="*/ 853 h 3507"/>
              <a:gd name="T44" fmla="*/ 1067 w 2400"/>
              <a:gd name="T45" fmla="*/ 940 h 3507"/>
              <a:gd name="T46" fmla="*/ 967 w 2400"/>
              <a:gd name="T47" fmla="*/ 840 h 3507"/>
              <a:gd name="T48" fmla="*/ 340 w 2400"/>
              <a:gd name="T49" fmla="*/ 840 h 3507"/>
              <a:gd name="T50" fmla="*/ 240 w 2400"/>
              <a:gd name="T51" fmla="*/ 940 h 3507"/>
              <a:gd name="T52" fmla="*/ 240 w 2400"/>
              <a:gd name="T53" fmla="*/ 1567 h 3507"/>
              <a:gd name="T54" fmla="*/ 340 w 2400"/>
              <a:gd name="T55" fmla="*/ 1667 h 3507"/>
              <a:gd name="T56" fmla="*/ 967 w 2400"/>
              <a:gd name="T57" fmla="*/ 1667 h 3507"/>
              <a:gd name="T58" fmla="*/ 1067 w 2400"/>
              <a:gd name="T59" fmla="*/ 1567 h 3507"/>
              <a:gd name="T60" fmla="*/ 1067 w 2400"/>
              <a:gd name="T61" fmla="*/ 940 h 3507"/>
              <a:gd name="T62" fmla="*/ 2185 w 2400"/>
              <a:gd name="T63" fmla="*/ 2420 h 3507"/>
              <a:gd name="T64" fmla="*/ 2085 w 2400"/>
              <a:gd name="T65" fmla="*/ 2320 h 3507"/>
              <a:gd name="T66" fmla="*/ 325 w 2400"/>
              <a:gd name="T67" fmla="*/ 2320 h 3507"/>
              <a:gd name="T68" fmla="*/ 225 w 2400"/>
              <a:gd name="T69" fmla="*/ 2420 h 3507"/>
              <a:gd name="T70" fmla="*/ 325 w 2400"/>
              <a:gd name="T71" fmla="*/ 2520 h 3507"/>
              <a:gd name="T72" fmla="*/ 2085 w 2400"/>
              <a:gd name="T73" fmla="*/ 2520 h 3507"/>
              <a:gd name="T74" fmla="*/ 2185 w 2400"/>
              <a:gd name="T75" fmla="*/ 2420 h 3507"/>
              <a:gd name="T76" fmla="*/ 2185 w 2400"/>
              <a:gd name="T77" fmla="*/ 2007 h 3507"/>
              <a:gd name="T78" fmla="*/ 2085 w 2400"/>
              <a:gd name="T79" fmla="*/ 1907 h 3507"/>
              <a:gd name="T80" fmla="*/ 325 w 2400"/>
              <a:gd name="T81" fmla="*/ 1907 h 3507"/>
              <a:gd name="T82" fmla="*/ 225 w 2400"/>
              <a:gd name="T83" fmla="*/ 2007 h 3507"/>
              <a:gd name="T84" fmla="*/ 325 w 2400"/>
              <a:gd name="T85" fmla="*/ 2107 h 3507"/>
              <a:gd name="T86" fmla="*/ 2085 w 2400"/>
              <a:gd name="T87" fmla="*/ 2107 h 3507"/>
              <a:gd name="T88" fmla="*/ 2185 w 2400"/>
              <a:gd name="T89" fmla="*/ 2007 h 3507"/>
              <a:gd name="T90" fmla="*/ 2185 w 2400"/>
              <a:gd name="T91" fmla="*/ 1567 h 3507"/>
              <a:gd name="T92" fmla="*/ 2085 w 2400"/>
              <a:gd name="T93" fmla="*/ 1467 h 3507"/>
              <a:gd name="T94" fmla="*/ 1418 w 2400"/>
              <a:gd name="T95" fmla="*/ 1467 h 3507"/>
              <a:gd name="T96" fmla="*/ 1318 w 2400"/>
              <a:gd name="T97" fmla="*/ 1567 h 3507"/>
              <a:gd name="T98" fmla="*/ 1418 w 2400"/>
              <a:gd name="T99" fmla="*/ 1667 h 3507"/>
              <a:gd name="T100" fmla="*/ 2085 w 2400"/>
              <a:gd name="T101" fmla="*/ 1667 h 3507"/>
              <a:gd name="T102" fmla="*/ 2185 w 2400"/>
              <a:gd name="T103" fmla="*/ 1567 h 3507"/>
            </a:gdLst>
            <a:rect l="0" t="0" r="r" b="b"/>
            <a:pathLst>
              <a:path w="2400" h="3507">
                <a:moveTo>
                  <a:pt x="854" y="1453"/>
                </a:moveTo>
                <a:lnTo>
                  <a:pt x="440" y="1453"/>
                </a:lnTo>
                <a:lnTo>
                  <a:pt x="440" y="1040"/>
                </a:lnTo>
                <a:lnTo>
                  <a:pt x="854" y="1040"/>
                </a:lnTo>
                <a:lnTo>
                  <a:pt x="854" y="1453"/>
                </a:lnTo>
                <a:close/>
                <a:moveTo>
                  <a:pt x="1707" y="50"/>
                </a:moveTo>
                <a:lnTo>
                  <a:pt x="1707" y="653"/>
                </a:lnTo>
                <a:lnTo>
                  <a:pt x="2333" y="653"/>
                </a:lnTo>
                <a:lnTo>
                  <a:pt x="1707" y="50"/>
                </a:lnTo>
                <a:close/>
                <a:moveTo>
                  <a:pt x="2400" y="853"/>
                </a:moveTo>
                <a:lnTo>
                  <a:pt x="2400" y="3407"/>
                </a:lnTo>
                <a:cubicBezTo>
                  <a:pt x="2400" y="3433"/>
                  <a:pt x="2392" y="3459"/>
                  <a:pt x="2373" y="3477"/>
                </a:cubicBezTo>
                <a:cubicBezTo>
                  <a:pt x="2354" y="3496"/>
                  <a:pt x="2331" y="3507"/>
                  <a:pt x="2305" y="3507"/>
                </a:cubicBezTo>
                <a:lnTo>
                  <a:pt x="2304" y="3507"/>
                </a:lnTo>
                <a:lnTo>
                  <a:pt x="102" y="3500"/>
                </a:lnTo>
                <a:cubicBezTo>
                  <a:pt x="47" y="3499"/>
                  <a:pt x="0" y="3455"/>
                  <a:pt x="0" y="3400"/>
                </a:cubicBezTo>
                <a:lnTo>
                  <a:pt x="0" y="100"/>
                </a:lnTo>
                <a:cubicBezTo>
                  <a:pt x="0" y="45"/>
                  <a:pt x="50" y="0"/>
                  <a:pt x="105" y="0"/>
                </a:cubicBezTo>
                <a:lnTo>
                  <a:pt x="1507" y="0"/>
                </a:lnTo>
                <a:lnTo>
                  <a:pt x="1507" y="753"/>
                </a:lnTo>
                <a:cubicBezTo>
                  <a:pt x="1507" y="809"/>
                  <a:pt x="1556" y="853"/>
                  <a:pt x="1611" y="853"/>
                </a:cubicBezTo>
                <a:lnTo>
                  <a:pt x="2400" y="853"/>
                </a:lnTo>
                <a:close/>
                <a:moveTo>
                  <a:pt x="1067" y="940"/>
                </a:moveTo>
                <a:cubicBezTo>
                  <a:pt x="1067" y="885"/>
                  <a:pt x="1022" y="840"/>
                  <a:pt x="967" y="840"/>
                </a:cubicBezTo>
                <a:lnTo>
                  <a:pt x="340" y="840"/>
                </a:lnTo>
                <a:cubicBezTo>
                  <a:pt x="285" y="840"/>
                  <a:pt x="240" y="885"/>
                  <a:pt x="240" y="940"/>
                </a:cubicBezTo>
                <a:lnTo>
                  <a:pt x="240" y="1567"/>
                </a:lnTo>
                <a:cubicBezTo>
                  <a:pt x="240" y="1622"/>
                  <a:pt x="285" y="1667"/>
                  <a:pt x="340" y="1667"/>
                </a:cubicBezTo>
                <a:lnTo>
                  <a:pt x="967" y="1667"/>
                </a:lnTo>
                <a:cubicBezTo>
                  <a:pt x="1022" y="1667"/>
                  <a:pt x="1067" y="1622"/>
                  <a:pt x="1067" y="1567"/>
                </a:cubicBezTo>
                <a:lnTo>
                  <a:pt x="1067" y="940"/>
                </a:lnTo>
                <a:close/>
                <a:moveTo>
                  <a:pt x="2185" y="2420"/>
                </a:moveTo>
                <a:cubicBezTo>
                  <a:pt x="2185" y="2365"/>
                  <a:pt x="2140" y="2320"/>
                  <a:pt x="2085" y="2320"/>
                </a:cubicBezTo>
                <a:lnTo>
                  <a:pt x="325" y="2320"/>
                </a:lnTo>
                <a:cubicBezTo>
                  <a:pt x="270" y="2320"/>
                  <a:pt x="225" y="2365"/>
                  <a:pt x="225" y="2420"/>
                </a:cubicBezTo>
                <a:cubicBezTo>
                  <a:pt x="225" y="2475"/>
                  <a:pt x="270" y="2520"/>
                  <a:pt x="325" y="2520"/>
                </a:cubicBezTo>
                <a:lnTo>
                  <a:pt x="2085" y="2520"/>
                </a:lnTo>
                <a:cubicBezTo>
                  <a:pt x="2140" y="2520"/>
                  <a:pt x="2185" y="2475"/>
                  <a:pt x="2185" y="2420"/>
                </a:cubicBezTo>
                <a:close/>
                <a:moveTo>
                  <a:pt x="2185" y="2007"/>
                </a:moveTo>
                <a:cubicBezTo>
                  <a:pt x="2185" y="1951"/>
                  <a:pt x="2140" y="1907"/>
                  <a:pt x="2085" y="1907"/>
                </a:cubicBezTo>
                <a:lnTo>
                  <a:pt x="325" y="1907"/>
                </a:lnTo>
                <a:cubicBezTo>
                  <a:pt x="270" y="1907"/>
                  <a:pt x="225" y="1951"/>
                  <a:pt x="225" y="2007"/>
                </a:cubicBezTo>
                <a:cubicBezTo>
                  <a:pt x="225" y="2062"/>
                  <a:pt x="270" y="2107"/>
                  <a:pt x="325" y="2107"/>
                </a:cubicBezTo>
                <a:lnTo>
                  <a:pt x="2085" y="2107"/>
                </a:lnTo>
                <a:cubicBezTo>
                  <a:pt x="2140" y="2107"/>
                  <a:pt x="2185" y="2062"/>
                  <a:pt x="2185" y="2007"/>
                </a:cubicBezTo>
                <a:close/>
                <a:moveTo>
                  <a:pt x="2185" y="1567"/>
                </a:moveTo>
                <a:cubicBezTo>
                  <a:pt x="2185" y="1511"/>
                  <a:pt x="2140" y="1467"/>
                  <a:pt x="2085" y="1467"/>
                </a:cubicBezTo>
                <a:lnTo>
                  <a:pt x="1418" y="1467"/>
                </a:lnTo>
                <a:cubicBezTo>
                  <a:pt x="1363" y="1467"/>
                  <a:pt x="1318" y="1511"/>
                  <a:pt x="1318" y="1567"/>
                </a:cubicBezTo>
                <a:cubicBezTo>
                  <a:pt x="1318" y="1622"/>
                  <a:pt x="1363" y="1667"/>
                  <a:pt x="1418" y="1667"/>
                </a:cubicBezTo>
                <a:lnTo>
                  <a:pt x="2085" y="1667"/>
                </a:lnTo>
                <a:cubicBezTo>
                  <a:pt x="2140" y="1667"/>
                  <a:pt x="2185" y="1622"/>
                  <a:pt x="2185" y="1567"/>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3FAABD1D-B39C-AD47-0BA8-8CCB74CEBF36}"/>
              </a:ext>
            </a:extLst>
          </p:cNvPr>
          <p:cNvSpPr>
            <a:spLocks xmlns:a="http://schemas.openxmlformats.org/drawingml/2006/main" noGrp="1"/>
          </p:cNvSpPr>
          <p:nvPr/>
        </p:nvSpPr>
        <p:spPr>
          <a:xfrm xmlns:a="http://schemas.openxmlformats.org/drawingml/2006/main">
            <a:off x="2905125" y="217170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10  Clinical context</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Serial imaging scores could support monitoring.</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The study does not measure treatment benefit.</a:t>
            </a:r>
            <a:endParaRPr sz="2000">
              <a:solidFill>
                <a:schemeClr val="tx1">
                  <a:lumMod val="75000"/>
                  <a:lumOff val="25000"/>
                </a:schemeClr>
              </a:solidFill>
              <a:latin typeface="Arial"/>
              <a:ea typeface="Arial"/>
              <a:cs typeface="Arial"/>
            </a:endParaRPr>
          </a:p>
        </p:txBody>
      </p:sp>
      <p:sp>
        <p:nvSpPr>
          <p:cNvPr id="15" name="矩形 14">
            <a:extLst xmlns:a="http://schemas.openxmlformats.org/drawingml/2006/main">
              <a:ext uri="{FF2B5EF4-FFF2-40B4-BE49-F238E27FC236}">
                <a16:creationId xmlns:a16="http://schemas.microsoft.com/office/drawing/2014/main" id="{9BBFB361-C24B-7921-EABC-8971FF9C7261}"/>
              </a:ext>
            </a:extLst>
          </p:cNvPr>
          <p:cNvSpPr>
            <a:spLocks xmlns:a="http://schemas.openxmlformats.org/drawingml/2006/main" noGrp="1"/>
          </p:cNvSpPr>
          <p:nvPr/>
        </p:nvSpPr>
        <p:spPr>
          <a:xfrm xmlns:a="http://schemas.openxmlformats.org/drawingml/2006/main">
            <a:off x="1300842" y="3539163"/>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hexagonal_73861">
            <a:extLst xmlns:a="http://schemas.openxmlformats.org/drawingml/2006/main">
              <a:ext uri="{FF2B5EF4-FFF2-40B4-BE49-F238E27FC236}">
                <a16:creationId xmlns:a16="http://schemas.microsoft.com/office/drawing/2014/main" id="{E0F1EED2-53FB-9088-2C82-D5A58537E79C}"/>
              </a:ext>
            </a:extLst>
          </p:cNvPr>
          <p:cNvSpPr>
            <a:spLocks xmlns:a="http://schemas.openxmlformats.org/drawingml/2006/main" noGrp="1"/>
          </p:cNvSpPr>
          <p:nvPr/>
        </p:nvSpPr>
        <p:spPr>
          <a:xfrm xmlns:a="http://schemas.openxmlformats.org/drawingml/2006/main" rot="16200000">
            <a:off x="1731390" y="3791443"/>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文本框 16">
            <a:extLst xmlns:a="http://schemas.openxmlformats.org/drawingml/2006/main">
              <a:ext uri="{FF2B5EF4-FFF2-40B4-BE49-F238E27FC236}">
                <a16:creationId xmlns:a16="http://schemas.microsoft.com/office/drawing/2014/main" id="{807AF698-247A-905E-032C-A286C7C19387}"/>
              </a:ext>
            </a:extLst>
          </p:cNvPr>
          <p:cNvSpPr>
            <a:spLocks xmlns:a="http://schemas.openxmlformats.org/drawingml/2006/main" noGrp="1"/>
          </p:cNvSpPr>
          <p:nvPr/>
        </p:nvSpPr>
        <p:spPr>
          <a:xfrm xmlns:a="http://schemas.openxmlformats.org/drawingml/2006/main">
            <a:off x="2905125" y="368427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11  Limitations</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Small samples, selection bias and label uncertainty remain.</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Portable AP scans and clinical outcomes need separate testing.</a:t>
            </a:r>
            <a:endParaRPr sz="2000">
              <a:solidFill>
                <a:schemeClr val="tx1">
                  <a:lumMod val="75000"/>
                  <a:lumOff val="25000"/>
                </a:schemeClr>
              </a:solidFill>
              <a:latin typeface="Arial"/>
              <a:ea typeface="Arial"/>
              <a:cs typeface="Arial"/>
            </a:endParaRPr>
          </a:p>
        </p:txBody>
      </p:sp>
      <p:sp>
        <p:nvSpPr>
          <p:cNvPr id="18" name="矩形 17">
            <a:extLst xmlns:a="http://schemas.openxmlformats.org/drawingml/2006/main">
              <a:ext uri="{FF2B5EF4-FFF2-40B4-BE49-F238E27FC236}">
                <a16:creationId xmlns:a16="http://schemas.microsoft.com/office/drawing/2014/main" id="{34530528-EF3E-CE96-3AA9-959DE8FFFEF1}"/>
              </a:ext>
            </a:extLst>
          </p:cNvPr>
          <p:cNvSpPr>
            <a:spLocks xmlns:a="http://schemas.openxmlformats.org/drawingml/2006/main" noGrp="1"/>
          </p:cNvSpPr>
          <p:nvPr/>
        </p:nvSpPr>
        <p:spPr>
          <a:xfrm xmlns:a="http://schemas.openxmlformats.org/drawingml/2006/main">
            <a:off x="1300842" y="5051440"/>
            <a:ext cx="9590316" cy="1257298"/>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887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hexagonal_73861">
            <a:extLst xmlns:a="http://schemas.openxmlformats.org/drawingml/2006/main">
              <a:ext uri="{FF2B5EF4-FFF2-40B4-BE49-F238E27FC236}">
                <a16:creationId xmlns:a16="http://schemas.microsoft.com/office/drawing/2014/main" id="{3AA9A527-62AC-6888-76B1-BB368195F9C4}"/>
              </a:ext>
            </a:extLst>
          </p:cNvPr>
          <p:cNvSpPr>
            <a:spLocks xmlns:a="http://schemas.openxmlformats.org/drawingml/2006/main" noGrp="1"/>
          </p:cNvSpPr>
          <p:nvPr/>
        </p:nvSpPr>
        <p:spPr>
          <a:xfrm xmlns:a="http://schemas.openxmlformats.org/drawingml/2006/main" rot="16200000">
            <a:off x="1731390" y="5303720"/>
            <a:ext cx="853450" cy="752736"/>
          </a:xfrm>
          <a:custGeom xmlns:a="http://schemas.openxmlformats.org/drawingml/2006/main">
            <a:gdLst>
              <a:gd name="T0" fmla="*/ 6388 w 6494"/>
              <a:gd name="T1" fmla="*/ 2571 h 5736"/>
              <a:gd name="T2" fmla="*/ 5075 w 6494"/>
              <a:gd name="T3" fmla="*/ 297 h 5736"/>
              <a:gd name="T4" fmla="*/ 4560 w 6494"/>
              <a:gd name="T5" fmla="*/ 0 h 5736"/>
              <a:gd name="T6" fmla="*/ 1934 w 6494"/>
              <a:gd name="T7" fmla="*/ 0 h 5736"/>
              <a:gd name="T8" fmla="*/ 1419 w 6494"/>
              <a:gd name="T9" fmla="*/ 297 h 5736"/>
              <a:gd name="T10" fmla="*/ 107 w 6494"/>
              <a:gd name="T11" fmla="*/ 2571 h 5736"/>
              <a:gd name="T12" fmla="*/ 107 w 6494"/>
              <a:gd name="T13" fmla="*/ 3165 h 5736"/>
              <a:gd name="T14" fmla="*/ 1419 w 6494"/>
              <a:gd name="T15" fmla="*/ 5439 h 5736"/>
              <a:gd name="T16" fmla="*/ 1934 w 6494"/>
              <a:gd name="T17" fmla="*/ 5736 h 5736"/>
              <a:gd name="T18" fmla="*/ 4560 w 6494"/>
              <a:gd name="T19" fmla="*/ 5736 h 5736"/>
              <a:gd name="T20" fmla="*/ 5075 w 6494"/>
              <a:gd name="T21" fmla="*/ 5439 h 5736"/>
              <a:gd name="T22" fmla="*/ 6388 w 6494"/>
              <a:gd name="T23" fmla="*/ 3165 h 5736"/>
              <a:gd name="T24" fmla="*/ 6388 w 6494"/>
              <a:gd name="T25" fmla="*/ 2571 h 5736"/>
            </a:gdLst>
            <a:rect l="0" t="0" r="r" b="b"/>
            <a:pathLst>
              <a:path w="6494" h="5736">
                <a:moveTo>
                  <a:pt x="6388" y="2571"/>
                </a:moveTo>
                <a:lnTo>
                  <a:pt x="5075" y="297"/>
                </a:lnTo>
                <a:cubicBezTo>
                  <a:pt x="4968" y="113"/>
                  <a:pt x="4772" y="0"/>
                  <a:pt x="4560" y="0"/>
                </a:cubicBezTo>
                <a:lnTo>
                  <a:pt x="1934" y="0"/>
                </a:lnTo>
                <a:cubicBezTo>
                  <a:pt x="1722" y="0"/>
                  <a:pt x="1526" y="113"/>
                  <a:pt x="1419" y="297"/>
                </a:cubicBezTo>
                <a:lnTo>
                  <a:pt x="107" y="2571"/>
                </a:lnTo>
                <a:cubicBezTo>
                  <a:pt x="0" y="2755"/>
                  <a:pt x="0" y="2981"/>
                  <a:pt x="107" y="3165"/>
                </a:cubicBezTo>
                <a:lnTo>
                  <a:pt x="1419" y="5439"/>
                </a:lnTo>
                <a:cubicBezTo>
                  <a:pt x="1526" y="5623"/>
                  <a:pt x="1722" y="5736"/>
                  <a:pt x="1934" y="5736"/>
                </a:cubicBezTo>
                <a:lnTo>
                  <a:pt x="4560" y="5736"/>
                </a:lnTo>
                <a:cubicBezTo>
                  <a:pt x="4772" y="5736"/>
                  <a:pt x="4968" y="5623"/>
                  <a:pt x="5075" y="5439"/>
                </a:cubicBezTo>
                <a:lnTo>
                  <a:pt x="6388" y="3165"/>
                </a:lnTo>
                <a:cubicBezTo>
                  <a:pt x="6494" y="2981"/>
                  <a:pt x="6494" y="2755"/>
                  <a:pt x="6388" y="2571"/>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文本框 19">
            <a:extLst xmlns:a="http://schemas.openxmlformats.org/drawingml/2006/main">
              <a:ext uri="{FF2B5EF4-FFF2-40B4-BE49-F238E27FC236}">
                <a16:creationId xmlns:a16="http://schemas.microsoft.com/office/drawing/2014/main" id="{5199480A-0C41-A332-A0F8-1949E19E9D52}"/>
              </a:ext>
            </a:extLst>
          </p:cNvPr>
          <p:cNvSpPr>
            <a:spLocks xmlns:a="http://schemas.openxmlformats.org/drawingml/2006/main" noGrp="1"/>
          </p:cNvSpPr>
          <p:nvPr/>
        </p:nvSpPr>
        <p:spPr>
          <a:xfrm xmlns:a="http://schemas.openxmlformats.org/drawingml/2006/main">
            <a:off x="2905125" y="5196840"/>
            <a:ext cx="7620000" cy="10287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lnSpc>
                <a:spcPct val="120000"/>
              </a:lnSpc>
              <a:buNone/>
              <a:defRPr sz="1650" b="0">
                <a:solidFill>
                  <a:srgbClr val="202832"/>
                </a:solidFill>
                <a:latin typeface="Arial"/>
                <a:ea typeface="Arial"/>
                <a:cs typeface="Arial"/>
              </a:defRPr>
            </a:pPr>
            <a:r>
              <a:rPr sz="1875" b="1">
                <a:solidFill>
                  <a:srgbClr val="202832"/>
                </a:solidFill>
                <a:latin typeface="Arial"/>
                <a:ea typeface="Arial"/>
                <a:cs typeface="Arial"/>
              </a:rPr>
              <a:t>12  Deployment</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Routine use needs prospective workflow evaluation.</a:t>
            </a:r>
            <a:endParaRPr sz="2000">
              <a:solidFill>
                <a:schemeClr val="tx1">
                  <a:lumMod val="75000"/>
                  <a:lumOff val="25000"/>
                </a:schemeClr>
              </a:solidFill>
              <a:latin typeface="Arial"/>
              <a:ea typeface="Arial"/>
              <a:cs typeface="Arial"/>
            </a:endParaRPr>
          </a:p>
          <a:p xmlns:a="http://schemas.openxmlformats.org/drawingml/2006/main">
            <a:pPr algn="l">
              <a:lnSpc>
                <a:spcPct val="120000"/>
              </a:lnSpc>
              <a:buNone/>
              <a:defRPr sz="1650" b="0">
                <a:solidFill>
                  <a:srgbClr val="202832"/>
                </a:solidFill>
                <a:latin typeface="Arial"/>
                <a:ea typeface="Arial"/>
                <a:cs typeface="Arial"/>
              </a:defRPr>
            </a:pPr>
            <a:r>
              <a:rPr sz="1650" b="0">
                <a:solidFill>
                  <a:srgbClr val="202832"/>
                </a:solidFill>
                <a:latin typeface="Arial"/>
                <a:ea typeface="Arial"/>
                <a:cs typeface="Arial"/>
              </a:rPr>
              <a:t>Multicenter validation and failure handling are still required.</a:t>
            </a:r>
            <a:endParaRPr sz="2000">
              <a:solidFill>
                <a:schemeClr val="tx1">
                  <a:lumMod val="75000"/>
                  <a:lumOff val="25000"/>
                </a:schemeClr>
              </a:solidFill>
              <a:latin typeface="Arial"/>
              <a:ea typeface="Arial"/>
              <a:cs typeface="Arial"/>
            </a:endParaRPr>
          </a:p>
        </p:txBody>
      </p:sp>
      <p:sp>
        <p:nvSpPr>
          <p:cNvPr id="21" name="edit-text_62029">
            <a:extLst xmlns:a="http://schemas.openxmlformats.org/drawingml/2006/main">
              <a:ext uri="{FF2B5EF4-FFF2-40B4-BE49-F238E27FC236}">
                <a16:creationId xmlns:a16="http://schemas.microsoft.com/office/drawing/2014/main" id="{987B202C-F6C2-866F-606C-940E68D8D2EE}"/>
              </a:ext>
            </a:extLst>
          </p:cNvPr>
          <p:cNvSpPr>
            <a:spLocks xmlns:a="http://schemas.openxmlformats.org/drawingml/2006/main" noGrp="1"/>
          </p:cNvSpPr>
          <p:nvPr/>
        </p:nvSpPr>
        <p:spPr>
          <a:xfrm xmlns:a="http://schemas.openxmlformats.org/drawingml/2006/main">
            <a:off x="1985561" y="3994734"/>
            <a:ext cx="345108" cy="346154"/>
          </a:xfrm>
          <a:custGeom xmlns:a="http://schemas.openxmlformats.org/drawingml/2006/main">
            <a:gdLst>
              <a:gd name="T0" fmla="*/ 5740 w 5955"/>
              <a:gd name="T1" fmla="*/ 215 h 5983"/>
              <a:gd name="T2" fmla="*/ 5222 w 5955"/>
              <a:gd name="T3" fmla="*/ 0 h 5983"/>
              <a:gd name="T4" fmla="*/ 4703 w 5955"/>
              <a:gd name="T5" fmla="*/ 215 h 5983"/>
              <a:gd name="T6" fmla="*/ 3846 w 5955"/>
              <a:gd name="T7" fmla="*/ 1072 h 5983"/>
              <a:gd name="T8" fmla="*/ 177 w 5955"/>
              <a:gd name="T9" fmla="*/ 1072 h 5983"/>
              <a:gd name="T10" fmla="*/ 0 w 5955"/>
              <a:gd name="T11" fmla="*/ 1248 h 5983"/>
              <a:gd name="T12" fmla="*/ 0 w 5955"/>
              <a:gd name="T13" fmla="*/ 4481 h 5983"/>
              <a:gd name="T14" fmla="*/ 177 w 5955"/>
              <a:gd name="T15" fmla="*/ 4658 h 5983"/>
              <a:gd name="T16" fmla="*/ 2879 w 5955"/>
              <a:gd name="T17" fmla="*/ 4658 h 5983"/>
              <a:gd name="T18" fmla="*/ 2879 w 5955"/>
              <a:gd name="T19" fmla="*/ 5807 h 5983"/>
              <a:gd name="T20" fmla="*/ 2988 w 5955"/>
              <a:gd name="T21" fmla="*/ 5970 h 5983"/>
              <a:gd name="T22" fmla="*/ 3056 w 5955"/>
              <a:gd name="T23" fmla="*/ 5983 h 5983"/>
              <a:gd name="T24" fmla="*/ 3181 w 5955"/>
              <a:gd name="T25" fmla="*/ 5932 h 5983"/>
              <a:gd name="T26" fmla="*/ 4463 w 5955"/>
              <a:gd name="T27" fmla="*/ 4658 h 5983"/>
              <a:gd name="T28" fmla="*/ 5223 w 5955"/>
              <a:gd name="T29" fmla="*/ 4658 h 5983"/>
              <a:gd name="T30" fmla="*/ 5399 w 5955"/>
              <a:gd name="T31" fmla="*/ 4481 h 5983"/>
              <a:gd name="T32" fmla="*/ 5399 w 5955"/>
              <a:gd name="T33" fmla="*/ 1593 h 5983"/>
              <a:gd name="T34" fmla="*/ 5740 w 5955"/>
              <a:gd name="T35" fmla="*/ 1252 h 5983"/>
              <a:gd name="T36" fmla="*/ 5955 w 5955"/>
              <a:gd name="T37" fmla="*/ 733 h 5983"/>
              <a:gd name="T38" fmla="*/ 5740 w 5955"/>
              <a:gd name="T39" fmla="*/ 215 h 5983"/>
              <a:gd name="T40" fmla="*/ 3240 w 5955"/>
              <a:gd name="T41" fmla="*/ 2839 h 5983"/>
              <a:gd name="T42" fmla="*/ 3149 w 5955"/>
              <a:gd name="T43" fmla="*/ 2812 h 5983"/>
              <a:gd name="T44" fmla="*/ 3122 w 5955"/>
              <a:gd name="T45" fmla="*/ 2721 h 5983"/>
              <a:gd name="T46" fmla="*/ 3231 w 5955"/>
              <a:gd name="T47" fmla="*/ 2190 h 5983"/>
              <a:gd name="T48" fmla="*/ 3771 w 5955"/>
              <a:gd name="T49" fmla="*/ 2730 h 5983"/>
              <a:gd name="T50" fmla="*/ 3240 w 5955"/>
              <a:gd name="T51" fmla="*/ 2839 h 5983"/>
              <a:gd name="T52" fmla="*/ 3967 w 5955"/>
              <a:gd name="T53" fmla="*/ 2560 h 5983"/>
              <a:gd name="T54" fmla="*/ 3401 w 5955"/>
              <a:gd name="T55" fmla="*/ 1994 h 5983"/>
              <a:gd name="T56" fmla="*/ 4670 w 5955"/>
              <a:gd name="T57" fmla="*/ 725 h 5983"/>
              <a:gd name="T58" fmla="*/ 5236 w 5955"/>
              <a:gd name="T59" fmla="*/ 1291 h 5983"/>
              <a:gd name="T60" fmla="*/ 3967 w 5955"/>
              <a:gd name="T61" fmla="*/ 2560 h 5983"/>
              <a:gd name="T62" fmla="*/ 5500 w 5955"/>
              <a:gd name="T63" fmla="*/ 1026 h 5983"/>
              <a:gd name="T64" fmla="*/ 5419 w 5955"/>
              <a:gd name="T65" fmla="*/ 1108 h 5983"/>
              <a:gd name="T66" fmla="*/ 4853 w 5955"/>
              <a:gd name="T67" fmla="*/ 542 h 5983"/>
              <a:gd name="T68" fmla="*/ 4935 w 5955"/>
              <a:gd name="T69" fmla="*/ 461 h 5983"/>
              <a:gd name="T70" fmla="*/ 5500 w 5955"/>
              <a:gd name="T71" fmla="*/ 461 h 5983"/>
              <a:gd name="T72" fmla="*/ 5500 w 5955"/>
              <a:gd name="T73" fmla="*/ 1026 h 5983"/>
            </a:gdLst>
            <a:rect l="0" t="0" r="r" b="b"/>
            <a:pathLst>
              <a:path w="5955" h="5983">
                <a:moveTo>
                  <a:pt x="5740" y="215"/>
                </a:moveTo>
                <a:cubicBezTo>
                  <a:pt x="5602" y="76"/>
                  <a:pt x="5418" y="0"/>
                  <a:pt x="5222" y="0"/>
                </a:cubicBezTo>
                <a:cubicBezTo>
                  <a:pt x="5026" y="0"/>
                  <a:pt x="4842" y="76"/>
                  <a:pt x="4703" y="215"/>
                </a:cubicBezTo>
                <a:lnTo>
                  <a:pt x="3846" y="1072"/>
                </a:lnTo>
                <a:lnTo>
                  <a:pt x="177" y="1072"/>
                </a:lnTo>
                <a:cubicBezTo>
                  <a:pt x="79" y="1072"/>
                  <a:pt x="0" y="1151"/>
                  <a:pt x="0" y="1248"/>
                </a:cubicBezTo>
                <a:lnTo>
                  <a:pt x="0" y="4481"/>
                </a:lnTo>
                <a:cubicBezTo>
                  <a:pt x="0" y="4579"/>
                  <a:pt x="79" y="4658"/>
                  <a:pt x="177" y="4658"/>
                </a:cubicBezTo>
                <a:lnTo>
                  <a:pt x="2879" y="4658"/>
                </a:lnTo>
                <a:lnTo>
                  <a:pt x="2879" y="5807"/>
                </a:lnTo>
                <a:cubicBezTo>
                  <a:pt x="2879" y="5878"/>
                  <a:pt x="2922" y="5943"/>
                  <a:pt x="2988" y="5970"/>
                </a:cubicBezTo>
                <a:cubicBezTo>
                  <a:pt x="3010" y="5979"/>
                  <a:pt x="3033" y="5983"/>
                  <a:pt x="3056" y="5983"/>
                </a:cubicBezTo>
                <a:cubicBezTo>
                  <a:pt x="3102" y="5983"/>
                  <a:pt x="3147" y="5965"/>
                  <a:pt x="3181" y="5932"/>
                </a:cubicBezTo>
                <a:lnTo>
                  <a:pt x="4463" y="4658"/>
                </a:lnTo>
                <a:lnTo>
                  <a:pt x="5223" y="4658"/>
                </a:lnTo>
                <a:cubicBezTo>
                  <a:pt x="5320" y="4658"/>
                  <a:pt x="5399" y="4579"/>
                  <a:pt x="5399" y="4481"/>
                </a:cubicBezTo>
                <a:lnTo>
                  <a:pt x="5399" y="1593"/>
                </a:lnTo>
                <a:lnTo>
                  <a:pt x="5740" y="1252"/>
                </a:lnTo>
                <a:cubicBezTo>
                  <a:pt x="5879" y="1113"/>
                  <a:pt x="5955" y="929"/>
                  <a:pt x="5955" y="733"/>
                </a:cubicBezTo>
                <a:cubicBezTo>
                  <a:pt x="5955" y="537"/>
                  <a:pt x="5879" y="353"/>
                  <a:pt x="5740" y="215"/>
                </a:cubicBezTo>
                <a:close/>
                <a:moveTo>
                  <a:pt x="3240" y="2839"/>
                </a:moveTo>
                <a:cubicBezTo>
                  <a:pt x="3207" y="2846"/>
                  <a:pt x="3173" y="2835"/>
                  <a:pt x="3149" y="2812"/>
                </a:cubicBezTo>
                <a:cubicBezTo>
                  <a:pt x="3125" y="2788"/>
                  <a:pt x="3115" y="2754"/>
                  <a:pt x="3122" y="2721"/>
                </a:cubicBezTo>
                <a:lnTo>
                  <a:pt x="3231" y="2190"/>
                </a:lnTo>
                <a:lnTo>
                  <a:pt x="3771" y="2730"/>
                </a:lnTo>
                <a:lnTo>
                  <a:pt x="3240" y="2839"/>
                </a:lnTo>
                <a:close/>
                <a:moveTo>
                  <a:pt x="3967" y="2560"/>
                </a:moveTo>
                <a:lnTo>
                  <a:pt x="3401" y="1994"/>
                </a:lnTo>
                <a:lnTo>
                  <a:pt x="4670" y="725"/>
                </a:lnTo>
                <a:lnTo>
                  <a:pt x="5236" y="1291"/>
                </a:lnTo>
                <a:lnTo>
                  <a:pt x="3967" y="2560"/>
                </a:lnTo>
                <a:close/>
                <a:moveTo>
                  <a:pt x="5500" y="1026"/>
                </a:moveTo>
                <a:lnTo>
                  <a:pt x="5419" y="1108"/>
                </a:lnTo>
                <a:lnTo>
                  <a:pt x="4853" y="542"/>
                </a:lnTo>
                <a:lnTo>
                  <a:pt x="4935" y="461"/>
                </a:lnTo>
                <a:cubicBezTo>
                  <a:pt x="5091" y="304"/>
                  <a:pt x="5344" y="304"/>
                  <a:pt x="5500" y="461"/>
                </a:cubicBezTo>
                <a:cubicBezTo>
                  <a:pt x="5656" y="617"/>
                  <a:pt x="5656" y="870"/>
                  <a:pt x="5500" y="1026"/>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school-material_304636">
            <a:extLst xmlns:a="http://schemas.openxmlformats.org/drawingml/2006/main">
              <a:ext uri="{FF2B5EF4-FFF2-40B4-BE49-F238E27FC236}">
                <a16:creationId xmlns:a16="http://schemas.microsoft.com/office/drawing/2014/main" id="{F388813E-7455-473D-9127-B0109AB0DA1E}"/>
              </a:ext>
            </a:extLst>
          </p:cNvPr>
          <p:cNvSpPr>
            <a:spLocks xmlns:a="http://schemas.openxmlformats.org/drawingml/2006/main" noGrp="1"/>
          </p:cNvSpPr>
          <p:nvPr/>
        </p:nvSpPr>
        <p:spPr>
          <a:xfrm xmlns:a="http://schemas.openxmlformats.org/drawingml/2006/main">
            <a:off x="1985038" y="5531814"/>
            <a:ext cx="346154" cy="296548"/>
          </a:xfrm>
          <a:custGeom xmlns:a="http://schemas.openxmlformats.org/drawingml/2006/main">
            <a:gdLst>
              <a:gd name="connsiteX0" fmla="*/ 493946 w 607639"/>
              <a:gd name="connsiteY0" fmla="*/ 400670 h 520561"/>
              <a:gd name="connsiteX1" fmla="*/ 590080 w 607639"/>
              <a:gd name="connsiteY1" fmla="*/ 400670 h 520561"/>
              <a:gd name="connsiteX2" fmla="*/ 596667 w 607639"/>
              <a:gd name="connsiteY2" fmla="*/ 410360 h 520561"/>
              <a:gd name="connsiteX3" fmla="*/ 561685 w 607639"/>
              <a:gd name="connsiteY3" fmla="*/ 496061 h 520561"/>
              <a:gd name="connsiteX4" fmla="*/ 522430 w 607639"/>
              <a:gd name="connsiteY4" fmla="*/ 496061 h 520561"/>
              <a:gd name="connsiteX5" fmla="*/ 487448 w 607639"/>
              <a:gd name="connsiteY5" fmla="*/ 410360 h 520561"/>
              <a:gd name="connsiteX6" fmla="*/ 493946 w 607639"/>
              <a:gd name="connsiteY6" fmla="*/ 400670 h 520561"/>
              <a:gd name="connsiteX7" fmla="*/ 110192 w 607639"/>
              <a:gd name="connsiteY7" fmla="*/ 349855 h 520561"/>
              <a:gd name="connsiteX8" fmla="*/ 89186 w 607639"/>
              <a:gd name="connsiteY8" fmla="*/ 373492 h 520561"/>
              <a:gd name="connsiteX9" fmla="*/ 110815 w 607639"/>
              <a:gd name="connsiteY9" fmla="*/ 392242 h 520561"/>
              <a:gd name="connsiteX10" fmla="*/ 316512 w 607639"/>
              <a:gd name="connsiteY10" fmla="*/ 392242 h 520561"/>
              <a:gd name="connsiteX11" fmla="*/ 337606 w 607639"/>
              <a:gd name="connsiteY11" fmla="*/ 368694 h 520561"/>
              <a:gd name="connsiteX12" fmla="*/ 315977 w 607639"/>
              <a:gd name="connsiteY12" fmla="*/ 349855 h 520561"/>
              <a:gd name="connsiteX13" fmla="*/ 110192 w 607639"/>
              <a:gd name="connsiteY13" fmla="*/ 239842 h 520561"/>
              <a:gd name="connsiteX14" fmla="*/ 89186 w 607639"/>
              <a:gd name="connsiteY14" fmla="*/ 263391 h 520561"/>
              <a:gd name="connsiteX15" fmla="*/ 110815 w 607639"/>
              <a:gd name="connsiteY15" fmla="*/ 282141 h 520561"/>
              <a:gd name="connsiteX16" fmla="*/ 316512 w 607639"/>
              <a:gd name="connsiteY16" fmla="*/ 282141 h 520561"/>
              <a:gd name="connsiteX17" fmla="*/ 337606 w 607639"/>
              <a:gd name="connsiteY17" fmla="*/ 258592 h 520561"/>
              <a:gd name="connsiteX18" fmla="*/ 315977 w 607639"/>
              <a:gd name="connsiteY18" fmla="*/ 239842 h 520561"/>
              <a:gd name="connsiteX19" fmla="*/ 158256 w 607639"/>
              <a:gd name="connsiteY19" fmla="*/ 129829 h 520561"/>
              <a:gd name="connsiteX20" fmla="*/ 137161 w 607639"/>
              <a:gd name="connsiteY20" fmla="*/ 153378 h 520561"/>
              <a:gd name="connsiteX21" fmla="*/ 158790 w 607639"/>
              <a:gd name="connsiteY21" fmla="*/ 172128 h 520561"/>
              <a:gd name="connsiteX22" fmla="*/ 268447 w 607639"/>
              <a:gd name="connsiteY22" fmla="*/ 172128 h 520561"/>
              <a:gd name="connsiteX23" fmla="*/ 289542 w 607639"/>
              <a:gd name="connsiteY23" fmla="*/ 148579 h 520561"/>
              <a:gd name="connsiteX24" fmla="*/ 267913 w 607639"/>
              <a:gd name="connsiteY24" fmla="*/ 129829 h 520561"/>
              <a:gd name="connsiteX25" fmla="*/ 483297 w 607639"/>
              <a:gd name="connsiteY25" fmla="*/ 115657 h 520561"/>
              <a:gd name="connsiteX26" fmla="*/ 600518 w 607639"/>
              <a:gd name="connsiteY26" fmla="*/ 115657 h 520561"/>
              <a:gd name="connsiteX27" fmla="*/ 607639 w 607639"/>
              <a:gd name="connsiteY27" fmla="*/ 122679 h 520561"/>
              <a:gd name="connsiteX28" fmla="*/ 607639 w 607639"/>
              <a:gd name="connsiteY28" fmla="*/ 351291 h 520561"/>
              <a:gd name="connsiteX29" fmla="*/ 600518 w 607639"/>
              <a:gd name="connsiteY29" fmla="*/ 358402 h 520561"/>
              <a:gd name="connsiteX30" fmla="*/ 483297 w 607639"/>
              <a:gd name="connsiteY30" fmla="*/ 358402 h 520561"/>
              <a:gd name="connsiteX31" fmla="*/ 476176 w 607639"/>
              <a:gd name="connsiteY31" fmla="*/ 351291 h 520561"/>
              <a:gd name="connsiteX32" fmla="*/ 476176 w 607639"/>
              <a:gd name="connsiteY32" fmla="*/ 122679 h 520561"/>
              <a:gd name="connsiteX33" fmla="*/ 483297 w 607639"/>
              <a:gd name="connsiteY33" fmla="*/ 115657 h 520561"/>
              <a:gd name="connsiteX34" fmla="*/ 497360 w 607639"/>
              <a:gd name="connsiteY34" fmla="*/ 0 h 520561"/>
              <a:gd name="connsiteX35" fmla="*/ 586455 w 607639"/>
              <a:gd name="connsiteY35" fmla="*/ 0 h 520561"/>
              <a:gd name="connsiteX36" fmla="*/ 607639 w 607639"/>
              <a:gd name="connsiteY36" fmla="*/ 21146 h 520561"/>
              <a:gd name="connsiteX37" fmla="*/ 607639 w 607639"/>
              <a:gd name="connsiteY37" fmla="*/ 66280 h 520561"/>
              <a:gd name="connsiteX38" fmla="*/ 600518 w 607639"/>
              <a:gd name="connsiteY38" fmla="*/ 73388 h 520561"/>
              <a:gd name="connsiteX39" fmla="*/ 483297 w 607639"/>
              <a:gd name="connsiteY39" fmla="*/ 73388 h 520561"/>
              <a:gd name="connsiteX40" fmla="*/ 476176 w 607639"/>
              <a:gd name="connsiteY40" fmla="*/ 66280 h 520561"/>
              <a:gd name="connsiteX41" fmla="*/ 476176 w 607639"/>
              <a:gd name="connsiteY41" fmla="*/ 21146 h 520561"/>
              <a:gd name="connsiteX42" fmla="*/ 497360 w 607639"/>
              <a:gd name="connsiteY42" fmla="*/ 0 h 520561"/>
              <a:gd name="connsiteX43" fmla="*/ 21184 w 607639"/>
              <a:gd name="connsiteY43" fmla="*/ 0 h 520561"/>
              <a:gd name="connsiteX44" fmla="*/ 404184 w 607639"/>
              <a:gd name="connsiteY44" fmla="*/ 0 h 520561"/>
              <a:gd name="connsiteX45" fmla="*/ 425368 w 607639"/>
              <a:gd name="connsiteY45" fmla="*/ 21149 h 520561"/>
              <a:gd name="connsiteX46" fmla="*/ 425368 w 607639"/>
              <a:gd name="connsiteY46" fmla="*/ 499412 h 520561"/>
              <a:gd name="connsiteX47" fmla="*/ 404184 w 607639"/>
              <a:gd name="connsiteY47" fmla="*/ 520561 h 520561"/>
              <a:gd name="connsiteX48" fmla="*/ 21184 w 607639"/>
              <a:gd name="connsiteY48" fmla="*/ 520561 h 520561"/>
              <a:gd name="connsiteX49" fmla="*/ 0 w 607639"/>
              <a:gd name="connsiteY49" fmla="*/ 499412 h 520561"/>
              <a:gd name="connsiteX50" fmla="*/ 0 w 607639"/>
              <a:gd name="connsiteY50" fmla="*/ 21149 h 520561"/>
              <a:gd name="connsiteX51" fmla="*/ 21184 w 607639"/>
              <a:gd name="connsiteY51" fmla="*/ 0 h 520561"/>
            </a:gdLst>
            <a:rect l="l" t="t" r="r" b="b"/>
            <a:pathLst>
              <a:path w="607639" h="520561">
                <a:moveTo>
                  <a:pt x="493946" y="400670"/>
                </a:moveTo>
                <a:lnTo>
                  <a:pt x="590080" y="400670"/>
                </a:lnTo>
                <a:cubicBezTo>
                  <a:pt x="595154" y="400670"/>
                  <a:pt x="598536" y="405737"/>
                  <a:pt x="596667" y="410360"/>
                </a:cubicBezTo>
                <a:lnTo>
                  <a:pt x="561685" y="496061"/>
                </a:lnTo>
                <a:cubicBezTo>
                  <a:pt x="554475" y="513575"/>
                  <a:pt x="529551" y="513575"/>
                  <a:pt x="522430" y="496061"/>
                </a:cubicBezTo>
                <a:lnTo>
                  <a:pt x="487448" y="410360"/>
                </a:lnTo>
                <a:cubicBezTo>
                  <a:pt x="485490" y="405737"/>
                  <a:pt x="488962" y="400670"/>
                  <a:pt x="493946" y="400670"/>
                </a:cubicBezTo>
                <a:close/>
                <a:moveTo>
                  <a:pt x="110192" y="349855"/>
                </a:moveTo>
                <a:cubicBezTo>
                  <a:pt x="97731" y="349855"/>
                  <a:pt x="87762" y="360696"/>
                  <a:pt x="89186" y="373492"/>
                </a:cubicBezTo>
                <a:cubicBezTo>
                  <a:pt x="90343" y="384245"/>
                  <a:pt x="99867" y="392242"/>
                  <a:pt x="110815" y="392242"/>
                </a:cubicBezTo>
                <a:lnTo>
                  <a:pt x="316512" y="392242"/>
                </a:lnTo>
                <a:cubicBezTo>
                  <a:pt x="329062" y="392242"/>
                  <a:pt x="339030" y="381401"/>
                  <a:pt x="337606" y="368694"/>
                </a:cubicBezTo>
                <a:cubicBezTo>
                  <a:pt x="336360" y="357852"/>
                  <a:pt x="326836" y="349855"/>
                  <a:pt x="315977" y="349855"/>
                </a:cubicBezTo>
                <a:close/>
                <a:moveTo>
                  <a:pt x="110192" y="239842"/>
                </a:moveTo>
                <a:cubicBezTo>
                  <a:pt x="97731" y="239842"/>
                  <a:pt x="87762" y="250683"/>
                  <a:pt x="89186" y="263391"/>
                </a:cubicBezTo>
                <a:cubicBezTo>
                  <a:pt x="90343" y="274232"/>
                  <a:pt x="99867" y="282141"/>
                  <a:pt x="110815" y="282141"/>
                </a:cubicBezTo>
                <a:lnTo>
                  <a:pt x="316512" y="282141"/>
                </a:lnTo>
                <a:cubicBezTo>
                  <a:pt x="329062" y="282141"/>
                  <a:pt x="339030" y="271388"/>
                  <a:pt x="337606" y="258592"/>
                </a:cubicBezTo>
                <a:cubicBezTo>
                  <a:pt x="336360" y="247840"/>
                  <a:pt x="326836" y="239842"/>
                  <a:pt x="315977" y="239842"/>
                </a:cubicBezTo>
                <a:close/>
                <a:moveTo>
                  <a:pt x="158256" y="129829"/>
                </a:moveTo>
                <a:cubicBezTo>
                  <a:pt x="145795" y="129829"/>
                  <a:pt x="135826" y="140582"/>
                  <a:pt x="137161" y="153378"/>
                </a:cubicBezTo>
                <a:cubicBezTo>
                  <a:pt x="138407" y="164219"/>
                  <a:pt x="147931" y="172128"/>
                  <a:pt x="158790" y="172128"/>
                </a:cubicBezTo>
                <a:lnTo>
                  <a:pt x="268447" y="172128"/>
                </a:lnTo>
                <a:cubicBezTo>
                  <a:pt x="280997" y="172128"/>
                  <a:pt x="290966" y="161287"/>
                  <a:pt x="289542" y="148579"/>
                </a:cubicBezTo>
                <a:cubicBezTo>
                  <a:pt x="288385" y="137738"/>
                  <a:pt x="278772" y="129829"/>
                  <a:pt x="267913" y="129829"/>
                </a:cubicBezTo>
                <a:close/>
                <a:moveTo>
                  <a:pt x="483297" y="115657"/>
                </a:moveTo>
                <a:lnTo>
                  <a:pt x="600518" y="115657"/>
                </a:lnTo>
                <a:cubicBezTo>
                  <a:pt x="604435" y="115657"/>
                  <a:pt x="607639" y="118857"/>
                  <a:pt x="607639" y="122679"/>
                </a:cubicBezTo>
                <a:lnTo>
                  <a:pt x="607639" y="351291"/>
                </a:lnTo>
                <a:cubicBezTo>
                  <a:pt x="607639" y="355202"/>
                  <a:pt x="604435" y="358402"/>
                  <a:pt x="600518" y="358402"/>
                </a:cubicBezTo>
                <a:lnTo>
                  <a:pt x="483297" y="358402"/>
                </a:lnTo>
                <a:cubicBezTo>
                  <a:pt x="479380" y="358402"/>
                  <a:pt x="476176" y="355202"/>
                  <a:pt x="476176" y="351291"/>
                </a:cubicBezTo>
                <a:lnTo>
                  <a:pt x="476176" y="122679"/>
                </a:lnTo>
                <a:cubicBezTo>
                  <a:pt x="476176" y="118857"/>
                  <a:pt x="479380" y="115657"/>
                  <a:pt x="483297" y="115657"/>
                </a:cubicBezTo>
                <a:close/>
                <a:moveTo>
                  <a:pt x="497360" y="0"/>
                </a:moveTo>
                <a:lnTo>
                  <a:pt x="586455" y="0"/>
                </a:lnTo>
                <a:cubicBezTo>
                  <a:pt x="598115" y="0"/>
                  <a:pt x="607639" y="9507"/>
                  <a:pt x="607639" y="21146"/>
                </a:cubicBezTo>
                <a:lnTo>
                  <a:pt x="607639" y="66280"/>
                </a:lnTo>
                <a:cubicBezTo>
                  <a:pt x="607639" y="70189"/>
                  <a:pt x="604435" y="73388"/>
                  <a:pt x="600518" y="73388"/>
                </a:cubicBezTo>
                <a:lnTo>
                  <a:pt x="483297" y="73388"/>
                </a:lnTo>
                <a:cubicBezTo>
                  <a:pt x="479380" y="73388"/>
                  <a:pt x="476176" y="70189"/>
                  <a:pt x="476176" y="66280"/>
                </a:cubicBezTo>
                <a:lnTo>
                  <a:pt x="476176" y="21146"/>
                </a:lnTo>
                <a:cubicBezTo>
                  <a:pt x="476176" y="9507"/>
                  <a:pt x="485700" y="0"/>
                  <a:pt x="497360" y="0"/>
                </a:cubicBezTo>
                <a:close/>
                <a:moveTo>
                  <a:pt x="21184" y="0"/>
                </a:moveTo>
                <a:lnTo>
                  <a:pt x="404184" y="0"/>
                </a:lnTo>
                <a:cubicBezTo>
                  <a:pt x="415844" y="0"/>
                  <a:pt x="425368" y="9508"/>
                  <a:pt x="425368" y="21149"/>
                </a:cubicBezTo>
                <a:lnTo>
                  <a:pt x="425368" y="499412"/>
                </a:lnTo>
                <a:cubicBezTo>
                  <a:pt x="425368" y="511142"/>
                  <a:pt x="415844" y="520561"/>
                  <a:pt x="404184" y="520561"/>
                </a:cubicBezTo>
                <a:lnTo>
                  <a:pt x="21184" y="520561"/>
                </a:lnTo>
                <a:cubicBezTo>
                  <a:pt x="9524" y="520561"/>
                  <a:pt x="0" y="511142"/>
                  <a:pt x="0" y="499412"/>
                </a:cubicBezTo>
                <a:lnTo>
                  <a:pt x="0" y="21149"/>
                </a:lnTo>
                <a:cubicBezTo>
                  <a:pt x="0" y="9508"/>
                  <a:pt x="9524" y="0"/>
                  <a:pt x="21184" y="0"/>
                </a:cubicBez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图片 10">
            <a:extLst xmlns:a="http://schemas.openxmlformats.org/drawingml/2006/main">
              <a:ext uri="{FF2B5EF4-FFF2-40B4-BE49-F238E27FC236}">
                <a16:creationId xmlns:a16="http://schemas.microsoft.com/office/drawing/2014/main" id="{DA1C0D50-2D61-4CD3-BF3C-55766B039B3F}"/>
              </a:ext>
            </a:extLst>
          </p:cNvPr>
          <p:cNvPicPr>
            <a:picLocks xmlns:a="http://schemas.openxmlformats.org/drawingml/2006/main" noChangeAspect="1"/>
          </p:cNvPicPr>
          <p:nvPr/>
        </p:nvPicPr>
        <p:blipFill>
          <a:blip xmlns:r="http://schemas.openxmlformats.org/officeDocument/2006/relationships" xmlns:a="http://schemas.openxmlformats.org/drawingml/2006/main" r:embed="Rdd14d43400734e48"/>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3" name="12">
            <a:extLst xmlns:a="http://schemas.openxmlformats.org/drawingml/2006/main">
              <a:ext uri="{FF2B5EF4-FFF2-40B4-BE49-F238E27FC236}">
                <a16:creationId xmlns:a16="http://schemas.microsoft.com/office/drawing/2014/main" id="{7E19B846-1EB7-4E1E-9DF2-3AB9FE0A4924}"/>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12</a:t>
            </a:r>
          </a:p>
        </p:txBody>
      </p:sp>
      <p:sp>
        <p:nvSpPr>
          <p:cNvPr id="24" name="Classroom checklist from Lecture 9. These judgments assess t">
            <a:extLst xmlns:a="http://schemas.openxmlformats.org/drawingml/2006/main">
              <a:ext uri="{FF2B5EF4-FFF2-40B4-BE49-F238E27FC236}">
                <a16:creationId xmlns:a16="http://schemas.microsoft.com/office/drawing/2014/main" id="{7DEAE662-475E-45B9-9EE9-D7A32A15DC83}"/>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Classroom checklist from Lecture 9. These judgments assess the original 2020 study.</a:t>
            </a:r>
          </a:p>
        </p:txBody>
      </p:sp>
    </p:spTree>
    <p:extLst>
      <p:ext uri="{BB962C8B-B14F-4D97-AF65-F5344CB8AC3E}">
        <p14:creationId xmlns:p14="http://schemas.microsoft.com/office/powerpoint/2010/main" val="15771882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E9B86978-F04F-4DDB-A8AE-5C4276AEA355}"/>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extension changes both the head and the representation</a:t>
            </a:r>
            <a:endParaRPr sz="2800" b="1">
              <a:solidFill>
                <a:schemeClr val="accent1"/>
              </a:solidFill>
              <a:latin typeface="Arial"/>
              <a:ea typeface="Arial"/>
              <a:cs typeface="Arial"/>
            </a:endParaRPr>
          </a:p>
        </p:txBody>
      </p:sp>
      <p:sp>
        <p:nvSpPr>
          <p:cNvPr id="2" name="矩形 1">
            <a:extLst xmlns:a="http://schemas.openxmlformats.org/drawingml/2006/main">
              <a:ext uri="{FF2B5EF4-FFF2-40B4-BE49-F238E27FC236}">
                <a16:creationId xmlns:a16="http://schemas.microsoft.com/office/drawing/2014/main" id="{3BBFC26D-F472-CB61-5BDE-641C4B8B762D}"/>
              </a:ext>
            </a:extLst>
          </p:cNvPr>
          <p:cNvSpPr>
            <a:spLocks xmlns:a="http://schemas.openxmlformats.org/drawingml/2006/main" noGrp="1"/>
          </p:cNvSpPr>
          <p:nvPr/>
        </p:nvSpPr>
        <p:spPr>
          <a:xfrm xmlns:a="http://schemas.openxmlformats.org/drawingml/2006/main">
            <a:off x="1061355" y="2438720"/>
            <a:ext cx="2857500" cy="3559629"/>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3" name="任意形状 2">
            <a:extLst xmlns:a="http://schemas.openxmlformats.org/drawingml/2006/main">
              <a:ext uri="{FF2B5EF4-FFF2-40B4-BE49-F238E27FC236}">
                <a16:creationId xmlns:a16="http://schemas.microsoft.com/office/drawing/2014/main" id="{DDDB5882-EAD3-F3A1-98CC-DBDBA3F9A58F}"/>
              </a:ext>
            </a:extLst>
          </p:cNvPr>
          <p:cNvSpPr>
            <a:spLocks xmlns:a="http://schemas.openxmlformats.org/drawingml/2006/main" noGrp="1"/>
          </p:cNvSpPr>
          <p:nvPr/>
        </p:nvSpPr>
        <p:spPr>
          <a:xfrm xmlns:a="http://schemas.openxmlformats.org/drawingml/2006/main">
            <a:off x="1061357" y="2438720"/>
            <a:ext cx="765776" cy="750761"/>
          </a:xfrm>
          <a:custGeom xmlns:a="http://schemas.openxmlformats.org/drawingml/2006/main">
            <a:gdLst>
              <a:gd name="connsiteX0" fmla="*/ 0 w 832757"/>
              <a:gd name="connsiteY0" fmla="*/ 0 h 816429"/>
              <a:gd name="connsiteX1" fmla="*/ 745315 w 832757"/>
              <a:gd name="connsiteY1" fmla="*/ 0 h 816429"/>
              <a:gd name="connsiteX2" fmla="*/ 791374 w 832757"/>
              <a:gd name="connsiteY2" fmla="*/ 84857 h 816429"/>
              <a:gd name="connsiteX3" fmla="*/ 832757 w 832757"/>
              <a:gd name="connsiteY3" fmla="*/ 289832 h 816429"/>
              <a:gd name="connsiteX4" fmla="*/ 306160 w 832757"/>
              <a:gd name="connsiteY4" fmla="*/ 816429 h 816429"/>
              <a:gd name="connsiteX5" fmla="*/ 11735 w 832757"/>
              <a:gd name="connsiteY5" fmla="*/ 726494 h 816429"/>
              <a:gd name="connsiteX6" fmla="*/ 0 w 832757"/>
              <a:gd name="connsiteY6" fmla="*/ 716812 h 816429"/>
              <a:gd name="connsiteX7" fmla="*/ 0 w 832757"/>
              <a:gd name="connsiteY7" fmla="*/ 0 h 816429"/>
            </a:gdLst>
            <a:rect l="l" t="t" r="r" b="b"/>
            <a:pathLst>
              <a:path w="832757" h="816429">
                <a:moveTo>
                  <a:pt x="0" y="0"/>
                </a:moveTo>
                <a:lnTo>
                  <a:pt x="745315" y="0"/>
                </a:lnTo>
                <a:lnTo>
                  <a:pt x="791374" y="84857"/>
                </a:lnTo>
                <a:cubicBezTo>
                  <a:pt x="818022" y="147858"/>
                  <a:pt x="832757" y="217124"/>
                  <a:pt x="832757" y="289832"/>
                </a:cubicBezTo>
                <a:cubicBezTo>
                  <a:pt x="832757" y="580663"/>
                  <a:pt x="596991" y="816429"/>
                  <a:pt x="306160" y="816429"/>
                </a:cubicBezTo>
                <a:cubicBezTo>
                  <a:pt x="197098" y="816429"/>
                  <a:pt x="95780" y="783275"/>
                  <a:pt x="11735" y="726494"/>
                </a:cubicBezTo>
                <a:lnTo>
                  <a:pt x="0" y="716812"/>
                </a:lnTo>
                <a:lnTo>
                  <a:pt x="0" y="0"/>
                </a:lnTo>
                <a:close/>
              </a:path>
            </a:pathLst>
          </a:custGeom>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0" name="magnifier-and-open-book_65775">
            <a:extLst xmlns:a="http://schemas.openxmlformats.org/drawingml/2006/main">
              <a:ext uri="{FF2B5EF4-FFF2-40B4-BE49-F238E27FC236}">
                <a16:creationId xmlns:a16="http://schemas.microsoft.com/office/drawing/2014/main" id="{CAE17B16-40B8-BBDD-ED20-A92E8F9FDE81}"/>
              </a:ext>
            </a:extLst>
          </p:cNvPr>
          <p:cNvSpPr>
            <a:spLocks xmlns:a="http://schemas.openxmlformats.org/drawingml/2006/main" noGrp="1"/>
          </p:cNvSpPr>
          <p:nvPr/>
        </p:nvSpPr>
        <p:spPr>
          <a:xfrm xmlns:a="http://schemas.openxmlformats.org/drawingml/2006/main">
            <a:off x="3072949" y="2638094"/>
            <a:ext cx="584651" cy="551387"/>
          </a:xfrm>
          <a:custGeom xmlns:a="http://schemas.openxmlformats.org/drawingml/2006/main">
            <a:gdLst>
              <a:gd name="connsiteX0" fmla="*/ 541910 w 607785"/>
              <a:gd name="connsiteY0" fmla="*/ 465873 h 573206"/>
              <a:gd name="connsiteX1" fmla="*/ 566339 w 607785"/>
              <a:gd name="connsiteY1" fmla="*/ 544203 h 573206"/>
              <a:gd name="connsiteX2" fmla="*/ 556199 w 607785"/>
              <a:gd name="connsiteY2" fmla="*/ 563441 h 573206"/>
              <a:gd name="connsiteX3" fmla="*/ 526791 w 607785"/>
              <a:gd name="connsiteY3" fmla="*/ 572507 h 573206"/>
              <a:gd name="connsiteX4" fmla="*/ 507570 w 607785"/>
              <a:gd name="connsiteY4" fmla="*/ 562382 h 573206"/>
              <a:gd name="connsiteX5" fmla="*/ 483232 w 607785"/>
              <a:gd name="connsiteY5" fmla="*/ 484006 h 573206"/>
              <a:gd name="connsiteX6" fmla="*/ 513470 w 607785"/>
              <a:gd name="connsiteY6" fmla="*/ 477747 h 573206"/>
              <a:gd name="connsiteX7" fmla="*/ 541910 w 607785"/>
              <a:gd name="connsiteY7" fmla="*/ 465873 h 573206"/>
              <a:gd name="connsiteX8" fmla="*/ 466195 w 607785"/>
              <a:gd name="connsiteY8" fmla="*/ 232668 h 573206"/>
              <a:gd name="connsiteX9" fmla="*/ 384154 w 607785"/>
              <a:gd name="connsiteY9" fmla="*/ 282004 h 573206"/>
              <a:gd name="connsiteX10" fmla="*/ 377747 w 607785"/>
              <a:gd name="connsiteY10" fmla="*/ 297330 h 573206"/>
              <a:gd name="connsiteX11" fmla="*/ 375166 w 607785"/>
              <a:gd name="connsiteY11" fmla="*/ 307455 h 573206"/>
              <a:gd name="connsiteX12" fmla="*/ 373830 w 607785"/>
              <a:gd name="connsiteY12" fmla="*/ 317580 h 573206"/>
              <a:gd name="connsiteX13" fmla="*/ 422916 w 607785"/>
              <a:gd name="connsiteY13" fmla="*/ 406771 h 573206"/>
              <a:gd name="connsiteX14" fmla="*/ 462508 w 607785"/>
              <a:gd name="connsiteY14" fmla="*/ 417310 h 573206"/>
              <a:gd name="connsiteX15" fmla="*/ 465872 w 607785"/>
              <a:gd name="connsiteY15" fmla="*/ 417356 h 573206"/>
              <a:gd name="connsiteX16" fmla="*/ 521181 w 607785"/>
              <a:gd name="connsiteY16" fmla="*/ 399131 h 573206"/>
              <a:gd name="connsiteX17" fmla="*/ 547867 w 607785"/>
              <a:gd name="connsiteY17" fmla="*/ 368020 h 573206"/>
              <a:gd name="connsiteX18" fmla="*/ 509151 w 607785"/>
              <a:gd name="connsiteY18" fmla="*/ 243299 h 573206"/>
              <a:gd name="connsiteX19" fmla="*/ 499933 w 607785"/>
              <a:gd name="connsiteY19" fmla="*/ 239065 h 573206"/>
              <a:gd name="connsiteX20" fmla="*/ 489701 w 607785"/>
              <a:gd name="connsiteY20" fmla="*/ 235752 h 573206"/>
              <a:gd name="connsiteX21" fmla="*/ 479515 w 607785"/>
              <a:gd name="connsiteY21" fmla="*/ 233635 h 573206"/>
              <a:gd name="connsiteX22" fmla="*/ 466195 w 607785"/>
              <a:gd name="connsiteY22" fmla="*/ 232668 h 573206"/>
              <a:gd name="connsiteX23" fmla="*/ 466195 w 607785"/>
              <a:gd name="connsiteY23" fmla="*/ 183470 h 573206"/>
              <a:gd name="connsiteX24" fmla="*/ 479515 w 607785"/>
              <a:gd name="connsiteY24" fmla="*/ 184115 h 573206"/>
              <a:gd name="connsiteX25" fmla="*/ 489701 w 607785"/>
              <a:gd name="connsiteY25" fmla="*/ 185495 h 573206"/>
              <a:gd name="connsiteX26" fmla="*/ 499933 w 607785"/>
              <a:gd name="connsiteY26" fmla="*/ 187566 h 573206"/>
              <a:gd name="connsiteX27" fmla="*/ 532058 w 607785"/>
              <a:gd name="connsiteY27" fmla="*/ 199854 h 573206"/>
              <a:gd name="connsiteX28" fmla="*/ 601378 w 607785"/>
              <a:gd name="connsiteY28" fmla="*/ 283109 h 573206"/>
              <a:gd name="connsiteX29" fmla="*/ 591469 w 607785"/>
              <a:gd name="connsiteY29" fmla="*/ 390939 h 573206"/>
              <a:gd name="connsiteX30" fmla="*/ 536437 w 607785"/>
              <a:gd name="connsiteY30" fmla="*/ 447869 h 573206"/>
              <a:gd name="connsiteX31" fmla="*/ 508045 w 607785"/>
              <a:gd name="connsiteY31" fmla="*/ 460157 h 573206"/>
              <a:gd name="connsiteX32" fmla="*/ 477671 w 607785"/>
              <a:gd name="connsiteY32" fmla="*/ 466048 h 573206"/>
              <a:gd name="connsiteX33" fmla="*/ 465872 w 607785"/>
              <a:gd name="connsiteY33" fmla="*/ 466508 h 573206"/>
              <a:gd name="connsiteX34" fmla="*/ 400009 w 607785"/>
              <a:gd name="connsiteY34" fmla="*/ 450124 h 573206"/>
              <a:gd name="connsiteX35" fmla="*/ 330689 w 607785"/>
              <a:gd name="connsiteY35" fmla="*/ 366870 h 573206"/>
              <a:gd name="connsiteX36" fmla="*/ 324421 w 607785"/>
              <a:gd name="connsiteY36" fmla="*/ 318270 h 573206"/>
              <a:gd name="connsiteX37" fmla="*/ 325250 w 607785"/>
              <a:gd name="connsiteY37" fmla="*/ 308007 h 573206"/>
              <a:gd name="connsiteX38" fmla="*/ 326910 w 607785"/>
              <a:gd name="connsiteY38" fmla="*/ 297790 h 573206"/>
              <a:gd name="connsiteX39" fmla="*/ 340691 w 607785"/>
              <a:gd name="connsiteY39" fmla="*/ 259039 h 573206"/>
              <a:gd name="connsiteX40" fmla="*/ 424068 w 607785"/>
              <a:gd name="connsiteY40" fmla="*/ 189821 h 573206"/>
              <a:gd name="connsiteX41" fmla="*/ 466195 w 607785"/>
              <a:gd name="connsiteY41" fmla="*/ 183470 h 573206"/>
              <a:gd name="connsiteX42" fmla="*/ 359639 w 607785"/>
              <a:gd name="connsiteY42" fmla="*/ 0 h 573206"/>
              <a:gd name="connsiteX43" fmla="*/ 468802 w 607785"/>
              <a:gd name="connsiteY43" fmla="*/ 17118 h 573206"/>
              <a:gd name="connsiteX44" fmla="*/ 479492 w 607785"/>
              <a:gd name="connsiteY44" fmla="*/ 31705 h 573206"/>
              <a:gd name="connsiteX45" fmla="*/ 479492 w 607785"/>
              <a:gd name="connsiteY45" fmla="*/ 165611 h 573206"/>
              <a:gd name="connsiteX46" fmla="*/ 466175 w 607785"/>
              <a:gd name="connsiteY46" fmla="*/ 165059 h 573206"/>
              <a:gd name="connsiteX47" fmla="*/ 418621 w 607785"/>
              <a:gd name="connsiteY47" fmla="*/ 172283 h 573206"/>
              <a:gd name="connsiteX48" fmla="*/ 324342 w 607785"/>
              <a:gd name="connsiteY48" fmla="*/ 250511 h 573206"/>
              <a:gd name="connsiteX49" fmla="*/ 307937 w 607785"/>
              <a:gd name="connsiteY49" fmla="*/ 298919 h 573206"/>
              <a:gd name="connsiteX50" fmla="*/ 248955 w 607785"/>
              <a:gd name="connsiteY50" fmla="*/ 307524 h 573206"/>
              <a:gd name="connsiteX51" fmla="*/ 248955 w 607785"/>
              <a:gd name="connsiteY51" fmla="*/ 17624 h 573206"/>
              <a:gd name="connsiteX52" fmla="*/ 359639 w 607785"/>
              <a:gd name="connsiteY52" fmla="*/ 0 h 573206"/>
              <a:gd name="connsiteX53" fmla="*/ 119890 w 607785"/>
              <a:gd name="connsiteY53" fmla="*/ 0 h 573206"/>
              <a:gd name="connsiteX54" fmla="*/ 230608 w 607785"/>
              <a:gd name="connsiteY54" fmla="*/ 17624 h 573206"/>
              <a:gd name="connsiteX55" fmla="*/ 230608 w 607785"/>
              <a:gd name="connsiteY55" fmla="*/ 307524 h 573206"/>
              <a:gd name="connsiteX56" fmla="*/ 119890 w 607785"/>
              <a:gd name="connsiteY56" fmla="*/ 297079 h 573206"/>
              <a:gd name="connsiteX57" fmla="*/ 18437 w 607785"/>
              <a:gd name="connsiteY57" fmla="*/ 305315 h 573206"/>
              <a:gd name="connsiteX58" fmla="*/ 15303 w 607785"/>
              <a:gd name="connsiteY58" fmla="*/ 305592 h 573206"/>
              <a:gd name="connsiteX59" fmla="*/ 0 w 607785"/>
              <a:gd name="connsiteY59" fmla="*/ 290268 h 573206"/>
              <a:gd name="connsiteX60" fmla="*/ 0 w 607785"/>
              <a:gd name="connsiteY60" fmla="*/ 31705 h 573206"/>
              <a:gd name="connsiteX61" fmla="*/ 10694 w 607785"/>
              <a:gd name="connsiteY61" fmla="*/ 17118 h 573206"/>
              <a:gd name="connsiteX62" fmla="*/ 119890 w 607785"/>
              <a:gd name="connsiteY62" fmla="*/ 0 h 573206"/>
            </a:gdLst>
            <a:rect l="l" t="t" r="r" b="b"/>
            <a:pathLst>
              <a:path w="607785" h="573206">
                <a:moveTo>
                  <a:pt x="541910" y="465873"/>
                </a:moveTo>
                <a:lnTo>
                  <a:pt x="566339" y="544203"/>
                </a:lnTo>
                <a:cubicBezTo>
                  <a:pt x="568828" y="552303"/>
                  <a:pt x="564311" y="560909"/>
                  <a:pt x="556199" y="563441"/>
                </a:cubicBezTo>
                <a:lnTo>
                  <a:pt x="526791" y="572507"/>
                </a:lnTo>
                <a:cubicBezTo>
                  <a:pt x="518678" y="575038"/>
                  <a:pt x="510105" y="570482"/>
                  <a:pt x="507570" y="562382"/>
                </a:cubicBezTo>
                <a:lnTo>
                  <a:pt x="483232" y="484006"/>
                </a:lnTo>
                <a:cubicBezTo>
                  <a:pt x="493419" y="482902"/>
                  <a:pt x="503560" y="480831"/>
                  <a:pt x="513470" y="477747"/>
                </a:cubicBezTo>
                <a:cubicBezTo>
                  <a:pt x="523426" y="474617"/>
                  <a:pt x="532967" y="470660"/>
                  <a:pt x="541910" y="465873"/>
                </a:cubicBezTo>
                <a:close/>
                <a:moveTo>
                  <a:pt x="466195" y="232668"/>
                </a:moveTo>
                <a:cubicBezTo>
                  <a:pt x="432872" y="232668"/>
                  <a:pt x="400654" y="250663"/>
                  <a:pt x="384154" y="282004"/>
                </a:cubicBezTo>
                <a:cubicBezTo>
                  <a:pt x="381481" y="286975"/>
                  <a:pt x="379407" y="292129"/>
                  <a:pt x="377747" y="297330"/>
                </a:cubicBezTo>
                <a:cubicBezTo>
                  <a:pt x="376641" y="300735"/>
                  <a:pt x="375858" y="304095"/>
                  <a:pt x="375166" y="307455"/>
                </a:cubicBezTo>
                <a:cubicBezTo>
                  <a:pt x="374567" y="310860"/>
                  <a:pt x="374060" y="314220"/>
                  <a:pt x="373830" y="317580"/>
                </a:cubicBezTo>
                <a:cubicBezTo>
                  <a:pt x="370972" y="353293"/>
                  <a:pt x="389178" y="389006"/>
                  <a:pt x="422916" y="406771"/>
                </a:cubicBezTo>
                <a:cubicBezTo>
                  <a:pt x="435591" y="413398"/>
                  <a:pt x="449095" y="416804"/>
                  <a:pt x="462508" y="417310"/>
                </a:cubicBezTo>
                <a:cubicBezTo>
                  <a:pt x="463660" y="417356"/>
                  <a:pt x="464766" y="417356"/>
                  <a:pt x="465872" y="417356"/>
                </a:cubicBezTo>
                <a:cubicBezTo>
                  <a:pt x="485737" y="417356"/>
                  <a:pt x="505187" y="411005"/>
                  <a:pt x="521181" y="399131"/>
                </a:cubicBezTo>
                <a:cubicBezTo>
                  <a:pt x="532012" y="391123"/>
                  <a:pt x="541138" y="380676"/>
                  <a:pt x="547867" y="368020"/>
                </a:cubicBezTo>
                <a:cubicBezTo>
                  <a:pt x="571650" y="323010"/>
                  <a:pt x="554228" y="266955"/>
                  <a:pt x="509151" y="243299"/>
                </a:cubicBezTo>
                <a:cubicBezTo>
                  <a:pt x="506109" y="241689"/>
                  <a:pt x="503067" y="240262"/>
                  <a:pt x="499933" y="239065"/>
                </a:cubicBezTo>
                <a:cubicBezTo>
                  <a:pt x="496522" y="237777"/>
                  <a:pt x="493158" y="236672"/>
                  <a:pt x="489701" y="235752"/>
                </a:cubicBezTo>
                <a:cubicBezTo>
                  <a:pt x="486336" y="234877"/>
                  <a:pt x="482880" y="234141"/>
                  <a:pt x="479515" y="233635"/>
                </a:cubicBezTo>
                <a:cubicBezTo>
                  <a:pt x="475090" y="232990"/>
                  <a:pt x="470620" y="232668"/>
                  <a:pt x="466195" y="232668"/>
                </a:cubicBezTo>
                <a:close/>
                <a:moveTo>
                  <a:pt x="466195" y="183470"/>
                </a:moveTo>
                <a:cubicBezTo>
                  <a:pt x="470620" y="183470"/>
                  <a:pt x="475090" y="183700"/>
                  <a:pt x="479515" y="184115"/>
                </a:cubicBezTo>
                <a:cubicBezTo>
                  <a:pt x="482972" y="184437"/>
                  <a:pt x="486336" y="184943"/>
                  <a:pt x="489701" y="185495"/>
                </a:cubicBezTo>
                <a:cubicBezTo>
                  <a:pt x="493158" y="186048"/>
                  <a:pt x="496522" y="186692"/>
                  <a:pt x="499933" y="187566"/>
                </a:cubicBezTo>
                <a:cubicBezTo>
                  <a:pt x="510903" y="190328"/>
                  <a:pt x="521734" y="194378"/>
                  <a:pt x="532058" y="199854"/>
                </a:cubicBezTo>
                <a:cubicBezTo>
                  <a:pt x="565566" y="217435"/>
                  <a:pt x="590178" y="247027"/>
                  <a:pt x="601378" y="283109"/>
                </a:cubicBezTo>
                <a:cubicBezTo>
                  <a:pt x="612578" y="319190"/>
                  <a:pt x="608983" y="357481"/>
                  <a:pt x="591469" y="390939"/>
                </a:cubicBezTo>
                <a:cubicBezTo>
                  <a:pt x="578702" y="415101"/>
                  <a:pt x="559666" y="434661"/>
                  <a:pt x="536437" y="447869"/>
                </a:cubicBezTo>
                <a:cubicBezTo>
                  <a:pt x="527495" y="452886"/>
                  <a:pt x="518047" y="457074"/>
                  <a:pt x="508045" y="460157"/>
                </a:cubicBezTo>
                <a:cubicBezTo>
                  <a:pt x="497997" y="463195"/>
                  <a:pt x="487857" y="465174"/>
                  <a:pt x="477671" y="466048"/>
                </a:cubicBezTo>
                <a:cubicBezTo>
                  <a:pt x="473754" y="466324"/>
                  <a:pt x="469790" y="466508"/>
                  <a:pt x="465872" y="466508"/>
                </a:cubicBezTo>
                <a:cubicBezTo>
                  <a:pt x="443150" y="466508"/>
                  <a:pt x="420658" y="460986"/>
                  <a:pt x="400009" y="450124"/>
                </a:cubicBezTo>
                <a:cubicBezTo>
                  <a:pt x="366501" y="432544"/>
                  <a:pt x="341843" y="402951"/>
                  <a:pt x="330689" y="366870"/>
                </a:cubicBezTo>
                <a:cubicBezTo>
                  <a:pt x="325711" y="350900"/>
                  <a:pt x="323683" y="334470"/>
                  <a:pt x="324421" y="318270"/>
                </a:cubicBezTo>
                <a:cubicBezTo>
                  <a:pt x="324605" y="314818"/>
                  <a:pt x="324836" y="311413"/>
                  <a:pt x="325250" y="308007"/>
                </a:cubicBezTo>
                <a:cubicBezTo>
                  <a:pt x="325711" y="304601"/>
                  <a:pt x="326264" y="301150"/>
                  <a:pt x="326910" y="297790"/>
                </a:cubicBezTo>
                <a:cubicBezTo>
                  <a:pt x="329583" y="284443"/>
                  <a:pt x="334192" y="271465"/>
                  <a:pt x="340691" y="259039"/>
                </a:cubicBezTo>
                <a:cubicBezTo>
                  <a:pt x="358343" y="225627"/>
                  <a:pt x="387933" y="201005"/>
                  <a:pt x="424068" y="189821"/>
                </a:cubicBezTo>
                <a:cubicBezTo>
                  <a:pt x="437895" y="185587"/>
                  <a:pt x="452091" y="183470"/>
                  <a:pt x="466195" y="183470"/>
                </a:cubicBezTo>
                <a:close/>
                <a:moveTo>
                  <a:pt x="359639" y="0"/>
                </a:moveTo>
                <a:cubicBezTo>
                  <a:pt x="408161" y="0"/>
                  <a:pt x="449955" y="11182"/>
                  <a:pt x="468802" y="17118"/>
                </a:cubicBezTo>
                <a:cubicBezTo>
                  <a:pt x="475115" y="19142"/>
                  <a:pt x="479492" y="25032"/>
                  <a:pt x="479492" y="31705"/>
                </a:cubicBezTo>
                <a:lnTo>
                  <a:pt x="479492" y="165611"/>
                </a:lnTo>
                <a:cubicBezTo>
                  <a:pt x="475069" y="165243"/>
                  <a:pt x="470599" y="165059"/>
                  <a:pt x="466175" y="165059"/>
                </a:cubicBezTo>
                <a:cubicBezTo>
                  <a:pt x="450139" y="165059"/>
                  <a:pt x="434104" y="167497"/>
                  <a:pt x="418621" y="172283"/>
                </a:cubicBezTo>
                <a:cubicBezTo>
                  <a:pt x="377748" y="184938"/>
                  <a:pt x="344248" y="212732"/>
                  <a:pt x="324342" y="250511"/>
                </a:cubicBezTo>
                <a:cubicBezTo>
                  <a:pt x="316185" y="265926"/>
                  <a:pt x="310702" y="282216"/>
                  <a:pt x="307937" y="298919"/>
                </a:cubicBezTo>
                <a:cubicBezTo>
                  <a:pt x="283745" y="300714"/>
                  <a:pt x="263239" y="303705"/>
                  <a:pt x="248955" y="307524"/>
                </a:cubicBezTo>
                <a:lnTo>
                  <a:pt x="248955" y="17624"/>
                </a:lnTo>
                <a:cubicBezTo>
                  <a:pt x="267018" y="11780"/>
                  <a:pt x="309780" y="0"/>
                  <a:pt x="359639" y="0"/>
                </a:cubicBezTo>
                <a:close/>
                <a:moveTo>
                  <a:pt x="119890" y="0"/>
                </a:moveTo>
                <a:cubicBezTo>
                  <a:pt x="169764" y="0"/>
                  <a:pt x="212539" y="11780"/>
                  <a:pt x="230608" y="17624"/>
                </a:cubicBezTo>
                <a:lnTo>
                  <a:pt x="230608" y="307524"/>
                </a:lnTo>
                <a:cubicBezTo>
                  <a:pt x="207008" y="301266"/>
                  <a:pt x="166261" y="297079"/>
                  <a:pt x="119890" y="297079"/>
                </a:cubicBezTo>
                <a:cubicBezTo>
                  <a:pt x="79097" y="297079"/>
                  <a:pt x="42637" y="300254"/>
                  <a:pt x="18437" y="305315"/>
                </a:cubicBezTo>
                <a:cubicBezTo>
                  <a:pt x="17377" y="305500"/>
                  <a:pt x="16363" y="305592"/>
                  <a:pt x="15303" y="305592"/>
                </a:cubicBezTo>
                <a:cubicBezTo>
                  <a:pt x="7052" y="305592"/>
                  <a:pt x="0" y="298919"/>
                  <a:pt x="0" y="290268"/>
                </a:cubicBezTo>
                <a:lnTo>
                  <a:pt x="0" y="31705"/>
                </a:lnTo>
                <a:cubicBezTo>
                  <a:pt x="0" y="25032"/>
                  <a:pt x="4379" y="19142"/>
                  <a:pt x="10694" y="17118"/>
                </a:cubicBezTo>
                <a:cubicBezTo>
                  <a:pt x="29638" y="11182"/>
                  <a:pt x="71353" y="0"/>
                  <a:pt x="119890" y="0"/>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文本框 11">
            <a:extLst xmlns:a="http://schemas.openxmlformats.org/drawingml/2006/main">
              <a:ext uri="{FF2B5EF4-FFF2-40B4-BE49-F238E27FC236}">
                <a16:creationId xmlns:a16="http://schemas.microsoft.com/office/drawing/2014/main" id="{1BF565F7-988B-4B73-F134-4B8CAE988CEA}"/>
              </a:ext>
            </a:extLst>
          </p:cNvPr>
          <p:cNvSpPr>
            <a:spLocks xmlns:a="http://schemas.openxmlformats.org/drawingml/2006/main" noGrp="1"/>
          </p:cNvSpPr>
          <p:nvPr/>
        </p:nvSpPr>
        <p:spPr>
          <a:xfrm xmlns:a="http://schemas.openxmlformats.org/drawingml/2006/main">
            <a:off x="1045858" y="2581563"/>
            <a:ext cx="76577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a:solidFill>
                  <a:schemeClr val="bg1"/>
                </a:solidFill>
                <a:latin typeface="Arial"/>
                <a:ea typeface="Arial"/>
                <a:cs typeface="Arial"/>
              </a:rPr>
              <a:t>01</a:t>
            </a:r>
            <a:endParaRPr sz="2400">
              <a:solidFill>
                <a:schemeClr val="bg1"/>
              </a:solidFill>
              <a:latin typeface="Arial"/>
              <a:ea typeface="Arial"/>
              <a:cs typeface="Arial"/>
            </a:endParaRPr>
          </a:p>
        </p:txBody>
      </p:sp>
      <p:sp>
        <p:nvSpPr>
          <p:cNvPr id="15" name="文本框 14">
            <a:extLst xmlns:a="http://schemas.openxmlformats.org/drawingml/2006/main">
              <a:ext uri="{FF2B5EF4-FFF2-40B4-BE49-F238E27FC236}">
                <a16:creationId xmlns:a16="http://schemas.microsoft.com/office/drawing/2014/main" id="{69E2C48D-76B4-82C6-5C34-4E6264210488}"/>
              </a:ext>
            </a:extLst>
          </p:cNvPr>
          <p:cNvSpPr>
            <a:spLocks xmlns:a="http://schemas.openxmlformats.org/drawingml/2006/main" noGrp="1"/>
          </p:cNvSpPr>
          <p:nvPr/>
        </p:nvSpPr>
        <p:spPr>
          <a:xfrm xmlns:a="http://schemas.openxmlformats.org/drawingml/2006/main">
            <a:off x="1333500" y="3333750"/>
            <a:ext cx="2381250" cy="2381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None/>
              <a:defRPr sz="1725" b="0">
                <a:solidFill>
                  <a:srgbClr val="202832"/>
                </a:solidFill>
                <a:latin typeface="Arial"/>
                <a:ea typeface="Arial"/>
                <a:cs typeface="Arial"/>
              </a:defRPr>
            </a:pPr>
            <a:r>
              <a:rPr sz="1725" b="1">
                <a:solidFill>
                  <a:srgbClr val="202832"/>
                </a:solidFill>
                <a:latin typeface="Arial"/>
                <a:ea typeface="Arial"/>
                <a:cs typeface="Arial"/>
              </a:rPr>
              <a:t>Regression heads</a:t>
            </a:r>
            <a:endParaRPr sz="2000">
              <a:solidFill>
                <a:schemeClr val="tx1">
                  <a:lumMod val="75000"/>
                  <a:lumOff val="25000"/>
                </a:schemeClr>
              </a:solidFill>
              <a:latin typeface="Microsoft YaHei"/>
              <a:ea typeface="Microsoft YaHei"/>
              <a:cs typeface="Microsoft YaHei"/>
            </a:endParaRPr>
          </a:p>
          <a:p xmlns:a="http://schemas.openxmlformats.org/drawingml/2006/main">
            <a:pPr>
              <a:lnSpc>
                <a:spcPct val="120000"/>
              </a:lnSpc>
              <a:buNone/>
            </a:pPr>
            <a:r>
              <a:rPr sz="2000">
                <a:solidFill>
                  <a:schemeClr val="tx1">
                    <a:lumMod val="75000"/>
                    <a:lumOff val="25000"/>
                  </a:schemeClr>
                </a:solidFill>
                <a:latin typeface="Microsoft YaHei"/>
                <a:ea typeface="Microsoft YaHei"/>
                <a:cs typeface="Microsoft YaHei"/>
              </a:rPr>
              <a:t/>
            </a:r>
            <a:endParaRPr sz="2000">
              <a:solidFill>
                <a:schemeClr val="tx1">
                  <a:lumMod val="75000"/>
                  <a:lumOff val="25000"/>
                </a:schemeClr>
              </a:solidFill>
              <a:latin typeface="Microsoft YaHei"/>
              <a:ea typeface="Microsoft YaHei"/>
              <a:cs typeface="Microsoft YaHei"/>
            </a:endParaRPr>
          </a:p>
          <a:p xmlns:a="http://schemas.openxmlformats.org/drawingml/2006/main">
            <a:pPr algn="l">
              <a:lnSpc>
                <a:spcPct val="120000"/>
              </a:lnSpc>
              <a:buNone/>
              <a:defRPr sz="1725" b="0">
                <a:solidFill>
                  <a:srgbClr val="202832"/>
                </a:solidFill>
                <a:latin typeface="Arial"/>
                <a:ea typeface="Arial"/>
                <a:cs typeface="Arial"/>
              </a:defRPr>
            </a:pPr>
            <a:r>
              <a:rPr sz="1725" b="0">
                <a:solidFill>
                  <a:srgbClr val="202832"/>
                </a:solidFill>
                <a:latin typeface="Arial"/>
                <a:ea typeface="Arial"/>
                <a:cs typeface="Arial"/>
              </a:rPr>
              <a:t>Ridge and SVR first test the original frozen DenseNet features.</a:t>
            </a:r>
            <a:endParaRPr sz="2000">
              <a:solidFill>
                <a:schemeClr val="tx1">
                  <a:lumMod val="75000"/>
                  <a:lumOff val="25000"/>
                </a:schemeClr>
              </a:solidFill>
              <a:latin typeface="Microsoft YaHei"/>
              <a:ea typeface="Microsoft YaHei"/>
              <a:cs typeface="Microsoft YaHei"/>
            </a:endParaRPr>
          </a:p>
        </p:txBody>
      </p:sp>
      <p:sp>
        <p:nvSpPr>
          <p:cNvPr id="16" name="矩形 15">
            <a:extLst xmlns:a="http://schemas.openxmlformats.org/drawingml/2006/main">
              <a:ext uri="{FF2B5EF4-FFF2-40B4-BE49-F238E27FC236}">
                <a16:creationId xmlns:a16="http://schemas.microsoft.com/office/drawing/2014/main" id="{BCD21583-3FB0-D039-C4DD-AFF9CFA51B0E}"/>
              </a:ext>
            </a:extLst>
          </p:cNvPr>
          <p:cNvSpPr>
            <a:spLocks xmlns:a="http://schemas.openxmlformats.org/drawingml/2006/main" noGrp="1"/>
          </p:cNvSpPr>
          <p:nvPr/>
        </p:nvSpPr>
        <p:spPr>
          <a:xfrm xmlns:a="http://schemas.openxmlformats.org/drawingml/2006/main">
            <a:off x="4667249" y="2438720"/>
            <a:ext cx="2857500" cy="3559629"/>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7" name="任意形状 16">
            <a:extLst xmlns:a="http://schemas.openxmlformats.org/drawingml/2006/main">
              <a:ext uri="{FF2B5EF4-FFF2-40B4-BE49-F238E27FC236}">
                <a16:creationId xmlns:a16="http://schemas.microsoft.com/office/drawing/2014/main" id="{00C55D44-4D53-3A75-8939-E04609A29F12}"/>
              </a:ext>
            </a:extLst>
          </p:cNvPr>
          <p:cNvSpPr>
            <a:spLocks xmlns:a="http://schemas.openxmlformats.org/drawingml/2006/main" noGrp="1"/>
          </p:cNvSpPr>
          <p:nvPr/>
        </p:nvSpPr>
        <p:spPr>
          <a:xfrm xmlns:a="http://schemas.openxmlformats.org/drawingml/2006/main">
            <a:off x="4667251" y="2438720"/>
            <a:ext cx="765776" cy="750761"/>
          </a:xfrm>
          <a:custGeom xmlns:a="http://schemas.openxmlformats.org/drawingml/2006/main">
            <a:gdLst>
              <a:gd name="connsiteX0" fmla="*/ 0 w 832757"/>
              <a:gd name="connsiteY0" fmla="*/ 0 h 816429"/>
              <a:gd name="connsiteX1" fmla="*/ 745315 w 832757"/>
              <a:gd name="connsiteY1" fmla="*/ 0 h 816429"/>
              <a:gd name="connsiteX2" fmla="*/ 791374 w 832757"/>
              <a:gd name="connsiteY2" fmla="*/ 84857 h 816429"/>
              <a:gd name="connsiteX3" fmla="*/ 832757 w 832757"/>
              <a:gd name="connsiteY3" fmla="*/ 289832 h 816429"/>
              <a:gd name="connsiteX4" fmla="*/ 306160 w 832757"/>
              <a:gd name="connsiteY4" fmla="*/ 816429 h 816429"/>
              <a:gd name="connsiteX5" fmla="*/ 11735 w 832757"/>
              <a:gd name="connsiteY5" fmla="*/ 726494 h 816429"/>
              <a:gd name="connsiteX6" fmla="*/ 0 w 832757"/>
              <a:gd name="connsiteY6" fmla="*/ 716812 h 816429"/>
              <a:gd name="connsiteX7" fmla="*/ 0 w 832757"/>
              <a:gd name="connsiteY7" fmla="*/ 0 h 816429"/>
            </a:gdLst>
            <a:rect l="l" t="t" r="r" b="b"/>
            <a:pathLst>
              <a:path w="832757" h="816429">
                <a:moveTo>
                  <a:pt x="0" y="0"/>
                </a:moveTo>
                <a:lnTo>
                  <a:pt x="745315" y="0"/>
                </a:lnTo>
                <a:lnTo>
                  <a:pt x="791374" y="84857"/>
                </a:lnTo>
                <a:cubicBezTo>
                  <a:pt x="818022" y="147858"/>
                  <a:pt x="832757" y="217124"/>
                  <a:pt x="832757" y="289832"/>
                </a:cubicBezTo>
                <a:cubicBezTo>
                  <a:pt x="832757" y="580663"/>
                  <a:pt x="596991" y="816429"/>
                  <a:pt x="306160" y="816429"/>
                </a:cubicBezTo>
                <a:cubicBezTo>
                  <a:pt x="197098" y="816429"/>
                  <a:pt x="95780" y="783275"/>
                  <a:pt x="11735" y="726494"/>
                </a:cubicBezTo>
                <a:lnTo>
                  <a:pt x="0" y="716812"/>
                </a:lnTo>
                <a:lnTo>
                  <a:pt x="0" y="0"/>
                </a:lnTo>
                <a:close/>
              </a:path>
            </a:pathLst>
          </a:custGeom>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18" name="文本框 17">
            <a:extLst xmlns:a="http://schemas.openxmlformats.org/drawingml/2006/main">
              <a:ext uri="{FF2B5EF4-FFF2-40B4-BE49-F238E27FC236}">
                <a16:creationId xmlns:a16="http://schemas.microsoft.com/office/drawing/2014/main" id="{E44068DE-6786-7F94-7A3C-E248E2B00908}"/>
              </a:ext>
            </a:extLst>
          </p:cNvPr>
          <p:cNvSpPr>
            <a:spLocks xmlns:a="http://schemas.openxmlformats.org/drawingml/2006/main" noGrp="1"/>
          </p:cNvSpPr>
          <p:nvPr/>
        </p:nvSpPr>
        <p:spPr>
          <a:xfrm xmlns:a="http://schemas.openxmlformats.org/drawingml/2006/main">
            <a:off x="4651752" y="2581563"/>
            <a:ext cx="76577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a:solidFill>
                  <a:schemeClr val="bg1"/>
                </a:solidFill>
                <a:latin typeface="Arial"/>
                <a:ea typeface="Arial"/>
                <a:cs typeface="Arial"/>
              </a:rPr>
              <a:t>02</a:t>
            </a:r>
            <a:endParaRPr sz="2400">
              <a:solidFill>
                <a:schemeClr val="bg1"/>
              </a:solidFill>
              <a:latin typeface="Arial"/>
              <a:ea typeface="Arial"/>
              <a:cs typeface="Arial"/>
            </a:endParaRPr>
          </a:p>
        </p:txBody>
      </p:sp>
      <p:sp>
        <p:nvSpPr>
          <p:cNvPr id="19" name="文本框 18">
            <a:extLst xmlns:a="http://schemas.openxmlformats.org/drawingml/2006/main">
              <a:ext uri="{FF2B5EF4-FFF2-40B4-BE49-F238E27FC236}">
                <a16:creationId xmlns:a16="http://schemas.microsoft.com/office/drawing/2014/main" id="{CBF6DF35-691B-2F52-D5DA-D56AA53D97E2}"/>
              </a:ext>
            </a:extLst>
          </p:cNvPr>
          <p:cNvSpPr>
            <a:spLocks xmlns:a="http://schemas.openxmlformats.org/drawingml/2006/main" noGrp="1"/>
          </p:cNvSpPr>
          <p:nvPr/>
        </p:nvSpPr>
        <p:spPr>
          <a:xfrm xmlns:a="http://schemas.openxmlformats.org/drawingml/2006/main">
            <a:off x="4939665" y="3333750"/>
            <a:ext cx="2381250" cy="2381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None/>
              <a:defRPr sz="1725" b="0">
                <a:solidFill>
                  <a:srgbClr val="202832"/>
                </a:solidFill>
                <a:latin typeface="Arial"/>
                <a:ea typeface="Arial"/>
                <a:cs typeface="Arial"/>
              </a:defRPr>
            </a:pPr>
            <a:r>
              <a:rPr sz="1725" b="1">
                <a:solidFill>
                  <a:srgbClr val="202832"/>
                </a:solidFill>
                <a:latin typeface="Arial"/>
                <a:ea typeface="Arial"/>
                <a:cs typeface="Arial"/>
              </a:rPr>
              <a:t>Preprocessing</a:t>
            </a:r>
            <a:endParaRPr sz="2000">
              <a:solidFill>
                <a:schemeClr val="tx1">
                  <a:lumMod val="75000"/>
                  <a:lumOff val="25000"/>
                </a:schemeClr>
              </a:solidFill>
              <a:latin typeface="Microsoft YaHei"/>
              <a:ea typeface="Microsoft YaHei"/>
              <a:cs typeface="Microsoft YaHei"/>
            </a:endParaRPr>
          </a:p>
          <a:p xmlns:a="http://schemas.openxmlformats.org/drawingml/2006/main">
            <a:pPr>
              <a:lnSpc>
                <a:spcPct val="120000"/>
              </a:lnSpc>
              <a:buNone/>
            </a:pPr>
            <a:r>
              <a:rPr sz="2000">
                <a:solidFill>
                  <a:schemeClr val="tx1">
                    <a:lumMod val="75000"/>
                    <a:lumOff val="25000"/>
                  </a:schemeClr>
                </a:solidFill>
                <a:latin typeface="Microsoft YaHei"/>
                <a:ea typeface="Microsoft YaHei"/>
                <a:cs typeface="Microsoft YaHei"/>
              </a:rPr>
              <a:t/>
            </a:r>
            <a:endParaRPr sz="2000">
              <a:solidFill>
                <a:schemeClr val="tx1">
                  <a:lumMod val="75000"/>
                  <a:lumOff val="25000"/>
                </a:schemeClr>
              </a:solidFill>
              <a:latin typeface="Microsoft YaHei"/>
              <a:ea typeface="Microsoft YaHei"/>
              <a:cs typeface="Microsoft YaHei"/>
            </a:endParaRPr>
          </a:p>
          <a:p xmlns:a="http://schemas.openxmlformats.org/drawingml/2006/main">
            <a:pPr algn="l">
              <a:lnSpc>
                <a:spcPct val="120000"/>
              </a:lnSpc>
              <a:buNone/>
              <a:defRPr sz="1725" b="0">
                <a:solidFill>
                  <a:srgbClr val="202832"/>
                </a:solidFill>
                <a:latin typeface="Arial"/>
                <a:ea typeface="Arial"/>
                <a:cs typeface="Arial"/>
              </a:defRPr>
            </a:pPr>
            <a:r>
              <a:rPr sz="1725" b="0">
                <a:solidFill>
                  <a:srgbClr val="202832"/>
                </a:solidFill>
                <a:latin typeface="Arial"/>
                <a:ea typeface="Arial"/>
                <a:cs typeface="Arial"/>
              </a:rPr>
              <a:t>Score bounds, variance filtering and PCA test the unstable high-dimensional pipeline.</a:t>
            </a:r>
            <a:endParaRPr sz="2000">
              <a:solidFill>
                <a:schemeClr val="tx1">
                  <a:lumMod val="75000"/>
                  <a:lumOff val="25000"/>
                </a:schemeClr>
              </a:solidFill>
              <a:latin typeface="Microsoft YaHei"/>
              <a:ea typeface="Microsoft YaHei"/>
              <a:cs typeface="Microsoft YaHei"/>
            </a:endParaRPr>
          </a:p>
        </p:txBody>
      </p:sp>
      <p:sp>
        <p:nvSpPr>
          <p:cNvPr id="20" name="矩形 19">
            <a:extLst xmlns:a="http://schemas.openxmlformats.org/drawingml/2006/main">
              <a:ext uri="{FF2B5EF4-FFF2-40B4-BE49-F238E27FC236}">
                <a16:creationId xmlns:a16="http://schemas.microsoft.com/office/drawing/2014/main" id="{5374A4DE-73A1-8CCC-3F35-056F8813757B}"/>
              </a:ext>
            </a:extLst>
          </p:cNvPr>
          <p:cNvSpPr>
            <a:spLocks xmlns:a="http://schemas.openxmlformats.org/drawingml/2006/main" noGrp="1"/>
          </p:cNvSpPr>
          <p:nvPr/>
        </p:nvSpPr>
        <p:spPr>
          <a:xfrm xmlns:a="http://schemas.openxmlformats.org/drawingml/2006/main">
            <a:off x="8273143" y="2438720"/>
            <a:ext cx="2857500" cy="3559629"/>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1" name="任意形状 20">
            <a:extLst xmlns:a="http://schemas.openxmlformats.org/drawingml/2006/main">
              <a:ext uri="{FF2B5EF4-FFF2-40B4-BE49-F238E27FC236}">
                <a16:creationId xmlns:a16="http://schemas.microsoft.com/office/drawing/2014/main" id="{02EC03A3-8FE6-5248-7BE3-3ACD92E0A85F}"/>
              </a:ext>
            </a:extLst>
          </p:cNvPr>
          <p:cNvSpPr>
            <a:spLocks xmlns:a="http://schemas.openxmlformats.org/drawingml/2006/main" noGrp="1"/>
          </p:cNvSpPr>
          <p:nvPr/>
        </p:nvSpPr>
        <p:spPr>
          <a:xfrm xmlns:a="http://schemas.openxmlformats.org/drawingml/2006/main">
            <a:off x="8273145" y="2438720"/>
            <a:ext cx="765776" cy="750761"/>
          </a:xfrm>
          <a:custGeom xmlns:a="http://schemas.openxmlformats.org/drawingml/2006/main">
            <a:gdLst>
              <a:gd name="connsiteX0" fmla="*/ 0 w 832757"/>
              <a:gd name="connsiteY0" fmla="*/ 0 h 816429"/>
              <a:gd name="connsiteX1" fmla="*/ 745315 w 832757"/>
              <a:gd name="connsiteY1" fmla="*/ 0 h 816429"/>
              <a:gd name="connsiteX2" fmla="*/ 791374 w 832757"/>
              <a:gd name="connsiteY2" fmla="*/ 84857 h 816429"/>
              <a:gd name="connsiteX3" fmla="*/ 832757 w 832757"/>
              <a:gd name="connsiteY3" fmla="*/ 289832 h 816429"/>
              <a:gd name="connsiteX4" fmla="*/ 306160 w 832757"/>
              <a:gd name="connsiteY4" fmla="*/ 816429 h 816429"/>
              <a:gd name="connsiteX5" fmla="*/ 11735 w 832757"/>
              <a:gd name="connsiteY5" fmla="*/ 726494 h 816429"/>
              <a:gd name="connsiteX6" fmla="*/ 0 w 832757"/>
              <a:gd name="connsiteY6" fmla="*/ 716812 h 816429"/>
              <a:gd name="connsiteX7" fmla="*/ 0 w 832757"/>
              <a:gd name="connsiteY7" fmla="*/ 0 h 816429"/>
            </a:gdLst>
            <a:rect l="l" t="t" r="r" b="b"/>
            <a:pathLst>
              <a:path w="832757" h="816429">
                <a:moveTo>
                  <a:pt x="0" y="0"/>
                </a:moveTo>
                <a:lnTo>
                  <a:pt x="745315" y="0"/>
                </a:lnTo>
                <a:lnTo>
                  <a:pt x="791374" y="84857"/>
                </a:lnTo>
                <a:cubicBezTo>
                  <a:pt x="818022" y="147858"/>
                  <a:pt x="832757" y="217124"/>
                  <a:pt x="832757" y="289832"/>
                </a:cubicBezTo>
                <a:cubicBezTo>
                  <a:pt x="832757" y="580663"/>
                  <a:pt x="596991" y="816429"/>
                  <a:pt x="306160" y="816429"/>
                </a:cubicBezTo>
                <a:cubicBezTo>
                  <a:pt x="197098" y="816429"/>
                  <a:pt x="95780" y="783275"/>
                  <a:pt x="11735" y="726494"/>
                </a:cubicBezTo>
                <a:lnTo>
                  <a:pt x="0" y="716812"/>
                </a:lnTo>
                <a:lnTo>
                  <a:pt x="0" y="0"/>
                </a:lnTo>
                <a:close/>
              </a:path>
            </a:pathLst>
          </a:custGeom>
          <a:ln xmlns:a="http://schemas.openxmlformats.org/drawingml/2006/main">
            <a:solidFill>
              <a:schemeClr val="accent1">
                <a:alpha val="7400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22" name="文本框 21">
            <a:extLst xmlns:a="http://schemas.openxmlformats.org/drawingml/2006/main">
              <a:ext uri="{FF2B5EF4-FFF2-40B4-BE49-F238E27FC236}">
                <a16:creationId xmlns:a16="http://schemas.microsoft.com/office/drawing/2014/main" id="{E6180DBB-CE8B-4976-59CA-4A75F492768B}"/>
              </a:ext>
            </a:extLst>
          </p:cNvPr>
          <p:cNvSpPr>
            <a:spLocks xmlns:a="http://schemas.openxmlformats.org/drawingml/2006/main" noGrp="1"/>
          </p:cNvSpPr>
          <p:nvPr/>
        </p:nvSpPr>
        <p:spPr>
          <a:xfrm xmlns:a="http://schemas.openxmlformats.org/drawingml/2006/main">
            <a:off x="8257646" y="2581563"/>
            <a:ext cx="765777"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a:solidFill>
                  <a:schemeClr val="bg1"/>
                </a:solidFill>
                <a:latin typeface="Arial"/>
                <a:ea typeface="Arial"/>
                <a:cs typeface="Arial"/>
              </a:rPr>
              <a:t>03</a:t>
            </a:r>
            <a:endParaRPr sz="2400">
              <a:solidFill>
                <a:schemeClr val="bg1"/>
              </a:solidFill>
              <a:latin typeface="Arial"/>
              <a:ea typeface="Arial"/>
              <a:cs typeface="Arial"/>
            </a:endParaRPr>
          </a:p>
        </p:txBody>
      </p:sp>
      <p:sp>
        <p:nvSpPr>
          <p:cNvPr id="23" name="文本框 22">
            <a:extLst xmlns:a="http://schemas.openxmlformats.org/drawingml/2006/main">
              <a:ext uri="{FF2B5EF4-FFF2-40B4-BE49-F238E27FC236}">
                <a16:creationId xmlns:a16="http://schemas.microsoft.com/office/drawing/2014/main" id="{160CD06F-0ACE-0A98-4643-BEAEB1E86051}"/>
              </a:ext>
            </a:extLst>
          </p:cNvPr>
          <p:cNvSpPr>
            <a:spLocks xmlns:a="http://schemas.openxmlformats.org/drawingml/2006/main" noGrp="1"/>
          </p:cNvSpPr>
          <p:nvPr/>
        </p:nvSpPr>
        <p:spPr>
          <a:xfrm xmlns:a="http://schemas.openxmlformats.org/drawingml/2006/main">
            <a:off x="8545830" y="3333750"/>
            <a:ext cx="2381250" cy="2381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None/>
              <a:defRPr sz="1725" b="0">
                <a:solidFill>
                  <a:srgbClr val="202832"/>
                </a:solidFill>
                <a:latin typeface="Arial"/>
                <a:ea typeface="Arial"/>
                <a:cs typeface="Arial"/>
              </a:defRPr>
            </a:pPr>
            <a:r>
              <a:rPr sz="1725" b="1">
                <a:solidFill>
                  <a:srgbClr val="202832"/>
                </a:solidFill>
                <a:latin typeface="Arial"/>
                <a:ea typeface="Arial"/>
                <a:cs typeface="Arial"/>
              </a:rPr>
              <a:t>Image encoders</a:t>
            </a:r>
            <a:endParaRPr sz="2000">
              <a:solidFill>
                <a:schemeClr val="tx1">
                  <a:lumMod val="75000"/>
                  <a:lumOff val="25000"/>
                </a:schemeClr>
              </a:solidFill>
              <a:latin typeface="Microsoft YaHei"/>
              <a:ea typeface="Microsoft YaHei"/>
              <a:cs typeface="Microsoft YaHei"/>
            </a:endParaRPr>
          </a:p>
          <a:p xmlns:a="http://schemas.openxmlformats.org/drawingml/2006/main">
            <a:pPr>
              <a:lnSpc>
                <a:spcPct val="120000"/>
              </a:lnSpc>
              <a:buNone/>
            </a:pPr>
            <a:r>
              <a:rPr sz="2000">
                <a:solidFill>
                  <a:schemeClr val="tx1">
                    <a:lumMod val="75000"/>
                    <a:lumOff val="25000"/>
                  </a:schemeClr>
                </a:solidFill>
                <a:latin typeface="Microsoft YaHei"/>
                <a:ea typeface="Microsoft YaHei"/>
                <a:cs typeface="Microsoft YaHei"/>
              </a:rPr>
              <a:t/>
            </a:r>
            <a:endParaRPr sz="2000">
              <a:solidFill>
                <a:schemeClr val="tx1">
                  <a:lumMod val="75000"/>
                  <a:lumOff val="25000"/>
                </a:schemeClr>
              </a:solidFill>
              <a:latin typeface="Microsoft YaHei"/>
              <a:ea typeface="Microsoft YaHei"/>
              <a:cs typeface="Microsoft YaHei"/>
            </a:endParaRPr>
          </a:p>
          <a:p xmlns:a="http://schemas.openxmlformats.org/drawingml/2006/main">
            <a:pPr algn="l">
              <a:lnSpc>
                <a:spcPct val="120000"/>
              </a:lnSpc>
              <a:buNone/>
              <a:defRPr sz="1725" b="0">
                <a:solidFill>
                  <a:srgbClr val="202832"/>
                </a:solidFill>
                <a:latin typeface="Arial"/>
                <a:ea typeface="Arial"/>
                <a:cs typeface="Arial"/>
              </a:defRPr>
            </a:pPr>
            <a:r>
              <a:rPr sz="1725" b="0">
                <a:solidFill>
                  <a:srgbClr val="202832"/>
                </a:solidFill>
                <a:latin typeface="Arial"/>
                <a:ea typeface="Arial"/>
                <a:cs typeface="Arial"/>
              </a:rPr>
              <a:t>BioViL, BioViL-T and RAD-DINO test different pretrained representations.</a:t>
            </a:r>
            <a:endParaRPr sz="2000">
              <a:solidFill>
                <a:schemeClr val="tx1">
                  <a:lumMod val="75000"/>
                  <a:lumOff val="25000"/>
                </a:schemeClr>
              </a:solidFill>
              <a:latin typeface="Microsoft YaHei"/>
              <a:ea typeface="Microsoft YaHei"/>
              <a:cs typeface="Microsoft YaHei"/>
            </a:endParaRPr>
          </a:p>
        </p:txBody>
      </p:sp>
      <p:sp>
        <p:nvSpPr>
          <p:cNvPr id="24" name="book_338396">
            <a:extLst xmlns:a="http://schemas.openxmlformats.org/drawingml/2006/main">
              <a:ext uri="{FF2B5EF4-FFF2-40B4-BE49-F238E27FC236}">
                <a16:creationId xmlns:a16="http://schemas.microsoft.com/office/drawing/2014/main" id="{1D2B3A3B-0D4F-1D44-959E-B8D59D83E0C3}"/>
              </a:ext>
            </a:extLst>
          </p:cNvPr>
          <p:cNvSpPr>
            <a:spLocks xmlns:a="http://schemas.openxmlformats.org/drawingml/2006/main" noGrp="1"/>
          </p:cNvSpPr>
          <p:nvPr/>
        </p:nvSpPr>
        <p:spPr>
          <a:xfrm xmlns:a="http://schemas.openxmlformats.org/drawingml/2006/main">
            <a:off x="6831162" y="2621462"/>
            <a:ext cx="405361" cy="509289"/>
          </a:xfrm>
          <a:custGeom xmlns:a="http://schemas.openxmlformats.org/drawingml/2006/main">
            <a:gdLst>
              <a:gd name="T0" fmla="*/ 5109 w 5209"/>
              <a:gd name="T1" fmla="*/ 5380 h 6554"/>
              <a:gd name="T2" fmla="*/ 5161 w 5209"/>
              <a:gd name="T3" fmla="*/ 5303 h 6554"/>
              <a:gd name="T4" fmla="*/ 5170 w 5209"/>
              <a:gd name="T5" fmla="*/ 5277 h 6554"/>
              <a:gd name="T6" fmla="*/ 5185 w 5209"/>
              <a:gd name="T7" fmla="*/ 5205 h 6554"/>
              <a:gd name="T8" fmla="*/ 5188 w 5209"/>
              <a:gd name="T9" fmla="*/ 5188 h 6554"/>
              <a:gd name="T10" fmla="*/ 5188 w 5209"/>
              <a:gd name="T11" fmla="*/ 273 h 6554"/>
              <a:gd name="T12" fmla="*/ 4915 w 5209"/>
              <a:gd name="T13" fmla="*/ 0 h 6554"/>
              <a:gd name="T14" fmla="*/ 4096 w 5209"/>
              <a:gd name="T15" fmla="*/ 0 h 6554"/>
              <a:gd name="T16" fmla="*/ 4096 w 5209"/>
              <a:gd name="T17" fmla="*/ 4915 h 6554"/>
              <a:gd name="T18" fmla="*/ 3550 w 5209"/>
              <a:gd name="T19" fmla="*/ 4915 h 6554"/>
              <a:gd name="T20" fmla="*/ 3550 w 5209"/>
              <a:gd name="T21" fmla="*/ 0 h 6554"/>
              <a:gd name="T22" fmla="*/ 687 w 5209"/>
              <a:gd name="T23" fmla="*/ 0 h 6554"/>
              <a:gd name="T24" fmla="*/ 0 w 5209"/>
              <a:gd name="T25" fmla="*/ 687 h 6554"/>
              <a:gd name="T26" fmla="*/ 0 w 5209"/>
              <a:gd name="T27" fmla="*/ 5734 h 6554"/>
              <a:gd name="T28" fmla="*/ 819 w 5209"/>
              <a:gd name="T29" fmla="*/ 6554 h 6554"/>
              <a:gd name="T30" fmla="*/ 4915 w 5209"/>
              <a:gd name="T31" fmla="*/ 6554 h 6554"/>
              <a:gd name="T32" fmla="*/ 5167 w 5209"/>
              <a:gd name="T33" fmla="*/ 6385 h 6554"/>
              <a:gd name="T34" fmla="*/ 5108 w 5209"/>
              <a:gd name="T35" fmla="*/ 6087 h 6554"/>
              <a:gd name="T36" fmla="*/ 5108 w 5209"/>
              <a:gd name="T37" fmla="*/ 5382 h 6554"/>
              <a:gd name="T38" fmla="*/ 5109 w 5209"/>
              <a:gd name="T39" fmla="*/ 5380 h 6554"/>
              <a:gd name="T40" fmla="*/ 1911 w 5209"/>
              <a:gd name="T41" fmla="*/ 2731 h 6554"/>
              <a:gd name="T42" fmla="*/ 3003 w 5209"/>
              <a:gd name="T43" fmla="*/ 2731 h 6554"/>
              <a:gd name="T44" fmla="*/ 3276 w 5209"/>
              <a:gd name="T45" fmla="*/ 3004 h 6554"/>
              <a:gd name="T46" fmla="*/ 3003 w 5209"/>
              <a:gd name="T47" fmla="*/ 3277 h 6554"/>
              <a:gd name="T48" fmla="*/ 1911 w 5209"/>
              <a:gd name="T49" fmla="*/ 3277 h 6554"/>
              <a:gd name="T50" fmla="*/ 1638 w 5209"/>
              <a:gd name="T51" fmla="*/ 3004 h 6554"/>
              <a:gd name="T52" fmla="*/ 1911 w 5209"/>
              <a:gd name="T53" fmla="*/ 2731 h 6554"/>
              <a:gd name="T54" fmla="*/ 1365 w 5209"/>
              <a:gd name="T55" fmla="*/ 3823 h 6554"/>
              <a:gd name="T56" fmla="*/ 3003 w 5209"/>
              <a:gd name="T57" fmla="*/ 3823 h 6554"/>
              <a:gd name="T58" fmla="*/ 3276 w 5209"/>
              <a:gd name="T59" fmla="*/ 4096 h 6554"/>
              <a:gd name="T60" fmla="*/ 3003 w 5209"/>
              <a:gd name="T61" fmla="*/ 4369 h 6554"/>
              <a:gd name="T62" fmla="*/ 1365 w 5209"/>
              <a:gd name="T63" fmla="*/ 4369 h 6554"/>
              <a:gd name="T64" fmla="*/ 1092 w 5209"/>
              <a:gd name="T65" fmla="*/ 4096 h 6554"/>
              <a:gd name="T66" fmla="*/ 1365 w 5209"/>
              <a:gd name="T67" fmla="*/ 3823 h 6554"/>
              <a:gd name="T68" fmla="*/ 4416 w 5209"/>
              <a:gd name="T69" fmla="*/ 6007 h 6554"/>
              <a:gd name="T70" fmla="*/ 819 w 5209"/>
              <a:gd name="T71" fmla="*/ 6007 h 6554"/>
              <a:gd name="T72" fmla="*/ 546 w 5209"/>
              <a:gd name="T73" fmla="*/ 5734 h 6554"/>
              <a:gd name="T74" fmla="*/ 819 w 5209"/>
              <a:gd name="T75" fmla="*/ 5461 h 6554"/>
              <a:gd name="T76" fmla="*/ 3823 w 5209"/>
              <a:gd name="T77" fmla="*/ 5461 h 6554"/>
              <a:gd name="T78" fmla="*/ 4416 w 5209"/>
              <a:gd name="T79" fmla="*/ 5461 h 6554"/>
              <a:gd name="T80" fmla="*/ 4416 w 5209"/>
              <a:gd name="T81" fmla="*/ 6007 h 6554"/>
            </a:gdLst>
            <a:rect l="0" t="0" r="r" b="b"/>
            <a:pathLst>
              <a:path w="5209" h="6554">
                <a:moveTo>
                  <a:pt x="5109" y="5380"/>
                </a:moveTo>
                <a:cubicBezTo>
                  <a:pt x="5131" y="5357"/>
                  <a:pt x="5148" y="5331"/>
                  <a:pt x="5161" y="5303"/>
                </a:cubicBezTo>
                <a:cubicBezTo>
                  <a:pt x="5165" y="5295"/>
                  <a:pt x="5167" y="5286"/>
                  <a:pt x="5170" y="5277"/>
                </a:cubicBezTo>
                <a:cubicBezTo>
                  <a:pt x="5178" y="5254"/>
                  <a:pt x="5183" y="5230"/>
                  <a:pt x="5185" y="5205"/>
                </a:cubicBezTo>
                <a:cubicBezTo>
                  <a:pt x="5185" y="5199"/>
                  <a:pt x="5188" y="5194"/>
                  <a:pt x="5188" y="5188"/>
                </a:cubicBezTo>
                <a:lnTo>
                  <a:pt x="5188" y="273"/>
                </a:lnTo>
                <a:cubicBezTo>
                  <a:pt x="5188" y="122"/>
                  <a:pt x="5066" y="0"/>
                  <a:pt x="4915" y="0"/>
                </a:cubicBezTo>
                <a:lnTo>
                  <a:pt x="4096" y="0"/>
                </a:lnTo>
                <a:lnTo>
                  <a:pt x="4096" y="4915"/>
                </a:lnTo>
                <a:lnTo>
                  <a:pt x="3550" y="4915"/>
                </a:lnTo>
                <a:lnTo>
                  <a:pt x="3550" y="0"/>
                </a:lnTo>
                <a:lnTo>
                  <a:pt x="687" y="0"/>
                </a:lnTo>
                <a:cubicBezTo>
                  <a:pt x="308" y="0"/>
                  <a:pt x="0" y="308"/>
                  <a:pt x="0" y="687"/>
                </a:cubicBezTo>
                <a:lnTo>
                  <a:pt x="0" y="5734"/>
                </a:lnTo>
                <a:cubicBezTo>
                  <a:pt x="0" y="6186"/>
                  <a:pt x="367" y="6554"/>
                  <a:pt x="819" y="6554"/>
                </a:cubicBezTo>
                <a:lnTo>
                  <a:pt x="4915" y="6554"/>
                </a:lnTo>
                <a:cubicBezTo>
                  <a:pt x="5025" y="6554"/>
                  <a:pt x="5125" y="6487"/>
                  <a:pt x="5167" y="6385"/>
                </a:cubicBezTo>
                <a:cubicBezTo>
                  <a:pt x="5209" y="6283"/>
                  <a:pt x="5186" y="6166"/>
                  <a:pt x="5108" y="6087"/>
                </a:cubicBezTo>
                <a:cubicBezTo>
                  <a:pt x="4851" y="5830"/>
                  <a:pt x="4851" y="5639"/>
                  <a:pt x="5108" y="5382"/>
                </a:cubicBezTo>
                <a:cubicBezTo>
                  <a:pt x="5108" y="5381"/>
                  <a:pt x="5108" y="5381"/>
                  <a:pt x="5109" y="5380"/>
                </a:cubicBezTo>
                <a:close/>
                <a:moveTo>
                  <a:pt x="1911" y="2731"/>
                </a:moveTo>
                <a:lnTo>
                  <a:pt x="3003" y="2731"/>
                </a:lnTo>
                <a:cubicBezTo>
                  <a:pt x="3154" y="2731"/>
                  <a:pt x="3276" y="2853"/>
                  <a:pt x="3276" y="3004"/>
                </a:cubicBezTo>
                <a:cubicBezTo>
                  <a:pt x="3276" y="3154"/>
                  <a:pt x="3154" y="3277"/>
                  <a:pt x="3003" y="3277"/>
                </a:cubicBezTo>
                <a:lnTo>
                  <a:pt x="1911" y="3277"/>
                </a:lnTo>
                <a:cubicBezTo>
                  <a:pt x="1760" y="3277"/>
                  <a:pt x="1638" y="3154"/>
                  <a:pt x="1638" y="3004"/>
                </a:cubicBezTo>
                <a:cubicBezTo>
                  <a:pt x="1638" y="2853"/>
                  <a:pt x="1760" y="2731"/>
                  <a:pt x="1911" y="2731"/>
                </a:cubicBezTo>
                <a:close/>
                <a:moveTo>
                  <a:pt x="1365" y="3823"/>
                </a:moveTo>
                <a:lnTo>
                  <a:pt x="3003" y="3823"/>
                </a:lnTo>
                <a:cubicBezTo>
                  <a:pt x="3154" y="3823"/>
                  <a:pt x="3276" y="3945"/>
                  <a:pt x="3276" y="4096"/>
                </a:cubicBezTo>
                <a:cubicBezTo>
                  <a:pt x="3276" y="4247"/>
                  <a:pt x="3154" y="4369"/>
                  <a:pt x="3003" y="4369"/>
                </a:cubicBezTo>
                <a:lnTo>
                  <a:pt x="1365" y="4369"/>
                </a:lnTo>
                <a:cubicBezTo>
                  <a:pt x="1214" y="4369"/>
                  <a:pt x="1092" y="4247"/>
                  <a:pt x="1092" y="4096"/>
                </a:cubicBezTo>
                <a:cubicBezTo>
                  <a:pt x="1092" y="3945"/>
                  <a:pt x="1214" y="3823"/>
                  <a:pt x="1365" y="3823"/>
                </a:cubicBezTo>
                <a:close/>
                <a:moveTo>
                  <a:pt x="4416" y="6007"/>
                </a:moveTo>
                <a:lnTo>
                  <a:pt x="819" y="6007"/>
                </a:lnTo>
                <a:cubicBezTo>
                  <a:pt x="668" y="6007"/>
                  <a:pt x="546" y="5885"/>
                  <a:pt x="546" y="5734"/>
                </a:cubicBezTo>
                <a:cubicBezTo>
                  <a:pt x="546" y="5584"/>
                  <a:pt x="668" y="5461"/>
                  <a:pt x="819" y="5461"/>
                </a:cubicBezTo>
                <a:lnTo>
                  <a:pt x="3823" y="5461"/>
                </a:lnTo>
                <a:lnTo>
                  <a:pt x="4416" y="5461"/>
                </a:lnTo>
                <a:cubicBezTo>
                  <a:pt x="4354" y="5642"/>
                  <a:pt x="4354" y="5826"/>
                  <a:pt x="4416" y="6007"/>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library_226054">
            <a:extLst xmlns:a="http://schemas.openxmlformats.org/drawingml/2006/main">
              <a:ext uri="{FF2B5EF4-FFF2-40B4-BE49-F238E27FC236}">
                <a16:creationId xmlns:a16="http://schemas.microsoft.com/office/drawing/2014/main" id="{42924B9B-0344-2554-798A-42D49E0AF7A3}"/>
              </a:ext>
            </a:extLst>
          </p:cNvPr>
          <p:cNvSpPr>
            <a:spLocks xmlns:a="http://schemas.openxmlformats.org/drawingml/2006/main" noGrp="1"/>
          </p:cNvSpPr>
          <p:nvPr/>
        </p:nvSpPr>
        <p:spPr>
          <a:xfrm xmlns:a="http://schemas.openxmlformats.org/drawingml/2006/main">
            <a:off x="10328535" y="2641666"/>
            <a:ext cx="557182" cy="456427"/>
          </a:xfrm>
          <a:custGeom xmlns:a="http://schemas.openxmlformats.org/drawingml/2006/main">
            <a:gdLst>
              <a:gd name="connsiteX0" fmla="*/ 111388 w 607617"/>
              <a:gd name="connsiteY0" fmla="*/ 366279 h 497742"/>
              <a:gd name="connsiteX1" fmla="*/ 334208 w 607617"/>
              <a:gd name="connsiteY1" fmla="*/ 366279 h 497742"/>
              <a:gd name="connsiteX2" fmla="*/ 344267 w 607617"/>
              <a:gd name="connsiteY2" fmla="*/ 376326 h 497742"/>
              <a:gd name="connsiteX3" fmla="*/ 334208 w 607617"/>
              <a:gd name="connsiteY3" fmla="*/ 386461 h 497742"/>
              <a:gd name="connsiteX4" fmla="*/ 111388 w 607617"/>
              <a:gd name="connsiteY4" fmla="*/ 386461 h 497742"/>
              <a:gd name="connsiteX5" fmla="*/ 101240 w 607617"/>
              <a:gd name="connsiteY5" fmla="*/ 376326 h 497742"/>
              <a:gd name="connsiteX6" fmla="*/ 111388 w 607617"/>
              <a:gd name="connsiteY6" fmla="*/ 366279 h 497742"/>
              <a:gd name="connsiteX7" fmla="*/ 529117 w 607617"/>
              <a:gd name="connsiteY7" fmla="*/ 354573 h 497742"/>
              <a:gd name="connsiteX8" fmla="*/ 450884 w 607617"/>
              <a:gd name="connsiteY8" fmla="*/ 375457 h 497742"/>
              <a:gd name="connsiteX9" fmla="*/ 461387 w 607617"/>
              <a:gd name="connsiteY9" fmla="*/ 414560 h 497742"/>
              <a:gd name="connsiteX10" fmla="*/ 539619 w 607617"/>
              <a:gd name="connsiteY10" fmla="*/ 393587 h 497742"/>
              <a:gd name="connsiteX11" fmla="*/ 58385 w 607617"/>
              <a:gd name="connsiteY11" fmla="*/ 335910 h 497742"/>
              <a:gd name="connsiteX12" fmla="*/ 60877 w 607617"/>
              <a:gd name="connsiteY12" fmla="*/ 340087 h 497742"/>
              <a:gd name="connsiteX13" fmla="*/ 60877 w 607617"/>
              <a:gd name="connsiteY13" fmla="*/ 412694 h 497742"/>
              <a:gd name="connsiteX14" fmla="*/ 58385 w 607617"/>
              <a:gd name="connsiteY14" fmla="*/ 416871 h 497742"/>
              <a:gd name="connsiteX15" fmla="*/ 334203 w 607617"/>
              <a:gd name="connsiteY15" fmla="*/ 416871 h 497742"/>
              <a:gd name="connsiteX16" fmla="*/ 374699 w 607617"/>
              <a:gd name="connsiteY16" fmla="*/ 376346 h 497742"/>
              <a:gd name="connsiteX17" fmla="*/ 334203 w 607617"/>
              <a:gd name="connsiteY17" fmla="*/ 335910 h 497742"/>
              <a:gd name="connsiteX18" fmla="*/ 303764 w 607617"/>
              <a:gd name="connsiteY18" fmla="*/ 335910 h 497742"/>
              <a:gd name="connsiteX19" fmla="*/ 518704 w 607617"/>
              <a:gd name="connsiteY19" fmla="*/ 315470 h 497742"/>
              <a:gd name="connsiteX20" fmla="*/ 440382 w 607617"/>
              <a:gd name="connsiteY20" fmla="*/ 336443 h 497742"/>
              <a:gd name="connsiteX21" fmla="*/ 445633 w 607617"/>
              <a:gd name="connsiteY21" fmla="*/ 355995 h 497742"/>
              <a:gd name="connsiteX22" fmla="*/ 523955 w 607617"/>
              <a:gd name="connsiteY22" fmla="*/ 335021 h 497742"/>
              <a:gd name="connsiteX23" fmla="*/ 80992 w 607617"/>
              <a:gd name="connsiteY23" fmla="*/ 265170 h 497742"/>
              <a:gd name="connsiteX24" fmla="*/ 70846 w 607617"/>
              <a:gd name="connsiteY24" fmla="*/ 275301 h 497742"/>
              <a:gd name="connsiteX25" fmla="*/ 80992 w 607617"/>
              <a:gd name="connsiteY25" fmla="*/ 285343 h 497742"/>
              <a:gd name="connsiteX26" fmla="*/ 303764 w 607617"/>
              <a:gd name="connsiteY26" fmla="*/ 285343 h 497742"/>
              <a:gd name="connsiteX27" fmla="*/ 313910 w 607617"/>
              <a:gd name="connsiteY27" fmla="*/ 275301 h 497742"/>
              <a:gd name="connsiteX28" fmla="*/ 303764 w 607617"/>
              <a:gd name="connsiteY28" fmla="*/ 265170 h 497742"/>
              <a:gd name="connsiteX29" fmla="*/ 384845 w 607617"/>
              <a:gd name="connsiteY29" fmla="*/ 207493 h 497742"/>
              <a:gd name="connsiteX30" fmla="*/ 347553 w 607617"/>
              <a:gd name="connsiteY30" fmla="*/ 233265 h 497742"/>
              <a:gd name="connsiteX31" fmla="*/ 364552 w 607617"/>
              <a:gd name="connsiteY31" fmla="*/ 275301 h 497742"/>
              <a:gd name="connsiteX32" fmla="*/ 347553 w 607617"/>
              <a:gd name="connsiteY32" fmla="*/ 317247 h 497742"/>
              <a:gd name="connsiteX33" fmla="*/ 394902 w 607617"/>
              <a:gd name="connsiteY33" fmla="*/ 376346 h 497742"/>
              <a:gd name="connsiteX34" fmla="*/ 379327 w 607617"/>
              <a:gd name="connsiteY34" fmla="*/ 416871 h 497742"/>
              <a:gd name="connsiteX35" fmla="*/ 441005 w 607617"/>
              <a:gd name="connsiteY35" fmla="*/ 416871 h 497742"/>
              <a:gd name="connsiteX36" fmla="*/ 111388 w 607617"/>
              <a:gd name="connsiteY36" fmla="*/ 164038 h 497742"/>
              <a:gd name="connsiteX37" fmla="*/ 334208 w 607617"/>
              <a:gd name="connsiteY37" fmla="*/ 164038 h 497742"/>
              <a:gd name="connsiteX38" fmla="*/ 344267 w 607617"/>
              <a:gd name="connsiteY38" fmla="*/ 174164 h 497742"/>
              <a:gd name="connsiteX39" fmla="*/ 334208 w 607617"/>
              <a:gd name="connsiteY39" fmla="*/ 184290 h 497742"/>
              <a:gd name="connsiteX40" fmla="*/ 111388 w 607617"/>
              <a:gd name="connsiteY40" fmla="*/ 184290 h 497742"/>
              <a:gd name="connsiteX41" fmla="*/ 101240 w 607617"/>
              <a:gd name="connsiteY41" fmla="*/ 174164 h 497742"/>
              <a:gd name="connsiteX42" fmla="*/ 111388 w 607617"/>
              <a:gd name="connsiteY42" fmla="*/ 164038 h 497742"/>
              <a:gd name="connsiteX43" fmla="*/ 432372 w 607617"/>
              <a:gd name="connsiteY43" fmla="*/ 150171 h 497742"/>
              <a:gd name="connsiteX44" fmla="*/ 425252 w 607617"/>
              <a:gd name="connsiteY44" fmla="*/ 162524 h 497742"/>
              <a:gd name="connsiteX45" fmla="*/ 456670 w 607617"/>
              <a:gd name="connsiteY45" fmla="*/ 279744 h 497742"/>
              <a:gd name="connsiteX46" fmla="*/ 466460 w 607617"/>
              <a:gd name="connsiteY46" fmla="*/ 287209 h 497742"/>
              <a:gd name="connsiteX47" fmla="*/ 469041 w 607617"/>
              <a:gd name="connsiteY47" fmla="*/ 286854 h 497742"/>
              <a:gd name="connsiteX48" fmla="*/ 476250 w 607617"/>
              <a:gd name="connsiteY48" fmla="*/ 274501 h 497742"/>
              <a:gd name="connsiteX49" fmla="*/ 444743 w 607617"/>
              <a:gd name="connsiteY49" fmla="*/ 157281 h 497742"/>
              <a:gd name="connsiteX50" fmla="*/ 432372 w 607617"/>
              <a:gd name="connsiteY50" fmla="*/ 150171 h 497742"/>
              <a:gd name="connsiteX51" fmla="*/ 58385 w 607617"/>
              <a:gd name="connsiteY51" fmla="*/ 133730 h 497742"/>
              <a:gd name="connsiteX52" fmla="*/ 60877 w 607617"/>
              <a:gd name="connsiteY52" fmla="*/ 137818 h 497742"/>
              <a:gd name="connsiteX53" fmla="*/ 60877 w 607617"/>
              <a:gd name="connsiteY53" fmla="*/ 210515 h 497742"/>
              <a:gd name="connsiteX54" fmla="*/ 58385 w 607617"/>
              <a:gd name="connsiteY54" fmla="*/ 214603 h 497742"/>
              <a:gd name="connsiteX55" fmla="*/ 303764 w 607617"/>
              <a:gd name="connsiteY55" fmla="*/ 214603 h 497742"/>
              <a:gd name="connsiteX56" fmla="*/ 334203 w 607617"/>
              <a:gd name="connsiteY56" fmla="*/ 214603 h 497742"/>
              <a:gd name="connsiteX57" fmla="*/ 374699 w 607617"/>
              <a:gd name="connsiteY57" fmla="*/ 174167 h 497742"/>
              <a:gd name="connsiteX58" fmla="*/ 373898 w 607617"/>
              <a:gd name="connsiteY58" fmla="*/ 166791 h 497742"/>
              <a:gd name="connsiteX59" fmla="*/ 372919 w 607617"/>
              <a:gd name="connsiteY59" fmla="*/ 163058 h 497742"/>
              <a:gd name="connsiteX60" fmla="*/ 334203 w 607617"/>
              <a:gd name="connsiteY60" fmla="*/ 133730 h 497742"/>
              <a:gd name="connsiteX61" fmla="*/ 455780 w 607617"/>
              <a:gd name="connsiteY61" fmla="*/ 81119 h 497742"/>
              <a:gd name="connsiteX62" fmla="*/ 377547 w 607617"/>
              <a:gd name="connsiteY62" fmla="*/ 102004 h 497742"/>
              <a:gd name="connsiteX63" fmla="*/ 382798 w 607617"/>
              <a:gd name="connsiteY63" fmla="*/ 121555 h 497742"/>
              <a:gd name="connsiteX64" fmla="*/ 461031 w 607617"/>
              <a:gd name="connsiteY64" fmla="*/ 100582 h 497742"/>
              <a:gd name="connsiteX65" fmla="*/ 440026 w 607617"/>
              <a:gd name="connsiteY65" fmla="*/ 22465 h 497742"/>
              <a:gd name="connsiteX66" fmla="*/ 361793 w 607617"/>
              <a:gd name="connsiteY66" fmla="*/ 43439 h 497742"/>
              <a:gd name="connsiteX67" fmla="*/ 372296 w 607617"/>
              <a:gd name="connsiteY67" fmla="*/ 82453 h 497742"/>
              <a:gd name="connsiteX68" fmla="*/ 450528 w 607617"/>
              <a:gd name="connsiteY68" fmla="*/ 61568 h 497742"/>
              <a:gd name="connsiteX69" fmla="*/ 444565 w 607617"/>
              <a:gd name="connsiteY69" fmla="*/ 337 h 497742"/>
              <a:gd name="connsiteX70" fmla="*/ 457026 w 607617"/>
              <a:gd name="connsiteY70" fmla="*/ 7446 h 497742"/>
              <a:gd name="connsiteX71" fmla="*/ 535614 w 607617"/>
              <a:gd name="connsiteY71" fmla="*/ 300451 h 497742"/>
              <a:gd name="connsiteX72" fmla="*/ 546117 w 607617"/>
              <a:gd name="connsiteY72" fmla="*/ 339554 h 497742"/>
              <a:gd name="connsiteX73" fmla="*/ 561870 w 607617"/>
              <a:gd name="connsiteY73" fmla="*/ 398119 h 497742"/>
              <a:gd name="connsiteX74" fmla="*/ 554661 w 607617"/>
              <a:gd name="connsiteY74" fmla="*/ 410561 h 497742"/>
              <a:gd name="connsiteX75" fmla="*/ 531164 w 607617"/>
              <a:gd name="connsiteY75" fmla="*/ 416871 h 497742"/>
              <a:gd name="connsiteX76" fmla="*/ 597471 w 607617"/>
              <a:gd name="connsiteY76" fmla="*/ 416871 h 497742"/>
              <a:gd name="connsiteX77" fmla="*/ 607617 w 607617"/>
              <a:gd name="connsiteY77" fmla="*/ 426913 h 497742"/>
              <a:gd name="connsiteX78" fmla="*/ 607617 w 607617"/>
              <a:gd name="connsiteY78" fmla="*/ 487611 h 497742"/>
              <a:gd name="connsiteX79" fmla="*/ 597471 w 607617"/>
              <a:gd name="connsiteY79" fmla="*/ 497742 h 497742"/>
              <a:gd name="connsiteX80" fmla="*/ 10146 w 607617"/>
              <a:gd name="connsiteY80" fmla="*/ 497742 h 497742"/>
              <a:gd name="connsiteX81" fmla="*/ 0 w 607617"/>
              <a:gd name="connsiteY81" fmla="*/ 487611 h 497742"/>
              <a:gd name="connsiteX82" fmla="*/ 0 w 607617"/>
              <a:gd name="connsiteY82" fmla="*/ 426913 h 497742"/>
              <a:gd name="connsiteX83" fmla="*/ 10146 w 607617"/>
              <a:gd name="connsiteY83" fmla="*/ 416782 h 497742"/>
              <a:gd name="connsiteX84" fmla="*/ 34800 w 607617"/>
              <a:gd name="connsiteY84" fmla="*/ 416782 h 497742"/>
              <a:gd name="connsiteX85" fmla="*/ 43522 w 607617"/>
              <a:gd name="connsiteY85" fmla="*/ 402296 h 497742"/>
              <a:gd name="connsiteX86" fmla="*/ 43522 w 607617"/>
              <a:gd name="connsiteY86" fmla="*/ 350485 h 497742"/>
              <a:gd name="connsiteX87" fmla="*/ 34800 w 607617"/>
              <a:gd name="connsiteY87" fmla="*/ 335910 h 497742"/>
              <a:gd name="connsiteX88" fmla="*/ 10146 w 607617"/>
              <a:gd name="connsiteY88" fmla="*/ 335910 h 497742"/>
              <a:gd name="connsiteX89" fmla="*/ 1335 w 607617"/>
              <a:gd name="connsiteY89" fmla="*/ 330756 h 497742"/>
              <a:gd name="connsiteX90" fmla="*/ 1424 w 607617"/>
              <a:gd name="connsiteY90" fmla="*/ 320624 h 497742"/>
              <a:gd name="connsiteX91" fmla="*/ 13083 w 607617"/>
              <a:gd name="connsiteY91" fmla="*/ 301162 h 497742"/>
              <a:gd name="connsiteX92" fmla="*/ 13083 w 607617"/>
              <a:gd name="connsiteY92" fmla="*/ 249351 h 497742"/>
              <a:gd name="connsiteX93" fmla="*/ 1424 w 607617"/>
              <a:gd name="connsiteY93" fmla="*/ 229888 h 497742"/>
              <a:gd name="connsiteX94" fmla="*/ 1335 w 607617"/>
              <a:gd name="connsiteY94" fmla="*/ 219757 h 497742"/>
              <a:gd name="connsiteX95" fmla="*/ 10146 w 607617"/>
              <a:gd name="connsiteY95" fmla="*/ 214603 h 497742"/>
              <a:gd name="connsiteX96" fmla="*/ 34800 w 607617"/>
              <a:gd name="connsiteY96" fmla="*/ 214603 h 497742"/>
              <a:gd name="connsiteX97" fmla="*/ 43522 w 607617"/>
              <a:gd name="connsiteY97" fmla="*/ 200028 h 497742"/>
              <a:gd name="connsiteX98" fmla="*/ 43522 w 607617"/>
              <a:gd name="connsiteY98" fmla="*/ 148216 h 497742"/>
              <a:gd name="connsiteX99" fmla="*/ 31863 w 607617"/>
              <a:gd name="connsiteY99" fmla="*/ 128754 h 497742"/>
              <a:gd name="connsiteX100" fmla="*/ 31685 w 607617"/>
              <a:gd name="connsiteY100" fmla="*/ 118623 h 497742"/>
              <a:gd name="connsiteX101" fmla="*/ 40496 w 607617"/>
              <a:gd name="connsiteY101" fmla="*/ 113468 h 497742"/>
              <a:gd name="connsiteX102" fmla="*/ 334203 w 607617"/>
              <a:gd name="connsiteY102" fmla="*/ 113468 h 497742"/>
              <a:gd name="connsiteX103" fmla="*/ 361348 w 607617"/>
              <a:gd name="connsiteY103" fmla="*/ 119956 h 497742"/>
              <a:gd name="connsiteX104" fmla="*/ 355296 w 607617"/>
              <a:gd name="connsiteY104" fmla="*/ 97472 h 497742"/>
              <a:gd name="connsiteX105" fmla="*/ 339632 w 607617"/>
              <a:gd name="connsiteY105" fmla="*/ 38906 h 497742"/>
              <a:gd name="connsiteX106" fmla="*/ 340611 w 607617"/>
              <a:gd name="connsiteY106" fmla="*/ 31175 h 497742"/>
              <a:gd name="connsiteX107" fmla="*/ 346752 w 607617"/>
              <a:gd name="connsiteY107" fmla="*/ 26464 h 497742"/>
            </a:gdLst>
            <a:rect l="l" t="t" r="r" b="b"/>
            <a:pathLst>
              <a:path w="607617" h="497742">
                <a:moveTo>
                  <a:pt x="111388" y="366279"/>
                </a:moveTo>
                <a:lnTo>
                  <a:pt x="334208" y="366279"/>
                </a:lnTo>
                <a:cubicBezTo>
                  <a:pt x="339816" y="366279"/>
                  <a:pt x="344267" y="370814"/>
                  <a:pt x="344267" y="376326"/>
                </a:cubicBezTo>
                <a:cubicBezTo>
                  <a:pt x="344267" y="381927"/>
                  <a:pt x="339816" y="386461"/>
                  <a:pt x="334208" y="386461"/>
                </a:cubicBezTo>
                <a:lnTo>
                  <a:pt x="111388" y="386461"/>
                </a:lnTo>
                <a:cubicBezTo>
                  <a:pt x="105780" y="386461"/>
                  <a:pt x="101240" y="381927"/>
                  <a:pt x="101240" y="376326"/>
                </a:cubicBezTo>
                <a:cubicBezTo>
                  <a:pt x="101240" y="370814"/>
                  <a:pt x="105780" y="366279"/>
                  <a:pt x="111388" y="366279"/>
                </a:cubicBezTo>
                <a:close/>
                <a:moveTo>
                  <a:pt x="529117" y="354573"/>
                </a:moveTo>
                <a:lnTo>
                  <a:pt x="450884" y="375457"/>
                </a:lnTo>
                <a:lnTo>
                  <a:pt x="461387" y="414560"/>
                </a:lnTo>
                <a:lnTo>
                  <a:pt x="539619" y="393587"/>
                </a:lnTo>
                <a:close/>
                <a:moveTo>
                  <a:pt x="58385" y="335910"/>
                </a:moveTo>
                <a:lnTo>
                  <a:pt x="60877" y="340087"/>
                </a:lnTo>
                <a:cubicBezTo>
                  <a:pt x="74317" y="362482"/>
                  <a:pt x="74317" y="390298"/>
                  <a:pt x="60877" y="412694"/>
                </a:cubicBezTo>
                <a:lnTo>
                  <a:pt x="58385" y="416871"/>
                </a:lnTo>
                <a:lnTo>
                  <a:pt x="334203" y="416871"/>
                </a:lnTo>
                <a:cubicBezTo>
                  <a:pt x="356542" y="416871"/>
                  <a:pt x="374699" y="398652"/>
                  <a:pt x="374699" y="376346"/>
                </a:cubicBezTo>
                <a:cubicBezTo>
                  <a:pt x="374699" y="354040"/>
                  <a:pt x="356542" y="335910"/>
                  <a:pt x="334203" y="335910"/>
                </a:cubicBezTo>
                <a:lnTo>
                  <a:pt x="303764" y="335910"/>
                </a:lnTo>
                <a:close/>
                <a:moveTo>
                  <a:pt x="518704" y="315470"/>
                </a:moveTo>
                <a:lnTo>
                  <a:pt x="440382" y="336443"/>
                </a:lnTo>
                <a:lnTo>
                  <a:pt x="445633" y="355995"/>
                </a:lnTo>
                <a:lnTo>
                  <a:pt x="523955" y="335021"/>
                </a:lnTo>
                <a:close/>
                <a:moveTo>
                  <a:pt x="80992" y="265170"/>
                </a:moveTo>
                <a:cubicBezTo>
                  <a:pt x="75385" y="265170"/>
                  <a:pt x="70846" y="269702"/>
                  <a:pt x="70846" y="275301"/>
                </a:cubicBezTo>
                <a:cubicBezTo>
                  <a:pt x="70846" y="280811"/>
                  <a:pt x="75385" y="285343"/>
                  <a:pt x="80992" y="285343"/>
                </a:cubicBezTo>
                <a:lnTo>
                  <a:pt x="303764" y="285343"/>
                </a:lnTo>
                <a:cubicBezTo>
                  <a:pt x="309371" y="285343"/>
                  <a:pt x="313910" y="280811"/>
                  <a:pt x="313910" y="275301"/>
                </a:cubicBezTo>
                <a:cubicBezTo>
                  <a:pt x="313910" y="269702"/>
                  <a:pt x="309371" y="265170"/>
                  <a:pt x="303764" y="265170"/>
                </a:cubicBezTo>
                <a:close/>
                <a:moveTo>
                  <a:pt x="384845" y="207493"/>
                </a:moveTo>
                <a:cubicBezTo>
                  <a:pt x="376390" y="220379"/>
                  <a:pt x="363039" y="229799"/>
                  <a:pt x="347553" y="233265"/>
                </a:cubicBezTo>
                <a:cubicBezTo>
                  <a:pt x="358055" y="244196"/>
                  <a:pt x="364552" y="258949"/>
                  <a:pt x="364552" y="275301"/>
                </a:cubicBezTo>
                <a:cubicBezTo>
                  <a:pt x="364552" y="291564"/>
                  <a:pt x="358055" y="306316"/>
                  <a:pt x="347553" y="317247"/>
                </a:cubicBezTo>
                <a:cubicBezTo>
                  <a:pt x="374610" y="323379"/>
                  <a:pt x="394902" y="347552"/>
                  <a:pt x="394902" y="376346"/>
                </a:cubicBezTo>
                <a:cubicBezTo>
                  <a:pt x="394902" y="391898"/>
                  <a:pt x="389028" y="406117"/>
                  <a:pt x="379327" y="416871"/>
                </a:cubicBezTo>
                <a:lnTo>
                  <a:pt x="441005" y="416871"/>
                </a:lnTo>
                <a:close/>
                <a:moveTo>
                  <a:pt x="111388" y="164038"/>
                </a:moveTo>
                <a:lnTo>
                  <a:pt x="334208" y="164038"/>
                </a:lnTo>
                <a:cubicBezTo>
                  <a:pt x="339816" y="164038"/>
                  <a:pt x="344267" y="168568"/>
                  <a:pt x="344267" y="174164"/>
                </a:cubicBezTo>
                <a:cubicBezTo>
                  <a:pt x="344267" y="179760"/>
                  <a:pt x="339816" y="184290"/>
                  <a:pt x="334208" y="184290"/>
                </a:cubicBezTo>
                <a:lnTo>
                  <a:pt x="111388" y="184290"/>
                </a:lnTo>
                <a:cubicBezTo>
                  <a:pt x="105780" y="184290"/>
                  <a:pt x="101240" y="179760"/>
                  <a:pt x="101240" y="174164"/>
                </a:cubicBezTo>
                <a:cubicBezTo>
                  <a:pt x="101240" y="168568"/>
                  <a:pt x="105780" y="164038"/>
                  <a:pt x="111388" y="164038"/>
                </a:cubicBezTo>
                <a:close/>
                <a:moveTo>
                  <a:pt x="432372" y="150171"/>
                </a:moveTo>
                <a:cubicBezTo>
                  <a:pt x="426943" y="151593"/>
                  <a:pt x="423739" y="157103"/>
                  <a:pt x="425252" y="162524"/>
                </a:cubicBezTo>
                <a:lnTo>
                  <a:pt x="456670" y="279744"/>
                </a:lnTo>
                <a:cubicBezTo>
                  <a:pt x="457827" y="284277"/>
                  <a:pt x="461921" y="287209"/>
                  <a:pt x="466460" y="287209"/>
                </a:cubicBezTo>
                <a:cubicBezTo>
                  <a:pt x="467350" y="287209"/>
                  <a:pt x="468151" y="287120"/>
                  <a:pt x="469041" y="286854"/>
                </a:cubicBezTo>
                <a:cubicBezTo>
                  <a:pt x="474470" y="285432"/>
                  <a:pt x="477674" y="279922"/>
                  <a:pt x="476250" y="274501"/>
                </a:cubicBezTo>
                <a:lnTo>
                  <a:pt x="444743" y="157281"/>
                </a:lnTo>
                <a:cubicBezTo>
                  <a:pt x="443319" y="151860"/>
                  <a:pt x="437801" y="148661"/>
                  <a:pt x="432372" y="150171"/>
                </a:cubicBezTo>
                <a:close/>
                <a:moveTo>
                  <a:pt x="58385" y="133730"/>
                </a:moveTo>
                <a:lnTo>
                  <a:pt x="60877" y="137818"/>
                </a:lnTo>
                <a:cubicBezTo>
                  <a:pt x="74317" y="160214"/>
                  <a:pt x="74317" y="188030"/>
                  <a:pt x="60877" y="210515"/>
                </a:cubicBezTo>
                <a:lnTo>
                  <a:pt x="58385" y="214603"/>
                </a:lnTo>
                <a:lnTo>
                  <a:pt x="303764" y="214603"/>
                </a:lnTo>
                <a:lnTo>
                  <a:pt x="334203" y="214603"/>
                </a:lnTo>
                <a:cubicBezTo>
                  <a:pt x="356542" y="214603"/>
                  <a:pt x="374699" y="196473"/>
                  <a:pt x="374699" y="174167"/>
                </a:cubicBezTo>
                <a:cubicBezTo>
                  <a:pt x="374699" y="171590"/>
                  <a:pt x="374343" y="169190"/>
                  <a:pt x="373898" y="166791"/>
                </a:cubicBezTo>
                <a:lnTo>
                  <a:pt x="372919" y="163058"/>
                </a:lnTo>
                <a:cubicBezTo>
                  <a:pt x="368112" y="146172"/>
                  <a:pt x="352626" y="133730"/>
                  <a:pt x="334203" y="133730"/>
                </a:cubicBezTo>
                <a:close/>
                <a:moveTo>
                  <a:pt x="455780" y="81119"/>
                </a:moveTo>
                <a:lnTo>
                  <a:pt x="377547" y="102004"/>
                </a:lnTo>
                <a:lnTo>
                  <a:pt x="382798" y="121555"/>
                </a:lnTo>
                <a:lnTo>
                  <a:pt x="461031" y="100582"/>
                </a:lnTo>
                <a:close/>
                <a:moveTo>
                  <a:pt x="440026" y="22465"/>
                </a:moveTo>
                <a:lnTo>
                  <a:pt x="361793" y="43439"/>
                </a:lnTo>
                <a:lnTo>
                  <a:pt x="372296" y="82453"/>
                </a:lnTo>
                <a:lnTo>
                  <a:pt x="450528" y="61568"/>
                </a:lnTo>
                <a:close/>
                <a:moveTo>
                  <a:pt x="444565" y="337"/>
                </a:moveTo>
                <a:cubicBezTo>
                  <a:pt x="449994" y="-1085"/>
                  <a:pt x="455602" y="2114"/>
                  <a:pt x="457026" y="7446"/>
                </a:cubicBezTo>
                <a:lnTo>
                  <a:pt x="535614" y="300451"/>
                </a:lnTo>
                <a:lnTo>
                  <a:pt x="546117" y="339554"/>
                </a:lnTo>
                <a:lnTo>
                  <a:pt x="561870" y="398119"/>
                </a:lnTo>
                <a:cubicBezTo>
                  <a:pt x="563294" y="403540"/>
                  <a:pt x="560090" y="409050"/>
                  <a:pt x="554661" y="410561"/>
                </a:cubicBezTo>
                <a:lnTo>
                  <a:pt x="531164" y="416871"/>
                </a:lnTo>
                <a:lnTo>
                  <a:pt x="597471" y="416871"/>
                </a:lnTo>
                <a:cubicBezTo>
                  <a:pt x="603078" y="416871"/>
                  <a:pt x="607617" y="421314"/>
                  <a:pt x="607617" y="426913"/>
                </a:cubicBezTo>
                <a:lnTo>
                  <a:pt x="607617" y="487611"/>
                </a:lnTo>
                <a:cubicBezTo>
                  <a:pt x="607617" y="493210"/>
                  <a:pt x="603078" y="497742"/>
                  <a:pt x="597471" y="497742"/>
                </a:cubicBezTo>
                <a:lnTo>
                  <a:pt x="10146" y="497742"/>
                </a:lnTo>
                <a:cubicBezTo>
                  <a:pt x="4539" y="497742"/>
                  <a:pt x="0" y="493210"/>
                  <a:pt x="0" y="487611"/>
                </a:cubicBezTo>
                <a:lnTo>
                  <a:pt x="0" y="426913"/>
                </a:lnTo>
                <a:cubicBezTo>
                  <a:pt x="0" y="421314"/>
                  <a:pt x="4539" y="416782"/>
                  <a:pt x="10146" y="416782"/>
                </a:cubicBezTo>
                <a:lnTo>
                  <a:pt x="34800" y="416782"/>
                </a:lnTo>
                <a:lnTo>
                  <a:pt x="43522" y="402296"/>
                </a:lnTo>
                <a:cubicBezTo>
                  <a:pt x="53134" y="386299"/>
                  <a:pt x="53134" y="366481"/>
                  <a:pt x="43522" y="350485"/>
                </a:cubicBezTo>
                <a:lnTo>
                  <a:pt x="34800" y="335910"/>
                </a:lnTo>
                <a:lnTo>
                  <a:pt x="10146" y="335910"/>
                </a:lnTo>
                <a:cubicBezTo>
                  <a:pt x="6497" y="335910"/>
                  <a:pt x="3115" y="333955"/>
                  <a:pt x="1335" y="330756"/>
                </a:cubicBezTo>
                <a:cubicBezTo>
                  <a:pt x="-445" y="327645"/>
                  <a:pt x="-445" y="323735"/>
                  <a:pt x="1424" y="320624"/>
                </a:cubicBezTo>
                <a:lnTo>
                  <a:pt x="13083" y="301162"/>
                </a:lnTo>
                <a:cubicBezTo>
                  <a:pt x="22696" y="285165"/>
                  <a:pt x="22696" y="265347"/>
                  <a:pt x="13083" y="249351"/>
                </a:cubicBezTo>
                <a:lnTo>
                  <a:pt x="1424" y="229888"/>
                </a:lnTo>
                <a:cubicBezTo>
                  <a:pt x="-445" y="226778"/>
                  <a:pt x="-445" y="222868"/>
                  <a:pt x="1335" y="219757"/>
                </a:cubicBezTo>
                <a:cubicBezTo>
                  <a:pt x="3115" y="216558"/>
                  <a:pt x="6497" y="214603"/>
                  <a:pt x="10146" y="214603"/>
                </a:cubicBezTo>
                <a:lnTo>
                  <a:pt x="34800" y="214603"/>
                </a:lnTo>
                <a:lnTo>
                  <a:pt x="43522" y="200028"/>
                </a:lnTo>
                <a:cubicBezTo>
                  <a:pt x="53134" y="184120"/>
                  <a:pt x="53134" y="164213"/>
                  <a:pt x="43522" y="148216"/>
                </a:cubicBezTo>
                <a:lnTo>
                  <a:pt x="31863" y="128754"/>
                </a:lnTo>
                <a:cubicBezTo>
                  <a:pt x="29905" y="125643"/>
                  <a:pt x="29905" y="121822"/>
                  <a:pt x="31685" y="118623"/>
                </a:cubicBezTo>
                <a:cubicBezTo>
                  <a:pt x="33465" y="115423"/>
                  <a:pt x="36847" y="113468"/>
                  <a:pt x="40496" y="113468"/>
                </a:cubicBezTo>
                <a:lnTo>
                  <a:pt x="334203" y="113468"/>
                </a:lnTo>
                <a:cubicBezTo>
                  <a:pt x="343993" y="113468"/>
                  <a:pt x="353160" y="115868"/>
                  <a:pt x="361348" y="119956"/>
                </a:cubicBezTo>
                <a:lnTo>
                  <a:pt x="355296" y="97472"/>
                </a:lnTo>
                <a:lnTo>
                  <a:pt x="339632" y="38906"/>
                </a:lnTo>
                <a:cubicBezTo>
                  <a:pt x="338920" y="36240"/>
                  <a:pt x="339276" y="33485"/>
                  <a:pt x="340611" y="31175"/>
                </a:cubicBezTo>
                <a:cubicBezTo>
                  <a:pt x="341946" y="28864"/>
                  <a:pt x="344171" y="27175"/>
                  <a:pt x="346752" y="26464"/>
                </a:cubicBezTo>
                <a:close/>
              </a:path>
            </a:pathLst>
          </a:cu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11" name="图片 10">
            <a:extLst xmlns:a="http://schemas.openxmlformats.org/drawingml/2006/main">
              <a:ext uri="{FF2B5EF4-FFF2-40B4-BE49-F238E27FC236}">
                <a16:creationId xmlns:a16="http://schemas.microsoft.com/office/drawing/2014/main" id="{C2A7CE3C-DC64-4B5D-97A9-DEE462392243}"/>
              </a:ext>
            </a:extLst>
          </p:cNvPr>
          <p:cNvPicPr>
            <a:picLocks xmlns:a="http://schemas.openxmlformats.org/drawingml/2006/main" noChangeAspect="1"/>
          </p:cNvPicPr>
          <p:nvPr/>
        </p:nvPicPr>
        <p:blipFill>
          <a:blip xmlns:r="http://schemas.openxmlformats.org/officeDocument/2006/relationships" xmlns:a="http://schemas.openxmlformats.org/drawingml/2006/main" r:embed="R1682d3594c7e4b1e"/>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6" name="13">
            <a:extLst xmlns:a="http://schemas.openxmlformats.org/drawingml/2006/main">
              <a:ext uri="{FF2B5EF4-FFF2-40B4-BE49-F238E27FC236}">
                <a16:creationId xmlns:a16="http://schemas.microsoft.com/office/drawing/2014/main" id="{AA7880ED-2EF0-41F6-B670-B5050F927773}"/>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13</a:t>
            </a:r>
          </a:p>
        </p:txBody>
      </p:sp>
      <p:sp>
        <p:nvSpPr>
          <p:cNvPr id="27" name="27 new configurations extend the initial 9 configurations. E">
            <a:extLst xmlns:a="http://schemas.openxmlformats.org/drawingml/2006/main">
              <a:ext uri="{FF2B5EF4-FFF2-40B4-BE49-F238E27FC236}">
                <a16:creationId xmlns:a16="http://schemas.microsoft.com/office/drawing/2014/main" id="{E2F7CAE2-B180-4D5B-9278-A4EFEDFC085B}"/>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27 new configurations extend the initial 9 configurations. Every result remains available.</a:t>
            </a:r>
          </a:p>
        </p:txBody>
      </p:sp>
    </p:spTree>
    <p:extLst>
      <p:ext uri="{BB962C8B-B14F-4D97-AF65-F5344CB8AC3E}">
        <p14:creationId xmlns:p14="http://schemas.microsoft.com/office/powerpoint/2010/main" val="421896853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EB04A02D-68DA-48F8-97D5-F630E0D754B9}"/>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Four frozen encoders supply different features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sp>
        <p:nvSpPr>
          <p:cNvPr id="3" name="椭圆 2">
            <a:extLst xmlns:a="http://schemas.openxmlformats.org/drawingml/2006/main">
              <a:ext uri="{FF2B5EF4-FFF2-40B4-BE49-F238E27FC236}">
                <a16:creationId xmlns:a16="http://schemas.microsoft.com/office/drawing/2014/main" id="{A5E5F299-3BC5-8FD9-9638-16B219A9809D}"/>
              </a:ext>
            </a:extLst>
          </p:cNvPr>
          <p:cNvSpPr>
            <a:spLocks xmlns:a="http://schemas.openxmlformats.org/drawingml/2006/main" noGrp="1"/>
          </p:cNvSpPr>
          <p:nvPr/>
        </p:nvSpPr>
        <p:spPr>
          <a:xfrm xmlns:a="http://schemas.openxmlformats.org/drawingml/2006/main" rot="0" flipH="0" flipV="0">
            <a:off x="4949295" y="2976089"/>
            <a:ext cx="2293409" cy="2293409"/>
          </a:xfrm>
          <a:prstGeom xmlns:a="http://schemas.openxmlformats.org/drawingml/2006/main" prst="ellipse">
            <a:avLst/>
          </a:prstGeom>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10" name="椭圆 9">
            <a:extLst xmlns:a="http://schemas.openxmlformats.org/drawingml/2006/main">
              <a:ext uri="{FF2B5EF4-FFF2-40B4-BE49-F238E27FC236}">
                <a16:creationId xmlns:a16="http://schemas.microsoft.com/office/drawing/2014/main" id="{3DEE8CD7-E471-20EA-70D4-B284FBF75E76}"/>
              </a:ext>
            </a:extLst>
          </p:cNvPr>
          <p:cNvSpPr>
            <a:spLocks xmlns:a="http://schemas.openxmlformats.org/drawingml/2006/main" noGrp="1"/>
          </p:cNvSpPr>
          <p:nvPr/>
        </p:nvSpPr>
        <p:spPr>
          <a:xfrm xmlns:a="http://schemas.openxmlformats.org/drawingml/2006/main" rot="0" flipH="0" flipV="0">
            <a:off x="4632803" y="2659598"/>
            <a:ext cx="2926394" cy="2926392"/>
          </a:xfrm>
          <a:prstGeom xmlns:a="http://schemas.openxmlformats.org/drawingml/2006/main" prst="ellipse">
            <a:avLst/>
          </a:prstGeom>
          <a:noFill xmlns:a="http://schemas.openxmlformats.org/drawingml/2006/main"/>
          <a:ln xmlns:a="http://schemas.openxmlformats.org/drawingml/2006/main">
            <a:solidFill>
              <a:schemeClr val="accent1">
                <a:alpha val="55850"/>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12" name="椭圆 11">
            <a:extLst xmlns:a="http://schemas.openxmlformats.org/drawingml/2006/main">
              <a:ext uri="{FF2B5EF4-FFF2-40B4-BE49-F238E27FC236}">
                <a16:creationId xmlns:a16="http://schemas.microsoft.com/office/drawing/2014/main" id="{C2014F45-6FAB-7C8E-029A-8467DC1C127B}"/>
              </a:ext>
            </a:extLst>
          </p:cNvPr>
          <p:cNvSpPr>
            <a:spLocks xmlns:a="http://schemas.openxmlformats.org/drawingml/2006/main" noGrp="1"/>
          </p:cNvSpPr>
          <p:nvPr/>
        </p:nvSpPr>
        <p:spPr>
          <a:xfrm xmlns:a="http://schemas.openxmlformats.org/drawingml/2006/main" rot="0" flipH="0" flipV="0">
            <a:off x="4138958" y="2165753"/>
            <a:ext cx="3914084" cy="3914082"/>
          </a:xfrm>
          <a:prstGeom xmlns:a="http://schemas.openxmlformats.org/drawingml/2006/main" prst="ellipse">
            <a:avLst/>
          </a:prstGeom>
          <a:noFill xmlns:a="http://schemas.openxmlformats.org/drawingml/2006/main"/>
          <a:ln xmlns:a="http://schemas.openxmlformats.org/drawingml/2006/main">
            <a:solidFill>
              <a:schemeClr val="accent1">
                <a:alpha val="27271"/>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15" name="圆角矩形 14">
            <a:extLst xmlns:a="http://schemas.openxmlformats.org/drawingml/2006/main">
              <a:ext uri="{FF2B5EF4-FFF2-40B4-BE49-F238E27FC236}">
                <a16:creationId xmlns:a16="http://schemas.microsoft.com/office/drawing/2014/main" id="{798E5102-D6CE-8072-20B2-2BD3C1D05E0C}"/>
              </a:ext>
            </a:extLst>
          </p:cNvPr>
          <p:cNvSpPr>
            <a:spLocks xmlns:a="http://schemas.openxmlformats.org/drawingml/2006/main" noGrp="1"/>
          </p:cNvSpPr>
          <p:nvPr/>
        </p:nvSpPr>
        <p:spPr>
          <a:xfrm xmlns:a="http://schemas.openxmlformats.org/drawingml/2006/main">
            <a:off x="1256386" y="2482245"/>
            <a:ext cx="3692909" cy="1115124"/>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19050">
            <a:solidFill>
              <a:schemeClr val="accent1">
                <a:alpha val="68395"/>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16" name="圆角矩形 15">
            <a:extLst xmlns:a="http://schemas.openxmlformats.org/drawingml/2006/main">
              <a:ext uri="{FF2B5EF4-FFF2-40B4-BE49-F238E27FC236}">
                <a16:creationId xmlns:a16="http://schemas.microsoft.com/office/drawing/2014/main" id="{3D2DB53E-0FA3-3BB2-4D68-E1D9CFD05F9F}"/>
              </a:ext>
            </a:extLst>
          </p:cNvPr>
          <p:cNvSpPr>
            <a:spLocks xmlns:a="http://schemas.openxmlformats.org/drawingml/2006/main" noGrp="1"/>
          </p:cNvSpPr>
          <p:nvPr/>
        </p:nvSpPr>
        <p:spPr>
          <a:xfrm xmlns:a="http://schemas.openxmlformats.org/drawingml/2006/main">
            <a:off x="7242705" y="2482245"/>
            <a:ext cx="3692909" cy="1115124"/>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19050">
            <a:solidFill>
              <a:schemeClr val="accent1">
                <a:alpha val="68395"/>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17" name="圆角矩形 16">
            <a:extLst xmlns:a="http://schemas.openxmlformats.org/drawingml/2006/main">
              <a:ext uri="{FF2B5EF4-FFF2-40B4-BE49-F238E27FC236}">
                <a16:creationId xmlns:a16="http://schemas.microsoft.com/office/drawing/2014/main" id="{94C8A1F8-6537-9B27-09A5-4ADBCB4580E2}"/>
              </a:ext>
            </a:extLst>
          </p:cNvPr>
          <p:cNvSpPr>
            <a:spLocks xmlns:a="http://schemas.openxmlformats.org/drawingml/2006/main" noGrp="1"/>
          </p:cNvSpPr>
          <p:nvPr/>
        </p:nvSpPr>
        <p:spPr>
          <a:xfrm xmlns:a="http://schemas.openxmlformats.org/drawingml/2006/main">
            <a:off x="1256386" y="4689634"/>
            <a:ext cx="3692909" cy="1115124"/>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19050">
            <a:solidFill>
              <a:schemeClr val="accent1">
                <a:alpha val="68395"/>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18" name="圆角矩形 17">
            <a:extLst xmlns:a="http://schemas.openxmlformats.org/drawingml/2006/main">
              <a:ext uri="{FF2B5EF4-FFF2-40B4-BE49-F238E27FC236}">
                <a16:creationId xmlns:a16="http://schemas.microsoft.com/office/drawing/2014/main" id="{DD7D02BE-0EB9-9B9C-A1A6-A5B8BF47CCC3}"/>
              </a:ext>
            </a:extLst>
          </p:cNvPr>
          <p:cNvSpPr>
            <a:spLocks xmlns:a="http://schemas.openxmlformats.org/drawingml/2006/main" noGrp="1"/>
          </p:cNvSpPr>
          <p:nvPr/>
        </p:nvSpPr>
        <p:spPr>
          <a:xfrm xmlns:a="http://schemas.openxmlformats.org/drawingml/2006/main">
            <a:off x="7242705" y="4689634"/>
            <a:ext cx="3692909" cy="1115124"/>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19050">
            <a:solidFill>
              <a:schemeClr val="accent1">
                <a:alpha val="68395"/>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19" name="文本框 18">
            <a:extLst xmlns:a="http://schemas.openxmlformats.org/drawingml/2006/main">
              <a:ext uri="{FF2B5EF4-FFF2-40B4-BE49-F238E27FC236}">
                <a16:creationId xmlns:a16="http://schemas.microsoft.com/office/drawing/2014/main" id="{B214D64A-6CA4-E570-D4FB-DC323C7EA47C}"/>
              </a:ext>
            </a:extLst>
          </p:cNvPr>
          <p:cNvSpPr>
            <a:spLocks xmlns:a="http://schemas.openxmlformats.org/drawingml/2006/main" noGrp="1"/>
          </p:cNvSpPr>
          <p:nvPr/>
        </p:nvSpPr>
        <p:spPr>
          <a:xfrm xmlns:a="http://schemas.openxmlformats.org/drawingml/2006/main" flipH="1">
            <a:off x="1623705" y="2603149"/>
            <a:ext cx="2969810" cy="72009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DenseNet121</a:t>
            </a:r>
            <a:endParaRPr sz="2400" b="1">
              <a:solidFill>
                <a:schemeClr val="accent1"/>
              </a:solidFill>
              <a:latin typeface="Arial"/>
              <a:ea typeface="Arial"/>
              <a:cs typeface="Arial"/>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1, 4, 18, 1024 features</a:t>
            </a:r>
            <a:endParaRPr sz="2400" b="1">
              <a:solidFill>
                <a:schemeClr val="accent1"/>
              </a:solidFill>
              <a:latin typeface="Arial"/>
              <a:ea typeface="Arial"/>
              <a:cs typeface="Arial"/>
            </a:endParaRPr>
          </a:p>
        </p:txBody>
      </p:sp>
      <p:sp>
        <p:nvSpPr>
          <p:cNvPr id="20" name="文本框 19">
            <a:extLst xmlns:a="http://schemas.openxmlformats.org/drawingml/2006/main">
              <a:ext uri="{FF2B5EF4-FFF2-40B4-BE49-F238E27FC236}">
                <a16:creationId xmlns:a16="http://schemas.microsoft.com/office/drawing/2014/main" id="{09B82D10-B559-C201-41FB-41414D9D6DBD}"/>
              </a:ext>
            </a:extLst>
          </p:cNvPr>
          <p:cNvSpPr>
            <a:spLocks xmlns:a="http://schemas.openxmlformats.org/drawingml/2006/main" noGrp="1"/>
          </p:cNvSpPr>
          <p:nvPr/>
        </p:nvSpPr>
        <p:spPr>
          <a:xfrm xmlns:a="http://schemas.openxmlformats.org/drawingml/2006/main" flipH="1">
            <a:off x="7604254" y="2659598"/>
            <a:ext cx="2969810" cy="72009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BioViL 2022</a:t>
            </a:r>
            <a:endParaRPr sz="2400" b="1">
              <a:solidFill>
                <a:schemeClr val="accent1"/>
              </a:solidFill>
              <a:latin typeface="Arial"/>
              <a:ea typeface="Arial"/>
              <a:cs typeface="Arial"/>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2048 pooled / 128 proj.</a:t>
            </a:r>
            <a:endParaRPr sz="2400" b="1">
              <a:solidFill>
                <a:schemeClr val="accent1"/>
              </a:solidFill>
              <a:latin typeface="Arial"/>
              <a:ea typeface="Arial"/>
              <a:cs typeface="Arial"/>
            </a:endParaRPr>
          </a:p>
        </p:txBody>
      </p:sp>
      <p:sp>
        <p:nvSpPr>
          <p:cNvPr id="21" name="文本框 20">
            <a:extLst xmlns:a="http://schemas.openxmlformats.org/drawingml/2006/main">
              <a:ext uri="{FF2B5EF4-FFF2-40B4-BE49-F238E27FC236}">
                <a16:creationId xmlns:a16="http://schemas.microsoft.com/office/drawing/2014/main" id="{16876D21-6F01-A87F-81E7-9B2367D828D3}"/>
              </a:ext>
            </a:extLst>
          </p:cNvPr>
          <p:cNvSpPr>
            <a:spLocks xmlns:a="http://schemas.openxmlformats.org/drawingml/2006/main" noGrp="1"/>
          </p:cNvSpPr>
          <p:nvPr/>
        </p:nvSpPr>
        <p:spPr>
          <a:xfrm xmlns:a="http://schemas.openxmlformats.org/drawingml/2006/main" flipH="1">
            <a:off x="1623705" y="4854332"/>
            <a:ext cx="2969810" cy="72009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BioViL-T 2023</a:t>
            </a:r>
            <a:endParaRPr sz="2400" b="1">
              <a:solidFill>
                <a:schemeClr val="accent1"/>
              </a:solidFill>
              <a:latin typeface="Arial"/>
              <a:ea typeface="Arial"/>
              <a:cs typeface="Arial"/>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512 pooled / 128 proj.</a:t>
            </a:r>
            <a:endParaRPr sz="2400" b="1">
              <a:solidFill>
                <a:schemeClr val="accent1"/>
              </a:solidFill>
              <a:latin typeface="Arial"/>
              <a:ea typeface="Arial"/>
              <a:cs typeface="Arial"/>
            </a:endParaRPr>
          </a:p>
        </p:txBody>
      </p:sp>
      <p:sp>
        <p:nvSpPr>
          <p:cNvPr id="22" name="文本框 21">
            <a:extLst xmlns:a="http://schemas.openxmlformats.org/drawingml/2006/main">
              <a:ext uri="{FF2B5EF4-FFF2-40B4-BE49-F238E27FC236}">
                <a16:creationId xmlns:a16="http://schemas.microsoft.com/office/drawing/2014/main" id="{D309065C-2DE7-CF7C-DEC9-E75EA210BCE0}"/>
              </a:ext>
            </a:extLst>
          </p:cNvPr>
          <p:cNvSpPr>
            <a:spLocks xmlns:a="http://schemas.openxmlformats.org/drawingml/2006/main" noGrp="1"/>
          </p:cNvSpPr>
          <p:nvPr/>
        </p:nvSpPr>
        <p:spPr>
          <a:xfrm xmlns:a="http://schemas.openxmlformats.org/drawingml/2006/main" flipH="1">
            <a:off x="7604254" y="4854332"/>
            <a:ext cx="2969810" cy="72009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RAD-DINO 2024/25</a:t>
            </a:r>
            <a:endParaRPr sz="2400" b="1">
              <a:solidFill>
                <a:schemeClr val="accent1"/>
              </a:solidFill>
              <a:latin typeface="Arial"/>
              <a:ea typeface="Arial"/>
              <a:cs typeface="Arial"/>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768 CLS features</a:t>
            </a:r>
            <a:endParaRPr sz="2400" b="1">
              <a:solidFill>
                <a:schemeClr val="accent1"/>
              </a:solidFill>
              <a:latin typeface="Arial"/>
              <a:ea typeface="Arial"/>
              <a:cs typeface="Arial"/>
            </a:endParaRPr>
          </a:p>
        </p:txBody>
      </p:sp>
      <p:sp>
        <p:nvSpPr>
          <p:cNvPr id="23" name="文本框 22">
            <a:extLst xmlns:a="http://schemas.openxmlformats.org/drawingml/2006/main">
              <a:ext uri="{FF2B5EF4-FFF2-40B4-BE49-F238E27FC236}">
                <a16:creationId xmlns:a16="http://schemas.microsoft.com/office/drawing/2014/main" id="{3E6F8AD4-93BF-5359-4CA0-3332DDC427B2}"/>
              </a:ext>
            </a:extLst>
          </p:cNvPr>
          <p:cNvSpPr>
            <a:spLocks xmlns:a="http://schemas.openxmlformats.org/drawingml/2006/main" noGrp="1"/>
          </p:cNvSpPr>
          <p:nvPr/>
        </p:nvSpPr>
        <p:spPr>
          <a:xfrm xmlns:a="http://schemas.openxmlformats.org/drawingml/2006/main">
            <a:off x="5214364" y="3645739"/>
            <a:ext cx="1763273"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2550" b="1">
                <a:solidFill>
                  <a:srgbClr val="FFFFFF"/>
                </a:solidFill>
                <a:latin typeface="Arial"/>
                <a:ea typeface="Arial"/>
                <a:cs typeface="Arial"/>
              </a:defRPr>
            </a:defPPr>
            <a:lvl1pPr algn="ctr">
              <a:defRPr sz="2550" b="1">
                <a:solidFill>
                  <a:srgbClr val="FFFFFF"/>
                </a:solidFill>
                <a:latin typeface="Arial"/>
                <a:ea typeface="Arial"/>
                <a:cs typeface="Arial"/>
              </a:defRPr>
            </a:lvl1pPr>
            <a:lvl2pPr algn="ctr">
              <a:defRPr sz="2550" b="1">
                <a:solidFill>
                  <a:srgbClr val="FFFFFF"/>
                </a:solidFill>
                <a:latin typeface="Arial"/>
                <a:ea typeface="Arial"/>
                <a:cs typeface="Arial"/>
              </a:defRPr>
            </a:lvl2pPr>
            <a:lvl3pPr algn="ctr">
              <a:defRPr sz="2550" b="1">
                <a:solidFill>
                  <a:srgbClr val="FFFFFF"/>
                </a:solidFill>
                <a:latin typeface="Arial"/>
                <a:ea typeface="Arial"/>
                <a:cs typeface="Arial"/>
              </a:defRPr>
            </a:lvl3pPr>
            <a:lvl4pPr algn="ctr">
              <a:defRPr sz="2550" b="1">
                <a:solidFill>
                  <a:srgbClr val="FFFFFF"/>
                </a:solidFill>
                <a:latin typeface="Arial"/>
                <a:ea typeface="Arial"/>
                <a:cs typeface="Arial"/>
              </a:defRPr>
            </a:lvl4pPr>
            <a:lvl5pPr algn="ctr">
              <a:defRPr sz="2550" b="1">
                <a:solidFill>
                  <a:srgbClr val="FFFFFF"/>
                </a:solidFill>
                <a:latin typeface="Arial"/>
                <a:ea typeface="Arial"/>
                <a:cs typeface="Arial"/>
              </a:defRPr>
            </a:lvl5pPr>
            <a:lvl6pPr algn="ctr">
              <a:defRPr sz="2550" b="1">
                <a:solidFill>
                  <a:srgbClr val="FFFFFF"/>
                </a:solidFill>
                <a:latin typeface="Arial"/>
                <a:ea typeface="Arial"/>
                <a:cs typeface="Arial"/>
              </a:defRPr>
            </a:lvl6pPr>
            <a:lvl7pPr algn="ctr">
              <a:defRPr sz="2550" b="1">
                <a:solidFill>
                  <a:srgbClr val="FFFFFF"/>
                </a:solidFill>
                <a:latin typeface="Arial"/>
                <a:ea typeface="Arial"/>
                <a:cs typeface="Arial"/>
              </a:defRPr>
            </a:lvl7pPr>
            <a:lvl8pPr algn="ctr">
              <a:defRPr sz="2550" b="1">
                <a:solidFill>
                  <a:srgbClr val="FFFFFF"/>
                </a:solidFill>
                <a:latin typeface="Arial"/>
                <a:ea typeface="Arial"/>
                <a:cs typeface="Arial"/>
              </a:defRPr>
            </a:lvl8pPr>
            <a:lvl9pPr algn="ctr">
              <a:defRPr sz="2550" b="1">
                <a:solidFill>
                  <a:srgbClr val="FFFFFF"/>
                </a:solidFill>
                <a:latin typeface="Arial"/>
                <a:ea typeface="Arial"/>
                <a:cs typeface="Arial"/>
              </a:defRPr>
            </a:lvl9pPr>
          </a:lstStyle>
          <a:p xmlns:a="http://schemas.openxmlformats.org/drawingml/2006/main">
            <a:pPr algn="ctr">
              <a:buNone/>
              <a:defRPr sz="2550" b="1">
                <a:solidFill>
                  <a:srgbClr val="FFFFFF"/>
                </a:solidFill>
                <a:latin typeface="Arial"/>
                <a:ea typeface="Arial"/>
                <a:cs typeface="Arial"/>
              </a:defRPr>
            </a:pPr>
            <a:r>
              <a:rPr sz="2550" b="1">
                <a:solidFill>
                  <a:srgbClr val="FFFFFF"/>
                </a:solidFill>
                <a:latin typeface="Arial"/>
                <a:ea typeface="Arial"/>
                <a:cs typeface="Arial"/>
              </a:rPr>
              <a:t>Frozen</a:t>
            </a:r>
            <a:endParaRPr sz="3200" b="1">
              <a:solidFill>
                <a:schemeClr val="bg1"/>
              </a:solidFill>
              <a:latin typeface="Arial"/>
              <a:ea typeface="Arial"/>
              <a:cs typeface="Arial"/>
            </a:endParaRPr>
          </a:p>
          <a:p xmlns:a="http://schemas.openxmlformats.org/drawingml/2006/main">
            <a:pPr algn="ctr">
              <a:buNone/>
              <a:defRPr sz="2550" b="1">
                <a:solidFill>
                  <a:srgbClr val="FFFFFF"/>
                </a:solidFill>
                <a:latin typeface="Arial"/>
                <a:ea typeface="Arial"/>
                <a:cs typeface="Arial"/>
              </a:defRPr>
            </a:pPr>
            <a:r>
              <a:rPr sz="2550" b="1">
                <a:solidFill>
                  <a:srgbClr val="FFFFFF"/>
                </a:solidFill>
                <a:latin typeface="Arial"/>
                <a:ea typeface="Arial"/>
                <a:cs typeface="Arial"/>
              </a:rPr>
              <a:t>features</a:t>
            </a:r>
            <a:endParaRPr sz="3200" b="1">
              <a:solidFill>
                <a:schemeClr val="bg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7A06D66D-F467-42E3-9B17-514098CB1A05}"/>
              </a:ext>
            </a:extLst>
          </p:cNvPr>
          <p:cNvPicPr>
            <a:picLocks xmlns:a="http://schemas.openxmlformats.org/drawingml/2006/main" noChangeAspect="1"/>
          </p:cNvPicPr>
          <p:nvPr/>
        </p:nvPicPr>
        <p:blipFill>
          <a:blip xmlns:r="http://schemas.openxmlformats.org/officeDocument/2006/relationships" xmlns:a="http://schemas.openxmlformats.org/drawingml/2006/main" r:embed="R6aa769f633f24f49"/>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4" name="14">
            <a:extLst xmlns:a="http://schemas.openxmlformats.org/drawingml/2006/main">
              <a:ext uri="{FF2B5EF4-FFF2-40B4-BE49-F238E27FC236}">
                <a16:creationId xmlns:a16="http://schemas.microsoft.com/office/drawing/2014/main" id="{F3E8ED7F-8024-42E6-9F95-3585C22E754E}"/>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14</a:t>
            </a:r>
          </a:p>
        </p:txBody>
      </p:sp>
      <p:sp>
        <p:nvSpPr>
          <p:cNvPr id="25" name="Feature extraction uses each checkpoint’s native preprocessi">
            <a:extLst xmlns:a="http://schemas.openxmlformats.org/drawingml/2006/main">
              <a:ext uri="{FF2B5EF4-FFF2-40B4-BE49-F238E27FC236}">
                <a16:creationId xmlns:a16="http://schemas.microsoft.com/office/drawing/2014/main" id="{0531804B-9F9D-4BCB-9A24-85B8531AEC75}"/>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Feature extraction uses each checkpoint’s native preprocessing and no severity-label fine-tuning.</a:t>
            </a:r>
          </a:p>
        </p:txBody>
      </p:sp>
    </p:spTree>
    <p:extLst>
      <p:ext uri="{BB962C8B-B14F-4D97-AF65-F5344CB8AC3E}">
        <p14:creationId xmlns:p14="http://schemas.microsoft.com/office/powerpoint/2010/main" val="325879077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27 new configurations cover distinct modeling choices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07489c93d61442a3"/>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1B0E28EA-2DF6-4909-9371-F0B7ECF09AE6}"/>
              </a:ext>
            </a:extLst>
          </p:cNvPr>
          <p:cNvGraphicFramePr/>
          <p:nvPr/>
        </p:nvGraphicFramePr>
        <p:xfrm>
          <a:off xmlns:a="http://schemas.openxmlformats.org/drawingml/2006/main" x="619125" y="2047875"/>
          <a:ext xmlns:a="http://schemas.openxmlformats.org/drawingml/2006/main" cx="10953750" cy="3857625"/>
        </p:xfrm>
        <a:graphic xmlns:a="http://schemas.openxmlformats.org/drawingml/2006/main">
          <a:graphicData uri="http://schemas.openxmlformats.org/drawingml/2006/table">
            <a:tbl>
              <a:tblPr/>
              <a:tblGrid>
                <a:gridCol w="2667000"/>
                <a:gridCol w="3333750"/>
                <a:gridCol w="4953000"/>
              </a:tblGrid>
              <a:tr h="551089">
                <a:tc>
                  <a:txBody>
                    <a:bodyPr wrap="square">
                      <a:noAutofit/>
                    </a:bodyPr>
                    <a:lstStyle/>
                    <a:p>
                      <a:pPr algn="l"/>
                      <a:r>
                        <a:rPr sz="1650" b="1">
                          <a:solidFill>
                            <a:srgbClr val="FFFFFF"/>
                          </a:solidFill>
                          <a:latin typeface="Arial"/>
                          <a:ea typeface="Arial"/>
                          <a:cs typeface="Arial"/>
                        </a:rPr>
                        <a:t>Feature family</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New configurations</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Question tested</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51089">
                <a:tc>
                  <a:txBody>
                    <a:bodyPr wrap="square">
                      <a:noAutofit/>
                    </a:bodyPr>
                    <a:lstStyle/>
                    <a:p>
                      <a:pPr algn="l"/>
                      <a:r>
                        <a:rPr sz="1650" b="0">
                          <a:solidFill>
                            <a:srgbClr val="202832"/>
                          </a:solidFill>
                          <a:latin typeface="Arial"/>
                          <a:ea typeface="Arial"/>
                          <a:cs typeface="Arial"/>
                        </a:rPr>
                        <a:t>OLS references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4 bounded OLS variants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How much comes from score bounds?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51089">
                <a:tc>
                  <a:txBody>
                    <a:bodyPr wrap="square">
                      <a:noAutofit/>
                    </a:bodyPr>
                    <a:lstStyle/>
                    <a:p>
                      <a:pPr algn="l"/>
                      <a:r>
                        <a:rPr sz="1650" b="0">
                          <a:solidFill>
                            <a:srgbClr val="202832"/>
                          </a:solidFill>
                          <a:latin typeface="Arial"/>
                          <a:ea typeface="Arial"/>
                          <a:cs typeface="Arial"/>
                        </a:rPr>
                        <a:t>DenseNet logits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6 robust, kernel and tree variants</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Does a different regression form help?</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51089">
                <a:tc>
                  <a:txBody>
                    <a:bodyPr wrap="square">
                      <a:noAutofit/>
                    </a:bodyPr>
                    <a:lstStyle/>
                    <a:p>
                      <a:pPr algn="l"/>
                      <a:r>
                        <a:rPr sz="1650" b="0">
                          <a:solidFill>
                            <a:srgbClr val="202832"/>
                          </a:solidFill>
                          <a:latin typeface="Arial"/>
                          <a:ea typeface="Arial"/>
                          <a:cs typeface="Arial"/>
                        </a:rPr>
                        <a:t>DenseNet 1024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5 high-dimensional variants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Does preprocessing stabilize the fit?</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51089">
                <a:tc>
                  <a:txBody>
                    <a:bodyPr wrap="square">
                      <a:noAutofit/>
                    </a:bodyPr>
                    <a:lstStyle/>
                    <a:p>
                      <a:pPr algn="l"/>
                      <a:r>
                        <a:rPr sz="1650" b="0">
                          <a:solidFill>
                            <a:srgbClr val="202832"/>
                          </a:solidFill>
                          <a:latin typeface="Arial"/>
                          <a:ea typeface="Arial"/>
                          <a:cs typeface="Arial"/>
                        </a:rPr>
                        <a:t>BioViL</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4 pooled or projected variants</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Do image-report features help?</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51089">
                <a:tc>
                  <a:txBody>
                    <a:bodyPr wrap="square">
                      <a:noAutofit/>
                    </a:bodyPr>
                    <a:lstStyle/>
                    <a:p>
                      <a:pPr algn="l"/>
                      <a:r>
                        <a:rPr sz="1650" b="0">
                          <a:solidFill>
                            <a:srgbClr val="202832"/>
                          </a:solidFill>
                          <a:latin typeface="Arial"/>
                          <a:ea typeface="Arial"/>
                          <a:cs typeface="Arial"/>
                        </a:rPr>
                        <a:t>BioViL-T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4 pooled or projected variants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Does the released feature set transfer?</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51089">
                <a:tc>
                  <a:txBody>
                    <a:bodyPr wrap="square">
                      <a:noAutofit/>
                    </a:bodyPr>
                    <a:lstStyle/>
                    <a:p>
                      <a:pPr algn="l"/>
                      <a:r>
                        <a:rPr sz="1650" b="0">
                          <a:solidFill>
                            <a:srgbClr val="202832"/>
                          </a:solidFill>
                          <a:latin typeface="Arial"/>
                          <a:ea typeface="Arial"/>
                          <a:cs typeface="Arial"/>
                        </a:rPr>
                        <a:t>RAD-DINO</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4 high-dimensional variants</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Do image-only features transfer?</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15">
            <a:extLst xmlns:a="http://schemas.openxmlformats.org/drawingml/2006/main">
              <a:ext uri="{FF2B5EF4-FFF2-40B4-BE49-F238E27FC236}">
                <a16:creationId xmlns:a16="http://schemas.microsoft.com/office/drawing/2014/main" id="{6EAACA5C-D9B5-4B08-904D-AC6E33F7EA19}"/>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15</a:t>
            </a:r>
          </a:p>
        </p:txBody>
      </p:sp>
      <p:sp>
        <p:nvSpPr>
          <p:cNvPr id="17" name="All regressors and parameter grids appear in the appendix. N">
            <a:extLst xmlns:a="http://schemas.openxmlformats.org/drawingml/2006/main">
              <a:ext uri="{FF2B5EF4-FFF2-40B4-BE49-F238E27FC236}">
                <a16:creationId xmlns:a16="http://schemas.microsoft.com/office/drawing/2014/main" id="{81890753-34F8-489A-BFB7-F45FE4DE1D8C}"/>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All regressors and parameter grids appear in the appendix. No unsuccessful configuration is removed.</a:t>
            </a:r>
          </a:p>
        </p:txBody>
      </p:sp>
    </p:spTree>
    <p:extLst>
      <p:ext uri="{BB962C8B-B14F-4D97-AF65-F5344CB8AC3E}">
        <p14:creationId xmlns:p14="http://schemas.microsoft.com/office/powerpoint/2010/main" val="92239753"/>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9581BA13-2676-48FA-846D-DB133F119D95}"/>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Both tuning and family selection stay inside training</a:t>
            </a:r>
            <a:endParaRPr sz="2800" b="1">
              <a:solidFill>
                <a:schemeClr val="accent1"/>
              </a:solidFill>
              <a:latin typeface="Arial"/>
              <a:ea typeface="Arial"/>
              <a:cs typeface="Arial"/>
            </a:endParaRPr>
          </a:p>
        </p:txBody>
      </p:sp>
      <p:sp>
        <p:nvSpPr>
          <p:cNvPr id="2" name="圆角矩形 1">
            <a:extLst xmlns:a="http://schemas.openxmlformats.org/drawingml/2006/main">
              <a:ext uri="{FF2B5EF4-FFF2-40B4-BE49-F238E27FC236}">
                <a16:creationId xmlns:a16="http://schemas.microsoft.com/office/drawing/2014/main" id="{8830FEE1-E432-C1D8-4B42-563258A1A162}"/>
              </a:ext>
            </a:extLst>
          </p:cNvPr>
          <p:cNvSpPr>
            <a:spLocks xmlns:a="http://schemas.openxmlformats.org/drawingml/2006/main" noGrp="1"/>
          </p:cNvSpPr>
          <p:nvPr/>
        </p:nvSpPr>
        <p:spPr>
          <a:xfrm xmlns:a="http://schemas.openxmlformats.org/drawingml/2006/main">
            <a:off x="808383" y="3844646"/>
            <a:ext cx="10575235" cy="226944"/>
          </a:xfrm>
          <a:prstGeom xmlns:a="http://schemas.openxmlformats.org/drawingml/2006/main" prst="roundRect">
            <a:avLst>
              <a:gd name="adj" fmla="val 50000"/>
            </a:avLst>
          </a:prstGeom>
          <a:solidFill xmlns:a="http://schemas.openxmlformats.org/drawingml/2006/main">
            <a:schemeClr val="accent1">
              <a:alpha val="44962"/>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椭圆 2">
            <a:extLst xmlns:a="http://schemas.openxmlformats.org/drawingml/2006/main">
              <a:ext uri="{FF2B5EF4-FFF2-40B4-BE49-F238E27FC236}">
                <a16:creationId xmlns:a16="http://schemas.microsoft.com/office/drawing/2014/main" id="{05525C01-30F0-6414-CAB0-7364782C0171}"/>
              </a:ext>
            </a:extLst>
          </p:cNvPr>
          <p:cNvSpPr>
            <a:spLocks xmlns:a="http://schemas.openxmlformats.org/drawingml/2006/main" noGrp="1"/>
          </p:cNvSpPr>
          <p:nvPr/>
        </p:nvSpPr>
        <p:spPr>
          <a:xfrm xmlns:a="http://schemas.openxmlformats.org/drawingml/2006/main">
            <a:off x="1858616"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椭圆 9">
            <a:extLst xmlns:a="http://schemas.openxmlformats.org/drawingml/2006/main">
              <a:ext uri="{FF2B5EF4-FFF2-40B4-BE49-F238E27FC236}">
                <a16:creationId xmlns:a16="http://schemas.microsoft.com/office/drawing/2014/main" id="{F9A4279F-D117-FCB8-30EB-5DDD7666C79F}"/>
              </a:ext>
            </a:extLst>
          </p:cNvPr>
          <p:cNvSpPr>
            <a:spLocks xmlns:a="http://schemas.openxmlformats.org/drawingml/2006/main" noGrp="1"/>
          </p:cNvSpPr>
          <p:nvPr/>
        </p:nvSpPr>
        <p:spPr>
          <a:xfrm xmlns:a="http://schemas.openxmlformats.org/drawingml/2006/main">
            <a:off x="4350025"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椭圆 11">
            <a:extLst xmlns:a="http://schemas.openxmlformats.org/drawingml/2006/main">
              <a:ext uri="{FF2B5EF4-FFF2-40B4-BE49-F238E27FC236}">
                <a16:creationId xmlns:a16="http://schemas.microsoft.com/office/drawing/2014/main" id="{83CBF3D4-617B-9EC2-9E53-C37F81E616B7}"/>
              </a:ext>
            </a:extLst>
          </p:cNvPr>
          <p:cNvSpPr>
            <a:spLocks xmlns:a="http://schemas.openxmlformats.org/drawingml/2006/main" noGrp="1"/>
          </p:cNvSpPr>
          <p:nvPr/>
        </p:nvSpPr>
        <p:spPr>
          <a:xfrm xmlns:a="http://schemas.openxmlformats.org/drawingml/2006/main">
            <a:off x="6841434"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椭圆 14">
            <a:extLst xmlns:a="http://schemas.openxmlformats.org/drawingml/2006/main">
              <a:ext uri="{FF2B5EF4-FFF2-40B4-BE49-F238E27FC236}">
                <a16:creationId xmlns:a16="http://schemas.microsoft.com/office/drawing/2014/main" id="{BA6F9FC9-6A81-0D3A-64EB-75F5B074FF24}"/>
              </a:ext>
            </a:extLst>
          </p:cNvPr>
          <p:cNvSpPr>
            <a:spLocks xmlns:a="http://schemas.openxmlformats.org/drawingml/2006/main" noGrp="1"/>
          </p:cNvSpPr>
          <p:nvPr/>
        </p:nvSpPr>
        <p:spPr>
          <a:xfrm xmlns:a="http://schemas.openxmlformats.org/drawingml/2006/main">
            <a:off x="9332842" y="3457849"/>
            <a:ext cx="1000542" cy="1000540"/>
          </a:xfrm>
          <a:prstGeom xmlns:a="http://schemas.openxmlformats.org/drawingml/2006/main" prst="ellipse">
            <a:avLst/>
          </a:prstGeom>
          <a:ln xmlns:a="http://schemas.openxmlformats.org/drawingml/2006/main" w="349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文本框 15">
            <a:extLst xmlns:a="http://schemas.openxmlformats.org/drawingml/2006/main">
              <a:ext uri="{FF2B5EF4-FFF2-40B4-BE49-F238E27FC236}">
                <a16:creationId xmlns:a16="http://schemas.microsoft.com/office/drawing/2014/main" id="{BFA78C95-76B2-5AD4-8795-079DC1216108}"/>
              </a:ext>
            </a:extLst>
          </p:cNvPr>
          <p:cNvSpPr>
            <a:spLocks xmlns:a="http://schemas.openxmlformats.org/drawingml/2006/main" noGrp="1"/>
          </p:cNvSpPr>
          <p:nvPr/>
        </p:nvSpPr>
        <p:spPr>
          <a:xfrm xmlns:a="http://schemas.openxmlformats.org/drawingml/2006/main" flipH="1">
            <a:off x="3471242" y="2159368"/>
            <a:ext cx="2758108" cy="103441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Tune parameters</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5 grouped training folds</a:t>
            </a:r>
            <a:endParaRPr sz="2000" b="1">
              <a:solidFill>
                <a:schemeClr val="accent1"/>
              </a:solidFill>
              <a:latin typeface="Microsoft YaHei"/>
              <a:ea typeface="Microsoft YaHei"/>
              <a:cs typeface="Microsoft YaHei"/>
            </a:endParaRPr>
          </a:p>
        </p:txBody>
      </p:sp>
      <p:sp>
        <p:nvSpPr>
          <p:cNvPr id="17" name="文本框 16">
            <a:extLst xmlns:a="http://schemas.openxmlformats.org/drawingml/2006/main">
              <a:ext uri="{FF2B5EF4-FFF2-40B4-BE49-F238E27FC236}">
                <a16:creationId xmlns:a16="http://schemas.microsoft.com/office/drawing/2014/main" id="{99478835-C3F1-0B38-0A22-9B4F044CBB3A}"/>
              </a:ext>
            </a:extLst>
          </p:cNvPr>
          <p:cNvSpPr>
            <a:spLocks xmlns:a="http://schemas.openxmlformats.org/drawingml/2006/main" noGrp="1"/>
          </p:cNvSpPr>
          <p:nvPr/>
        </p:nvSpPr>
        <p:spPr>
          <a:xfrm xmlns:a="http://schemas.openxmlformats.org/drawingml/2006/main" flipH="1">
            <a:off x="8312430" y="2159368"/>
            <a:ext cx="3041370" cy="72009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Evaluate once</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On outer test patients</a:t>
            </a:r>
            <a:endParaRPr sz="2000" b="1">
              <a:solidFill>
                <a:schemeClr val="accent1"/>
              </a:solidFill>
              <a:latin typeface="Microsoft YaHei"/>
              <a:ea typeface="Microsoft YaHei"/>
              <a:cs typeface="Microsoft YaHei"/>
            </a:endParaRPr>
          </a:p>
        </p:txBody>
      </p:sp>
      <p:sp>
        <p:nvSpPr>
          <p:cNvPr id="18" name="文本框 17">
            <a:extLst xmlns:a="http://schemas.openxmlformats.org/drawingml/2006/main">
              <a:ext uri="{FF2B5EF4-FFF2-40B4-BE49-F238E27FC236}">
                <a16:creationId xmlns:a16="http://schemas.microsoft.com/office/drawing/2014/main" id="{7622D6B4-3E5E-8819-5251-411C98C02F68}"/>
              </a:ext>
            </a:extLst>
          </p:cNvPr>
          <p:cNvSpPr>
            <a:spLocks xmlns:a="http://schemas.openxmlformats.org/drawingml/2006/main" noGrp="1"/>
          </p:cNvSpPr>
          <p:nvPr/>
        </p:nvSpPr>
        <p:spPr>
          <a:xfrm xmlns:a="http://schemas.openxmlformats.org/drawingml/2006/main">
            <a:off x="2024722"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01</a:t>
            </a:r>
            <a:endParaRPr sz="2400" b="1">
              <a:solidFill>
                <a:schemeClr val="bg1"/>
              </a:solidFill>
              <a:latin typeface="Arial"/>
              <a:ea typeface="Arial"/>
              <a:cs typeface="Arial"/>
            </a:endParaRPr>
          </a:p>
        </p:txBody>
      </p:sp>
      <p:sp>
        <p:nvSpPr>
          <p:cNvPr id="19" name="文本框 18">
            <a:extLst xmlns:a="http://schemas.openxmlformats.org/drawingml/2006/main">
              <a:ext uri="{FF2B5EF4-FFF2-40B4-BE49-F238E27FC236}">
                <a16:creationId xmlns:a16="http://schemas.microsoft.com/office/drawing/2014/main" id="{B43E284B-64C0-E81D-E911-14BF3A17449A}"/>
              </a:ext>
            </a:extLst>
          </p:cNvPr>
          <p:cNvSpPr>
            <a:spLocks xmlns:a="http://schemas.openxmlformats.org/drawingml/2006/main" noGrp="1"/>
          </p:cNvSpPr>
          <p:nvPr/>
        </p:nvSpPr>
        <p:spPr>
          <a:xfrm xmlns:a="http://schemas.openxmlformats.org/drawingml/2006/main">
            <a:off x="4516131"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02</a:t>
            </a:r>
            <a:endParaRPr sz="2400" b="1">
              <a:solidFill>
                <a:schemeClr val="bg1"/>
              </a:solidFill>
              <a:latin typeface="Arial"/>
              <a:ea typeface="Arial"/>
              <a:cs typeface="Arial"/>
            </a:endParaRPr>
          </a:p>
        </p:txBody>
      </p:sp>
      <p:sp>
        <p:nvSpPr>
          <p:cNvPr id="20" name="文本框 19">
            <a:extLst xmlns:a="http://schemas.openxmlformats.org/drawingml/2006/main">
              <a:ext uri="{FF2B5EF4-FFF2-40B4-BE49-F238E27FC236}">
                <a16:creationId xmlns:a16="http://schemas.microsoft.com/office/drawing/2014/main" id="{D7F7A1A6-2516-5AF3-084C-81C18CA0AC3F}"/>
              </a:ext>
            </a:extLst>
          </p:cNvPr>
          <p:cNvSpPr>
            <a:spLocks xmlns:a="http://schemas.openxmlformats.org/drawingml/2006/main" noGrp="1"/>
          </p:cNvSpPr>
          <p:nvPr/>
        </p:nvSpPr>
        <p:spPr>
          <a:xfrm xmlns:a="http://schemas.openxmlformats.org/drawingml/2006/main">
            <a:off x="7007540"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03</a:t>
            </a:r>
            <a:endParaRPr sz="2400" b="1">
              <a:solidFill>
                <a:schemeClr val="bg1"/>
              </a:solidFill>
              <a:latin typeface="Arial"/>
              <a:ea typeface="Arial"/>
              <a:cs typeface="Arial"/>
            </a:endParaRPr>
          </a:p>
        </p:txBody>
      </p:sp>
      <p:sp>
        <p:nvSpPr>
          <p:cNvPr id="21" name="文本框 20">
            <a:extLst xmlns:a="http://schemas.openxmlformats.org/drawingml/2006/main">
              <a:ext uri="{FF2B5EF4-FFF2-40B4-BE49-F238E27FC236}">
                <a16:creationId xmlns:a16="http://schemas.microsoft.com/office/drawing/2014/main" id="{470DFDD3-4691-AA11-9C19-930F98F4F9EA}"/>
              </a:ext>
            </a:extLst>
          </p:cNvPr>
          <p:cNvSpPr>
            <a:spLocks xmlns:a="http://schemas.openxmlformats.org/drawingml/2006/main" noGrp="1"/>
          </p:cNvSpPr>
          <p:nvPr/>
        </p:nvSpPr>
        <p:spPr>
          <a:xfrm xmlns:a="http://schemas.openxmlformats.org/drawingml/2006/main">
            <a:off x="9498948" y="3727287"/>
            <a:ext cx="668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2400" b="1">
                <a:solidFill>
                  <a:schemeClr val="bg1"/>
                </a:solidFill>
                <a:latin typeface="Arial"/>
                <a:ea typeface="Arial"/>
                <a:cs typeface="Arial"/>
              </a:rPr>
              <a:t>04</a:t>
            </a:r>
            <a:endParaRPr sz="2400" b="1">
              <a:solidFill>
                <a:schemeClr val="bg1"/>
              </a:solidFill>
              <a:latin typeface="Arial"/>
              <a:ea typeface="Arial"/>
              <a:cs typeface="Arial"/>
            </a:endParaRPr>
          </a:p>
        </p:txBody>
      </p:sp>
      <p:sp>
        <p:nvSpPr>
          <p:cNvPr id="22" name="文本框 21">
            <a:extLst xmlns:a="http://schemas.openxmlformats.org/drawingml/2006/main">
              <a:ext uri="{FF2B5EF4-FFF2-40B4-BE49-F238E27FC236}">
                <a16:creationId xmlns:a16="http://schemas.microsoft.com/office/drawing/2014/main" id="{AA71BBCD-67E6-3022-9746-1E9641A9CFA4}"/>
              </a:ext>
            </a:extLst>
          </p:cNvPr>
          <p:cNvSpPr>
            <a:spLocks xmlns:a="http://schemas.openxmlformats.org/drawingml/2006/main" noGrp="1"/>
          </p:cNvSpPr>
          <p:nvPr/>
        </p:nvSpPr>
        <p:spPr>
          <a:xfrm xmlns:a="http://schemas.openxmlformats.org/drawingml/2006/main" flipH="1">
            <a:off x="975692" y="4705026"/>
            <a:ext cx="2758108" cy="72009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Split patients</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50 repeated half splits</a:t>
            </a:r>
            <a:endParaRPr sz="2000" b="1">
              <a:solidFill>
                <a:schemeClr val="accent1"/>
              </a:solidFill>
              <a:latin typeface="Microsoft YaHei"/>
              <a:ea typeface="Microsoft YaHei"/>
              <a:cs typeface="Microsoft YaHei"/>
            </a:endParaRPr>
          </a:p>
        </p:txBody>
      </p:sp>
      <p:sp>
        <p:nvSpPr>
          <p:cNvPr id="23" name="文本框 22">
            <a:extLst xmlns:a="http://schemas.openxmlformats.org/drawingml/2006/main">
              <a:ext uri="{FF2B5EF4-FFF2-40B4-BE49-F238E27FC236}">
                <a16:creationId xmlns:a16="http://schemas.microsoft.com/office/drawing/2014/main" id="{206C3556-0C5E-02B5-9B60-7F2C442553F0}"/>
              </a:ext>
            </a:extLst>
          </p:cNvPr>
          <p:cNvSpPr>
            <a:spLocks xmlns:a="http://schemas.openxmlformats.org/drawingml/2006/main" noGrp="1"/>
          </p:cNvSpPr>
          <p:nvPr/>
        </p:nvSpPr>
        <p:spPr>
          <a:xfrm xmlns:a="http://schemas.openxmlformats.org/drawingml/2006/main" flipH="1">
            <a:off x="5816880" y="4705026"/>
            <a:ext cx="3041370" cy="1034415"/>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75" b="1">
                <a:solidFill>
                  <a:srgbClr val="013D7A"/>
                </a:solidFill>
                <a:latin typeface="Arial"/>
                <a:ea typeface="Arial"/>
                <a:cs typeface="Arial"/>
              </a:defRPr>
            </a:defPPr>
            <a:lvl1pPr algn="ctr">
              <a:defRPr sz="1875" b="1">
                <a:solidFill>
                  <a:srgbClr val="013D7A"/>
                </a:solidFill>
                <a:latin typeface="Arial"/>
                <a:ea typeface="Arial"/>
                <a:cs typeface="Arial"/>
              </a:defRPr>
            </a:lvl1pPr>
            <a:lvl2pPr algn="ctr">
              <a:defRPr sz="1875" b="1">
                <a:solidFill>
                  <a:srgbClr val="013D7A"/>
                </a:solidFill>
                <a:latin typeface="Arial"/>
                <a:ea typeface="Arial"/>
                <a:cs typeface="Arial"/>
              </a:defRPr>
            </a:lvl2pPr>
            <a:lvl3pPr algn="ctr">
              <a:defRPr sz="1875" b="1">
                <a:solidFill>
                  <a:srgbClr val="013D7A"/>
                </a:solidFill>
                <a:latin typeface="Arial"/>
                <a:ea typeface="Arial"/>
                <a:cs typeface="Arial"/>
              </a:defRPr>
            </a:lvl3pPr>
            <a:lvl4pPr algn="ctr">
              <a:defRPr sz="1875" b="1">
                <a:solidFill>
                  <a:srgbClr val="013D7A"/>
                </a:solidFill>
                <a:latin typeface="Arial"/>
                <a:ea typeface="Arial"/>
                <a:cs typeface="Arial"/>
              </a:defRPr>
            </a:lvl4pPr>
            <a:lvl5pPr algn="ctr">
              <a:defRPr sz="1875" b="1">
                <a:solidFill>
                  <a:srgbClr val="013D7A"/>
                </a:solidFill>
                <a:latin typeface="Arial"/>
                <a:ea typeface="Arial"/>
                <a:cs typeface="Arial"/>
              </a:defRPr>
            </a:lvl5pPr>
            <a:lvl6pPr algn="ctr">
              <a:defRPr sz="1875" b="1">
                <a:solidFill>
                  <a:srgbClr val="013D7A"/>
                </a:solidFill>
                <a:latin typeface="Arial"/>
                <a:ea typeface="Arial"/>
                <a:cs typeface="Arial"/>
              </a:defRPr>
            </a:lvl6pPr>
            <a:lvl7pPr algn="ctr">
              <a:defRPr sz="1875" b="1">
                <a:solidFill>
                  <a:srgbClr val="013D7A"/>
                </a:solidFill>
                <a:latin typeface="Arial"/>
                <a:ea typeface="Arial"/>
                <a:cs typeface="Arial"/>
              </a:defRPr>
            </a:lvl7pPr>
            <a:lvl8pPr algn="ctr">
              <a:defRPr sz="1875" b="1">
                <a:solidFill>
                  <a:srgbClr val="013D7A"/>
                </a:solidFill>
                <a:latin typeface="Arial"/>
                <a:ea typeface="Arial"/>
                <a:cs typeface="Arial"/>
              </a:defRPr>
            </a:lvl8pPr>
            <a:lvl9pPr algn="ctr">
              <a:defRPr sz="1875" b="1">
                <a:solidFill>
                  <a:srgbClr val="013D7A"/>
                </a:solidFill>
                <a:latin typeface="Arial"/>
                <a:ea typeface="Arial"/>
                <a:cs typeface="Arial"/>
              </a:defRPr>
            </a:lvl9pPr>
          </a:lstStyle>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Choose a family</a:t>
            </a:r>
            <a:endParaRPr sz="2000" b="1">
              <a:solidFill>
                <a:schemeClr val="accent1"/>
              </a:solidFill>
              <a:latin typeface="Microsoft YaHei"/>
              <a:ea typeface="Microsoft YaHei"/>
              <a:cs typeface="Microsoft YaHei"/>
            </a:endParaRPr>
          </a:p>
          <a:p xmlns:a="http://schemas.openxmlformats.org/drawingml/2006/main">
            <a:pPr algn="ctr">
              <a:lnSpc>
                <a:spcPct val="110000"/>
              </a:lnSpc>
              <a:buNone/>
              <a:defRPr sz="1875" b="1">
                <a:solidFill>
                  <a:srgbClr val="013D7A"/>
                </a:solidFill>
                <a:latin typeface="Arial"/>
                <a:ea typeface="Arial"/>
                <a:cs typeface="Arial"/>
              </a:defRPr>
            </a:pPr>
            <a:r>
              <a:rPr sz="1875" b="1">
                <a:solidFill>
                  <a:srgbClr val="013D7A"/>
                </a:solidFill>
                <a:latin typeface="Arial"/>
                <a:ea typeface="Arial"/>
                <a:cs typeface="Arial"/>
              </a:rPr>
              <a:t>Use inner validation MAE</a:t>
            </a:r>
            <a:endParaRPr sz="2000" b="1">
              <a:solidFill>
                <a:schemeClr val="accent1"/>
              </a:solidFill>
              <a:latin typeface="Microsoft YaHei"/>
              <a:ea typeface="Microsoft YaHei"/>
              <a:cs typeface="Microsoft YaHei"/>
            </a:endParaRPr>
          </a:p>
        </p:txBody>
      </p:sp>
      <p:pic>
        <p:nvPicPr>
          <p:cNvPr id="11" name="图片 10">
            <a:extLst xmlns:a="http://schemas.openxmlformats.org/drawingml/2006/main">
              <a:ext uri="{FF2B5EF4-FFF2-40B4-BE49-F238E27FC236}">
                <a16:creationId xmlns:a16="http://schemas.microsoft.com/office/drawing/2014/main" id="{09EA7A1B-E84C-42F6-8E23-745741076609}"/>
              </a:ext>
            </a:extLst>
          </p:cNvPr>
          <p:cNvPicPr>
            <a:picLocks xmlns:a="http://schemas.openxmlformats.org/drawingml/2006/main" noChangeAspect="1"/>
          </p:cNvPicPr>
          <p:nvPr/>
        </p:nvPicPr>
        <p:blipFill>
          <a:blip xmlns:r="http://schemas.openxmlformats.org/officeDocument/2006/relationships" xmlns:a="http://schemas.openxmlformats.org/drawingml/2006/main" r:embed="R2a2437d9b8cc49d0"/>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4" name="Scaling, variance filtering and PCA are fitted within traini">
            <a:extLst xmlns:a="http://schemas.openxmlformats.org/drawingml/2006/main">
              <a:ext uri="{FF2B5EF4-FFF2-40B4-BE49-F238E27FC236}">
                <a16:creationId xmlns:a16="http://schemas.microsoft.com/office/drawing/2014/main" id="{A069C868-0BD7-4655-87FC-16B83C0DA40D}"/>
              </a:ext>
            </a:extLst>
          </p:cNvPr>
          <p:cNvSpPr>
            <a:spLocks xmlns:a="http://schemas.openxmlformats.org/drawingml/2006/main" noGrp="1"/>
          </p:cNvSpPr>
          <p:nvPr/>
        </p:nvSpPr>
        <p:spPr>
          <a:xfrm xmlns:a="http://schemas.openxmlformats.org/drawingml/2006/main">
            <a:off x="857250" y="6000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0">
                <a:solidFill>
                  <a:srgbClr val="202832"/>
                </a:solidFill>
                <a:latin typeface="Arial"/>
                <a:ea typeface="Arial"/>
                <a:cs typeface="Arial"/>
              </a:defRPr>
            </a:defPPr>
            <a:lvl1pPr algn="ctr">
              <a:defRPr sz="1875" b="0">
                <a:solidFill>
                  <a:srgbClr val="202832"/>
                </a:solidFill>
                <a:latin typeface="Arial"/>
                <a:ea typeface="Arial"/>
                <a:cs typeface="Arial"/>
              </a:defRPr>
            </a:lvl1pPr>
            <a:lvl2pPr algn="ctr">
              <a:defRPr sz="1875" b="0">
                <a:solidFill>
                  <a:srgbClr val="202832"/>
                </a:solidFill>
                <a:latin typeface="Arial"/>
                <a:ea typeface="Arial"/>
                <a:cs typeface="Arial"/>
              </a:defRPr>
            </a:lvl2pPr>
            <a:lvl3pPr algn="ctr">
              <a:defRPr sz="1875" b="0">
                <a:solidFill>
                  <a:srgbClr val="202832"/>
                </a:solidFill>
                <a:latin typeface="Arial"/>
                <a:ea typeface="Arial"/>
                <a:cs typeface="Arial"/>
              </a:defRPr>
            </a:lvl3pPr>
            <a:lvl4pPr algn="ctr">
              <a:defRPr sz="1875" b="0">
                <a:solidFill>
                  <a:srgbClr val="202832"/>
                </a:solidFill>
                <a:latin typeface="Arial"/>
                <a:ea typeface="Arial"/>
                <a:cs typeface="Arial"/>
              </a:defRPr>
            </a:lvl4pPr>
            <a:lvl5pPr algn="ctr">
              <a:defRPr sz="1875" b="0">
                <a:solidFill>
                  <a:srgbClr val="202832"/>
                </a:solidFill>
                <a:latin typeface="Arial"/>
                <a:ea typeface="Arial"/>
                <a:cs typeface="Arial"/>
              </a:defRPr>
            </a:lvl5pPr>
            <a:lvl6pPr algn="ctr">
              <a:defRPr sz="1875" b="0">
                <a:solidFill>
                  <a:srgbClr val="202832"/>
                </a:solidFill>
                <a:latin typeface="Arial"/>
                <a:ea typeface="Arial"/>
                <a:cs typeface="Arial"/>
              </a:defRPr>
            </a:lvl6pPr>
            <a:lvl7pPr algn="ctr">
              <a:defRPr sz="1875" b="0">
                <a:solidFill>
                  <a:srgbClr val="202832"/>
                </a:solidFill>
                <a:latin typeface="Arial"/>
                <a:ea typeface="Arial"/>
                <a:cs typeface="Arial"/>
              </a:defRPr>
            </a:lvl7pPr>
            <a:lvl8pPr algn="ctr">
              <a:defRPr sz="1875" b="0">
                <a:solidFill>
                  <a:srgbClr val="202832"/>
                </a:solidFill>
                <a:latin typeface="Arial"/>
                <a:ea typeface="Arial"/>
                <a:cs typeface="Arial"/>
              </a:defRPr>
            </a:lvl8pPr>
            <a:lvl9pPr algn="ctr">
              <a:defRPr sz="1875" b="0">
                <a:solidFill>
                  <a:srgbClr val="202832"/>
                </a:solidFill>
                <a:latin typeface="Arial"/>
                <a:ea typeface="Arial"/>
                <a:cs typeface="Arial"/>
              </a:defRPr>
            </a:lvl9pPr>
          </a:lstStyle>
          <a:p xmlns:a="http://schemas.openxmlformats.org/drawingml/2006/main">
            <a:pPr algn="ctr">
              <a:defRPr sz="1875" b="0">
                <a:solidFill>
                  <a:srgbClr val="202832"/>
                </a:solidFill>
                <a:latin typeface="Arial"/>
                <a:ea typeface="Arial"/>
                <a:cs typeface="Arial"/>
              </a:defRPr>
            </a:pPr>
            <a:r>
              <a:rPr sz="1875" b="0">
                <a:solidFill>
                  <a:srgbClr val="202832"/>
                </a:solidFill>
                <a:latin typeface="Arial"/>
                <a:ea typeface="Arial"/>
                <a:cs typeface="Arial"/>
              </a:rPr>
              <a:t>Scaling, variance filtering and PCA are fitted within training folds.</a:t>
            </a:r>
          </a:p>
        </p:txBody>
      </p:sp>
      <p:sp>
        <p:nvSpPr>
          <p:cNvPr id="25" name="16">
            <a:extLst xmlns:a="http://schemas.openxmlformats.org/drawingml/2006/main">
              <a:ext uri="{FF2B5EF4-FFF2-40B4-BE49-F238E27FC236}">
                <a16:creationId xmlns:a16="http://schemas.microsoft.com/office/drawing/2014/main" id="{9315CBA5-9711-4350-B506-5B76F72C8839}"/>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16</a:t>
            </a:r>
          </a:p>
        </p:txBody>
      </p:sp>
      <p:sp>
        <p:nvSpPr>
          <p:cNvPr id="26" name="All preprocessing fits within training. Repeated test sets o">
            <a:extLst xmlns:a="http://schemas.openxmlformats.org/drawingml/2006/main">
              <a:ext uri="{FF2B5EF4-FFF2-40B4-BE49-F238E27FC236}">
                <a16:creationId xmlns:a16="http://schemas.microsoft.com/office/drawing/2014/main" id="{4CD08764-81C9-4D01-9FFD-569550CBD151}"/>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All preprocessing fits within training. Repeated test sets overlap, so split SD is descriptive.</a:t>
            </a:r>
          </a:p>
        </p:txBody>
      </p:sp>
    </p:spTree>
    <p:extLst>
      <p:ext uri="{BB962C8B-B14F-4D97-AF65-F5344CB8AC3E}">
        <p14:creationId xmlns:p14="http://schemas.microsoft.com/office/powerpoint/2010/main" val="285548045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BioViL features lower extent error by 31%</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84dfaabb4ada40f3"/>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79115CF3-8F16-4ED2-9FCF-AE8F885B5CEF}"/>
              </a:ext>
            </a:extLst>
          </p:cNvPr>
          <p:cNvGraphicFramePr/>
          <p:nvPr/>
        </p:nvGraphicFramePr>
        <p:xfrm>
          <a:off xmlns:a="http://schemas.openxmlformats.org/drawingml/2006/main" x="619125" y="2047875"/>
          <a:ext xmlns:a="http://schemas.openxmlformats.org/drawingml/2006/main" cx="7191375" cy="3905250"/>
        </p:xfrm>
        <a:graphic xmlns:a="http://schemas.openxmlformats.org/drawingml/2006/main">
          <a:graphicData uri="http://schemas.openxmlformats.org/drawingml/2006/chart">
            <c:chart xmlns:r="http://schemas.openxmlformats.org/officeDocument/2006/relationships" xmlns:c="http://schemas.openxmlformats.org/drawingml/2006/chart" r:id="Rd9d95ee6b96c4c42"/>
          </a:graphicData>
        </a:graphic>
      </p:graphicFrame>
      <p:graphicFrame>
        <p:nvGraphicFramePr>
          <p:cNvPr id="16" name="">
            <a:extLst xmlns:a="http://schemas.openxmlformats.org/drawingml/2006/main">
              <a:ext uri="{FF2B5EF4-FFF2-40B4-BE49-F238E27FC236}">
                <a16:creationId xmlns:a16="http://schemas.microsoft.com/office/drawing/2014/main" id="{A0DFDF8D-6B62-4719-B8E7-7B27319A0F63}"/>
              </a:ext>
            </a:extLst>
          </p:cNvPr>
          <p:cNvGraphicFramePr/>
          <p:nvPr/>
        </p:nvGraphicFramePr>
        <p:xfrm>
          <a:off xmlns:a="http://schemas.openxmlformats.org/drawingml/2006/main" x="8096250" y="2190750"/>
          <a:ext xmlns:a="http://schemas.openxmlformats.org/drawingml/2006/main" cx="3429000" cy="2333625"/>
        </p:xfrm>
        <a:graphic xmlns:a="http://schemas.openxmlformats.org/drawingml/2006/main">
          <a:graphicData uri="http://schemas.openxmlformats.org/drawingml/2006/table">
            <a:tbl>
              <a:tblPr/>
              <a:tblGrid>
                <a:gridCol w="1571625"/>
                <a:gridCol w="1857375"/>
              </a:tblGrid>
              <a:tr h="583406">
                <a:tc>
                  <a:txBody>
                    <a:bodyPr wrap="square">
                      <a:noAutofit/>
                    </a:bodyPr>
                    <a:lstStyle/>
                    <a:p>
                      <a:pPr algn="l"/>
                      <a:r>
                        <a:rPr sz="1425" b="1">
                          <a:solidFill>
                            <a:srgbClr val="FFFFFF"/>
                          </a:solidFill>
                          <a:latin typeface="Arial"/>
                          <a:ea typeface="Arial"/>
                          <a:cs typeface="Arial"/>
                        </a:rPr>
                        <a:t>Method</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Mean ± SD</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83406">
                <a:tc>
                  <a:txBody>
                    <a:bodyPr wrap="square">
                      <a:noAutofit/>
                    </a:bodyPr>
                    <a:lstStyle/>
                    <a:p>
                      <a:pPr algn="l"/>
                      <a:r>
                        <a:rPr sz="1425" b="0">
                          <a:solidFill>
                            <a:srgbClr val="202832"/>
                          </a:solidFill>
                          <a:latin typeface="Arial"/>
                          <a:ea typeface="Arial"/>
                          <a:cs typeface="Arial"/>
                        </a:rPr>
                        <a:t>Bounded OLS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1.107 ± 0.110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83406">
                <a:tc>
                  <a:txBody>
                    <a:bodyPr wrap="square">
                      <a:noAutofit/>
                    </a:bodyPr>
                    <a:lstStyle/>
                    <a:p>
                      <a:pPr algn="l"/>
                      <a:r>
                        <a:rPr sz="1425" b="0">
                          <a:solidFill>
                            <a:srgbClr val="202832"/>
                          </a:solidFill>
                          <a:latin typeface="Arial"/>
                          <a:ea typeface="Arial"/>
                          <a:cs typeface="Arial"/>
                        </a:rPr>
                        <a:t>BioViL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0.763 ± 0.073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83406">
                <a:tc>
                  <a:txBody>
                    <a:bodyPr wrap="square">
                      <a:noAutofit/>
                    </a:bodyPr>
                    <a:lstStyle/>
                    <a:p>
                      <a:pPr algn="l"/>
                      <a:r>
                        <a:rPr sz="1425" b="0">
                          <a:solidFill>
                            <a:srgbClr val="202832"/>
                          </a:solidFill>
                          <a:latin typeface="Arial"/>
                          <a:ea typeface="Arial"/>
                          <a:cs typeface="Arial"/>
                        </a:rPr>
                        <a:t>Modern selector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0.827 ± 0.120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bl>
          </a:graphicData>
        </a:graphic>
      </p:graphicFrame>
      <p:sp>
        <p:nvSpPr>
          <p:cNvPr id="17" name="31.1% lower MAE">
            <a:extLst xmlns:a="http://schemas.openxmlformats.org/drawingml/2006/main">
              <a:ext uri="{FF2B5EF4-FFF2-40B4-BE49-F238E27FC236}">
                <a16:creationId xmlns:a16="http://schemas.microsoft.com/office/drawing/2014/main" id="{F0F5DBD9-2305-4251-AB9E-9CCD4D44EAAD}"/>
              </a:ext>
            </a:extLst>
          </p:cNvPr>
          <p:cNvSpPr>
            <a:spLocks xmlns:a="http://schemas.openxmlformats.org/drawingml/2006/main" noGrp="1"/>
          </p:cNvSpPr>
          <p:nvPr/>
        </p:nvSpPr>
        <p:spPr>
          <a:xfrm xmlns:a="http://schemas.openxmlformats.org/drawingml/2006/main">
            <a:off x="8096250" y="49053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13D7A"/>
                </a:solidFill>
                <a:latin typeface="Arial"/>
                <a:ea typeface="Arial"/>
                <a:cs typeface="Arial"/>
              </a:defRPr>
            </a:defPPr>
            <a:lvl1pPr algn="l">
              <a:defRPr sz="2325" b="1">
                <a:solidFill>
                  <a:srgbClr val="013D7A"/>
                </a:solidFill>
                <a:latin typeface="Arial"/>
                <a:ea typeface="Arial"/>
                <a:cs typeface="Arial"/>
              </a:defRPr>
            </a:lvl1pPr>
            <a:lvl2pPr algn="l">
              <a:defRPr sz="2325" b="1">
                <a:solidFill>
                  <a:srgbClr val="013D7A"/>
                </a:solidFill>
                <a:latin typeface="Arial"/>
                <a:ea typeface="Arial"/>
                <a:cs typeface="Arial"/>
              </a:defRPr>
            </a:lvl2pPr>
            <a:lvl3pPr algn="l">
              <a:defRPr sz="2325" b="1">
                <a:solidFill>
                  <a:srgbClr val="013D7A"/>
                </a:solidFill>
                <a:latin typeface="Arial"/>
                <a:ea typeface="Arial"/>
                <a:cs typeface="Arial"/>
              </a:defRPr>
            </a:lvl3pPr>
            <a:lvl4pPr algn="l">
              <a:defRPr sz="2325" b="1">
                <a:solidFill>
                  <a:srgbClr val="013D7A"/>
                </a:solidFill>
                <a:latin typeface="Arial"/>
                <a:ea typeface="Arial"/>
                <a:cs typeface="Arial"/>
              </a:defRPr>
            </a:lvl4pPr>
            <a:lvl5pPr algn="l">
              <a:defRPr sz="2325" b="1">
                <a:solidFill>
                  <a:srgbClr val="013D7A"/>
                </a:solidFill>
                <a:latin typeface="Arial"/>
                <a:ea typeface="Arial"/>
                <a:cs typeface="Arial"/>
              </a:defRPr>
            </a:lvl5pPr>
            <a:lvl6pPr algn="l">
              <a:defRPr sz="2325" b="1">
                <a:solidFill>
                  <a:srgbClr val="013D7A"/>
                </a:solidFill>
                <a:latin typeface="Arial"/>
                <a:ea typeface="Arial"/>
                <a:cs typeface="Arial"/>
              </a:defRPr>
            </a:lvl6pPr>
            <a:lvl7pPr algn="l">
              <a:defRPr sz="2325" b="1">
                <a:solidFill>
                  <a:srgbClr val="013D7A"/>
                </a:solidFill>
                <a:latin typeface="Arial"/>
                <a:ea typeface="Arial"/>
                <a:cs typeface="Arial"/>
              </a:defRPr>
            </a:lvl7pPr>
            <a:lvl8pPr algn="l">
              <a:defRPr sz="2325" b="1">
                <a:solidFill>
                  <a:srgbClr val="013D7A"/>
                </a:solidFill>
                <a:latin typeface="Arial"/>
                <a:ea typeface="Arial"/>
                <a:cs typeface="Arial"/>
              </a:defRPr>
            </a:lvl8pPr>
            <a:lvl9pPr algn="l">
              <a:defRPr sz="2325" b="1">
                <a:solidFill>
                  <a:srgbClr val="013D7A"/>
                </a:solidFill>
                <a:latin typeface="Arial"/>
                <a:ea typeface="Arial"/>
                <a:cs typeface="Arial"/>
              </a:defRPr>
            </a:lvl9pPr>
          </a:lstStyle>
          <a:p xmlns:a="http://schemas.openxmlformats.org/drawingml/2006/main">
            <a:pPr algn="l">
              <a:defRPr sz="2325" b="1">
                <a:solidFill>
                  <a:srgbClr val="013D7A"/>
                </a:solidFill>
                <a:latin typeface="Arial"/>
                <a:ea typeface="Arial"/>
                <a:cs typeface="Arial"/>
              </a:defRPr>
            </a:pPr>
            <a:r>
              <a:rPr sz="2325" b="1">
                <a:solidFill>
                  <a:srgbClr val="013D7A"/>
                </a:solidFill>
                <a:latin typeface="Arial"/>
                <a:ea typeface="Arial"/>
                <a:cs typeface="Arial"/>
              </a:rPr>
              <a:t>31.1% lower MAE</a:t>
            </a:r>
          </a:p>
        </p:txBody>
      </p:sp>
      <p:sp>
        <p:nvSpPr>
          <p:cNvPr id="18" name="Versus the same score bounds">
            <a:extLst xmlns:a="http://schemas.openxmlformats.org/drawingml/2006/main">
              <a:ext uri="{FF2B5EF4-FFF2-40B4-BE49-F238E27FC236}">
                <a16:creationId xmlns:a16="http://schemas.microsoft.com/office/drawing/2014/main" id="{4225ACE0-9949-41FA-A053-64C69676655C}"/>
              </a:ext>
            </a:extLst>
          </p:cNvPr>
          <p:cNvSpPr>
            <a:spLocks xmlns:a="http://schemas.openxmlformats.org/drawingml/2006/main" noGrp="1"/>
          </p:cNvSpPr>
          <p:nvPr/>
        </p:nvSpPr>
        <p:spPr>
          <a:xfrm xmlns:a="http://schemas.openxmlformats.org/drawingml/2006/main">
            <a:off x="8096250" y="5476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9636E"/>
                </a:solidFill>
                <a:latin typeface="Arial"/>
                <a:ea typeface="Arial"/>
                <a:cs typeface="Arial"/>
              </a:defRPr>
            </a:defPPr>
            <a:lvl1pPr algn="l">
              <a:defRPr sz="1650" b="0">
                <a:solidFill>
                  <a:srgbClr val="59636E"/>
                </a:solidFill>
                <a:latin typeface="Arial"/>
                <a:ea typeface="Arial"/>
                <a:cs typeface="Arial"/>
              </a:defRPr>
            </a:lvl1pPr>
            <a:lvl2pPr algn="l">
              <a:defRPr sz="1650" b="0">
                <a:solidFill>
                  <a:srgbClr val="59636E"/>
                </a:solidFill>
                <a:latin typeface="Arial"/>
                <a:ea typeface="Arial"/>
                <a:cs typeface="Arial"/>
              </a:defRPr>
            </a:lvl2pPr>
            <a:lvl3pPr algn="l">
              <a:defRPr sz="1650" b="0">
                <a:solidFill>
                  <a:srgbClr val="59636E"/>
                </a:solidFill>
                <a:latin typeface="Arial"/>
                <a:ea typeface="Arial"/>
                <a:cs typeface="Arial"/>
              </a:defRPr>
            </a:lvl3pPr>
            <a:lvl4pPr algn="l">
              <a:defRPr sz="1650" b="0">
                <a:solidFill>
                  <a:srgbClr val="59636E"/>
                </a:solidFill>
                <a:latin typeface="Arial"/>
                <a:ea typeface="Arial"/>
                <a:cs typeface="Arial"/>
              </a:defRPr>
            </a:lvl4pPr>
            <a:lvl5pPr algn="l">
              <a:defRPr sz="1650" b="0">
                <a:solidFill>
                  <a:srgbClr val="59636E"/>
                </a:solidFill>
                <a:latin typeface="Arial"/>
                <a:ea typeface="Arial"/>
                <a:cs typeface="Arial"/>
              </a:defRPr>
            </a:lvl5pPr>
            <a:lvl6pPr algn="l">
              <a:defRPr sz="1650" b="0">
                <a:solidFill>
                  <a:srgbClr val="59636E"/>
                </a:solidFill>
                <a:latin typeface="Arial"/>
                <a:ea typeface="Arial"/>
                <a:cs typeface="Arial"/>
              </a:defRPr>
            </a:lvl6pPr>
            <a:lvl7pPr algn="l">
              <a:defRPr sz="1650" b="0">
                <a:solidFill>
                  <a:srgbClr val="59636E"/>
                </a:solidFill>
                <a:latin typeface="Arial"/>
                <a:ea typeface="Arial"/>
                <a:cs typeface="Arial"/>
              </a:defRPr>
            </a:lvl7pPr>
            <a:lvl8pPr algn="l">
              <a:defRPr sz="1650" b="0">
                <a:solidFill>
                  <a:srgbClr val="59636E"/>
                </a:solidFill>
                <a:latin typeface="Arial"/>
                <a:ea typeface="Arial"/>
                <a:cs typeface="Arial"/>
              </a:defRPr>
            </a:lvl8pPr>
            <a:lvl9pPr algn="l">
              <a:defRPr sz="1650" b="0">
                <a:solidFill>
                  <a:srgbClr val="59636E"/>
                </a:solidFill>
                <a:latin typeface="Arial"/>
                <a:ea typeface="Arial"/>
                <a:cs typeface="Arial"/>
              </a:defRPr>
            </a:lvl9pPr>
          </a:lstStyle>
          <a:p xmlns:a="http://schemas.openxmlformats.org/drawingml/2006/main">
            <a:pPr algn="l">
              <a:defRPr sz="1650" b="0">
                <a:solidFill>
                  <a:srgbClr val="59636E"/>
                </a:solidFill>
                <a:latin typeface="Arial"/>
                <a:ea typeface="Arial"/>
                <a:cs typeface="Arial"/>
              </a:defRPr>
            </a:pPr>
            <a:r>
              <a:rPr sz="1650" b="0">
                <a:solidFill>
                  <a:srgbClr val="59636E"/>
                </a:solidFill>
                <a:latin typeface="Arial"/>
                <a:ea typeface="Arial"/>
                <a:cs typeface="Arial"/>
              </a:rPr>
              <a:t>Versus the same score bounds</a:t>
            </a:r>
          </a:p>
        </p:txBody>
      </p:sp>
      <p:sp>
        <p:nvSpPr>
          <p:cNvPr id="19" name="17">
            <a:extLst xmlns:a="http://schemas.openxmlformats.org/drawingml/2006/main">
              <a:ext uri="{FF2B5EF4-FFF2-40B4-BE49-F238E27FC236}">
                <a16:creationId xmlns:a16="http://schemas.microsoft.com/office/drawing/2014/main" id="{F27CA712-AF38-4299-A180-8B5D7DF3F25B}"/>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17</a:t>
            </a:r>
          </a:p>
        </p:txBody>
      </p:sp>
      <p:sp>
        <p:nvSpPr>
          <p:cNvPr id="20" name="50 matched patient splits. Bars show mean MAE. Table SD desc">
            <a:extLst xmlns:a="http://schemas.openxmlformats.org/drawingml/2006/main">
              <a:ext uri="{FF2B5EF4-FFF2-40B4-BE49-F238E27FC236}">
                <a16:creationId xmlns:a16="http://schemas.microsoft.com/office/drawing/2014/main" id="{2F91CCE3-720D-4732-9674-5BC3A69192FD}"/>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50 matched patient splits. Bars show mean MAE. Table SD describes overlapping splits.</a:t>
            </a:r>
          </a:p>
        </p:txBody>
      </p:sp>
    </p:spTree>
    <p:extLst>
      <p:ext uri="{BB962C8B-B14F-4D97-AF65-F5344CB8AC3E}">
        <p14:creationId xmlns:p14="http://schemas.microsoft.com/office/powerpoint/2010/main" val="9223975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BioViL-T features lower opacity error by 11%</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7d557dd7262b44b6"/>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C8A8E587-C0DE-48F3-ABA7-1E4188D3A0F4}"/>
              </a:ext>
            </a:extLst>
          </p:cNvPr>
          <p:cNvGraphicFramePr/>
          <p:nvPr/>
        </p:nvGraphicFramePr>
        <p:xfrm>
          <a:off xmlns:a="http://schemas.openxmlformats.org/drawingml/2006/main" x="619125" y="2047875"/>
          <a:ext xmlns:a="http://schemas.openxmlformats.org/drawingml/2006/main" cx="7191375" cy="3905250"/>
        </p:xfrm>
        <a:graphic xmlns:a="http://schemas.openxmlformats.org/drawingml/2006/main">
          <a:graphicData uri="http://schemas.openxmlformats.org/drawingml/2006/chart">
            <c:chart xmlns:r="http://schemas.openxmlformats.org/officeDocument/2006/relationships" xmlns:c="http://schemas.openxmlformats.org/drawingml/2006/chart" r:id="Rb9336f2fbf8a4a90"/>
          </a:graphicData>
        </a:graphic>
      </p:graphicFrame>
      <p:graphicFrame>
        <p:nvGraphicFramePr>
          <p:cNvPr id="16" name="">
            <a:extLst xmlns:a="http://schemas.openxmlformats.org/drawingml/2006/main">
              <a:ext uri="{FF2B5EF4-FFF2-40B4-BE49-F238E27FC236}">
                <a16:creationId xmlns:a16="http://schemas.microsoft.com/office/drawing/2014/main" id="{0CC01AB8-CE61-4424-9EC9-04FAEBFE3BF0}"/>
              </a:ext>
            </a:extLst>
          </p:cNvPr>
          <p:cNvGraphicFramePr/>
          <p:nvPr/>
        </p:nvGraphicFramePr>
        <p:xfrm>
          <a:off xmlns:a="http://schemas.openxmlformats.org/drawingml/2006/main" x="8096250" y="2190750"/>
          <a:ext xmlns:a="http://schemas.openxmlformats.org/drawingml/2006/main" cx="3429000" cy="2333625"/>
        </p:xfrm>
        <a:graphic xmlns:a="http://schemas.openxmlformats.org/drawingml/2006/main">
          <a:graphicData uri="http://schemas.openxmlformats.org/drawingml/2006/table">
            <a:tbl>
              <a:tblPr/>
              <a:tblGrid>
                <a:gridCol w="1571625"/>
                <a:gridCol w="1857375"/>
              </a:tblGrid>
              <a:tr h="583406">
                <a:tc>
                  <a:txBody>
                    <a:bodyPr wrap="square">
                      <a:noAutofit/>
                    </a:bodyPr>
                    <a:lstStyle/>
                    <a:p>
                      <a:pPr algn="l"/>
                      <a:r>
                        <a:rPr sz="1425" b="1">
                          <a:solidFill>
                            <a:srgbClr val="FFFFFF"/>
                          </a:solidFill>
                          <a:latin typeface="Arial"/>
                          <a:ea typeface="Arial"/>
                          <a:cs typeface="Arial"/>
                        </a:rPr>
                        <a:t>Method</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Mean ± SD</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83406">
                <a:tc>
                  <a:txBody>
                    <a:bodyPr wrap="square">
                      <a:noAutofit/>
                    </a:bodyPr>
                    <a:lstStyle/>
                    <a:p>
                      <a:pPr algn="l"/>
                      <a:r>
                        <a:rPr sz="1425" b="0">
                          <a:solidFill>
                            <a:srgbClr val="202832"/>
                          </a:solidFill>
                          <a:latin typeface="Arial"/>
                          <a:ea typeface="Arial"/>
                          <a:cs typeface="Arial"/>
                        </a:rPr>
                        <a:t>Bounded OLS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0.745 ± 0.072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83406">
                <a:tc>
                  <a:txBody>
                    <a:bodyPr wrap="square">
                      <a:noAutofit/>
                    </a:bodyPr>
                    <a:lstStyle/>
                    <a:p>
                      <a:pPr algn="l"/>
                      <a:r>
                        <a:rPr sz="1425" b="0">
                          <a:solidFill>
                            <a:srgbClr val="202832"/>
                          </a:solidFill>
                          <a:latin typeface="Arial"/>
                          <a:ea typeface="Arial"/>
                          <a:cs typeface="Arial"/>
                        </a:rPr>
                        <a:t>BioViL-T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0.662 ± 0.058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83406">
                <a:tc>
                  <a:txBody>
                    <a:bodyPr wrap="square">
                      <a:noAutofit/>
                    </a:bodyPr>
                    <a:lstStyle/>
                    <a:p>
                      <a:pPr algn="l"/>
                      <a:r>
                        <a:rPr sz="1425" b="0">
                          <a:solidFill>
                            <a:srgbClr val="202832"/>
                          </a:solidFill>
                          <a:latin typeface="Arial"/>
                          <a:ea typeface="Arial"/>
                          <a:cs typeface="Arial"/>
                        </a:rPr>
                        <a:t>Modern selector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0.701 ± 0.080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bl>
          </a:graphicData>
        </a:graphic>
      </p:graphicFrame>
      <p:sp>
        <p:nvSpPr>
          <p:cNvPr id="17" name="11.2% lower MAE">
            <a:extLst xmlns:a="http://schemas.openxmlformats.org/drawingml/2006/main">
              <a:ext uri="{FF2B5EF4-FFF2-40B4-BE49-F238E27FC236}">
                <a16:creationId xmlns:a16="http://schemas.microsoft.com/office/drawing/2014/main" id="{3754E990-1E07-40ED-AD00-C968132756A9}"/>
              </a:ext>
            </a:extLst>
          </p:cNvPr>
          <p:cNvSpPr>
            <a:spLocks xmlns:a="http://schemas.openxmlformats.org/drawingml/2006/main" noGrp="1"/>
          </p:cNvSpPr>
          <p:nvPr/>
        </p:nvSpPr>
        <p:spPr>
          <a:xfrm xmlns:a="http://schemas.openxmlformats.org/drawingml/2006/main">
            <a:off x="8096250" y="49053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325" b="1">
                <a:solidFill>
                  <a:srgbClr val="013D7A"/>
                </a:solidFill>
                <a:latin typeface="Arial"/>
                <a:ea typeface="Arial"/>
                <a:cs typeface="Arial"/>
              </a:defRPr>
            </a:defPPr>
            <a:lvl1pPr algn="l">
              <a:defRPr sz="2325" b="1">
                <a:solidFill>
                  <a:srgbClr val="013D7A"/>
                </a:solidFill>
                <a:latin typeface="Arial"/>
                <a:ea typeface="Arial"/>
                <a:cs typeface="Arial"/>
              </a:defRPr>
            </a:lvl1pPr>
            <a:lvl2pPr algn="l">
              <a:defRPr sz="2325" b="1">
                <a:solidFill>
                  <a:srgbClr val="013D7A"/>
                </a:solidFill>
                <a:latin typeface="Arial"/>
                <a:ea typeface="Arial"/>
                <a:cs typeface="Arial"/>
              </a:defRPr>
            </a:lvl2pPr>
            <a:lvl3pPr algn="l">
              <a:defRPr sz="2325" b="1">
                <a:solidFill>
                  <a:srgbClr val="013D7A"/>
                </a:solidFill>
                <a:latin typeface="Arial"/>
                <a:ea typeface="Arial"/>
                <a:cs typeface="Arial"/>
              </a:defRPr>
            </a:lvl3pPr>
            <a:lvl4pPr algn="l">
              <a:defRPr sz="2325" b="1">
                <a:solidFill>
                  <a:srgbClr val="013D7A"/>
                </a:solidFill>
                <a:latin typeface="Arial"/>
                <a:ea typeface="Arial"/>
                <a:cs typeface="Arial"/>
              </a:defRPr>
            </a:lvl4pPr>
            <a:lvl5pPr algn="l">
              <a:defRPr sz="2325" b="1">
                <a:solidFill>
                  <a:srgbClr val="013D7A"/>
                </a:solidFill>
                <a:latin typeface="Arial"/>
                <a:ea typeface="Arial"/>
                <a:cs typeface="Arial"/>
              </a:defRPr>
            </a:lvl5pPr>
            <a:lvl6pPr algn="l">
              <a:defRPr sz="2325" b="1">
                <a:solidFill>
                  <a:srgbClr val="013D7A"/>
                </a:solidFill>
                <a:latin typeface="Arial"/>
                <a:ea typeface="Arial"/>
                <a:cs typeface="Arial"/>
              </a:defRPr>
            </a:lvl6pPr>
            <a:lvl7pPr algn="l">
              <a:defRPr sz="2325" b="1">
                <a:solidFill>
                  <a:srgbClr val="013D7A"/>
                </a:solidFill>
                <a:latin typeface="Arial"/>
                <a:ea typeface="Arial"/>
                <a:cs typeface="Arial"/>
              </a:defRPr>
            </a:lvl7pPr>
            <a:lvl8pPr algn="l">
              <a:defRPr sz="2325" b="1">
                <a:solidFill>
                  <a:srgbClr val="013D7A"/>
                </a:solidFill>
                <a:latin typeface="Arial"/>
                <a:ea typeface="Arial"/>
                <a:cs typeface="Arial"/>
              </a:defRPr>
            </a:lvl8pPr>
            <a:lvl9pPr algn="l">
              <a:defRPr sz="2325" b="1">
                <a:solidFill>
                  <a:srgbClr val="013D7A"/>
                </a:solidFill>
                <a:latin typeface="Arial"/>
                <a:ea typeface="Arial"/>
                <a:cs typeface="Arial"/>
              </a:defRPr>
            </a:lvl9pPr>
          </a:lstStyle>
          <a:p xmlns:a="http://schemas.openxmlformats.org/drawingml/2006/main">
            <a:pPr algn="l">
              <a:defRPr sz="2325" b="1">
                <a:solidFill>
                  <a:srgbClr val="013D7A"/>
                </a:solidFill>
                <a:latin typeface="Arial"/>
                <a:ea typeface="Arial"/>
                <a:cs typeface="Arial"/>
              </a:defRPr>
            </a:pPr>
            <a:r>
              <a:rPr sz="2325" b="1">
                <a:solidFill>
                  <a:srgbClr val="013D7A"/>
                </a:solidFill>
                <a:latin typeface="Arial"/>
                <a:ea typeface="Arial"/>
                <a:cs typeface="Arial"/>
              </a:rPr>
              <a:t>11.2% lower MAE</a:t>
            </a:r>
          </a:p>
        </p:txBody>
      </p:sp>
      <p:sp>
        <p:nvSpPr>
          <p:cNvPr id="18" name="Versus the same score bounds">
            <a:extLst xmlns:a="http://schemas.openxmlformats.org/drawingml/2006/main">
              <a:ext uri="{FF2B5EF4-FFF2-40B4-BE49-F238E27FC236}">
                <a16:creationId xmlns:a16="http://schemas.microsoft.com/office/drawing/2014/main" id="{6F55D037-AB9F-41A6-91EE-548A0F4C4701}"/>
              </a:ext>
            </a:extLst>
          </p:cNvPr>
          <p:cNvSpPr>
            <a:spLocks xmlns:a="http://schemas.openxmlformats.org/drawingml/2006/main" noGrp="1"/>
          </p:cNvSpPr>
          <p:nvPr/>
        </p:nvSpPr>
        <p:spPr>
          <a:xfrm xmlns:a="http://schemas.openxmlformats.org/drawingml/2006/main">
            <a:off x="8096250" y="54768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59636E"/>
                </a:solidFill>
                <a:latin typeface="Arial"/>
                <a:ea typeface="Arial"/>
                <a:cs typeface="Arial"/>
              </a:defRPr>
            </a:defPPr>
            <a:lvl1pPr algn="l">
              <a:defRPr sz="1650" b="0">
                <a:solidFill>
                  <a:srgbClr val="59636E"/>
                </a:solidFill>
                <a:latin typeface="Arial"/>
                <a:ea typeface="Arial"/>
                <a:cs typeface="Arial"/>
              </a:defRPr>
            </a:lvl1pPr>
            <a:lvl2pPr algn="l">
              <a:defRPr sz="1650" b="0">
                <a:solidFill>
                  <a:srgbClr val="59636E"/>
                </a:solidFill>
                <a:latin typeface="Arial"/>
                <a:ea typeface="Arial"/>
                <a:cs typeface="Arial"/>
              </a:defRPr>
            </a:lvl2pPr>
            <a:lvl3pPr algn="l">
              <a:defRPr sz="1650" b="0">
                <a:solidFill>
                  <a:srgbClr val="59636E"/>
                </a:solidFill>
                <a:latin typeface="Arial"/>
                <a:ea typeface="Arial"/>
                <a:cs typeface="Arial"/>
              </a:defRPr>
            </a:lvl3pPr>
            <a:lvl4pPr algn="l">
              <a:defRPr sz="1650" b="0">
                <a:solidFill>
                  <a:srgbClr val="59636E"/>
                </a:solidFill>
                <a:latin typeface="Arial"/>
                <a:ea typeface="Arial"/>
                <a:cs typeface="Arial"/>
              </a:defRPr>
            </a:lvl4pPr>
            <a:lvl5pPr algn="l">
              <a:defRPr sz="1650" b="0">
                <a:solidFill>
                  <a:srgbClr val="59636E"/>
                </a:solidFill>
                <a:latin typeface="Arial"/>
                <a:ea typeface="Arial"/>
                <a:cs typeface="Arial"/>
              </a:defRPr>
            </a:lvl5pPr>
            <a:lvl6pPr algn="l">
              <a:defRPr sz="1650" b="0">
                <a:solidFill>
                  <a:srgbClr val="59636E"/>
                </a:solidFill>
                <a:latin typeface="Arial"/>
                <a:ea typeface="Arial"/>
                <a:cs typeface="Arial"/>
              </a:defRPr>
            </a:lvl6pPr>
            <a:lvl7pPr algn="l">
              <a:defRPr sz="1650" b="0">
                <a:solidFill>
                  <a:srgbClr val="59636E"/>
                </a:solidFill>
                <a:latin typeface="Arial"/>
                <a:ea typeface="Arial"/>
                <a:cs typeface="Arial"/>
              </a:defRPr>
            </a:lvl7pPr>
            <a:lvl8pPr algn="l">
              <a:defRPr sz="1650" b="0">
                <a:solidFill>
                  <a:srgbClr val="59636E"/>
                </a:solidFill>
                <a:latin typeface="Arial"/>
                <a:ea typeface="Arial"/>
                <a:cs typeface="Arial"/>
              </a:defRPr>
            </a:lvl8pPr>
            <a:lvl9pPr algn="l">
              <a:defRPr sz="1650" b="0">
                <a:solidFill>
                  <a:srgbClr val="59636E"/>
                </a:solidFill>
                <a:latin typeface="Arial"/>
                <a:ea typeface="Arial"/>
                <a:cs typeface="Arial"/>
              </a:defRPr>
            </a:lvl9pPr>
          </a:lstStyle>
          <a:p xmlns:a="http://schemas.openxmlformats.org/drawingml/2006/main">
            <a:pPr algn="l">
              <a:defRPr sz="1650" b="0">
                <a:solidFill>
                  <a:srgbClr val="59636E"/>
                </a:solidFill>
                <a:latin typeface="Arial"/>
                <a:ea typeface="Arial"/>
                <a:cs typeface="Arial"/>
              </a:defRPr>
            </a:pPr>
            <a:r>
              <a:rPr sz="1650" b="0">
                <a:solidFill>
                  <a:srgbClr val="59636E"/>
                </a:solidFill>
                <a:latin typeface="Arial"/>
                <a:ea typeface="Arial"/>
                <a:cs typeface="Arial"/>
              </a:rPr>
              <a:t>Versus the same score bounds</a:t>
            </a:r>
          </a:p>
        </p:txBody>
      </p:sp>
      <p:sp>
        <p:nvSpPr>
          <p:cNvPr id="19" name="18">
            <a:extLst xmlns:a="http://schemas.openxmlformats.org/drawingml/2006/main">
              <a:ext uri="{FF2B5EF4-FFF2-40B4-BE49-F238E27FC236}">
                <a16:creationId xmlns:a16="http://schemas.microsoft.com/office/drawing/2014/main" id="{499B4A4A-5D2E-4234-9060-484B4AC02816}"/>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18</a:t>
            </a:r>
          </a:p>
        </p:txBody>
      </p:sp>
      <p:sp>
        <p:nvSpPr>
          <p:cNvPr id="20" name="50 matched patient splits. Bars show mean MAE. Table SD desc">
            <a:extLst xmlns:a="http://schemas.openxmlformats.org/drawingml/2006/main">
              <a:ext uri="{FF2B5EF4-FFF2-40B4-BE49-F238E27FC236}">
                <a16:creationId xmlns:a16="http://schemas.microsoft.com/office/drawing/2014/main" id="{9038F7BE-40A6-4B16-8009-6361F99C8B94}"/>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50 matched patient splits. Bars show mean MAE. Table SD describes overlapping splits.</a:t>
            </a:r>
          </a:p>
        </p:txBody>
      </p:sp>
    </p:spTree>
    <p:extLst>
      <p:ext uri="{BB962C8B-B14F-4D97-AF65-F5344CB8AC3E}">
        <p14:creationId xmlns:p14="http://schemas.microsoft.com/office/powerpoint/2010/main" val="9223975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A wider search does not always improve model selection</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4e61a27b04014cff"/>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5CEE3F9B-528A-46BF-A0EA-0ADD80F513C7}"/>
              </a:ext>
            </a:extLst>
          </p:cNvPr>
          <p:cNvGraphicFramePr/>
          <p:nvPr/>
        </p:nvGraphicFramePr>
        <p:xfrm>
          <a:off xmlns:a="http://schemas.openxmlformats.org/drawingml/2006/main" x="619125" y="2238375"/>
          <a:ext xmlns:a="http://schemas.openxmlformats.org/drawingml/2006/main" cx="5334000" cy="3333750"/>
        </p:xfrm>
        <a:graphic xmlns:a="http://schemas.openxmlformats.org/drawingml/2006/main">
          <a:graphicData uri="http://schemas.openxmlformats.org/drawingml/2006/chart">
            <c:chart xmlns:r="http://schemas.openxmlformats.org/officeDocument/2006/relationships" xmlns:c="http://schemas.openxmlformats.org/drawingml/2006/chart" r:id="R7c90bbb1a33c4600"/>
          </a:graphicData>
        </a:graphic>
      </p:graphicFrame>
      <p:graphicFrame>
        <p:nvGraphicFramePr>
          <p:cNvPr id="16" name="Chart">
            <a:extLst xmlns:a="http://schemas.openxmlformats.org/drawingml/2006/main">
              <a:ext uri="{FF2B5EF4-FFF2-40B4-BE49-F238E27FC236}">
                <a16:creationId xmlns:a16="http://schemas.microsoft.com/office/drawing/2014/main" id="{FFE33EA7-5175-4963-B9BB-144C56795F00}"/>
              </a:ext>
            </a:extLst>
          </p:cNvPr>
          <p:cNvGraphicFramePr/>
          <p:nvPr/>
        </p:nvGraphicFramePr>
        <p:xfrm>
          <a:off xmlns:a="http://schemas.openxmlformats.org/drawingml/2006/main" x="6238875" y="2238375"/>
          <a:ext xmlns:a="http://schemas.openxmlformats.org/drawingml/2006/main" cx="5334000" cy="3333750"/>
        </p:xfrm>
        <a:graphic xmlns:a="http://schemas.openxmlformats.org/drawingml/2006/main">
          <a:graphicData uri="http://schemas.openxmlformats.org/drawingml/2006/chart">
            <c:chart xmlns:r="http://schemas.openxmlformats.org/officeDocument/2006/relationships" xmlns:c="http://schemas.openxmlformats.org/drawingml/2006/chart" r:id="R8df8775709d24164"/>
          </a:graphicData>
        </a:graphic>
      </p:graphicFrame>
      <p:sp>
        <p:nvSpPr>
          <p:cNvPr id="17" name="Opacity MAE rises from 0.701 to 0.743 when selection expands">
            <a:extLst xmlns:a="http://schemas.openxmlformats.org/drawingml/2006/main">
              <a:ext uri="{FF2B5EF4-FFF2-40B4-BE49-F238E27FC236}">
                <a16:creationId xmlns:a16="http://schemas.microsoft.com/office/drawing/2014/main" id="{9C965B04-FCED-4E1D-BD61-C0F57CBBA98A}"/>
              </a:ext>
            </a:extLst>
          </p:cNvPr>
          <p:cNvSpPr>
            <a:spLocks xmlns:a="http://schemas.openxmlformats.org/drawingml/2006/main" noGrp="1"/>
          </p:cNvSpPr>
          <p:nvPr/>
        </p:nvSpPr>
        <p:spPr>
          <a:xfrm xmlns:a="http://schemas.openxmlformats.org/drawingml/2006/main">
            <a:off x="714375"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13D7A"/>
                </a:solidFill>
                <a:latin typeface="Arial"/>
                <a:ea typeface="Arial"/>
                <a:cs typeface="Arial"/>
              </a:defRPr>
            </a:defPPr>
            <a:lvl1pPr algn="l">
              <a:defRPr sz="1875" b="1">
                <a:solidFill>
                  <a:srgbClr val="013D7A"/>
                </a:solidFill>
                <a:latin typeface="Arial"/>
                <a:ea typeface="Arial"/>
                <a:cs typeface="Arial"/>
              </a:defRPr>
            </a:lvl1pPr>
            <a:lvl2pPr algn="l">
              <a:defRPr sz="1875" b="1">
                <a:solidFill>
                  <a:srgbClr val="013D7A"/>
                </a:solidFill>
                <a:latin typeface="Arial"/>
                <a:ea typeface="Arial"/>
                <a:cs typeface="Arial"/>
              </a:defRPr>
            </a:lvl2pPr>
            <a:lvl3pPr algn="l">
              <a:defRPr sz="1875" b="1">
                <a:solidFill>
                  <a:srgbClr val="013D7A"/>
                </a:solidFill>
                <a:latin typeface="Arial"/>
                <a:ea typeface="Arial"/>
                <a:cs typeface="Arial"/>
              </a:defRPr>
            </a:lvl3pPr>
            <a:lvl4pPr algn="l">
              <a:defRPr sz="1875" b="1">
                <a:solidFill>
                  <a:srgbClr val="013D7A"/>
                </a:solidFill>
                <a:latin typeface="Arial"/>
                <a:ea typeface="Arial"/>
                <a:cs typeface="Arial"/>
              </a:defRPr>
            </a:lvl4pPr>
            <a:lvl5pPr algn="l">
              <a:defRPr sz="1875" b="1">
                <a:solidFill>
                  <a:srgbClr val="013D7A"/>
                </a:solidFill>
                <a:latin typeface="Arial"/>
                <a:ea typeface="Arial"/>
                <a:cs typeface="Arial"/>
              </a:defRPr>
            </a:lvl5pPr>
            <a:lvl6pPr algn="l">
              <a:defRPr sz="1875" b="1">
                <a:solidFill>
                  <a:srgbClr val="013D7A"/>
                </a:solidFill>
                <a:latin typeface="Arial"/>
                <a:ea typeface="Arial"/>
                <a:cs typeface="Arial"/>
              </a:defRPr>
            </a:lvl6pPr>
            <a:lvl7pPr algn="l">
              <a:defRPr sz="1875" b="1">
                <a:solidFill>
                  <a:srgbClr val="013D7A"/>
                </a:solidFill>
                <a:latin typeface="Arial"/>
                <a:ea typeface="Arial"/>
                <a:cs typeface="Arial"/>
              </a:defRPr>
            </a:lvl7pPr>
            <a:lvl8pPr algn="l">
              <a:defRPr sz="1875" b="1">
                <a:solidFill>
                  <a:srgbClr val="013D7A"/>
                </a:solidFill>
                <a:latin typeface="Arial"/>
                <a:ea typeface="Arial"/>
                <a:cs typeface="Arial"/>
              </a:defRPr>
            </a:lvl8pPr>
            <a:lvl9pPr algn="l">
              <a:defRPr sz="1875" b="1">
                <a:solidFill>
                  <a:srgbClr val="013D7A"/>
                </a:solidFill>
                <a:latin typeface="Arial"/>
                <a:ea typeface="Arial"/>
                <a:cs typeface="Arial"/>
              </a:defRPr>
            </a:lvl9pPr>
          </a:lstStyle>
          <a:p xmlns:a="http://schemas.openxmlformats.org/drawingml/2006/main">
            <a:pPr algn="l">
              <a:defRPr sz="1875" b="1">
                <a:solidFill>
                  <a:srgbClr val="013D7A"/>
                </a:solidFill>
                <a:latin typeface="Arial"/>
                <a:ea typeface="Arial"/>
                <a:cs typeface="Arial"/>
              </a:defRPr>
            </a:pPr>
            <a:r>
              <a:rPr sz="1875" b="1">
                <a:solidFill>
                  <a:srgbClr val="013D7A"/>
                </a:solidFill>
                <a:latin typeface="Arial"/>
                <a:ea typeface="Arial"/>
                <a:cs typeface="Arial"/>
              </a:rPr>
              <a:t>Opacity MAE rises from 0.701 to 0.743 when selection expands from 12 to 27 candidates.</a:t>
            </a:r>
          </a:p>
        </p:txBody>
      </p:sp>
      <p:sp>
        <p:nvSpPr>
          <p:cNvPr id="18" name="19">
            <a:extLst xmlns:a="http://schemas.openxmlformats.org/drawingml/2006/main">
              <a:ext uri="{FF2B5EF4-FFF2-40B4-BE49-F238E27FC236}">
                <a16:creationId xmlns:a16="http://schemas.microsoft.com/office/drawing/2014/main" id="{326318BA-C92A-49A3-9306-DA5B16200511}"/>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19</a:t>
            </a:r>
          </a:p>
        </p:txBody>
      </p:sp>
      <p:sp>
        <p:nvSpPr>
          <p:cNvPr id="19" name="The same inner folds choose parameters and families. These p">
            <a:extLst xmlns:a="http://schemas.openxmlformats.org/drawingml/2006/main">
              <a:ext uri="{FF2B5EF4-FFF2-40B4-BE49-F238E27FC236}">
                <a16:creationId xmlns:a16="http://schemas.microsoft.com/office/drawing/2014/main" id="{2907B9A6-F1DB-44DC-BE9A-72BBC50FAC89}"/>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The same inner folds choose parameters and families. These procedures include model-selection error.</a:t>
            </a:r>
          </a:p>
        </p:txBody>
      </p:sp>
    </p:spTree>
    <p:extLst>
      <p:ext uri="{BB962C8B-B14F-4D97-AF65-F5344CB8AC3E}">
        <p14:creationId xmlns:p14="http://schemas.microsoft.com/office/powerpoint/2010/main" val="92239753"/>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Extent gains persist across more test partitions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58de843fa4204d59"/>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F3AF7D7C-E3CD-4376-82BC-3FFA3302674E}"/>
              </a:ext>
            </a:extLst>
          </p:cNvPr>
          <p:cNvGraphicFramePr/>
          <p:nvPr/>
        </p:nvGraphicFramePr>
        <p:xfrm>
          <a:off xmlns:a="http://schemas.openxmlformats.org/drawingml/2006/main" x="619125" y="2190750"/>
          <a:ext xmlns:a="http://schemas.openxmlformats.org/drawingml/2006/main" cx="6667500" cy="3619500"/>
        </p:xfrm>
        <a:graphic xmlns:a="http://schemas.openxmlformats.org/drawingml/2006/main">
          <a:graphicData uri="http://schemas.openxmlformats.org/drawingml/2006/chart">
            <c:chart xmlns:r="http://schemas.openxmlformats.org/officeDocument/2006/relationships" xmlns:c="http://schemas.openxmlformats.org/drawingml/2006/chart" r:id="R592b8da355f946f6"/>
          </a:graphicData>
        </a:graphic>
      </p:graphicFrame>
      <p:graphicFrame>
        <p:nvGraphicFramePr>
          <p:cNvPr id="16" name="">
            <a:extLst xmlns:a="http://schemas.openxmlformats.org/drawingml/2006/main">
              <a:ext uri="{FF2B5EF4-FFF2-40B4-BE49-F238E27FC236}">
                <a16:creationId xmlns:a16="http://schemas.microsoft.com/office/drawing/2014/main" id="{F106AB11-B912-475E-959F-B443405D9742}"/>
              </a:ext>
            </a:extLst>
          </p:cNvPr>
          <p:cNvGraphicFramePr/>
          <p:nvPr/>
        </p:nvGraphicFramePr>
        <p:xfrm>
          <a:off xmlns:a="http://schemas.openxmlformats.org/drawingml/2006/main" x="7858125" y="2333625"/>
          <a:ext xmlns:a="http://schemas.openxmlformats.org/drawingml/2006/main" cx="3714750" cy="2714625"/>
        </p:xfrm>
        <a:graphic xmlns:a="http://schemas.openxmlformats.org/drawingml/2006/main">
          <a:graphicData uri="http://schemas.openxmlformats.org/drawingml/2006/table">
            <a:tbl>
              <a:tblPr/>
              <a:tblGrid>
                <a:gridCol w="1000125"/>
                <a:gridCol w="1333500"/>
                <a:gridCol w="1381125"/>
              </a:tblGrid>
              <a:tr h="542925">
                <a:tc>
                  <a:txBody>
                    <a:bodyPr wrap="square">
                      <a:noAutofit/>
                    </a:bodyPr>
                    <a:lstStyle/>
                    <a:p>
                      <a:pPr algn="l"/>
                      <a:r>
                        <a:rPr sz="1425" b="1">
                          <a:solidFill>
                            <a:srgbClr val="FFFFFF"/>
                          </a:solidFill>
                          <a:latin typeface="Arial"/>
                          <a:ea typeface="Arial"/>
                          <a:cs typeface="Arial"/>
                        </a:rPr>
                        <a:t>Target</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Choice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Median ΔMAE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42925">
                <a:tc>
                  <a:txBody>
                    <a:bodyPr wrap="square">
                      <a:noAutofit/>
                    </a:bodyPr>
                    <a:lstStyle/>
                    <a:p>
                      <a:pPr algn="l"/>
                      <a:r>
                        <a:rPr sz="1425" b="0">
                          <a:solidFill>
                            <a:srgbClr val="202832"/>
                          </a:solidFill>
                          <a:latin typeface="Arial"/>
                          <a:ea typeface="Arial"/>
                          <a:cs typeface="Arial"/>
                        </a:rPr>
                        <a:t>Extent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Observed best</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-0.359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42925">
                <a:tc>
                  <a:txBody>
                    <a:bodyPr wrap="square">
                      <a:noAutofit/>
                    </a:bodyPr>
                    <a:lstStyle/>
                    <a:p>
                      <a:pPr algn="l"/>
                      <a:r>
                        <a:rPr sz="1425" b="0">
                          <a:solidFill>
                            <a:srgbClr val="202832"/>
                          </a:solidFill>
                          <a:latin typeface="Arial"/>
                          <a:ea typeface="Arial"/>
                          <a:cs typeface="Arial"/>
                        </a:rPr>
                        <a:t>Extent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Selector</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-0.289</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42925">
                <a:tc>
                  <a:txBody>
                    <a:bodyPr wrap="square">
                      <a:noAutofit/>
                    </a:bodyPr>
                    <a:lstStyle/>
                    <a:p>
                      <a:pPr algn="l"/>
                      <a:r>
                        <a:rPr sz="1425" b="0">
                          <a:solidFill>
                            <a:srgbClr val="202832"/>
                          </a:solidFill>
                          <a:latin typeface="Arial"/>
                          <a:ea typeface="Arial"/>
                          <a:cs typeface="Arial"/>
                        </a:rPr>
                        <a:t>Opacity</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Observed best</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-0.080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42925">
                <a:tc>
                  <a:txBody>
                    <a:bodyPr wrap="square">
                      <a:noAutofit/>
                    </a:bodyPr>
                    <a:lstStyle/>
                    <a:p>
                      <a:pPr algn="l"/>
                      <a:r>
                        <a:rPr sz="1425" b="0">
                          <a:solidFill>
                            <a:srgbClr val="202832"/>
                          </a:solidFill>
                          <a:latin typeface="Arial"/>
                          <a:ea typeface="Arial"/>
                          <a:cs typeface="Arial"/>
                        </a:rPr>
                        <a:t>Opacity</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Selector</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-0.040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7" name="20">
            <a:extLst xmlns:a="http://schemas.openxmlformats.org/drawingml/2006/main">
              <a:ext uri="{FF2B5EF4-FFF2-40B4-BE49-F238E27FC236}">
                <a16:creationId xmlns:a16="http://schemas.microsoft.com/office/drawing/2014/main" id="{03061464-B861-4DC1-BFBD-09473E5949EA}"/>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20</a:t>
            </a:r>
          </a:p>
        </p:txBody>
      </p:sp>
      <p:sp>
        <p:nvSpPr>
          <p:cNvPr id="18" name="Split win rates and median differences summarize dependent r">
            <a:extLst xmlns:a="http://schemas.openxmlformats.org/drawingml/2006/main">
              <a:ext uri="{FF2B5EF4-FFF2-40B4-BE49-F238E27FC236}">
                <a16:creationId xmlns:a16="http://schemas.microsoft.com/office/drawing/2014/main" id="{735771C8-EEC9-4021-93C6-B28D59DCB16A}"/>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Split win rates and median differences summarize dependent resampling results.</a:t>
            </a:r>
          </a:p>
        </p:txBody>
      </p:sp>
    </p:spTree>
    <p:extLst>
      <p:ext uri="{BB962C8B-B14F-4D97-AF65-F5344CB8AC3E}">
        <p14:creationId xmlns:p14="http://schemas.microsoft.com/office/powerpoint/2010/main" val="92239753"/>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first high-dimensional Ridge pipeline failed visibly</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bf045bb565264594"/>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15" name="−169.902">
            <a:extLst xmlns:a="http://schemas.openxmlformats.org/drawingml/2006/main">
              <a:ext uri="{FF2B5EF4-FFF2-40B4-BE49-F238E27FC236}">
                <a16:creationId xmlns:a16="http://schemas.microsoft.com/office/drawing/2014/main" id="{7363E8FC-943D-4338-B985-F481DB028709}"/>
              </a:ext>
            </a:extLst>
          </p:cNvPr>
          <p:cNvSpPr>
            <a:spLocks xmlns:a="http://schemas.openxmlformats.org/drawingml/2006/main" noGrp="1"/>
          </p:cNvSpPr>
          <p:nvPr/>
        </p:nvSpPr>
        <p:spPr>
          <a:xfrm xmlns:a="http://schemas.openxmlformats.org/drawingml/2006/main">
            <a:off x="714375" y="2143125"/>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5100" b="1">
                <a:solidFill>
                  <a:srgbClr val="F07902"/>
                </a:solidFill>
                <a:latin typeface="Arial"/>
                <a:ea typeface="Arial"/>
                <a:cs typeface="Arial"/>
              </a:defRPr>
            </a:defPPr>
            <a:lvl1pPr algn="l">
              <a:defRPr sz="5100" b="1">
                <a:solidFill>
                  <a:srgbClr val="F07902"/>
                </a:solidFill>
                <a:latin typeface="Arial"/>
                <a:ea typeface="Arial"/>
                <a:cs typeface="Arial"/>
              </a:defRPr>
            </a:lvl1pPr>
            <a:lvl2pPr algn="l">
              <a:defRPr sz="5100" b="1">
                <a:solidFill>
                  <a:srgbClr val="F07902"/>
                </a:solidFill>
                <a:latin typeface="Arial"/>
                <a:ea typeface="Arial"/>
                <a:cs typeface="Arial"/>
              </a:defRPr>
            </a:lvl2pPr>
            <a:lvl3pPr algn="l">
              <a:defRPr sz="5100" b="1">
                <a:solidFill>
                  <a:srgbClr val="F07902"/>
                </a:solidFill>
                <a:latin typeface="Arial"/>
                <a:ea typeface="Arial"/>
                <a:cs typeface="Arial"/>
              </a:defRPr>
            </a:lvl3pPr>
            <a:lvl4pPr algn="l">
              <a:defRPr sz="5100" b="1">
                <a:solidFill>
                  <a:srgbClr val="F07902"/>
                </a:solidFill>
                <a:latin typeface="Arial"/>
                <a:ea typeface="Arial"/>
                <a:cs typeface="Arial"/>
              </a:defRPr>
            </a:lvl4pPr>
            <a:lvl5pPr algn="l">
              <a:defRPr sz="5100" b="1">
                <a:solidFill>
                  <a:srgbClr val="F07902"/>
                </a:solidFill>
                <a:latin typeface="Arial"/>
                <a:ea typeface="Arial"/>
                <a:cs typeface="Arial"/>
              </a:defRPr>
            </a:lvl5pPr>
            <a:lvl6pPr algn="l">
              <a:defRPr sz="5100" b="1">
                <a:solidFill>
                  <a:srgbClr val="F07902"/>
                </a:solidFill>
                <a:latin typeface="Arial"/>
                <a:ea typeface="Arial"/>
                <a:cs typeface="Arial"/>
              </a:defRPr>
            </a:lvl6pPr>
            <a:lvl7pPr algn="l">
              <a:defRPr sz="5100" b="1">
                <a:solidFill>
                  <a:srgbClr val="F07902"/>
                </a:solidFill>
                <a:latin typeface="Arial"/>
                <a:ea typeface="Arial"/>
                <a:cs typeface="Arial"/>
              </a:defRPr>
            </a:lvl7pPr>
            <a:lvl8pPr algn="l">
              <a:defRPr sz="5100" b="1">
                <a:solidFill>
                  <a:srgbClr val="F07902"/>
                </a:solidFill>
                <a:latin typeface="Arial"/>
                <a:ea typeface="Arial"/>
                <a:cs typeface="Arial"/>
              </a:defRPr>
            </a:lvl8pPr>
            <a:lvl9pPr algn="l">
              <a:defRPr sz="5100" b="1">
                <a:solidFill>
                  <a:srgbClr val="F07902"/>
                </a:solidFill>
                <a:latin typeface="Arial"/>
                <a:ea typeface="Arial"/>
                <a:cs typeface="Arial"/>
              </a:defRPr>
            </a:lvl9pPr>
          </a:lstStyle>
          <a:p xmlns:a="http://schemas.openxmlformats.org/drawingml/2006/main">
            <a:pPr algn="l">
              <a:defRPr sz="5100" b="1">
                <a:solidFill>
                  <a:srgbClr val="F07902"/>
                </a:solidFill>
                <a:latin typeface="Arial"/>
                <a:ea typeface="Arial"/>
                <a:cs typeface="Arial"/>
              </a:defRPr>
            </a:pPr>
            <a:r>
              <a:rPr sz="5100" b="1">
                <a:solidFill>
                  <a:srgbClr val="F07902"/>
                </a:solidFill>
                <a:latin typeface="Arial"/>
                <a:ea typeface="Arial"/>
                <a:cs typeface="Arial"/>
              </a:rPr>
              <a:t>−169.902</a:t>
            </a:r>
          </a:p>
        </p:txBody>
      </p:sp>
      <p:sp>
        <p:nvSpPr>
          <p:cNvPr id="16" name="Predicted extent for a true score of 0">
            <a:extLst xmlns:a="http://schemas.openxmlformats.org/drawingml/2006/main">
              <a:ext uri="{FF2B5EF4-FFF2-40B4-BE49-F238E27FC236}">
                <a16:creationId xmlns:a16="http://schemas.microsoft.com/office/drawing/2014/main" id="{B63F1EE5-2B29-4ED4-BD69-416177F2E6E2}"/>
              </a:ext>
            </a:extLst>
          </p:cNvPr>
          <p:cNvSpPr>
            <a:spLocks xmlns:a="http://schemas.openxmlformats.org/drawingml/2006/main" noGrp="1"/>
          </p:cNvSpPr>
          <p:nvPr/>
        </p:nvSpPr>
        <p:spPr>
          <a:xfrm xmlns:a="http://schemas.openxmlformats.org/drawingml/2006/main">
            <a:off x="714375" y="309562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13D7A"/>
                </a:solidFill>
                <a:latin typeface="Arial"/>
                <a:ea typeface="Arial"/>
                <a:cs typeface="Arial"/>
              </a:defRPr>
            </a:defPPr>
            <a:lvl1pPr algn="l">
              <a:defRPr sz="2025" b="1">
                <a:solidFill>
                  <a:srgbClr val="013D7A"/>
                </a:solidFill>
                <a:latin typeface="Arial"/>
                <a:ea typeface="Arial"/>
                <a:cs typeface="Arial"/>
              </a:defRPr>
            </a:lvl1pPr>
            <a:lvl2pPr algn="l">
              <a:defRPr sz="2025" b="1">
                <a:solidFill>
                  <a:srgbClr val="013D7A"/>
                </a:solidFill>
                <a:latin typeface="Arial"/>
                <a:ea typeface="Arial"/>
                <a:cs typeface="Arial"/>
              </a:defRPr>
            </a:lvl2pPr>
            <a:lvl3pPr algn="l">
              <a:defRPr sz="2025" b="1">
                <a:solidFill>
                  <a:srgbClr val="013D7A"/>
                </a:solidFill>
                <a:latin typeface="Arial"/>
                <a:ea typeface="Arial"/>
                <a:cs typeface="Arial"/>
              </a:defRPr>
            </a:lvl3pPr>
            <a:lvl4pPr algn="l">
              <a:defRPr sz="2025" b="1">
                <a:solidFill>
                  <a:srgbClr val="013D7A"/>
                </a:solidFill>
                <a:latin typeface="Arial"/>
                <a:ea typeface="Arial"/>
                <a:cs typeface="Arial"/>
              </a:defRPr>
            </a:lvl4pPr>
            <a:lvl5pPr algn="l">
              <a:defRPr sz="2025" b="1">
                <a:solidFill>
                  <a:srgbClr val="013D7A"/>
                </a:solidFill>
                <a:latin typeface="Arial"/>
                <a:ea typeface="Arial"/>
                <a:cs typeface="Arial"/>
              </a:defRPr>
            </a:lvl5pPr>
            <a:lvl6pPr algn="l">
              <a:defRPr sz="2025" b="1">
                <a:solidFill>
                  <a:srgbClr val="013D7A"/>
                </a:solidFill>
                <a:latin typeface="Arial"/>
                <a:ea typeface="Arial"/>
                <a:cs typeface="Arial"/>
              </a:defRPr>
            </a:lvl6pPr>
            <a:lvl7pPr algn="l">
              <a:defRPr sz="2025" b="1">
                <a:solidFill>
                  <a:srgbClr val="013D7A"/>
                </a:solidFill>
                <a:latin typeface="Arial"/>
                <a:ea typeface="Arial"/>
                <a:cs typeface="Arial"/>
              </a:defRPr>
            </a:lvl7pPr>
            <a:lvl8pPr algn="l">
              <a:defRPr sz="2025" b="1">
                <a:solidFill>
                  <a:srgbClr val="013D7A"/>
                </a:solidFill>
                <a:latin typeface="Arial"/>
                <a:ea typeface="Arial"/>
                <a:cs typeface="Arial"/>
              </a:defRPr>
            </a:lvl8pPr>
            <a:lvl9pPr algn="l">
              <a:defRPr sz="2025" b="1">
                <a:solidFill>
                  <a:srgbClr val="013D7A"/>
                </a:solidFill>
                <a:latin typeface="Arial"/>
                <a:ea typeface="Arial"/>
                <a:cs typeface="Arial"/>
              </a:defRPr>
            </a:lvl9pPr>
          </a:lstStyle>
          <a:p xmlns:a="http://schemas.openxmlformats.org/drawingml/2006/main">
            <a:pPr algn="l">
              <a:defRPr sz="2025" b="1">
                <a:solidFill>
                  <a:srgbClr val="013D7A"/>
                </a:solidFill>
                <a:latin typeface="Arial"/>
                <a:ea typeface="Arial"/>
                <a:cs typeface="Arial"/>
              </a:defRPr>
            </a:pPr>
            <a:r>
              <a:rPr sz="2025" b="1">
                <a:solidFill>
                  <a:srgbClr val="013D7A"/>
                </a:solidFill>
                <a:latin typeface="Arial"/>
                <a:ea typeface="Arial"/>
                <a:cs typeface="Arial"/>
              </a:rPr>
              <a:t>Predicted extent for a true score of 0</a:t>
            </a:r>
          </a:p>
        </p:txBody>
      </p:sp>
      <p:sp>
        <p:nvSpPr>
          <p:cNvPr id="17" name="01">
            <a:extLst xmlns:a="http://schemas.openxmlformats.org/drawingml/2006/main">
              <a:ext uri="{FF2B5EF4-FFF2-40B4-BE49-F238E27FC236}">
                <a16:creationId xmlns:a16="http://schemas.microsoft.com/office/drawing/2014/main" id="{4414101D-E621-4B84-A253-A69BDBFEBEBC}"/>
              </a:ext>
            </a:extLst>
          </p:cNvPr>
          <p:cNvSpPr>
            <a:spLocks xmlns:a="http://schemas.openxmlformats.org/drawingml/2006/main" noGrp="1"/>
          </p:cNvSpPr>
          <p:nvPr/>
        </p:nvSpPr>
        <p:spPr>
          <a:xfrm xmlns:a="http://schemas.openxmlformats.org/drawingml/2006/main">
            <a:off x="714375" y="404812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F07902"/>
                </a:solidFill>
                <a:latin typeface="Arial"/>
                <a:ea typeface="Arial"/>
                <a:cs typeface="Arial"/>
              </a:defRPr>
            </a:defPPr>
            <a:lvl1pPr algn="l">
              <a:defRPr sz="2025" b="1">
                <a:solidFill>
                  <a:srgbClr val="F07902"/>
                </a:solidFill>
                <a:latin typeface="Arial"/>
                <a:ea typeface="Arial"/>
                <a:cs typeface="Arial"/>
              </a:defRPr>
            </a:lvl1pPr>
            <a:lvl2pPr algn="l">
              <a:defRPr sz="2025" b="1">
                <a:solidFill>
                  <a:srgbClr val="F07902"/>
                </a:solidFill>
                <a:latin typeface="Arial"/>
                <a:ea typeface="Arial"/>
                <a:cs typeface="Arial"/>
              </a:defRPr>
            </a:lvl2pPr>
            <a:lvl3pPr algn="l">
              <a:defRPr sz="2025" b="1">
                <a:solidFill>
                  <a:srgbClr val="F07902"/>
                </a:solidFill>
                <a:latin typeface="Arial"/>
                <a:ea typeface="Arial"/>
                <a:cs typeface="Arial"/>
              </a:defRPr>
            </a:lvl3pPr>
            <a:lvl4pPr algn="l">
              <a:defRPr sz="2025" b="1">
                <a:solidFill>
                  <a:srgbClr val="F07902"/>
                </a:solidFill>
                <a:latin typeface="Arial"/>
                <a:ea typeface="Arial"/>
                <a:cs typeface="Arial"/>
              </a:defRPr>
            </a:lvl4pPr>
            <a:lvl5pPr algn="l">
              <a:defRPr sz="2025" b="1">
                <a:solidFill>
                  <a:srgbClr val="F07902"/>
                </a:solidFill>
                <a:latin typeface="Arial"/>
                <a:ea typeface="Arial"/>
                <a:cs typeface="Arial"/>
              </a:defRPr>
            </a:lvl5pPr>
            <a:lvl6pPr algn="l">
              <a:defRPr sz="2025" b="1">
                <a:solidFill>
                  <a:srgbClr val="F07902"/>
                </a:solidFill>
                <a:latin typeface="Arial"/>
                <a:ea typeface="Arial"/>
                <a:cs typeface="Arial"/>
              </a:defRPr>
            </a:lvl6pPr>
            <a:lvl7pPr algn="l">
              <a:defRPr sz="2025" b="1">
                <a:solidFill>
                  <a:srgbClr val="F07902"/>
                </a:solidFill>
                <a:latin typeface="Arial"/>
                <a:ea typeface="Arial"/>
                <a:cs typeface="Arial"/>
              </a:defRPr>
            </a:lvl7pPr>
            <a:lvl8pPr algn="l">
              <a:defRPr sz="2025" b="1">
                <a:solidFill>
                  <a:srgbClr val="F07902"/>
                </a:solidFill>
                <a:latin typeface="Arial"/>
                <a:ea typeface="Arial"/>
                <a:cs typeface="Arial"/>
              </a:defRPr>
            </a:lvl8pPr>
            <a:lvl9pPr algn="l">
              <a:defRPr sz="2025" b="1">
                <a:solidFill>
                  <a:srgbClr val="F07902"/>
                </a:solidFill>
                <a:latin typeface="Arial"/>
                <a:ea typeface="Arial"/>
                <a:cs typeface="Arial"/>
              </a:defRPr>
            </a:lvl9pPr>
          </a:lstStyle>
          <a:p xmlns:a="http://schemas.openxmlformats.org/drawingml/2006/main">
            <a:pPr algn="l">
              <a:defRPr sz="2025" b="1">
                <a:solidFill>
                  <a:srgbClr val="F07902"/>
                </a:solidFill>
                <a:latin typeface="Arial"/>
                <a:ea typeface="Arial"/>
                <a:cs typeface="Arial"/>
              </a:defRPr>
            </a:pPr>
            <a:r>
              <a:rPr sz="2025" b="1">
                <a:solidFill>
                  <a:srgbClr val="F07902"/>
                </a:solidFill>
                <a:latin typeface="Arial"/>
                <a:ea typeface="Arial"/>
                <a:cs typeface="Arial"/>
              </a:rPr>
              <a:t>01</a:t>
            </a:r>
          </a:p>
        </p:txBody>
      </p:sp>
      <p:sp>
        <p:nvSpPr>
          <p:cNvPr id="18" name="Training feature SD 0.00000592">
            <a:extLst xmlns:a="http://schemas.openxmlformats.org/drawingml/2006/main">
              <a:ext uri="{FF2B5EF4-FFF2-40B4-BE49-F238E27FC236}">
                <a16:creationId xmlns:a16="http://schemas.microsoft.com/office/drawing/2014/main" id="{A85E1A92-3538-4EFE-AFC0-C3E918FB6640}"/>
              </a:ext>
            </a:extLst>
          </p:cNvPr>
          <p:cNvSpPr>
            <a:spLocks xmlns:a="http://schemas.openxmlformats.org/drawingml/2006/main" noGrp="1"/>
          </p:cNvSpPr>
          <p:nvPr/>
        </p:nvSpPr>
        <p:spPr>
          <a:xfrm xmlns:a="http://schemas.openxmlformats.org/drawingml/2006/main">
            <a:off x="1400175" y="4048125"/>
            <a:ext cx="3409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Training feature SD 0.00000592</a:t>
            </a:r>
          </a:p>
        </p:txBody>
      </p:sp>
      <p:sp>
        <p:nvSpPr>
          <p:cNvPr id="19" name="02">
            <a:extLst xmlns:a="http://schemas.openxmlformats.org/drawingml/2006/main">
              <a:ext uri="{FF2B5EF4-FFF2-40B4-BE49-F238E27FC236}">
                <a16:creationId xmlns:a16="http://schemas.microsoft.com/office/drawing/2014/main" id="{A4E1DE63-6B5B-49C3-809A-25792909CD4A}"/>
              </a:ext>
            </a:extLst>
          </p:cNvPr>
          <p:cNvSpPr>
            <a:spLocks xmlns:a="http://schemas.openxmlformats.org/drawingml/2006/main" noGrp="1"/>
          </p:cNvSpPr>
          <p:nvPr/>
        </p:nvSpPr>
        <p:spPr>
          <a:xfrm xmlns:a="http://schemas.openxmlformats.org/drawingml/2006/main">
            <a:off x="714375" y="46672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F07902"/>
                </a:solidFill>
                <a:latin typeface="Arial"/>
                <a:ea typeface="Arial"/>
                <a:cs typeface="Arial"/>
              </a:defRPr>
            </a:defPPr>
            <a:lvl1pPr algn="l">
              <a:defRPr sz="2025" b="1">
                <a:solidFill>
                  <a:srgbClr val="F07902"/>
                </a:solidFill>
                <a:latin typeface="Arial"/>
                <a:ea typeface="Arial"/>
                <a:cs typeface="Arial"/>
              </a:defRPr>
            </a:lvl1pPr>
            <a:lvl2pPr algn="l">
              <a:defRPr sz="2025" b="1">
                <a:solidFill>
                  <a:srgbClr val="F07902"/>
                </a:solidFill>
                <a:latin typeface="Arial"/>
                <a:ea typeface="Arial"/>
                <a:cs typeface="Arial"/>
              </a:defRPr>
            </a:lvl2pPr>
            <a:lvl3pPr algn="l">
              <a:defRPr sz="2025" b="1">
                <a:solidFill>
                  <a:srgbClr val="F07902"/>
                </a:solidFill>
                <a:latin typeface="Arial"/>
                <a:ea typeface="Arial"/>
                <a:cs typeface="Arial"/>
              </a:defRPr>
            </a:lvl3pPr>
            <a:lvl4pPr algn="l">
              <a:defRPr sz="2025" b="1">
                <a:solidFill>
                  <a:srgbClr val="F07902"/>
                </a:solidFill>
                <a:latin typeface="Arial"/>
                <a:ea typeface="Arial"/>
                <a:cs typeface="Arial"/>
              </a:defRPr>
            </a:lvl4pPr>
            <a:lvl5pPr algn="l">
              <a:defRPr sz="2025" b="1">
                <a:solidFill>
                  <a:srgbClr val="F07902"/>
                </a:solidFill>
                <a:latin typeface="Arial"/>
                <a:ea typeface="Arial"/>
                <a:cs typeface="Arial"/>
              </a:defRPr>
            </a:lvl5pPr>
            <a:lvl6pPr algn="l">
              <a:defRPr sz="2025" b="1">
                <a:solidFill>
                  <a:srgbClr val="F07902"/>
                </a:solidFill>
                <a:latin typeface="Arial"/>
                <a:ea typeface="Arial"/>
                <a:cs typeface="Arial"/>
              </a:defRPr>
            </a:lvl6pPr>
            <a:lvl7pPr algn="l">
              <a:defRPr sz="2025" b="1">
                <a:solidFill>
                  <a:srgbClr val="F07902"/>
                </a:solidFill>
                <a:latin typeface="Arial"/>
                <a:ea typeface="Arial"/>
                <a:cs typeface="Arial"/>
              </a:defRPr>
            </a:lvl7pPr>
            <a:lvl8pPr algn="l">
              <a:defRPr sz="2025" b="1">
                <a:solidFill>
                  <a:srgbClr val="F07902"/>
                </a:solidFill>
                <a:latin typeface="Arial"/>
                <a:ea typeface="Arial"/>
                <a:cs typeface="Arial"/>
              </a:defRPr>
            </a:lvl8pPr>
            <a:lvl9pPr algn="l">
              <a:defRPr sz="2025" b="1">
                <a:solidFill>
                  <a:srgbClr val="F07902"/>
                </a:solidFill>
                <a:latin typeface="Arial"/>
                <a:ea typeface="Arial"/>
                <a:cs typeface="Arial"/>
              </a:defRPr>
            </a:lvl9pPr>
          </a:lstStyle>
          <a:p xmlns:a="http://schemas.openxmlformats.org/drawingml/2006/main">
            <a:pPr algn="l">
              <a:defRPr sz="2025" b="1">
                <a:solidFill>
                  <a:srgbClr val="F07902"/>
                </a:solidFill>
                <a:latin typeface="Arial"/>
                <a:ea typeface="Arial"/>
                <a:cs typeface="Arial"/>
              </a:defRPr>
            </a:pPr>
            <a:r>
              <a:rPr sz="2025" b="1">
                <a:solidFill>
                  <a:srgbClr val="F07902"/>
                </a:solidFill>
                <a:latin typeface="Arial"/>
                <a:ea typeface="Arial"/>
                <a:cs typeface="Arial"/>
              </a:rPr>
              <a:t>02</a:t>
            </a:r>
          </a:p>
        </p:txBody>
      </p:sp>
      <p:sp>
        <p:nvSpPr>
          <p:cNvPr id="20" name="Test feature value 0.278">
            <a:extLst xmlns:a="http://schemas.openxmlformats.org/drawingml/2006/main">
              <a:ext uri="{FF2B5EF4-FFF2-40B4-BE49-F238E27FC236}">
                <a16:creationId xmlns:a16="http://schemas.microsoft.com/office/drawing/2014/main" id="{E4DFD743-10BA-4202-A03E-999690FA9B3E}"/>
              </a:ext>
            </a:extLst>
          </p:cNvPr>
          <p:cNvSpPr>
            <a:spLocks xmlns:a="http://schemas.openxmlformats.org/drawingml/2006/main" noGrp="1"/>
          </p:cNvSpPr>
          <p:nvPr/>
        </p:nvSpPr>
        <p:spPr>
          <a:xfrm xmlns:a="http://schemas.openxmlformats.org/drawingml/2006/main">
            <a:off x="1400175" y="4667250"/>
            <a:ext cx="3409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Test feature value 0.278</a:t>
            </a:r>
          </a:p>
        </p:txBody>
      </p:sp>
      <p:sp>
        <p:nvSpPr>
          <p:cNvPr id="21" name="03">
            <a:extLst xmlns:a="http://schemas.openxmlformats.org/drawingml/2006/main">
              <a:ext uri="{FF2B5EF4-FFF2-40B4-BE49-F238E27FC236}">
                <a16:creationId xmlns:a16="http://schemas.microsoft.com/office/drawing/2014/main" id="{B0BEE555-3F26-4229-BD77-94D8E3DB0F8A}"/>
              </a:ext>
            </a:extLst>
          </p:cNvPr>
          <p:cNvSpPr>
            <a:spLocks xmlns:a="http://schemas.openxmlformats.org/drawingml/2006/main" noGrp="1"/>
          </p:cNvSpPr>
          <p:nvPr/>
        </p:nvSpPr>
        <p:spPr>
          <a:xfrm xmlns:a="http://schemas.openxmlformats.org/drawingml/2006/main">
            <a:off x="714375" y="5286375"/>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F07902"/>
                </a:solidFill>
                <a:latin typeface="Arial"/>
                <a:ea typeface="Arial"/>
                <a:cs typeface="Arial"/>
              </a:defRPr>
            </a:defPPr>
            <a:lvl1pPr algn="l">
              <a:defRPr sz="2025" b="1">
                <a:solidFill>
                  <a:srgbClr val="F07902"/>
                </a:solidFill>
                <a:latin typeface="Arial"/>
                <a:ea typeface="Arial"/>
                <a:cs typeface="Arial"/>
              </a:defRPr>
            </a:lvl1pPr>
            <a:lvl2pPr algn="l">
              <a:defRPr sz="2025" b="1">
                <a:solidFill>
                  <a:srgbClr val="F07902"/>
                </a:solidFill>
                <a:latin typeface="Arial"/>
                <a:ea typeface="Arial"/>
                <a:cs typeface="Arial"/>
              </a:defRPr>
            </a:lvl2pPr>
            <a:lvl3pPr algn="l">
              <a:defRPr sz="2025" b="1">
                <a:solidFill>
                  <a:srgbClr val="F07902"/>
                </a:solidFill>
                <a:latin typeface="Arial"/>
                <a:ea typeface="Arial"/>
                <a:cs typeface="Arial"/>
              </a:defRPr>
            </a:lvl3pPr>
            <a:lvl4pPr algn="l">
              <a:defRPr sz="2025" b="1">
                <a:solidFill>
                  <a:srgbClr val="F07902"/>
                </a:solidFill>
                <a:latin typeface="Arial"/>
                <a:ea typeface="Arial"/>
                <a:cs typeface="Arial"/>
              </a:defRPr>
            </a:lvl4pPr>
            <a:lvl5pPr algn="l">
              <a:defRPr sz="2025" b="1">
                <a:solidFill>
                  <a:srgbClr val="F07902"/>
                </a:solidFill>
                <a:latin typeface="Arial"/>
                <a:ea typeface="Arial"/>
                <a:cs typeface="Arial"/>
              </a:defRPr>
            </a:lvl5pPr>
            <a:lvl6pPr algn="l">
              <a:defRPr sz="2025" b="1">
                <a:solidFill>
                  <a:srgbClr val="F07902"/>
                </a:solidFill>
                <a:latin typeface="Arial"/>
                <a:ea typeface="Arial"/>
                <a:cs typeface="Arial"/>
              </a:defRPr>
            </a:lvl6pPr>
            <a:lvl7pPr algn="l">
              <a:defRPr sz="2025" b="1">
                <a:solidFill>
                  <a:srgbClr val="F07902"/>
                </a:solidFill>
                <a:latin typeface="Arial"/>
                <a:ea typeface="Arial"/>
                <a:cs typeface="Arial"/>
              </a:defRPr>
            </a:lvl7pPr>
            <a:lvl8pPr algn="l">
              <a:defRPr sz="2025" b="1">
                <a:solidFill>
                  <a:srgbClr val="F07902"/>
                </a:solidFill>
                <a:latin typeface="Arial"/>
                <a:ea typeface="Arial"/>
                <a:cs typeface="Arial"/>
              </a:defRPr>
            </a:lvl8pPr>
            <a:lvl9pPr algn="l">
              <a:defRPr sz="2025" b="1">
                <a:solidFill>
                  <a:srgbClr val="F07902"/>
                </a:solidFill>
                <a:latin typeface="Arial"/>
                <a:ea typeface="Arial"/>
                <a:cs typeface="Arial"/>
              </a:defRPr>
            </a:lvl9pPr>
          </a:lstStyle>
          <a:p xmlns:a="http://schemas.openxmlformats.org/drawingml/2006/main">
            <a:pPr algn="l">
              <a:defRPr sz="2025" b="1">
                <a:solidFill>
                  <a:srgbClr val="F07902"/>
                </a:solidFill>
                <a:latin typeface="Arial"/>
                <a:ea typeface="Arial"/>
                <a:cs typeface="Arial"/>
              </a:defRPr>
            </a:pPr>
            <a:r>
              <a:rPr sz="2025" b="1">
                <a:solidFill>
                  <a:srgbClr val="F07902"/>
                </a:solidFill>
                <a:latin typeface="Arial"/>
                <a:ea typeface="Arial"/>
                <a:cs typeface="Arial"/>
              </a:rPr>
              <a:t>03</a:t>
            </a:r>
          </a:p>
        </p:txBody>
      </p:sp>
      <p:sp>
        <p:nvSpPr>
          <p:cNvPr id="22" name="Standardized value near 46,990">
            <a:extLst xmlns:a="http://schemas.openxmlformats.org/drawingml/2006/main">
              <a:ext uri="{FF2B5EF4-FFF2-40B4-BE49-F238E27FC236}">
                <a16:creationId xmlns:a16="http://schemas.microsoft.com/office/drawing/2014/main" id="{813CEE02-C546-4553-9B45-17918D7F7479}"/>
              </a:ext>
            </a:extLst>
          </p:cNvPr>
          <p:cNvSpPr>
            <a:spLocks xmlns:a="http://schemas.openxmlformats.org/drawingml/2006/main" noGrp="1"/>
          </p:cNvSpPr>
          <p:nvPr/>
        </p:nvSpPr>
        <p:spPr>
          <a:xfrm xmlns:a="http://schemas.openxmlformats.org/drawingml/2006/main">
            <a:off x="1400175" y="5286375"/>
            <a:ext cx="3409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Standardized value near 46,990</a:t>
            </a:r>
          </a:p>
        </p:txBody>
      </p:sp>
      <p:graphicFrame>
        <p:nvGraphicFramePr>
          <p:cNvPr id="23" name="Chart">
            <a:extLst xmlns:a="http://schemas.openxmlformats.org/drawingml/2006/main">
              <a:ext uri="{FF2B5EF4-FFF2-40B4-BE49-F238E27FC236}">
                <a16:creationId xmlns:a16="http://schemas.microsoft.com/office/drawing/2014/main" id="{D516DA01-B032-4589-9253-AC58BE18A1DF}"/>
              </a:ext>
            </a:extLst>
          </p:cNvPr>
          <p:cNvGraphicFramePr/>
          <p:nvPr/>
        </p:nvGraphicFramePr>
        <p:xfrm>
          <a:off xmlns:a="http://schemas.openxmlformats.org/drawingml/2006/main" x="5095875" y="2238375"/>
          <a:ext xmlns:a="http://schemas.openxmlformats.org/drawingml/2006/main" cx="6477000" cy="3286125"/>
        </p:xfrm>
        <a:graphic xmlns:a="http://schemas.openxmlformats.org/drawingml/2006/main">
          <a:graphicData uri="http://schemas.openxmlformats.org/drawingml/2006/chart">
            <c:chart xmlns:r="http://schemas.openxmlformats.org/officeDocument/2006/relationships" xmlns:c="http://schemas.openxmlformats.org/drawingml/2006/chart" r:id="R89762d595a5c4192"/>
          </a:graphicData>
        </a:graphic>
      </p:graphicFrame>
      <p:sp>
        <p:nvSpPr>
          <p:cNvPr id="24" name="The repair compares complete pipelines, including score boun">
            <a:extLst xmlns:a="http://schemas.openxmlformats.org/drawingml/2006/main">
              <a:ext uri="{FF2B5EF4-FFF2-40B4-BE49-F238E27FC236}">
                <a16:creationId xmlns:a16="http://schemas.microsoft.com/office/drawing/2014/main" id="{7D109376-C253-4CA2-835E-707E175D76A1}"/>
              </a:ext>
            </a:extLst>
          </p:cNvPr>
          <p:cNvSpPr>
            <a:spLocks xmlns:a="http://schemas.openxmlformats.org/drawingml/2006/main" noGrp="1"/>
          </p:cNvSpPr>
          <p:nvPr/>
        </p:nvSpPr>
        <p:spPr>
          <a:xfrm xmlns:a="http://schemas.openxmlformats.org/drawingml/2006/main">
            <a:off x="5238750" y="561975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013D7A"/>
                </a:solidFill>
                <a:latin typeface="Arial"/>
                <a:ea typeface="Arial"/>
                <a:cs typeface="Arial"/>
              </a:defRPr>
            </a:defPPr>
            <a:lvl1pPr algn="l">
              <a:defRPr sz="1725" b="1">
                <a:solidFill>
                  <a:srgbClr val="013D7A"/>
                </a:solidFill>
                <a:latin typeface="Arial"/>
                <a:ea typeface="Arial"/>
                <a:cs typeface="Arial"/>
              </a:defRPr>
            </a:lvl1pPr>
            <a:lvl2pPr algn="l">
              <a:defRPr sz="1725" b="1">
                <a:solidFill>
                  <a:srgbClr val="013D7A"/>
                </a:solidFill>
                <a:latin typeface="Arial"/>
                <a:ea typeface="Arial"/>
                <a:cs typeface="Arial"/>
              </a:defRPr>
            </a:lvl2pPr>
            <a:lvl3pPr algn="l">
              <a:defRPr sz="1725" b="1">
                <a:solidFill>
                  <a:srgbClr val="013D7A"/>
                </a:solidFill>
                <a:latin typeface="Arial"/>
                <a:ea typeface="Arial"/>
                <a:cs typeface="Arial"/>
              </a:defRPr>
            </a:lvl3pPr>
            <a:lvl4pPr algn="l">
              <a:defRPr sz="1725" b="1">
                <a:solidFill>
                  <a:srgbClr val="013D7A"/>
                </a:solidFill>
                <a:latin typeface="Arial"/>
                <a:ea typeface="Arial"/>
                <a:cs typeface="Arial"/>
              </a:defRPr>
            </a:lvl4pPr>
            <a:lvl5pPr algn="l">
              <a:defRPr sz="1725" b="1">
                <a:solidFill>
                  <a:srgbClr val="013D7A"/>
                </a:solidFill>
                <a:latin typeface="Arial"/>
                <a:ea typeface="Arial"/>
                <a:cs typeface="Arial"/>
              </a:defRPr>
            </a:lvl5pPr>
            <a:lvl6pPr algn="l">
              <a:defRPr sz="1725" b="1">
                <a:solidFill>
                  <a:srgbClr val="013D7A"/>
                </a:solidFill>
                <a:latin typeface="Arial"/>
                <a:ea typeface="Arial"/>
                <a:cs typeface="Arial"/>
              </a:defRPr>
            </a:lvl6pPr>
            <a:lvl7pPr algn="l">
              <a:defRPr sz="1725" b="1">
                <a:solidFill>
                  <a:srgbClr val="013D7A"/>
                </a:solidFill>
                <a:latin typeface="Arial"/>
                <a:ea typeface="Arial"/>
                <a:cs typeface="Arial"/>
              </a:defRPr>
            </a:lvl7pPr>
            <a:lvl8pPr algn="l">
              <a:defRPr sz="1725" b="1">
                <a:solidFill>
                  <a:srgbClr val="013D7A"/>
                </a:solidFill>
                <a:latin typeface="Arial"/>
                <a:ea typeface="Arial"/>
                <a:cs typeface="Arial"/>
              </a:defRPr>
            </a:lvl8pPr>
            <a:lvl9pPr algn="l">
              <a:defRPr sz="1725" b="1">
                <a:solidFill>
                  <a:srgbClr val="013D7A"/>
                </a:solidFill>
                <a:latin typeface="Arial"/>
                <a:ea typeface="Arial"/>
                <a:cs typeface="Arial"/>
              </a:defRPr>
            </a:lvl9pPr>
          </a:lstStyle>
          <a:p xmlns:a="http://schemas.openxmlformats.org/drawingml/2006/main">
            <a:pPr algn="l">
              <a:defRPr sz="1725" b="1">
                <a:solidFill>
                  <a:srgbClr val="013D7A"/>
                </a:solidFill>
                <a:latin typeface="Arial"/>
                <a:ea typeface="Arial"/>
                <a:cs typeface="Arial"/>
              </a:defRPr>
            </a:pPr>
            <a:r>
              <a:rPr sz="1725" b="1">
                <a:solidFill>
                  <a:srgbClr val="013D7A"/>
                </a:solidFill>
                <a:latin typeface="Arial"/>
                <a:ea typeface="Arial"/>
                <a:cs typeface="Arial"/>
              </a:rPr>
              <a:t>The repair compares complete pipelines, including score bounds.</a:t>
            </a:r>
          </a:p>
        </p:txBody>
      </p:sp>
      <p:sp>
        <p:nvSpPr>
          <p:cNvPr id="25" name="21">
            <a:extLst xmlns:a="http://schemas.openxmlformats.org/drawingml/2006/main">
              <a:ext uri="{FF2B5EF4-FFF2-40B4-BE49-F238E27FC236}">
                <a16:creationId xmlns:a16="http://schemas.microsoft.com/office/drawing/2014/main" id="{4C92A4DC-A1E5-44AE-BDE0-8B5144BA72DE}"/>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21</a:t>
            </a:r>
          </a:p>
        </p:txBody>
      </p:sp>
      <p:sp>
        <p:nvSpPr>
          <p:cNvPr id="26" name="The extreme prediction remains in the initial metrics. New p">
            <a:extLst xmlns:a="http://schemas.openxmlformats.org/drawingml/2006/main">
              <a:ext uri="{FF2B5EF4-FFF2-40B4-BE49-F238E27FC236}">
                <a16:creationId xmlns:a16="http://schemas.microsoft.com/office/drawing/2014/main" id="{FF6D187B-1E92-4E85-B426-CB9FE0296835}"/>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The extreme prediction remains in the initial metrics. New pipelines retain their raw predictions.</a:t>
            </a:r>
          </a:p>
        </p:txBody>
      </p:sp>
    </p:spTree>
    <p:extLst>
      <p:ext uri="{BB962C8B-B14F-4D97-AF65-F5344CB8AC3E}">
        <p14:creationId xmlns:p14="http://schemas.microsoft.com/office/powerpoint/2010/main" val="9223975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Image-level predictions show the remaining dispersion</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160518afbb744ec2"/>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2CC4EA4F-1261-4D17-8810-07E013BDAB50}"/>
              </a:ext>
            </a:extLst>
          </p:cNvPr>
          <p:cNvGraphicFramePr/>
          <p:nvPr/>
        </p:nvGraphicFramePr>
        <p:xfrm>
          <a:off xmlns:a="http://schemas.openxmlformats.org/drawingml/2006/main" x="619125" y="2000250"/>
          <a:ext xmlns:a="http://schemas.openxmlformats.org/drawingml/2006/main" cx="5286375" cy="3905250"/>
        </p:xfrm>
        <a:graphic xmlns:a="http://schemas.openxmlformats.org/drawingml/2006/main">
          <a:graphicData uri="http://schemas.openxmlformats.org/drawingml/2006/chart">
            <c:chart xmlns:r="http://schemas.openxmlformats.org/officeDocument/2006/relationships" xmlns:c="http://schemas.openxmlformats.org/drawingml/2006/chart" r:id="R2fde8d3d6a97449b"/>
          </a:graphicData>
        </a:graphic>
      </p:graphicFrame>
      <p:graphicFrame>
        <p:nvGraphicFramePr>
          <p:cNvPr id="16" name="Chart">
            <a:extLst xmlns:a="http://schemas.openxmlformats.org/drawingml/2006/main">
              <a:ext uri="{FF2B5EF4-FFF2-40B4-BE49-F238E27FC236}">
                <a16:creationId xmlns:a16="http://schemas.microsoft.com/office/drawing/2014/main" id="{725737E4-8437-45FF-ABEF-0B793FB30A6B}"/>
              </a:ext>
            </a:extLst>
          </p:cNvPr>
          <p:cNvGraphicFramePr/>
          <p:nvPr/>
        </p:nvGraphicFramePr>
        <p:xfrm>
          <a:off xmlns:a="http://schemas.openxmlformats.org/drawingml/2006/main" x="6238875" y="2000250"/>
          <a:ext xmlns:a="http://schemas.openxmlformats.org/drawingml/2006/main" cx="5286375" cy="3905250"/>
        </p:xfrm>
        <a:graphic xmlns:a="http://schemas.openxmlformats.org/drawingml/2006/main">
          <a:graphicData uri="http://schemas.openxmlformats.org/drawingml/2006/chart">
            <c:chart xmlns:r="http://schemas.openxmlformats.org/officeDocument/2006/relationships" xmlns:c="http://schemas.openxmlformats.org/drawingml/2006/chart" r:id="Rc208d5196e074757"/>
          </a:graphicData>
        </a:graphic>
      </p:graphicFrame>
      <p:sp>
        <p:nvSpPr>
          <p:cNvPr id="17" name="22">
            <a:extLst xmlns:a="http://schemas.openxmlformats.org/drawingml/2006/main">
              <a:ext uri="{FF2B5EF4-FFF2-40B4-BE49-F238E27FC236}">
                <a16:creationId xmlns:a16="http://schemas.microsoft.com/office/drawing/2014/main" id="{226CC82A-2909-47AF-A52A-FCF7055D4C8D}"/>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22</a:t>
            </a:r>
          </a:p>
        </p:txBody>
      </p:sp>
      <p:sp>
        <p:nvSpPr>
          <p:cNvPr id="18" name="Each point averages a scan’s out-of-sample predictions. This">
            <a:extLst xmlns:a="http://schemas.openxmlformats.org/drawingml/2006/main">
              <a:ext uri="{FF2B5EF4-FFF2-40B4-BE49-F238E27FC236}">
                <a16:creationId xmlns:a16="http://schemas.microsoft.com/office/drawing/2014/main" id="{D0E2105E-EC47-474C-9A00-AB5539183C43}"/>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Each point averages a scan’s out-of-sample predictions. This is a resampling visualization.</a:t>
            </a:r>
          </a:p>
        </p:txBody>
      </p:sp>
    </p:spTree>
    <p:extLst>
      <p:ext uri="{BB962C8B-B14F-4D97-AF65-F5344CB8AC3E}">
        <p14:creationId xmlns:p14="http://schemas.microsoft.com/office/powerpoint/2010/main" val="92239753"/>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High-score cases still show systematic underestimation</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fd836d584cb1457c"/>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Chart">
            <a:extLst xmlns:a="http://schemas.openxmlformats.org/drawingml/2006/main">
              <a:ext uri="{FF2B5EF4-FFF2-40B4-BE49-F238E27FC236}">
                <a16:creationId xmlns:a16="http://schemas.microsoft.com/office/drawing/2014/main" id="{F90CEDB6-2018-4D97-9C7E-C17DBDBB98BE}"/>
              </a:ext>
            </a:extLst>
          </p:cNvPr>
          <p:cNvGraphicFramePr/>
          <p:nvPr/>
        </p:nvGraphicFramePr>
        <p:xfrm>
          <a:off xmlns:a="http://schemas.openxmlformats.org/drawingml/2006/main" x="619125" y="2095500"/>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dd382444502c40d8"/>
          </a:graphicData>
        </a:graphic>
      </p:graphicFrame>
      <p:graphicFrame>
        <p:nvGraphicFramePr>
          <p:cNvPr id="16" name="Chart">
            <a:extLst xmlns:a="http://schemas.openxmlformats.org/drawingml/2006/main">
              <a:ext uri="{FF2B5EF4-FFF2-40B4-BE49-F238E27FC236}">
                <a16:creationId xmlns:a16="http://schemas.microsoft.com/office/drawing/2014/main" id="{C4429D8C-A24D-41AB-8800-AA7776E1C8BB}"/>
              </a:ext>
            </a:extLst>
          </p:cNvPr>
          <p:cNvGraphicFramePr/>
          <p:nvPr/>
        </p:nvGraphicFramePr>
        <p:xfrm>
          <a:off xmlns:a="http://schemas.openxmlformats.org/drawingml/2006/main" x="6238875" y="2095500"/>
          <a:ext xmlns:a="http://schemas.openxmlformats.org/drawingml/2006/main" cx="5334000" cy="3476625"/>
        </p:xfrm>
        <a:graphic xmlns:a="http://schemas.openxmlformats.org/drawingml/2006/main">
          <a:graphicData uri="http://schemas.openxmlformats.org/drawingml/2006/chart">
            <c:chart xmlns:r="http://schemas.openxmlformats.org/officeDocument/2006/relationships" xmlns:c="http://schemas.openxmlformats.org/drawingml/2006/chart" r:id="R8a594ba8c3a841cc"/>
          </a:graphicData>
        </a:graphic>
      </p:graphicFrame>
      <p:sp>
        <p:nvSpPr>
          <p:cNvPr id="17" name="High-opacity MAE changes only from 0.808 to 0.777 for the ob">
            <a:extLst xmlns:a="http://schemas.openxmlformats.org/drawingml/2006/main">
              <a:ext uri="{FF2B5EF4-FFF2-40B4-BE49-F238E27FC236}">
                <a16:creationId xmlns:a16="http://schemas.microsoft.com/office/drawing/2014/main" id="{B342DE59-06A1-49D9-9AC3-11B062DBDA6E}"/>
              </a:ext>
            </a:extLst>
          </p:cNvPr>
          <p:cNvSpPr>
            <a:spLocks xmlns:a="http://schemas.openxmlformats.org/drawingml/2006/main" noGrp="1"/>
          </p:cNvSpPr>
          <p:nvPr/>
        </p:nvSpPr>
        <p:spPr>
          <a:xfrm xmlns:a="http://schemas.openxmlformats.org/drawingml/2006/main">
            <a:off x="714375" y="5667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75" b="1">
                <a:solidFill>
                  <a:srgbClr val="013D7A"/>
                </a:solidFill>
                <a:latin typeface="Arial"/>
                <a:ea typeface="Arial"/>
                <a:cs typeface="Arial"/>
              </a:defRPr>
            </a:defPPr>
            <a:lvl1pPr algn="l">
              <a:defRPr sz="1875" b="1">
                <a:solidFill>
                  <a:srgbClr val="013D7A"/>
                </a:solidFill>
                <a:latin typeface="Arial"/>
                <a:ea typeface="Arial"/>
                <a:cs typeface="Arial"/>
              </a:defRPr>
            </a:lvl1pPr>
            <a:lvl2pPr algn="l">
              <a:defRPr sz="1875" b="1">
                <a:solidFill>
                  <a:srgbClr val="013D7A"/>
                </a:solidFill>
                <a:latin typeface="Arial"/>
                <a:ea typeface="Arial"/>
                <a:cs typeface="Arial"/>
              </a:defRPr>
            </a:lvl2pPr>
            <a:lvl3pPr algn="l">
              <a:defRPr sz="1875" b="1">
                <a:solidFill>
                  <a:srgbClr val="013D7A"/>
                </a:solidFill>
                <a:latin typeface="Arial"/>
                <a:ea typeface="Arial"/>
                <a:cs typeface="Arial"/>
              </a:defRPr>
            </a:lvl3pPr>
            <a:lvl4pPr algn="l">
              <a:defRPr sz="1875" b="1">
                <a:solidFill>
                  <a:srgbClr val="013D7A"/>
                </a:solidFill>
                <a:latin typeface="Arial"/>
                <a:ea typeface="Arial"/>
                <a:cs typeface="Arial"/>
              </a:defRPr>
            </a:lvl4pPr>
            <a:lvl5pPr algn="l">
              <a:defRPr sz="1875" b="1">
                <a:solidFill>
                  <a:srgbClr val="013D7A"/>
                </a:solidFill>
                <a:latin typeface="Arial"/>
                <a:ea typeface="Arial"/>
                <a:cs typeface="Arial"/>
              </a:defRPr>
            </a:lvl5pPr>
            <a:lvl6pPr algn="l">
              <a:defRPr sz="1875" b="1">
                <a:solidFill>
                  <a:srgbClr val="013D7A"/>
                </a:solidFill>
                <a:latin typeface="Arial"/>
                <a:ea typeface="Arial"/>
                <a:cs typeface="Arial"/>
              </a:defRPr>
            </a:lvl6pPr>
            <a:lvl7pPr algn="l">
              <a:defRPr sz="1875" b="1">
                <a:solidFill>
                  <a:srgbClr val="013D7A"/>
                </a:solidFill>
                <a:latin typeface="Arial"/>
                <a:ea typeface="Arial"/>
                <a:cs typeface="Arial"/>
              </a:defRPr>
            </a:lvl7pPr>
            <a:lvl8pPr algn="l">
              <a:defRPr sz="1875" b="1">
                <a:solidFill>
                  <a:srgbClr val="013D7A"/>
                </a:solidFill>
                <a:latin typeface="Arial"/>
                <a:ea typeface="Arial"/>
                <a:cs typeface="Arial"/>
              </a:defRPr>
            </a:lvl8pPr>
            <a:lvl9pPr algn="l">
              <a:defRPr sz="1875" b="1">
                <a:solidFill>
                  <a:srgbClr val="013D7A"/>
                </a:solidFill>
                <a:latin typeface="Arial"/>
                <a:ea typeface="Arial"/>
                <a:cs typeface="Arial"/>
              </a:defRPr>
            </a:lvl9pPr>
          </a:lstStyle>
          <a:p xmlns:a="http://schemas.openxmlformats.org/drawingml/2006/main">
            <a:pPr algn="l">
              <a:defRPr sz="1875" b="1">
                <a:solidFill>
                  <a:srgbClr val="013D7A"/>
                </a:solidFill>
                <a:latin typeface="Arial"/>
                <a:ea typeface="Arial"/>
                <a:cs typeface="Arial"/>
              </a:defRPr>
            </a:pPr>
            <a:r>
              <a:rPr sz="1875" b="1">
                <a:solidFill>
                  <a:srgbClr val="013D7A"/>
                </a:solidFill>
                <a:latin typeface="Arial"/>
                <a:ea typeface="Arial"/>
                <a:cs typeface="Arial"/>
              </a:rPr>
              <a:t>High-opacity MAE changes only from 0.808 to 0.777 for the observed best pipeline.</a:t>
            </a:r>
          </a:p>
        </p:txBody>
      </p:sp>
      <p:sp>
        <p:nvSpPr>
          <p:cNvPr id="18" name="23">
            <a:extLst xmlns:a="http://schemas.openxmlformats.org/drawingml/2006/main">
              <a:ext uri="{FF2B5EF4-FFF2-40B4-BE49-F238E27FC236}">
                <a16:creationId xmlns:a16="http://schemas.microsoft.com/office/drawing/2014/main" id="{28749843-55A3-4D77-958D-D62F8B66FF56}"/>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23</a:t>
            </a:r>
          </a:p>
        </p:txBody>
      </p:sp>
      <p:sp>
        <p:nvSpPr>
          <p:cNvPr id="19" name="High-score strata are exploratory: extent ≥6 and opacity ≥4.">
            <a:extLst xmlns:a="http://schemas.openxmlformats.org/drawingml/2006/main">
              <a:ext uri="{FF2B5EF4-FFF2-40B4-BE49-F238E27FC236}">
                <a16:creationId xmlns:a16="http://schemas.microsoft.com/office/drawing/2014/main" id="{FC4253C1-57DB-4264-BD7B-BCF2422C3978}"/>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High-score strata are exploratory: extent ≥6 and opacity ≥4. Negative bias indicates underestimation.</a:t>
            </a:r>
          </a:p>
        </p:txBody>
      </p:sp>
    </p:spTree>
    <p:extLst>
      <p:ext uri="{BB962C8B-B14F-4D97-AF65-F5344CB8AC3E}">
        <p14:creationId xmlns:p14="http://schemas.microsoft.com/office/powerpoint/2010/main" val="92239753"/>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Larger training folds support the representation-level gain</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0716fd4900c74fcf"/>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3EB9AAEE-A4A6-42AF-9958-A48BA35D7D21}"/>
              </a:ext>
            </a:extLst>
          </p:cNvPr>
          <p:cNvGraphicFramePr/>
          <p:nvPr/>
        </p:nvGraphicFramePr>
        <p:xfrm>
          <a:off xmlns:a="http://schemas.openxmlformats.org/drawingml/2006/main" x="619125" y="2095500"/>
          <a:ext xmlns:a="http://schemas.openxmlformats.org/drawingml/2006/main" cx="10953750" cy="3429000"/>
        </p:xfrm>
        <a:graphic xmlns:a="http://schemas.openxmlformats.org/drawingml/2006/main">
          <a:graphicData uri="http://schemas.openxmlformats.org/drawingml/2006/table">
            <a:tbl>
              <a:tblPr/>
              <a:tblGrid>
                <a:gridCol w="6000750"/>
                <a:gridCol w="2476500"/>
                <a:gridCol w="2476500"/>
              </a:tblGrid>
              <a:tr h="428625">
                <a:tc>
                  <a:txBody>
                    <a:bodyPr wrap="square">
                      <a:noAutofit/>
                    </a:bodyPr>
                    <a:lstStyle/>
                    <a:p>
                      <a:pPr algn="l"/>
                      <a:r>
                        <a:rPr sz="1725" b="1">
                          <a:solidFill>
                            <a:srgbClr val="FFFFFF"/>
                          </a:solidFill>
                          <a:latin typeface="Arial"/>
                          <a:ea typeface="Arial"/>
                          <a:cs typeface="Arial"/>
                        </a:rPr>
                        <a:t>Configuration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725" b="1">
                          <a:solidFill>
                            <a:srgbClr val="FFFFFF"/>
                          </a:solidFill>
                          <a:latin typeface="Arial"/>
                          <a:ea typeface="Arial"/>
                          <a:cs typeface="Arial"/>
                        </a:rPr>
                        <a:t>Extent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725" b="1">
                          <a:solidFill>
                            <a:srgbClr val="FFFFFF"/>
                          </a:solidFill>
                          <a:latin typeface="Arial"/>
                          <a:ea typeface="Arial"/>
                          <a:cs typeface="Arial"/>
                        </a:rPr>
                        <a:t>Opacity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428625">
                <a:tc>
                  <a:txBody>
                    <a:bodyPr wrap="square">
                      <a:noAutofit/>
                    </a:bodyPr>
                    <a:lstStyle/>
                    <a:p>
                      <a:pPr algn="l"/>
                      <a:r>
                        <a:rPr sz="1725" b="0">
                          <a:solidFill>
                            <a:srgbClr val="202832"/>
                          </a:solidFill>
                          <a:latin typeface="Arial"/>
                          <a:ea typeface="Arial"/>
                          <a:cs typeface="Arial"/>
                        </a:rPr>
                        <a:t>Bounded OLS 1</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725" b="0">
                          <a:solidFill>
                            <a:srgbClr val="202832"/>
                          </a:solidFill>
                          <a:latin typeface="Arial"/>
                          <a:ea typeface="Arial"/>
                          <a:cs typeface="Arial"/>
                        </a:rPr>
                        <a:t>1.097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725" b="0">
                          <a:solidFill>
                            <a:srgbClr val="202832"/>
                          </a:solidFill>
                          <a:latin typeface="Arial"/>
                          <a:ea typeface="Arial"/>
                          <a:cs typeface="Arial"/>
                        </a:rPr>
                        <a:t>0.779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28625">
                <a:tc>
                  <a:txBody>
                    <a:bodyPr wrap="square">
                      <a:noAutofit/>
                    </a:bodyPr>
                    <a:lstStyle/>
                    <a:p>
                      <a:pPr algn="l"/>
                      <a:r>
                        <a:rPr sz="1725" b="0">
                          <a:solidFill>
                            <a:srgbClr val="202832"/>
                          </a:solidFill>
                          <a:latin typeface="Arial"/>
                          <a:ea typeface="Arial"/>
                          <a:cs typeface="Arial"/>
                        </a:rPr>
                        <a:t>Bounded OLS 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725" b="0">
                          <a:solidFill>
                            <a:srgbClr val="202832"/>
                          </a:solidFill>
                          <a:latin typeface="Arial"/>
                          <a:ea typeface="Arial"/>
                          <a:cs typeface="Arial"/>
                        </a:rPr>
                        <a:t>1.057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725" b="0">
                          <a:solidFill>
                            <a:srgbClr val="202832"/>
                          </a:solidFill>
                          <a:latin typeface="Arial"/>
                          <a:ea typeface="Arial"/>
                          <a:cs typeface="Arial"/>
                        </a:rPr>
                        <a:t>0.723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28625">
                <a:tc>
                  <a:txBody>
                    <a:bodyPr wrap="square">
                      <a:noAutofit/>
                    </a:bodyPr>
                    <a:lstStyle/>
                    <a:p>
                      <a:pPr algn="l"/>
                      <a:r>
                        <a:rPr sz="1725" b="1">
                          <a:solidFill>
                            <a:srgbClr val="202832"/>
                          </a:solidFill>
                          <a:latin typeface="Arial"/>
                          <a:ea typeface="Arial"/>
                          <a:cs typeface="Arial"/>
                        </a:rPr>
                        <a:t>BioViL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0E3"/>
                    </a:solidFill>
                  </a:tcPr>
                </a:tc>
                <a:tc>
                  <a:txBody>
                    <a:bodyPr wrap="square">
                      <a:noAutofit/>
                    </a:bodyPr>
                    <a:lstStyle/>
                    <a:p>
                      <a:pPr algn="ctr"/>
                      <a:r>
                        <a:rPr sz="1725" b="1">
                          <a:solidFill>
                            <a:srgbClr val="202832"/>
                          </a:solidFill>
                          <a:latin typeface="Arial"/>
                          <a:ea typeface="Arial"/>
                          <a:cs typeface="Arial"/>
                        </a:rPr>
                        <a:t>0.742</a:t>
                      </a:r>
                    </a:p>
                  </a:txBody>
                  <a:tcPr marL="114300" marR="114300" marT="47625" marB="47625" anchor="ctr">
                    <a:lnR w="9525">
                      <a:solidFill>
                        <a:srgbClr val="BBCBDD"/>
                      </a:solidFill>
                      <a:prstDash val="solid"/>
                    </a:lnR>
                    <a:lnB w="9525">
                      <a:solidFill>
                        <a:srgbClr val="BBCBDD"/>
                      </a:solidFill>
                      <a:prstDash val="solid"/>
                    </a:lnB>
                    <a:solidFill>
                      <a:srgbClr val="FFF0E3"/>
                    </a:solidFill>
                  </a:tcPr>
                </a:tc>
                <a:tc>
                  <a:txBody>
                    <a:bodyPr wrap="square">
                      <a:noAutofit/>
                    </a:bodyPr>
                    <a:lstStyle/>
                    <a:p>
                      <a:pPr algn="ctr"/>
                      <a:r>
                        <a:rPr sz="1725" b="1">
                          <a:solidFill>
                            <a:srgbClr val="202832"/>
                          </a:solidFill>
                          <a:latin typeface="Arial"/>
                          <a:ea typeface="Arial"/>
                          <a:cs typeface="Arial"/>
                        </a:rPr>
                        <a:t>0.678</a:t>
                      </a:r>
                    </a:p>
                  </a:txBody>
                  <a:tcPr marL="114300" marR="114300" marT="47625" marB="47625" anchor="ctr">
                    <a:lnR w="9525">
                      <a:solidFill>
                        <a:srgbClr val="BBCBDD"/>
                      </a:solidFill>
                      <a:prstDash val="solid"/>
                    </a:lnR>
                    <a:lnB w="9525">
                      <a:solidFill>
                        <a:srgbClr val="BBCBDD"/>
                      </a:solidFill>
                      <a:prstDash val="solid"/>
                    </a:lnB>
                    <a:solidFill>
                      <a:srgbClr val="FFF0E3"/>
                    </a:solidFill>
                  </a:tcPr>
                </a:tc>
              </a:tr>
              <a:tr h="428625">
                <a:tc>
                  <a:txBody>
                    <a:bodyPr wrap="square">
                      <a:noAutofit/>
                    </a:bodyPr>
                    <a:lstStyle/>
                    <a:p>
                      <a:pPr algn="l"/>
                      <a:r>
                        <a:rPr sz="1725" b="1">
                          <a:solidFill>
                            <a:srgbClr val="202832"/>
                          </a:solidFill>
                          <a:latin typeface="Arial"/>
                          <a:ea typeface="Arial"/>
                          <a:cs typeface="Arial"/>
                        </a:rPr>
                        <a:t>BioViL-T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0E3"/>
                    </a:solidFill>
                  </a:tcPr>
                </a:tc>
                <a:tc>
                  <a:txBody>
                    <a:bodyPr wrap="square">
                      <a:noAutofit/>
                    </a:bodyPr>
                    <a:lstStyle/>
                    <a:p>
                      <a:pPr algn="ctr"/>
                      <a:r>
                        <a:rPr sz="1725" b="1">
                          <a:solidFill>
                            <a:srgbClr val="202832"/>
                          </a:solidFill>
                          <a:latin typeface="Arial"/>
                          <a:ea typeface="Arial"/>
                          <a:cs typeface="Arial"/>
                        </a:rPr>
                        <a:t>0.752</a:t>
                      </a:r>
                    </a:p>
                  </a:txBody>
                  <a:tcPr marL="114300" marR="114300" marT="47625" marB="47625" anchor="ctr">
                    <a:lnR w="9525">
                      <a:solidFill>
                        <a:srgbClr val="BBCBDD"/>
                      </a:solidFill>
                      <a:prstDash val="solid"/>
                    </a:lnR>
                    <a:lnB w="9525">
                      <a:solidFill>
                        <a:srgbClr val="BBCBDD"/>
                      </a:solidFill>
                      <a:prstDash val="solid"/>
                    </a:lnB>
                    <a:solidFill>
                      <a:srgbClr val="FFF0E3"/>
                    </a:solidFill>
                  </a:tcPr>
                </a:tc>
                <a:tc>
                  <a:txBody>
                    <a:bodyPr wrap="square">
                      <a:noAutofit/>
                    </a:bodyPr>
                    <a:lstStyle/>
                    <a:p>
                      <a:pPr algn="ctr"/>
                      <a:r>
                        <a:rPr sz="1725" b="1">
                          <a:solidFill>
                            <a:srgbClr val="202832"/>
                          </a:solidFill>
                          <a:latin typeface="Arial"/>
                          <a:ea typeface="Arial"/>
                          <a:cs typeface="Arial"/>
                        </a:rPr>
                        <a:t>0.668</a:t>
                      </a:r>
                    </a:p>
                  </a:txBody>
                  <a:tcPr marL="114300" marR="114300" marT="47625" marB="47625" anchor="ctr">
                    <a:lnR w="9525">
                      <a:solidFill>
                        <a:srgbClr val="BBCBDD"/>
                      </a:solidFill>
                      <a:prstDash val="solid"/>
                    </a:lnR>
                    <a:lnB w="9525">
                      <a:solidFill>
                        <a:srgbClr val="BBCBDD"/>
                      </a:solidFill>
                      <a:prstDash val="solid"/>
                    </a:lnB>
                    <a:solidFill>
                      <a:srgbClr val="FFF0E3"/>
                    </a:solidFill>
                  </a:tcPr>
                </a:tc>
              </a:tr>
              <a:tr h="428625">
                <a:tc>
                  <a:txBody>
                    <a:bodyPr wrap="square">
                      <a:noAutofit/>
                    </a:bodyPr>
                    <a:lstStyle/>
                    <a:p>
                      <a:pPr algn="l"/>
                      <a:r>
                        <a:rPr sz="1725" b="1">
                          <a:solidFill>
                            <a:srgbClr val="202832"/>
                          </a:solidFill>
                          <a:latin typeface="Arial"/>
                          <a:ea typeface="Arial"/>
                          <a:cs typeface="Arial"/>
                        </a:rPr>
                        <a:t>BioViL-T projected SVR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0E3"/>
                    </a:solidFill>
                  </a:tcPr>
                </a:tc>
                <a:tc>
                  <a:txBody>
                    <a:bodyPr wrap="square">
                      <a:noAutofit/>
                    </a:bodyPr>
                    <a:lstStyle/>
                    <a:p>
                      <a:pPr algn="ctr"/>
                      <a:r>
                        <a:rPr sz="1725" b="1">
                          <a:solidFill>
                            <a:srgbClr val="202832"/>
                          </a:solidFill>
                          <a:latin typeface="Arial"/>
                          <a:ea typeface="Arial"/>
                          <a:cs typeface="Arial"/>
                        </a:rPr>
                        <a:t>0.793</a:t>
                      </a:r>
                    </a:p>
                  </a:txBody>
                  <a:tcPr marL="114300" marR="114300" marT="47625" marB="47625" anchor="ctr">
                    <a:lnR w="9525">
                      <a:solidFill>
                        <a:srgbClr val="BBCBDD"/>
                      </a:solidFill>
                      <a:prstDash val="solid"/>
                    </a:lnR>
                    <a:lnB w="9525">
                      <a:solidFill>
                        <a:srgbClr val="BBCBDD"/>
                      </a:solidFill>
                      <a:prstDash val="solid"/>
                    </a:lnB>
                    <a:solidFill>
                      <a:srgbClr val="FFF0E3"/>
                    </a:solidFill>
                  </a:tcPr>
                </a:tc>
                <a:tc>
                  <a:txBody>
                    <a:bodyPr wrap="square">
                      <a:noAutofit/>
                    </a:bodyPr>
                    <a:lstStyle/>
                    <a:p>
                      <a:pPr algn="ctr"/>
                      <a:r>
                        <a:rPr sz="1725" b="1">
                          <a:solidFill>
                            <a:srgbClr val="202832"/>
                          </a:solidFill>
                          <a:latin typeface="Arial"/>
                          <a:ea typeface="Arial"/>
                          <a:cs typeface="Arial"/>
                        </a:rPr>
                        <a:t>0.624</a:t>
                      </a:r>
                    </a:p>
                  </a:txBody>
                  <a:tcPr marL="114300" marR="114300" marT="47625" marB="47625" anchor="ctr">
                    <a:lnR w="9525">
                      <a:solidFill>
                        <a:srgbClr val="BBCBDD"/>
                      </a:solidFill>
                      <a:prstDash val="solid"/>
                    </a:lnR>
                    <a:lnB w="9525">
                      <a:solidFill>
                        <a:srgbClr val="BBCBDD"/>
                      </a:solidFill>
                      <a:prstDash val="solid"/>
                    </a:lnB>
                    <a:solidFill>
                      <a:srgbClr val="FFF0E3"/>
                    </a:solidFill>
                  </a:tcPr>
                </a:tc>
              </a:tr>
              <a:tr h="428625">
                <a:tc>
                  <a:txBody>
                    <a:bodyPr wrap="square">
                      <a:noAutofit/>
                    </a:bodyPr>
                    <a:lstStyle/>
                    <a:p>
                      <a:pPr algn="l"/>
                      <a:r>
                        <a:rPr sz="1725" b="0">
                          <a:solidFill>
                            <a:srgbClr val="202832"/>
                          </a:solidFill>
                          <a:latin typeface="Arial"/>
                          <a:ea typeface="Arial"/>
                          <a:cs typeface="Arial"/>
                        </a:rPr>
                        <a:t>Training selected modern</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725" b="0">
                          <a:solidFill>
                            <a:srgbClr val="202832"/>
                          </a:solidFill>
                          <a:latin typeface="Arial"/>
                          <a:ea typeface="Arial"/>
                          <a:cs typeface="Arial"/>
                        </a:rPr>
                        <a:t>0.754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725" b="0">
                          <a:solidFill>
                            <a:srgbClr val="202832"/>
                          </a:solidFill>
                          <a:latin typeface="Arial"/>
                          <a:ea typeface="Arial"/>
                          <a:cs typeface="Arial"/>
                        </a:rPr>
                        <a:t>0.658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28625">
                <a:tc>
                  <a:txBody>
                    <a:bodyPr wrap="square">
                      <a:noAutofit/>
                    </a:bodyPr>
                    <a:lstStyle/>
                    <a:p>
                      <a:pPr algn="l"/>
                      <a:r>
                        <a:rPr sz="1725" b="0">
                          <a:solidFill>
                            <a:srgbClr val="202832"/>
                          </a:solidFill>
                          <a:latin typeface="Arial"/>
                          <a:ea typeface="Arial"/>
                          <a:cs typeface="Arial"/>
                        </a:rPr>
                        <a:t>Training selected all</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725" b="0">
                          <a:solidFill>
                            <a:srgbClr val="202832"/>
                          </a:solidFill>
                          <a:latin typeface="Arial"/>
                          <a:ea typeface="Arial"/>
                          <a:cs typeface="Arial"/>
                        </a:rPr>
                        <a:t>0.754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725" b="0">
                          <a:solidFill>
                            <a:srgbClr val="202832"/>
                          </a:solidFill>
                          <a:latin typeface="Arial"/>
                          <a:ea typeface="Arial"/>
                          <a:cs typeface="Arial"/>
                        </a:rPr>
                        <a:t>0.658</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bl>
          </a:graphicData>
        </a:graphic>
      </p:graphicFrame>
      <p:sp>
        <p:nvSpPr>
          <p:cNvPr id="16" name="The best opacity configuration changes to projected SVR.">
            <a:extLst xmlns:a="http://schemas.openxmlformats.org/drawingml/2006/main">
              <a:ext uri="{FF2B5EF4-FFF2-40B4-BE49-F238E27FC236}">
                <a16:creationId xmlns:a16="http://schemas.microsoft.com/office/drawing/2014/main" id="{088E07FB-9AD2-4249-8977-E886293D4D3F}"/>
              </a:ext>
            </a:extLst>
          </p:cNvPr>
          <p:cNvSpPr>
            <a:spLocks xmlns:a="http://schemas.openxmlformats.org/drawingml/2006/main" noGrp="1"/>
          </p:cNvSpPr>
          <p:nvPr/>
        </p:nvSpPr>
        <p:spPr>
          <a:xfrm xmlns:a="http://schemas.openxmlformats.org/drawingml/2006/main">
            <a:off x="714375" y="571500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013D7A"/>
                </a:solidFill>
                <a:latin typeface="Arial"/>
                <a:ea typeface="Arial"/>
                <a:cs typeface="Arial"/>
              </a:defRPr>
            </a:defPPr>
            <a:lvl1pPr algn="l">
              <a:defRPr sz="2025" b="1">
                <a:solidFill>
                  <a:srgbClr val="013D7A"/>
                </a:solidFill>
                <a:latin typeface="Arial"/>
                <a:ea typeface="Arial"/>
                <a:cs typeface="Arial"/>
              </a:defRPr>
            </a:lvl1pPr>
            <a:lvl2pPr algn="l">
              <a:defRPr sz="2025" b="1">
                <a:solidFill>
                  <a:srgbClr val="013D7A"/>
                </a:solidFill>
                <a:latin typeface="Arial"/>
                <a:ea typeface="Arial"/>
                <a:cs typeface="Arial"/>
              </a:defRPr>
            </a:lvl2pPr>
            <a:lvl3pPr algn="l">
              <a:defRPr sz="2025" b="1">
                <a:solidFill>
                  <a:srgbClr val="013D7A"/>
                </a:solidFill>
                <a:latin typeface="Arial"/>
                <a:ea typeface="Arial"/>
                <a:cs typeface="Arial"/>
              </a:defRPr>
            </a:lvl3pPr>
            <a:lvl4pPr algn="l">
              <a:defRPr sz="2025" b="1">
                <a:solidFill>
                  <a:srgbClr val="013D7A"/>
                </a:solidFill>
                <a:latin typeface="Arial"/>
                <a:ea typeface="Arial"/>
                <a:cs typeface="Arial"/>
              </a:defRPr>
            </a:lvl4pPr>
            <a:lvl5pPr algn="l">
              <a:defRPr sz="2025" b="1">
                <a:solidFill>
                  <a:srgbClr val="013D7A"/>
                </a:solidFill>
                <a:latin typeface="Arial"/>
                <a:ea typeface="Arial"/>
                <a:cs typeface="Arial"/>
              </a:defRPr>
            </a:lvl5pPr>
            <a:lvl6pPr algn="l">
              <a:defRPr sz="2025" b="1">
                <a:solidFill>
                  <a:srgbClr val="013D7A"/>
                </a:solidFill>
                <a:latin typeface="Arial"/>
                <a:ea typeface="Arial"/>
                <a:cs typeface="Arial"/>
              </a:defRPr>
            </a:lvl6pPr>
            <a:lvl7pPr algn="l">
              <a:defRPr sz="2025" b="1">
                <a:solidFill>
                  <a:srgbClr val="013D7A"/>
                </a:solidFill>
                <a:latin typeface="Arial"/>
                <a:ea typeface="Arial"/>
                <a:cs typeface="Arial"/>
              </a:defRPr>
            </a:lvl7pPr>
            <a:lvl8pPr algn="l">
              <a:defRPr sz="2025" b="1">
                <a:solidFill>
                  <a:srgbClr val="013D7A"/>
                </a:solidFill>
                <a:latin typeface="Arial"/>
                <a:ea typeface="Arial"/>
                <a:cs typeface="Arial"/>
              </a:defRPr>
            </a:lvl8pPr>
            <a:lvl9pPr algn="l">
              <a:defRPr sz="2025" b="1">
                <a:solidFill>
                  <a:srgbClr val="013D7A"/>
                </a:solidFill>
                <a:latin typeface="Arial"/>
                <a:ea typeface="Arial"/>
                <a:cs typeface="Arial"/>
              </a:defRPr>
            </a:lvl9pPr>
          </a:lstStyle>
          <a:p xmlns:a="http://schemas.openxmlformats.org/drawingml/2006/main">
            <a:pPr algn="l">
              <a:defRPr sz="2025" b="1">
                <a:solidFill>
                  <a:srgbClr val="013D7A"/>
                </a:solidFill>
                <a:latin typeface="Arial"/>
                <a:ea typeface="Arial"/>
                <a:cs typeface="Arial"/>
              </a:defRPr>
            </a:pPr>
            <a:r>
              <a:rPr sz="2025" b="1">
                <a:solidFill>
                  <a:srgbClr val="013D7A"/>
                </a:solidFill>
                <a:latin typeface="Arial"/>
                <a:ea typeface="Arial"/>
                <a:cs typeface="Arial"/>
              </a:rPr>
              <a:t>The best opacity configuration changes to projected SVR.</a:t>
            </a:r>
          </a:p>
        </p:txBody>
      </p:sp>
      <p:sp>
        <p:nvSpPr>
          <p:cNvPr id="17" name="24">
            <a:extLst xmlns:a="http://schemas.openxmlformats.org/drawingml/2006/main">
              <a:ext uri="{FF2B5EF4-FFF2-40B4-BE49-F238E27FC236}">
                <a16:creationId xmlns:a16="http://schemas.microsoft.com/office/drawing/2014/main" id="{C5E6D381-7313-45FB-8B62-374105C52F76}"/>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24</a:t>
            </a:r>
          </a:p>
        </p:txBody>
      </p:sp>
      <p:sp>
        <p:nvSpPr>
          <p:cNvPr id="18" name="Every patient is tested once. These are pooled MAEs, not the">
            <a:extLst xmlns:a="http://schemas.openxmlformats.org/drawingml/2006/main">
              <a:ext uri="{FF2B5EF4-FFF2-40B4-BE49-F238E27FC236}">
                <a16:creationId xmlns:a16="http://schemas.microsoft.com/office/drawing/2014/main" id="{E7DFC9DE-EF0D-4E51-8829-848D01691995}"/>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Every patient is tested once. These are pooled MAEs, not the unweighted mean of five fold MAEs.</a:t>
            </a:r>
          </a:p>
        </p:txBody>
      </p:sp>
    </p:spTree>
    <p:extLst>
      <p:ext uri="{BB962C8B-B14F-4D97-AF65-F5344CB8AC3E}">
        <p14:creationId xmlns:p14="http://schemas.microsoft.com/office/powerpoint/2010/main" val="9223975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gain depends on the representation and the task</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sp>
        <p:nvSpPr>
          <p:cNvPr id="2" name="矩形 1">
            <a:extLst xmlns:a="http://schemas.openxmlformats.org/drawingml/2006/main">
              <a:ext uri="{FF2B5EF4-FFF2-40B4-BE49-F238E27FC236}">
                <a16:creationId xmlns:a16="http://schemas.microsoft.com/office/drawing/2014/main" id="{B1B9AA61-34D3-0F24-F95E-A09C37739F28}"/>
              </a:ext>
            </a:extLst>
          </p:cNvPr>
          <p:cNvSpPr>
            <a:spLocks xmlns:a="http://schemas.openxmlformats.org/drawingml/2006/main" noGrp="1"/>
          </p:cNvSpPr>
          <p:nvPr/>
        </p:nvSpPr>
        <p:spPr>
          <a:xfrm xmlns:a="http://schemas.openxmlformats.org/drawingml/2006/main">
            <a:off x="1057097" y="2165753"/>
            <a:ext cx="4572738" cy="999290"/>
          </a:xfrm>
          <a:prstGeom xmlns:a="http://schemas.openxmlformats.org/drawingml/2006/main" prst="rect">
            <a:avLst/>
          </a:prstGeom>
          <a:solidFill xmlns:a="http://schemas.openxmlformats.org/drawingml/2006/main">
            <a:schemeClr val="accent1"/>
          </a:solidFill>
          <a:ln xmlns:a="http://schemas.openxmlformats.org/drawingml/2006/main">
            <a:solidFill>
              <a:schemeClr val="accent1">
                <a:alpha val="59773"/>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2">
            <a:extLst xmlns:a="http://schemas.openxmlformats.org/drawingml/2006/main">
              <a:ext uri="{FF2B5EF4-FFF2-40B4-BE49-F238E27FC236}">
                <a16:creationId xmlns:a16="http://schemas.microsoft.com/office/drawing/2014/main" id="{102C4FF4-DC82-6306-8D17-F9ED4ADC8A4F}"/>
              </a:ext>
            </a:extLst>
          </p:cNvPr>
          <p:cNvSpPr>
            <a:spLocks xmlns:a="http://schemas.openxmlformats.org/drawingml/2006/main" noGrp="1"/>
          </p:cNvSpPr>
          <p:nvPr/>
        </p:nvSpPr>
        <p:spPr>
          <a:xfrm xmlns:a="http://schemas.openxmlformats.org/drawingml/2006/main">
            <a:off x="1057097" y="3165042"/>
            <a:ext cx="4572738" cy="3145313"/>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9773"/>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文本框 9">
            <a:extLst xmlns:a="http://schemas.openxmlformats.org/drawingml/2006/main">
              <a:ext uri="{FF2B5EF4-FFF2-40B4-BE49-F238E27FC236}">
                <a16:creationId xmlns:a16="http://schemas.microsoft.com/office/drawing/2014/main" id="{00778DB8-A95F-3C5E-9D85-D183374A39B6}"/>
              </a:ext>
            </a:extLst>
          </p:cNvPr>
          <p:cNvSpPr>
            <a:spLocks xmlns:a="http://schemas.openxmlformats.org/drawingml/2006/main" noGrp="1"/>
          </p:cNvSpPr>
          <p:nvPr/>
        </p:nvSpPr>
        <p:spPr>
          <a:xfrm xmlns:a="http://schemas.openxmlformats.org/drawingml/2006/main" flipH="1">
            <a:off x="1272283" y="2320319"/>
            <a:ext cx="4142363" cy="44348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lnSpc>
                <a:spcPct val="110000"/>
              </a:lnSpc>
              <a:buNone/>
              <a:defRPr sz="2100" b="1">
                <a:solidFill>
                  <a:srgbClr val="FFFFFF"/>
                </a:solidFill>
                <a:latin typeface="Arial"/>
                <a:ea typeface="Arial"/>
                <a:cs typeface="Arial"/>
              </a:defRPr>
            </a:pPr>
            <a:r>
              <a:rPr sz="2100" b="1">
                <a:solidFill>
                  <a:srgbClr val="FFFFFF"/>
                </a:solidFill>
                <a:latin typeface="Arial"/>
                <a:ea typeface="Arial"/>
                <a:cs typeface="Arial"/>
              </a:rPr>
              <a:t>What the experiments show</a:t>
            </a:r>
            <a:endParaRPr sz="2400" b="1">
              <a:solidFill>
                <a:schemeClr val="bg1"/>
              </a:solidFill>
              <a:latin typeface="Microsoft YaHei"/>
              <a:ea typeface="Microsoft YaHei"/>
              <a:cs typeface="Microsoft YaHei"/>
            </a:endParaRPr>
          </a:p>
        </p:txBody>
      </p:sp>
      <p:sp>
        <p:nvSpPr>
          <p:cNvPr id="12" name="文本框 11">
            <a:extLst xmlns:a="http://schemas.openxmlformats.org/drawingml/2006/main">
              <a:ext uri="{FF2B5EF4-FFF2-40B4-BE49-F238E27FC236}">
                <a16:creationId xmlns:a16="http://schemas.microsoft.com/office/drawing/2014/main" id="{E4B33BD4-DBB8-B999-97E1-33AE5EC84F0E}"/>
              </a:ext>
            </a:extLst>
          </p:cNvPr>
          <p:cNvSpPr>
            <a:spLocks xmlns:a="http://schemas.openxmlformats.org/drawingml/2006/main" noGrp="1"/>
          </p:cNvSpPr>
          <p:nvPr/>
        </p:nvSpPr>
        <p:spPr>
          <a:xfrm xmlns:a="http://schemas.openxmlformats.org/drawingml/2006/main">
            <a:off x="1381125" y="3352800"/>
            <a:ext cx="3857625" cy="8191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marL="285750" indent="-285750" algn="l">
              <a:lnSpc>
                <a:spcPct val="120000"/>
              </a:lnSpc>
              <a:buSzPct val="80000"/>
              <a:buFont typeface="Wingdings"/>
              <a:buChar char="n"/>
              <a:defRPr sz="1725" b="0">
                <a:solidFill>
                  <a:srgbClr val="202832"/>
                </a:solidFill>
                <a:latin typeface="Arial"/>
                <a:ea typeface="Arial"/>
                <a:cs typeface="Arial"/>
              </a:defRPr>
            </a:pPr>
            <a:r>
              <a:rPr sz="1725" b="0">
                <a:solidFill>
                  <a:srgbClr val="202832"/>
                </a:solidFill>
                <a:latin typeface="Arial"/>
                <a:ea typeface="Arial"/>
                <a:cs typeface="Arial"/>
              </a:rPr>
              <a:t>BioViL-based pipelines lead this cohort.</a:t>
            </a:r>
          </a:p>
        </p:txBody>
      </p:sp>
      <p:sp>
        <p:nvSpPr>
          <p:cNvPr id="15" name="文本框 14">
            <a:extLst xmlns:a="http://schemas.openxmlformats.org/drawingml/2006/main">
              <a:ext uri="{FF2B5EF4-FFF2-40B4-BE49-F238E27FC236}">
                <a16:creationId xmlns:a16="http://schemas.microsoft.com/office/drawing/2014/main" id="{D93AF92F-0136-3B60-BE81-7D0497802599}"/>
              </a:ext>
            </a:extLst>
          </p:cNvPr>
          <p:cNvSpPr>
            <a:spLocks xmlns:a="http://schemas.openxmlformats.org/drawingml/2006/main" noGrp="1"/>
          </p:cNvSpPr>
          <p:nvPr/>
        </p:nvSpPr>
        <p:spPr>
          <a:xfrm xmlns:a="http://schemas.openxmlformats.org/drawingml/2006/main">
            <a:off x="1381125" y="4305300"/>
            <a:ext cx="3857625" cy="8191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marL="285750" indent="-285750" algn="l">
              <a:lnSpc>
                <a:spcPct val="120000"/>
              </a:lnSpc>
              <a:buSzPct val="80000"/>
              <a:buFont typeface="Wingdings"/>
              <a:buChar char="n"/>
              <a:defRPr sz="1725" b="0">
                <a:solidFill>
                  <a:srgbClr val="202832"/>
                </a:solidFill>
                <a:latin typeface="Arial"/>
                <a:ea typeface="Arial"/>
                <a:cs typeface="Arial"/>
              </a:defRPr>
            </a:pPr>
            <a:r>
              <a:rPr sz="1725" b="0">
                <a:solidFill>
                  <a:srgbClr val="202832"/>
                </a:solidFill>
                <a:latin typeface="Arial"/>
                <a:ea typeface="Arial"/>
                <a:cs typeface="Arial"/>
              </a:rPr>
              <a:t>PCA Ridge works better than the tested 128-dimensional projections for extent.</a:t>
            </a:r>
          </a:p>
        </p:txBody>
      </p:sp>
      <p:sp>
        <p:nvSpPr>
          <p:cNvPr id="16" name="文本框 15">
            <a:extLst xmlns:a="http://schemas.openxmlformats.org/drawingml/2006/main">
              <a:ext uri="{FF2B5EF4-FFF2-40B4-BE49-F238E27FC236}">
                <a16:creationId xmlns:a16="http://schemas.microsoft.com/office/drawing/2014/main" id="{9DC70357-DD1F-E0B0-A365-1129621B9CC0}"/>
              </a:ext>
            </a:extLst>
          </p:cNvPr>
          <p:cNvSpPr>
            <a:spLocks xmlns:a="http://schemas.openxmlformats.org/drawingml/2006/main" noGrp="1"/>
          </p:cNvSpPr>
          <p:nvPr/>
        </p:nvSpPr>
        <p:spPr>
          <a:xfrm xmlns:a="http://schemas.openxmlformats.org/drawingml/2006/main">
            <a:off x="1381125" y="5257800"/>
            <a:ext cx="3857625" cy="8191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marL="285750" indent="-285750" algn="l">
              <a:lnSpc>
                <a:spcPct val="120000"/>
              </a:lnSpc>
              <a:buSzPct val="80000"/>
              <a:buFont typeface="Wingdings"/>
              <a:buChar char="n"/>
              <a:defRPr sz="1725" b="0">
                <a:solidFill>
                  <a:srgbClr val="202832"/>
                </a:solidFill>
                <a:latin typeface="Arial"/>
                <a:ea typeface="Arial"/>
                <a:cs typeface="Arial"/>
              </a:defRPr>
            </a:pPr>
            <a:r>
              <a:rPr sz="1725" b="0">
                <a:solidFill>
                  <a:srgbClr val="202832"/>
                </a:solidFill>
                <a:latin typeface="Arial"/>
                <a:ea typeface="Arial"/>
                <a:cs typeface="Arial"/>
              </a:rPr>
              <a:t>RAD-DINO trails the bounded references in all four main configurations.</a:t>
            </a:r>
          </a:p>
        </p:txBody>
      </p:sp>
      <p:sp>
        <p:nvSpPr>
          <p:cNvPr id="17" name="矩形 16">
            <a:extLst xmlns:a="http://schemas.openxmlformats.org/drawingml/2006/main">
              <a:ext uri="{FF2B5EF4-FFF2-40B4-BE49-F238E27FC236}">
                <a16:creationId xmlns:a16="http://schemas.microsoft.com/office/drawing/2014/main" id="{D8B87BBD-C19C-3751-A4F4-D3DCB180E860}"/>
              </a:ext>
            </a:extLst>
          </p:cNvPr>
          <p:cNvSpPr>
            <a:spLocks xmlns:a="http://schemas.openxmlformats.org/drawingml/2006/main" noGrp="1"/>
          </p:cNvSpPr>
          <p:nvPr/>
        </p:nvSpPr>
        <p:spPr>
          <a:xfrm xmlns:a="http://schemas.openxmlformats.org/drawingml/2006/main">
            <a:off x="6206163" y="2165753"/>
            <a:ext cx="4572738" cy="999290"/>
          </a:xfrm>
          <a:prstGeom xmlns:a="http://schemas.openxmlformats.org/drawingml/2006/main" prst="rect">
            <a:avLst/>
          </a:prstGeom>
          <a:solidFill xmlns:a="http://schemas.openxmlformats.org/drawingml/2006/main">
            <a:schemeClr val="accent1"/>
          </a:solidFill>
          <a:ln xmlns:a="http://schemas.openxmlformats.org/drawingml/2006/main">
            <a:solidFill>
              <a:schemeClr val="accent1">
                <a:alpha val="59773"/>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矩形 17">
            <a:extLst xmlns:a="http://schemas.openxmlformats.org/drawingml/2006/main">
              <a:ext uri="{FF2B5EF4-FFF2-40B4-BE49-F238E27FC236}">
                <a16:creationId xmlns:a16="http://schemas.microsoft.com/office/drawing/2014/main" id="{FE589500-7A2A-78FE-F49F-C6E567F24E9D}"/>
              </a:ext>
            </a:extLst>
          </p:cNvPr>
          <p:cNvSpPr>
            <a:spLocks xmlns:a="http://schemas.openxmlformats.org/drawingml/2006/main" noGrp="1"/>
          </p:cNvSpPr>
          <p:nvPr/>
        </p:nvSpPr>
        <p:spPr>
          <a:xfrm xmlns:a="http://schemas.openxmlformats.org/drawingml/2006/main">
            <a:off x="6206163" y="3165042"/>
            <a:ext cx="4572738" cy="3145313"/>
          </a:xfrm>
          <a:prstGeom xmlns:a="http://schemas.openxmlformats.org/drawingml/2006/main" prst="rect">
            <a:avLst/>
          </a:prstGeom>
          <a:solidFill xmlns:a="http://schemas.openxmlformats.org/drawingml/2006/main">
            <a:schemeClr val="bg1"/>
          </a:solidFill>
          <a:ln xmlns:a="http://schemas.openxmlformats.org/drawingml/2006/main">
            <a:solidFill>
              <a:schemeClr val="accent1">
                <a:alpha val="59773"/>
              </a:schemeClr>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文本框 18">
            <a:extLst xmlns:a="http://schemas.openxmlformats.org/drawingml/2006/main">
              <a:ext uri="{FF2B5EF4-FFF2-40B4-BE49-F238E27FC236}">
                <a16:creationId xmlns:a16="http://schemas.microsoft.com/office/drawing/2014/main" id="{3B2C7DC0-8498-3556-4D43-2ADDB597462E}"/>
              </a:ext>
            </a:extLst>
          </p:cNvPr>
          <p:cNvSpPr>
            <a:spLocks xmlns:a="http://schemas.openxmlformats.org/drawingml/2006/main" noGrp="1"/>
          </p:cNvSpPr>
          <p:nvPr/>
        </p:nvSpPr>
        <p:spPr>
          <a:xfrm xmlns:a="http://schemas.openxmlformats.org/drawingml/2006/main" flipH="1">
            <a:off x="6421349" y="2320319"/>
            <a:ext cx="4142363" cy="44348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2100" b="1">
                <a:solidFill>
                  <a:srgbClr val="FFFFFF"/>
                </a:solidFill>
                <a:latin typeface="Arial"/>
                <a:ea typeface="Arial"/>
                <a:cs typeface="Arial"/>
              </a:defRPr>
            </a:defPPr>
            <a:lvl1pPr algn="ctr">
              <a:defRPr sz="2100" b="1">
                <a:solidFill>
                  <a:srgbClr val="FFFFFF"/>
                </a:solidFill>
                <a:latin typeface="Arial"/>
                <a:ea typeface="Arial"/>
                <a:cs typeface="Arial"/>
              </a:defRPr>
            </a:lvl1pPr>
            <a:lvl2pPr algn="ctr">
              <a:defRPr sz="2100" b="1">
                <a:solidFill>
                  <a:srgbClr val="FFFFFF"/>
                </a:solidFill>
                <a:latin typeface="Arial"/>
                <a:ea typeface="Arial"/>
                <a:cs typeface="Arial"/>
              </a:defRPr>
            </a:lvl2pPr>
            <a:lvl3pPr algn="ctr">
              <a:defRPr sz="2100" b="1">
                <a:solidFill>
                  <a:srgbClr val="FFFFFF"/>
                </a:solidFill>
                <a:latin typeface="Arial"/>
                <a:ea typeface="Arial"/>
                <a:cs typeface="Arial"/>
              </a:defRPr>
            </a:lvl3pPr>
            <a:lvl4pPr algn="ctr">
              <a:defRPr sz="2100" b="1">
                <a:solidFill>
                  <a:srgbClr val="FFFFFF"/>
                </a:solidFill>
                <a:latin typeface="Arial"/>
                <a:ea typeface="Arial"/>
                <a:cs typeface="Arial"/>
              </a:defRPr>
            </a:lvl4pPr>
            <a:lvl5pPr algn="ctr">
              <a:defRPr sz="2100" b="1">
                <a:solidFill>
                  <a:srgbClr val="FFFFFF"/>
                </a:solidFill>
                <a:latin typeface="Arial"/>
                <a:ea typeface="Arial"/>
                <a:cs typeface="Arial"/>
              </a:defRPr>
            </a:lvl5pPr>
            <a:lvl6pPr algn="ctr">
              <a:defRPr sz="2100" b="1">
                <a:solidFill>
                  <a:srgbClr val="FFFFFF"/>
                </a:solidFill>
                <a:latin typeface="Arial"/>
                <a:ea typeface="Arial"/>
                <a:cs typeface="Arial"/>
              </a:defRPr>
            </a:lvl6pPr>
            <a:lvl7pPr algn="ctr">
              <a:defRPr sz="2100" b="1">
                <a:solidFill>
                  <a:srgbClr val="FFFFFF"/>
                </a:solidFill>
                <a:latin typeface="Arial"/>
                <a:ea typeface="Arial"/>
                <a:cs typeface="Arial"/>
              </a:defRPr>
            </a:lvl7pPr>
            <a:lvl8pPr algn="ctr">
              <a:defRPr sz="2100" b="1">
                <a:solidFill>
                  <a:srgbClr val="FFFFFF"/>
                </a:solidFill>
                <a:latin typeface="Arial"/>
                <a:ea typeface="Arial"/>
                <a:cs typeface="Arial"/>
              </a:defRPr>
            </a:lvl8pPr>
            <a:lvl9pPr algn="ctr">
              <a:defRPr sz="2100" b="1">
                <a:solidFill>
                  <a:srgbClr val="FFFFFF"/>
                </a:solidFill>
                <a:latin typeface="Arial"/>
                <a:ea typeface="Arial"/>
                <a:cs typeface="Arial"/>
              </a:defRPr>
            </a:lvl9pPr>
          </a:lstStyle>
          <a:p xmlns:a="http://schemas.openxmlformats.org/drawingml/2006/main">
            <a:pPr algn="ctr">
              <a:lnSpc>
                <a:spcPct val="110000"/>
              </a:lnSpc>
              <a:buNone/>
              <a:defRPr sz="2100" b="1">
                <a:solidFill>
                  <a:srgbClr val="FFFFFF"/>
                </a:solidFill>
                <a:latin typeface="Arial"/>
                <a:ea typeface="Arial"/>
                <a:cs typeface="Arial"/>
              </a:defRPr>
            </a:pPr>
            <a:r>
              <a:rPr sz="2100" b="1">
                <a:solidFill>
                  <a:srgbClr val="FFFFFF"/>
                </a:solidFill>
                <a:latin typeface="Arial"/>
                <a:ea typeface="Arial"/>
                <a:cs typeface="Arial"/>
              </a:rPr>
              <a:t>What remains a hypothesis</a:t>
            </a:r>
            <a:endParaRPr sz="2000" b="1">
              <a:solidFill>
                <a:schemeClr val="bg1"/>
              </a:solidFill>
              <a:latin typeface="Microsoft YaHei"/>
              <a:ea typeface="Microsoft YaHei"/>
              <a:cs typeface="Microsoft YaHei"/>
            </a:endParaRPr>
          </a:p>
        </p:txBody>
      </p:sp>
      <p:sp>
        <p:nvSpPr>
          <p:cNvPr id="20" name="文本框 19">
            <a:extLst xmlns:a="http://schemas.openxmlformats.org/drawingml/2006/main">
              <a:ext uri="{FF2B5EF4-FFF2-40B4-BE49-F238E27FC236}">
                <a16:creationId xmlns:a16="http://schemas.microsoft.com/office/drawing/2014/main" id="{F75DCE56-3FE9-C492-509B-EA08E947474B}"/>
              </a:ext>
            </a:extLst>
          </p:cNvPr>
          <p:cNvSpPr>
            <a:spLocks xmlns:a="http://schemas.openxmlformats.org/drawingml/2006/main" noGrp="1"/>
          </p:cNvSpPr>
          <p:nvPr/>
        </p:nvSpPr>
        <p:spPr>
          <a:xfrm xmlns:a="http://schemas.openxmlformats.org/drawingml/2006/main">
            <a:off x="6524625" y="3352800"/>
            <a:ext cx="3857625" cy="8191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marL="285750" indent="-285750" algn="l">
              <a:lnSpc>
                <a:spcPct val="120000"/>
              </a:lnSpc>
              <a:buSzPct val="80000"/>
              <a:buFont typeface="Wingdings"/>
              <a:buChar char="n"/>
              <a:defRPr sz="1725" b="0">
                <a:solidFill>
                  <a:srgbClr val="202832"/>
                </a:solidFill>
                <a:latin typeface="Arial"/>
                <a:ea typeface="Arial"/>
                <a:cs typeface="Arial"/>
              </a:defRPr>
            </a:pPr>
            <a:r>
              <a:rPr sz="1725" b="0">
                <a:solidFill>
                  <a:srgbClr val="202832"/>
                </a:solidFill>
                <a:latin typeface="Arial"/>
                <a:ea typeface="Arial"/>
                <a:cs typeface="Arial"/>
              </a:rPr>
              <a:t>Pretraining objectives may preserve different severity information.</a:t>
            </a:r>
          </a:p>
        </p:txBody>
      </p:sp>
      <p:sp>
        <p:nvSpPr>
          <p:cNvPr id="21" name="文本框 20">
            <a:extLst xmlns:a="http://schemas.openxmlformats.org/drawingml/2006/main">
              <a:ext uri="{FF2B5EF4-FFF2-40B4-BE49-F238E27FC236}">
                <a16:creationId xmlns:a16="http://schemas.microsoft.com/office/drawing/2014/main" id="{C5B01EB0-032E-5AF7-317F-302FEF7A44C8}"/>
              </a:ext>
            </a:extLst>
          </p:cNvPr>
          <p:cNvSpPr>
            <a:spLocks xmlns:a="http://schemas.openxmlformats.org/drawingml/2006/main" noGrp="1"/>
          </p:cNvSpPr>
          <p:nvPr/>
        </p:nvSpPr>
        <p:spPr>
          <a:xfrm xmlns:a="http://schemas.openxmlformats.org/drawingml/2006/main">
            <a:off x="6524625" y="4305300"/>
            <a:ext cx="3857625" cy="8191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marL="285750" indent="-285750" algn="l">
              <a:lnSpc>
                <a:spcPct val="120000"/>
              </a:lnSpc>
              <a:buSzPct val="80000"/>
              <a:buFont typeface="Wingdings"/>
              <a:buChar char="n"/>
              <a:defRPr sz="1725" b="0">
                <a:solidFill>
                  <a:srgbClr val="202832"/>
                </a:solidFill>
                <a:latin typeface="Arial"/>
                <a:ea typeface="Arial"/>
                <a:cs typeface="Arial"/>
              </a:defRPr>
            </a:pPr>
            <a:r>
              <a:rPr sz="1725" b="0">
                <a:solidFill>
                  <a:srgbClr val="202832"/>
                </a:solidFill>
                <a:latin typeface="Arial"/>
                <a:ea typeface="Arial"/>
                <a:cs typeface="Arial"/>
              </a:rPr>
              <a:t>Native crop and resolution also differ between encoders.</a:t>
            </a:r>
          </a:p>
        </p:txBody>
      </p:sp>
      <p:sp>
        <p:nvSpPr>
          <p:cNvPr id="22" name="文本框 21">
            <a:extLst xmlns:a="http://schemas.openxmlformats.org/drawingml/2006/main">
              <a:ext uri="{FF2B5EF4-FFF2-40B4-BE49-F238E27FC236}">
                <a16:creationId xmlns:a16="http://schemas.microsoft.com/office/drawing/2014/main" id="{F3832662-0EEA-5CFA-1508-088A6BAEBE55}"/>
              </a:ext>
            </a:extLst>
          </p:cNvPr>
          <p:cNvSpPr>
            <a:spLocks xmlns:a="http://schemas.openxmlformats.org/drawingml/2006/main" noGrp="1"/>
          </p:cNvSpPr>
          <p:nvPr/>
        </p:nvSpPr>
        <p:spPr>
          <a:xfrm xmlns:a="http://schemas.openxmlformats.org/drawingml/2006/main">
            <a:off x="6524625" y="5257800"/>
            <a:ext cx="3857625" cy="8191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marL="285750" indent="-285750" algn="l">
              <a:lnSpc>
                <a:spcPct val="120000"/>
              </a:lnSpc>
              <a:buSzPct val="80000"/>
              <a:buFont typeface="Wingdings"/>
              <a:buChar char="n"/>
              <a:defRPr sz="1725" b="0">
                <a:solidFill>
                  <a:srgbClr val="202832"/>
                </a:solidFill>
                <a:latin typeface="Arial"/>
                <a:ea typeface="Arial"/>
                <a:cs typeface="Arial"/>
              </a:defRPr>
            </a:pPr>
            <a:r>
              <a:rPr sz="1725" b="0">
                <a:solidFill>
                  <a:srgbClr val="202832"/>
                </a:solidFill>
                <a:latin typeface="Arial"/>
                <a:ea typeface="Arial"/>
                <a:cs typeface="Arial"/>
              </a:rPr>
              <a:t>A new cohort must test the selected complete pipeline.</a:t>
            </a: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158f1bf8b7894b13"/>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3" name="25">
            <a:extLst xmlns:a="http://schemas.openxmlformats.org/drawingml/2006/main">
              <a:ext uri="{FF2B5EF4-FFF2-40B4-BE49-F238E27FC236}">
                <a16:creationId xmlns:a16="http://schemas.microsoft.com/office/drawing/2014/main" id="{6DF298E7-9C44-45FA-924C-4F337C3021D3}"/>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25</a:t>
            </a:r>
          </a:p>
        </p:txBody>
      </p:sp>
    </p:spTree>
    <p:extLst>
      <p:ext uri="{BB962C8B-B14F-4D97-AF65-F5344CB8AC3E}">
        <p14:creationId xmlns:p14="http://schemas.microsoft.com/office/powerpoint/2010/main" val="9223975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solidFill>
                <a:schemeClr val="accent1"/>
              </a:solidFill>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71DC410-08A9-4E45-8321-C79DCC4C079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Further validation needs new evidence</a:t>
            </a:r>
            <a:endParaRPr sz="2800" b="1">
              <a:solidFill>
                <a:schemeClr val="accent1"/>
              </a:solidFill>
              <a:latin typeface="Arial"/>
              <a:ea typeface="Arial"/>
              <a:cs typeface="Arial"/>
            </a:endParaRPr>
          </a:p>
        </p:txBody>
      </p:sp>
      <p:sp>
        <p:nvSpPr>
          <p:cNvPr id="2" name="椭圆 1">
            <a:extLst xmlns:a="http://schemas.openxmlformats.org/drawingml/2006/main">
              <a:ext uri="{FF2B5EF4-FFF2-40B4-BE49-F238E27FC236}">
                <a16:creationId xmlns:a16="http://schemas.microsoft.com/office/drawing/2014/main" id="{3079DF05-B745-68C9-29E5-677C045758C4}"/>
              </a:ext>
            </a:extLst>
          </p:cNvPr>
          <p:cNvSpPr>
            <a:spLocks xmlns:a="http://schemas.openxmlformats.org/drawingml/2006/main" noGrp="1"/>
          </p:cNvSpPr>
          <p:nvPr/>
        </p:nvSpPr>
        <p:spPr>
          <a:xfrm xmlns:a="http://schemas.openxmlformats.org/drawingml/2006/main">
            <a:off x="1079724" y="3136626"/>
            <a:ext cx="2057400" cy="2057400"/>
          </a:xfrm>
          <a:prstGeom xmlns:a="http://schemas.openxmlformats.org/drawingml/2006/main" prst="ellipse">
            <a:avLst/>
          </a:prstGeom>
          <a:ln xmlns:a="http://schemas.openxmlformats.org/drawingml/2006/main">
            <a:solidFill>
              <a:schemeClr val="accent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矩形: 圆角 2">
            <a:extLst xmlns:a="http://schemas.openxmlformats.org/drawingml/2006/main">
              <a:ext uri="{FF2B5EF4-FFF2-40B4-BE49-F238E27FC236}">
                <a16:creationId xmlns:a16="http://schemas.microsoft.com/office/drawing/2014/main" id="{66D7FAED-7B6F-8E5F-EC8C-C366BA6A72B7}"/>
              </a:ext>
            </a:extLst>
          </p:cNvPr>
          <p:cNvSpPr>
            <a:spLocks xmlns:a="http://schemas.openxmlformats.org/drawingml/2006/main" noGrp="1"/>
          </p:cNvSpPr>
          <p:nvPr/>
        </p:nvSpPr>
        <p:spPr>
          <a:xfrm xmlns:a="http://schemas.openxmlformats.org/drawingml/2006/main">
            <a:off x="3766285" y="2514326"/>
            <a:ext cx="7369803" cy="571500"/>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9525">
            <a:solidFill>
              <a:schemeClr val="accent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矩形: 圆角 3">
            <a:extLst xmlns:a="http://schemas.openxmlformats.org/drawingml/2006/main">
              <a:ext uri="{FF2B5EF4-FFF2-40B4-BE49-F238E27FC236}">
                <a16:creationId xmlns:a16="http://schemas.microsoft.com/office/drawing/2014/main" id="{AB846988-8FA7-E44B-E84E-19CD007D77EC}"/>
              </a:ext>
            </a:extLst>
          </p:cNvPr>
          <p:cNvSpPr>
            <a:spLocks xmlns:a="http://schemas.openxmlformats.org/drawingml/2006/main" noGrp="1"/>
          </p:cNvSpPr>
          <p:nvPr/>
        </p:nvSpPr>
        <p:spPr>
          <a:xfrm xmlns:a="http://schemas.openxmlformats.org/drawingml/2006/main">
            <a:off x="3766285" y="3426609"/>
            <a:ext cx="7369803" cy="571500"/>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9525">
            <a:solidFill>
              <a:schemeClr val="accent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矩形: 圆角 4">
            <a:extLst xmlns:a="http://schemas.openxmlformats.org/drawingml/2006/main">
              <a:ext uri="{FF2B5EF4-FFF2-40B4-BE49-F238E27FC236}">
                <a16:creationId xmlns:a16="http://schemas.microsoft.com/office/drawing/2014/main" id="{33094702-7992-F4A3-83F5-2509F1B23AD9}"/>
              </a:ext>
            </a:extLst>
          </p:cNvPr>
          <p:cNvSpPr>
            <a:spLocks xmlns:a="http://schemas.openxmlformats.org/drawingml/2006/main" noGrp="1"/>
          </p:cNvSpPr>
          <p:nvPr/>
        </p:nvSpPr>
        <p:spPr>
          <a:xfrm xmlns:a="http://schemas.openxmlformats.org/drawingml/2006/main">
            <a:off x="3766285" y="4338892"/>
            <a:ext cx="7369803" cy="571500"/>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9525">
            <a:solidFill>
              <a:schemeClr val="accent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矩形: 圆角 5">
            <a:extLst xmlns:a="http://schemas.openxmlformats.org/drawingml/2006/main">
              <a:ext uri="{FF2B5EF4-FFF2-40B4-BE49-F238E27FC236}">
                <a16:creationId xmlns:a16="http://schemas.microsoft.com/office/drawing/2014/main" id="{146C5AD6-0E10-192B-1DF0-307A589F2190}"/>
              </a:ext>
            </a:extLst>
          </p:cNvPr>
          <p:cNvSpPr>
            <a:spLocks xmlns:a="http://schemas.openxmlformats.org/drawingml/2006/main" noGrp="1"/>
          </p:cNvSpPr>
          <p:nvPr/>
        </p:nvSpPr>
        <p:spPr>
          <a:xfrm xmlns:a="http://schemas.openxmlformats.org/drawingml/2006/main">
            <a:off x="3766285" y="5251176"/>
            <a:ext cx="7369803" cy="571500"/>
          </a:xfrm>
          <a:prstGeom xmlns:a="http://schemas.openxmlformats.org/drawingml/2006/main" prst="roundRect">
            <a:avLst>
              <a:gd name="adj" fmla="val 50000"/>
            </a:avLst>
          </a:prstGeom>
          <a:solidFill xmlns:a="http://schemas.openxmlformats.org/drawingml/2006/main">
            <a:schemeClr val="bg1"/>
          </a:solidFill>
          <a:ln xmlns:a="http://schemas.openxmlformats.org/drawingml/2006/main" w="9525">
            <a:solidFill>
              <a:schemeClr val="accent1"/>
            </a:solid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cxnSp>
        <p:nvCxnSpPr>
          <p:cNvPr id="16" name="连接符: 肘形 8">
            <a:extLst xmlns:a="http://schemas.openxmlformats.org/drawingml/2006/main">
              <a:ext uri="{FF2B5EF4-FFF2-40B4-BE49-F238E27FC236}">
                <a16:creationId xmlns:a16="http://schemas.microsoft.com/office/drawing/2014/main" id="{A6DA7DA8-25CA-4006-B220-8A8C2662AE7B}"/>
              </a:ext>
            </a:extLst>
          </p:cNvPr>
          <p:cNvCxnSpPr>
            <a:stCxn xmlns:a="http://schemas.openxmlformats.org/drawingml/2006/main" id="3" idx="1"/>
            <a:endCxn xmlns:a="http://schemas.openxmlformats.org/drawingml/2006/main" id="2" idx="6"/>
          </p:cNvCxnSpPr>
          <p:nvPr/>
        </p:nvCxnSpPr>
        <p:spPr>
          <a:xfrm xmlns:a="http://schemas.openxmlformats.org/drawingml/2006/main" rot="10800000" flipV="1">
            <a:off x="3137125" y="2800076"/>
            <a:ext cx="629161" cy="1365250"/>
          </a:xfrm>
          <a:prstGeom xmlns:a="http://schemas.openxmlformats.org/drawingml/2006/main" prst="bentConnector3">
            <a:avLst/>
          </a:prstGeom>
          <a:ln xmlns:a="http://schemas.openxmlformats.org/drawingml/2006/main" w="31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7" name="连接符: 肘形 9">
            <a:extLst xmlns:a="http://schemas.openxmlformats.org/drawingml/2006/main">
              <a:ext uri="{FF2B5EF4-FFF2-40B4-BE49-F238E27FC236}">
                <a16:creationId xmlns:a16="http://schemas.microsoft.com/office/drawing/2014/main" id="{1E26751A-59EA-4FF1-B768-37B13526ED79}"/>
              </a:ext>
            </a:extLst>
          </p:cNvPr>
          <p:cNvCxnSpPr>
            <a:stCxn xmlns:a="http://schemas.openxmlformats.org/drawingml/2006/main" id="10" idx="1"/>
            <a:endCxn xmlns:a="http://schemas.openxmlformats.org/drawingml/2006/main" id="2" idx="6"/>
          </p:cNvCxnSpPr>
          <p:nvPr/>
        </p:nvCxnSpPr>
        <p:spPr>
          <a:xfrm xmlns:a="http://schemas.openxmlformats.org/drawingml/2006/main" rot="10800000" flipV="1">
            <a:off x="3137125" y="3712358"/>
            <a:ext cx="629161" cy="452967"/>
          </a:xfrm>
          <a:prstGeom xmlns:a="http://schemas.openxmlformats.org/drawingml/2006/main" prst="bentConnector3">
            <a:avLst>
              <a:gd name="adj1" fmla="val 50000"/>
            </a:avLst>
          </a:prstGeom>
          <a:ln xmlns:a="http://schemas.openxmlformats.org/drawingml/2006/main" w="31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8" name="连接符: 肘形 12">
            <a:extLst xmlns:a="http://schemas.openxmlformats.org/drawingml/2006/main">
              <a:ext uri="{FF2B5EF4-FFF2-40B4-BE49-F238E27FC236}">
                <a16:creationId xmlns:a16="http://schemas.microsoft.com/office/drawing/2014/main" id="{B06BF5D2-6E20-4699-9762-D6FF966B9A35}"/>
              </a:ext>
            </a:extLst>
          </p:cNvPr>
          <p:cNvCxnSpPr>
            <a:stCxn xmlns:a="http://schemas.openxmlformats.org/drawingml/2006/main" id="12" idx="1"/>
            <a:endCxn xmlns:a="http://schemas.openxmlformats.org/drawingml/2006/main" id="2" idx="6"/>
          </p:cNvCxnSpPr>
          <p:nvPr/>
        </p:nvCxnSpPr>
        <p:spPr>
          <a:xfrm xmlns:a="http://schemas.openxmlformats.org/drawingml/2006/main" rot="10800000">
            <a:off x="3137125" y="4165326"/>
            <a:ext cx="629161" cy="459316"/>
          </a:xfrm>
          <a:prstGeom xmlns:a="http://schemas.openxmlformats.org/drawingml/2006/main" prst="bentConnector3">
            <a:avLst>
              <a:gd name="adj1" fmla="val 50000"/>
            </a:avLst>
          </a:prstGeom>
          <a:ln xmlns:a="http://schemas.openxmlformats.org/drawingml/2006/main" w="31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cxnSp>
        <p:nvCxnSpPr>
          <p:cNvPr id="19" name="连接符: 肘形 15">
            <a:extLst xmlns:a="http://schemas.openxmlformats.org/drawingml/2006/main">
              <a:ext uri="{FF2B5EF4-FFF2-40B4-BE49-F238E27FC236}">
                <a16:creationId xmlns:a16="http://schemas.microsoft.com/office/drawing/2014/main" id="{2597A08F-D3F7-467B-8E16-8EE861D689CE}"/>
              </a:ext>
            </a:extLst>
          </p:cNvPr>
          <p:cNvCxnSpPr>
            <a:stCxn xmlns:a="http://schemas.openxmlformats.org/drawingml/2006/main" id="15" idx="1"/>
            <a:endCxn xmlns:a="http://schemas.openxmlformats.org/drawingml/2006/main" id="2" idx="6"/>
          </p:cNvCxnSpPr>
          <p:nvPr/>
        </p:nvCxnSpPr>
        <p:spPr>
          <a:xfrm xmlns:a="http://schemas.openxmlformats.org/drawingml/2006/main" rot="10800000">
            <a:off x="3137125" y="4165326"/>
            <a:ext cx="629161" cy="1371600"/>
          </a:xfrm>
          <a:prstGeom xmlns:a="http://schemas.openxmlformats.org/drawingml/2006/main" prst="bentConnector3">
            <a:avLst>
              <a:gd name="adj1" fmla="val 50000"/>
            </a:avLst>
          </a:prstGeom>
          <a:ln xmlns:a="http://schemas.openxmlformats.org/drawingml/2006/main" w="3175">
            <a:solidFill>
              <a:schemeClr val="accent1"/>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
        <p:nvSpPr>
          <p:cNvPr id="20" name="文本框 19">
            <a:extLst xmlns:a="http://schemas.openxmlformats.org/drawingml/2006/main">
              <a:ext uri="{FF2B5EF4-FFF2-40B4-BE49-F238E27FC236}">
                <a16:creationId xmlns:a16="http://schemas.microsoft.com/office/drawing/2014/main" id="{54878B5E-3EC6-13E1-7148-646C86CB7D7D}"/>
              </a:ext>
            </a:extLst>
          </p:cNvPr>
          <p:cNvSpPr>
            <a:spLocks xmlns:a="http://schemas.openxmlformats.org/drawingml/2006/main" noGrp="1"/>
          </p:cNvSpPr>
          <p:nvPr/>
        </p:nvSpPr>
        <p:spPr>
          <a:xfrm xmlns:a="http://schemas.openxmlformats.org/drawingml/2006/main" flipH="1">
            <a:off x="1293415" y="3792403"/>
            <a:ext cx="1630018" cy="122301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2250" b="1">
                <a:solidFill>
                  <a:srgbClr val="FFFFFF"/>
                </a:solidFill>
                <a:latin typeface="Arial"/>
                <a:ea typeface="Arial"/>
                <a:cs typeface="Arial"/>
              </a:defRPr>
            </a:defPPr>
            <a:lvl1pPr algn="ctr">
              <a:defRPr sz="2250" b="1">
                <a:solidFill>
                  <a:srgbClr val="FFFFFF"/>
                </a:solidFill>
                <a:latin typeface="Arial"/>
                <a:ea typeface="Arial"/>
                <a:cs typeface="Arial"/>
              </a:defRPr>
            </a:lvl1pPr>
            <a:lvl2pPr algn="ctr">
              <a:defRPr sz="2250" b="1">
                <a:solidFill>
                  <a:srgbClr val="FFFFFF"/>
                </a:solidFill>
                <a:latin typeface="Arial"/>
                <a:ea typeface="Arial"/>
                <a:cs typeface="Arial"/>
              </a:defRPr>
            </a:lvl2pPr>
            <a:lvl3pPr algn="ctr">
              <a:defRPr sz="2250" b="1">
                <a:solidFill>
                  <a:srgbClr val="FFFFFF"/>
                </a:solidFill>
                <a:latin typeface="Arial"/>
                <a:ea typeface="Arial"/>
                <a:cs typeface="Arial"/>
              </a:defRPr>
            </a:lvl3pPr>
            <a:lvl4pPr algn="ctr">
              <a:defRPr sz="2250" b="1">
                <a:solidFill>
                  <a:srgbClr val="FFFFFF"/>
                </a:solidFill>
                <a:latin typeface="Arial"/>
                <a:ea typeface="Arial"/>
                <a:cs typeface="Arial"/>
              </a:defRPr>
            </a:lvl4pPr>
            <a:lvl5pPr algn="ctr">
              <a:defRPr sz="2250" b="1">
                <a:solidFill>
                  <a:srgbClr val="FFFFFF"/>
                </a:solidFill>
                <a:latin typeface="Arial"/>
                <a:ea typeface="Arial"/>
                <a:cs typeface="Arial"/>
              </a:defRPr>
            </a:lvl5pPr>
            <a:lvl6pPr algn="ctr">
              <a:defRPr sz="2250" b="1">
                <a:solidFill>
                  <a:srgbClr val="FFFFFF"/>
                </a:solidFill>
                <a:latin typeface="Arial"/>
                <a:ea typeface="Arial"/>
                <a:cs typeface="Arial"/>
              </a:defRPr>
            </a:lvl6pPr>
            <a:lvl7pPr algn="ctr">
              <a:defRPr sz="2250" b="1">
                <a:solidFill>
                  <a:srgbClr val="FFFFFF"/>
                </a:solidFill>
                <a:latin typeface="Arial"/>
                <a:ea typeface="Arial"/>
                <a:cs typeface="Arial"/>
              </a:defRPr>
            </a:lvl7pPr>
            <a:lvl8pPr algn="ctr">
              <a:defRPr sz="2250" b="1">
                <a:solidFill>
                  <a:srgbClr val="FFFFFF"/>
                </a:solidFill>
                <a:latin typeface="Arial"/>
                <a:ea typeface="Arial"/>
                <a:cs typeface="Arial"/>
              </a:defRPr>
            </a:lvl8pPr>
            <a:lvl9pPr algn="ctr">
              <a:defRPr sz="2250" b="1">
                <a:solidFill>
                  <a:srgbClr val="FFFFFF"/>
                </a:solidFill>
                <a:latin typeface="Arial"/>
                <a:ea typeface="Arial"/>
                <a:cs typeface="Arial"/>
              </a:defRPr>
            </a:lvl9pPr>
          </a:lstStyle>
          <a:p xmlns:a="http://schemas.openxmlformats.org/drawingml/2006/main">
            <a:pPr algn="ctr">
              <a:lnSpc>
                <a:spcPct val="110000"/>
              </a:lnSpc>
              <a:buNone/>
              <a:defRPr sz="2250" b="1">
                <a:solidFill>
                  <a:srgbClr val="FFFFFF"/>
                </a:solidFill>
                <a:latin typeface="Arial"/>
                <a:ea typeface="Arial"/>
                <a:cs typeface="Arial"/>
              </a:defRPr>
            </a:pPr>
            <a:r>
              <a:rPr sz="2250" b="1">
                <a:solidFill>
                  <a:srgbClr val="FFFFFF"/>
                </a:solidFill>
                <a:latin typeface="Arial"/>
                <a:ea typeface="Arial"/>
                <a:cs typeface="Arial"/>
              </a:rPr>
              <a:t>Remaining</a:t>
            </a:r>
            <a:endParaRPr sz="2400" b="1">
              <a:solidFill>
                <a:schemeClr val="bg1"/>
              </a:solidFill>
              <a:latin typeface="Microsoft YaHei"/>
              <a:ea typeface="Microsoft YaHei"/>
              <a:cs typeface="Microsoft YaHei"/>
            </a:endParaRPr>
          </a:p>
          <a:p xmlns:a="http://schemas.openxmlformats.org/drawingml/2006/main">
            <a:pPr algn="ctr">
              <a:lnSpc>
                <a:spcPct val="110000"/>
              </a:lnSpc>
              <a:buNone/>
              <a:defRPr sz="2250" b="1">
                <a:solidFill>
                  <a:srgbClr val="FFFFFF"/>
                </a:solidFill>
                <a:latin typeface="Arial"/>
                <a:ea typeface="Arial"/>
                <a:cs typeface="Arial"/>
              </a:defRPr>
            </a:pPr>
            <a:r>
              <a:rPr sz="2250" b="1">
                <a:solidFill>
                  <a:srgbClr val="FFFFFF"/>
                </a:solidFill>
                <a:latin typeface="Arial"/>
                <a:ea typeface="Arial"/>
                <a:cs typeface="Arial"/>
              </a:rPr>
              <a:t>questions</a:t>
            </a:r>
            <a:endParaRPr sz="2400" b="1">
              <a:solidFill>
                <a:schemeClr val="bg1"/>
              </a:solidFill>
              <a:latin typeface="Microsoft YaHei"/>
              <a:ea typeface="Microsoft YaHei"/>
              <a:cs typeface="Microsoft YaHei"/>
            </a:endParaRPr>
          </a:p>
        </p:txBody>
      </p:sp>
      <p:sp>
        <p:nvSpPr>
          <p:cNvPr id="21" name="文本框 20">
            <a:extLst xmlns:a="http://schemas.openxmlformats.org/drawingml/2006/main">
              <a:ext uri="{FF2B5EF4-FFF2-40B4-BE49-F238E27FC236}">
                <a16:creationId xmlns:a16="http://schemas.microsoft.com/office/drawing/2014/main" id="{F30F2BB4-B703-EDCA-9E73-54D940ACD686}"/>
              </a:ext>
            </a:extLst>
          </p:cNvPr>
          <p:cNvSpPr>
            <a:spLocks xmlns:a="http://schemas.openxmlformats.org/drawingml/2006/main" noGrp="1"/>
          </p:cNvSpPr>
          <p:nvPr/>
        </p:nvSpPr>
        <p:spPr>
          <a:xfrm xmlns:a="http://schemas.openxmlformats.org/drawingml/2006/main">
            <a:off x="4013936" y="2602009"/>
            <a:ext cx="6795582" cy="4069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SzPct val="80000"/>
              <a:buNone/>
              <a:defRPr sz="1725" b="0">
                <a:solidFill>
                  <a:srgbClr val="202832"/>
                </a:solidFill>
                <a:latin typeface="Arial"/>
                <a:ea typeface="Arial"/>
                <a:cs typeface="Arial"/>
              </a:defRPr>
            </a:pPr>
            <a:r>
              <a:rPr sz="1725" b="0">
                <a:solidFill>
                  <a:srgbClr val="202832"/>
                </a:solidFill>
                <a:latin typeface="Arial"/>
                <a:ea typeface="Arial"/>
                <a:cs typeface="Arial"/>
              </a:rPr>
              <a:t>New hospital patients and portable AP scans</a:t>
            </a:r>
          </a:p>
        </p:txBody>
      </p:sp>
      <p:sp>
        <p:nvSpPr>
          <p:cNvPr id="22" name="文本框 21">
            <a:extLst xmlns:a="http://schemas.openxmlformats.org/drawingml/2006/main">
              <a:ext uri="{FF2B5EF4-FFF2-40B4-BE49-F238E27FC236}">
                <a16:creationId xmlns:a16="http://schemas.microsoft.com/office/drawing/2014/main" id="{7560EBF7-50B0-27FA-D638-7DA20DCA191D}"/>
              </a:ext>
            </a:extLst>
          </p:cNvPr>
          <p:cNvSpPr>
            <a:spLocks xmlns:a="http://schemas.openxmlformats.org/drawingml/2006/main" noGrp="1"/>
          </p:cNvSpPr>
          <p:nvPr/>
        </p:nvSpPr>
        <p:spPr>
          <a:xfrm xmlns:a="http://schemas.openxmlformats.org/drawingml/2006/main">
            <a:off x="4013936" y="3514292"/>
            <a:ext cx="6795582" cy="4069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SzPct val="80000"/>
              <a:buNone/>
              <a:defRPr sz="1725" b="0">
                <a:solidFill>
                  <a:srgbClr val="202832"/>
                </a:solidFill>
                <a:latin typeface="Arial"/>
                <a:ea typeface="Arial"/>
                <a:cs typeface="Arial"/>
              </a:defRPr>
            </a:pPr>
            <a:r>
              <a:rPr sz="1725" b="0">
                <a:solidFill>
                  <a:srgbClr val="202832"/>
                </a:solidFill>
                <a:latin typeface="Arial"/>
                <a:ea typeface="Arial"/>
                <a:cs typeface="Arial"/>
              </a:rPr>
              <a:t>A fixed protocol for the revised-view PA subset</a:t>
            </a:r>
          </a:p>
        </p:txBody>
      </p:sp>
      <p:sp>
        <p:nvSpPr>
          <p:cNvPr id="23" name="文本框 22">
            <a:extLst xmlns:a="http://schemas.openxmlformats.org/drawingml/2006/main">
              <a:ext uri="{FF2B5EF4-FFF2-40B4-BE49-F238E27FC236}">
                <a16:creationId xmlns:a16="http://schemas.microsoft.com/office/drawing/2014/main" id="{D0865C2C-AFB9-D6A7-66E6-797811A8C610}"/>
              </a:ext>
            </a:extLst>
          </p:cNvPr>
          <p:cNvSpPr>
            <a:spLocks xmlns:a="http://schemas.openxmlformats.org/drawingml/2006/main" noGrp="1"/>
          </p:cNvSpPr>
          <p:nvPr/>
        </p:nvSpPr>
        <p:spPr>
          <a:xfrm xmlns:a="http://schemas.openxmlformats.org/drawingml/2006/main">
            <a:off x="4013936" y="4426575"/>
            <a:ext cx="6795582" cy="4069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SzPct val="80000"/>
              <a:buNone/>
              <a:defRPr sz="1725" b="0">
                <a:solidFill>
                  <a:srgbClr val="202832"/>
                </a:solidFill>
                <a:latin typeface="Arial"/>
                <a:ea typeface="Arial"/>
                <a:cs typeface="Arial"/>
              </a:defRPr>
            </a:pPr>
            <a:r>
              <a:rPr sz="1725" b="0">
                <a:solidFill>
                  <a:srgbClr val="202832"/>
                </a:solidFill>
                <a:latin typeface="Arial"/>
                <a:ea typeface="Arial"/>
                <a:cs typeface="Arial"/>
              </a:rPr>
              <a:t>Prospective score use and clinically meaningful error limits</a:t>
            </a:r>
          </a:p>
        </p:txBody>
      </p:sp>
      <p:sp>
        <p:nvSpPr>
          <p:cNvPr id="24" name="文本框 23">
            <a:extLst xmlns:a="http://schemas.openxmlformats.org/drawingml/2006/main">
              <a:ext uri="{FF2B5EF4-FFF2-40B4-BE49-F238E27FC236}">
                <a16:creationId xmlns:a16="http://schemas.microsoft.com/office/drawing/2014/main" id="{50206B0C-8D4F-3FFB-78B3-BC18BFD6713C}"/>
              </a:ext>
            </a:extLst>
          </p:cNvPr>
          <p:cNvSpPr>
            <a:spLocks xmlns:a="http://schemas.openxmlformats.org/drawingml/2006/main" noGrp="1"/>
          </p:cNvSpPr>
          <p:nvPr/>
        </p:nvSpPr>
        <p:spPr>
          <a:xfrm xmlns:a="http://schemas.openxmlformats.org/drawingml/2006/main">
            <a:off x="4013936" y="5338859"/>
            <a:ext cx="6795582" cy="4069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725" b="0">
                <a:solidFill>
                  <a:srgbClr val="202832"/>
                </a:solidFill>
                <a:latin typeface="Arial"/>
                <a:ea typeface="Arial"/>
                <a:cs typeface="Arial"/>
              </a:defRPr>
            </a:defPPr>
            <a:lvl1pPr algn="l">
              <a:defRPr sz="1725" b="0">
                <a:solidFill>
                  <a:srgbClr val="202832"/>
                </a:solidFill>
                <a:latin typeface="Arial"/>
                <a:ea typeface="Arial"/>
                <a:cs typeface="Arial"/>
              </a:defRPr>
            </a:lvl1pPr>
            <a:lvl2pPr algn="l">
              <a:defRPr sz="1725" b="0">
                <a:solidFill>
                  <a:srgbClr val="202832"/>
                </a:solidFill>
                <a:latin typeface="Arial"/>
                <a:ea typeface="Arial"/>
                <a:cs typeface="Arial"/>
              </a:defRPr>
            </a:lvl2pPr>
            <a:lvl3pPr algn="l">
              <a:defRPr sz="1725" b="0">
                <a:solidFill>
                  <a:srgbClr val="202832"/>
                </a:solidFill>
                <a:latin typeface="Arial"/>
                <a:ea typeface="Arial"/>
                <a:cs typeface="Arial"/>
              </a:defRPr>
            </a:lvl3pPr>
            <a:lvl4pPr algn="l">
              <a:defRPr sz="1725" b="0">
                <a:solidFill>
                  <a:srgbClr val="202832"/>
                </a:solidFill>
                <a:latin typeface="Arial"/>
                <a:ea typeface="Arial"/>
                <a:cs typeface="Arial"/>
              </a:defRPr>
            </a:lvl4pPr>
            <a:lvl5pPr algn="l">
              <a:defRPr sz="1725" b="0">
                <a:solidFill>
                  <a:srgbClr val="202832"/>
                </a:solidFill>
                <a:latin typeface="Arial"/>
                <a:ea typeface="Arial"/>
                <a:cs typeface="Arial"/>
              </a:defRPr>
            </a:lvl5pPr>
            <a:lvl6pPr algn="l">
              <a:defRPr sz="1725" b="0">
                <a:solidFill>
                  <a:srgbClr val="202832"/>
                </a:solidFill>
                <a:latin typeface="Arial"/>
                <a:ea typeface="Arial"/>
                <a:cs typeface="Arial"/>
              </a:defRPr>
            </a:lvl6pPr>
            <a:lvl7pPr algn="l">
              <a:defRPr sz="1725" b="0">
                <a:solidFill>
                  <a:srgbClr val="202832"/>
                </a:solidFill>
                <a:latin typeface="Arial"/>
                <a:ea typeface="Arial"/>
                <a:cs typeface="Arial"/>
              </a:defRPr>
            </a:lvl7pPr>
            <a:lvl8pPr algn="l">
              <a:defRPr sz="1725" b="0">
                <a:solidFill>
                  <a:srgbClr val="202832"/>
                </a:solidFill>
                <a:latin typeface="Arial"/>
                <a:ea typeface="Arial"/>
                <a:cs typeface="Arial"/>
              </a:defRPr>
            </a:lvl8pPr>
            <a:lvl9pPr algn="l">
              <a:defRPr sz="1725" b="0">
                <a:solidFill>
                  <a:srgbClr val="202832"/>
                </a:solidFill>
                <a:latin typeface="Arial"/>
                <a:ea typeface="Arial"/>
                <a:cs typeface="Arial"/>
              </a:defRPr>
            </a:lvl9pPr>
          </a:lstStyle>
          <a:p xmlns:a="http://schemas.openxmlformats.org/drawingml/2006/main">
            <a:pPr algn="l">
              <a:lnSpc>
                <a:spcPct val="120000"/>
              </a:lnSpc>
              <a:buSzPct val="80000"/>
              <a:buNone/>
              <a:defRPr sz="1725" b="0">
                <a:solidFill>
                  <a:srgbClr val="202832"/>
                </a:solidFill>
                <a:latin typeface="Arial"/>
                <a:ea typeface="Arial"/>
                <a:cs typeface="Arial"/>
              </a:defRPr>
            </a:pPr>
            <a:r>
              <a:rPr sz="1725" b="0">
                <a:solidFill>
                  <a:srgbClr val="202832"/>
                </a:solidFill>
                <a:latin typeface="Arial"/>
                <a:ea typeface="Arial"/>
                <a:cs typeface="Arial"/>
              </a:rPr>
              <a:t>Pretraining membership audit and external calibration</a:t>
            </a:r>
          </a:p>
        </p:txBody>
      </p:sp>
      <p:pic>
        <p:nvPicPr>
          <p:cNvPr id="11" name="图片 10">
            <a:extLst xmlns:a="http://schemas.openxmlformats.org/drawingml/2006/main">
              <a:ext uri="{FF2B5EF4-FFF2-40B4-BE49-F238E27FC236}">
                <a16:creationId xmlns:a16="http://schemas.microsoft.com/office/drawing/2014/main" id="{D00A466F-DDEB-4FEC-8C74-98489B3AE6E3}"/>
              </a:ext>
            </a:extLst>
          </p:cNvPr>
          <p:cNvPicPr>
            <a:picLocks xmlns:a="http://schemas.openxmlformats.org/drawingml/2006/main" noChangeAspect="1"/>
          </p:cNvPicPr>
          <p:nvPr/>
        </p:nvPicPr>
        <p:blipFill>
          <a:blip xmlns:r="http://schemas.openxmlformats.org/officeDocument/2006/relationships" xmlns:a="http://schemas.openxmlformats.org/drawingml/2006/main" r:embed="R9798fcadae464189"/>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25" name="26">
            <a:extLst xmlns:a="http://schemas.openxmlformats.org/drawingml/2006/main">
              <a:ext uri="{FF2B5EF4-FFF2-40B4-BE49-F238E27FC236}">
                <a16:creationId xmlns:a16="http://schemas.microsoft.com/office/drawing/2014/main" id="{B812F68B-481F-488D-A83B-BBD3C8B3B06D}"/>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26</a:t>
            </a:r>
          </a:p>
        </p:txBody>
      </p:sp>
      <p:sp>
        <p:nvSpPr>
          <p:cNvPr id="26" name="The current extension remains exploratory and internal to 65">
            <a:extLst xmlns:a="http://schemas.openxmlformats.org/drawingml/2006/main">
              <a:ext uri="{FF2B5EF4-FFF2-40B4-BE49-F238E27FC236}">
                <a16:creationId xmlns:a16="http://schemas.microsoft.com/office/drawing/2014/main" id="{DD41032D-8E0E-4795-92CE-53D8D9676EEB}"/>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The current extension remains exploratory and internal to 65 patients.</a:t>
            </a:r>
          </a:p>
        </p:txBody>
      </p:sp>
    </p:spTree>
    <p:extLst>
      <p:ext uri="{BB962C8B-B14F-4D97-AF65-F5344CB8AC3E}">
        <p14:creationId xmlns:p14="http://schemas.microsoft.com/office/powerpoint/2010/main" val="75923665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文本框 1">
            <a:extLst xmlns:a="http://schemas.openxmlformats.org/drawingml/2006/main">
              <a:ext uri="{FF2B5EF4-FFF2-40B4-BE49-F238E27FC236}">
                <a16:creationId xmlns:a16="http://schemas.microsoft.com/office/drawing/2014/main" id="{0AB68AFA-8846-2DE3-650F-54FF40C70FCF}"/>
              </a:ext>
            </a:extLst>
          </p:cNvPr>
          <p:cNvSpPr>
            <a:spLocks xmlns:a="http://schemas.openxmlformats.org/drawingml/2006/main" noGrp="1"/>
          </p:cNvSpPr>
          <p:nvPr/>
        </p:nvSpPr>
        <p:spPr>
          <a:xfrm xmlns:a="http://schemas.openxmlformats.org/drawingml/2006/main">
            <a:off x="857250" y="2571750"/>
            <a:ext cx="10477500" cy="12382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3525" b="1">
                <a:solidFill>
                  <a:srgbClr val="013D7A"/>
                </a:solidFill>
                <a:latin typeface="Arial"/>
                <a:ea typeface="Arial"/>
                <a:cs typeface="Arial"/>
              </a:defRPr>
            </a:defPPr>
            <a:lvl1pPr algn="ctr">
              <a:defRPr sz="3525" b="1">
                <a:solidFill>
                  <a:srgbClr val="013D7A"/>
                </a:solidFill>
                <a:latin typeface="Arial"/>
                <a:ea typeface="Arial"/>
                <a:cs typeface="Arial"/>
              </a:defRPr>
            </a:lvl1pPr>
            <a:lvl2pPr algn="ctr">
              <a:defRPr sz="3525" b="1">
                <a:solidFill>
                  <a:srgbClr val="013D7A"/>
                </a:solidFill>
                <a:latin typeface="Arial"/>
                <a:ea typeface="Arial"/>
                <a:cs typeface="Arial"/>
              </a:defRPr>
            </a:lvl2pPr>
            <a:lvl3pPr algn="ctr">
              <a:defRPr sz="3525" b="1">
                <a:solidFill>
                  <a:srgbClr val="013D7A"/>
                </a:solidFill>
                <a:latin typeface="Arial"/>
                <a:ea typeface="Arial"/>
                <a:cs typeface="Arial"/>
              </a:defRPr>
            </a:lvl3pPr>
            <a:lvl4pPr algn="ctr">
              <a:defRPr sz="3525" b="1">
                <a:solidFill>
                  <a:srgbClr val="013D7A"/>
                </a:solidFill>
                <a:latin typeface="Arial"/>
                <a:ea typeface="Arial"/>
                <a:cs typeface="Arial"/>
              </a:defRPr>
            </a:lvl4pPr>
            <a:lvl5pPr algn="ctr">
              <a:defRPr sz="3525" b="1">
                <a:solidFill>
                  <a:srgbClr val="013D7A"/>
                </a:solidFill>
                <a:latin typeface="Arial"/>
                <a:ea typeface="Arial"/>
                <a:cs typeface="Arial"/>
              </a:defRPr>
            </a:lvl5pPr>
            <a:lvl6pPr algn="ctr">
              <a:defRPr sz="3525" b="1">
                <a:solidFill>
                  <a:srgbClr val="013D7A"/>
                </a:solidFill>
                <a:latin typeface="Arial"/>
                <a:ea typeface="Arial"/>
                <a:cs typeface="Arial"/>
              </a:defRPr>
            </a:lvl6pPr>
            <a:lvl7pPr algn="ctr">
              <a:defRPr sz="3525" b="1">
                <a:solidFill>
                  <a:srgbClr val="013D7A"/>
                </a:solidFill>
                <a:latin typeface="Arial"/>
                <a:ea typeface="Arial"/>
                <a:cs typeface="Arial"/>
              </a:defRPr>
            </a:lvl7pPr>
            <a:lvl8pPr algn="ctr">
              <a:defRPr sz="3525" b="1">
                <a:solidFill>
                  <a:srgbClr val="013D7A"/>
                </a:solidFill>
                <a:latin typeface="Arial"/>
                <a:ea typeface="Arial"/>
                <a:cs typeface="Arial"/>
              </a:defRPr>
            </a:lvl8pPr>
            <a:lvl9pPr algn="ctr">
              <a:defRPr sz="3525" b="1">
                <a:solidFill>
                  <a:srgbClr val="013D7A"/>
                </a:solidFill>
                <a:latin typeface="Arial"/>
                <a:ea typeface="Arial"/>
                <a:cs typeface="Arial"/>
              </a:defRPr>
            </a:lvl9pPr>
          </a:lstStyle>
          <a:p xmlns:a="http://schemas.openxmlformats.org/drawingml/2006/main">
            <a:pPr algn="ctr">
              <a:buNone/>
              <a:defRPr sz="3525" b="1">
                <a:solidFill>
                  <a:srgbClr val="013D7A"/>
                </a:solidFill>
                <a:latin typeface="Arial"/>
                <a:ea typeface="Arial"/>
                <a:cs typeface="Arial"/>
              </a:defRPr>
            </a:pPr>
            <a:r>
              <a:rPr sz="3525" b="1">
                <a:solidFill>
                  <a:srgbClr val="013D7A"/>
                </a:solidFill>
                <a:latin typeface="Arial"/>
                <a:ea typeface="Arial"/>
                <a:cs typeface="Arial"/>
              </a:rPr>
              <a:t>BioViL features improve</a:t>
            </a:r>
            <a:endParaRPr sz="8800" b="1">
              <a:solidFill>
                <a:schemeClr val="accent1"/>
              </a:solidFill>
              <a:latin typeface="Arial"/>
              <a:ea typeface="Arial"/>
              <a:cs typeface="Arial"/>
            </a:endParaRPr>
          </a:p>
          <a:p xmlns:a="http://schemas.openxmlformats.org/drawingml/2006/main">
            <a:pPr algn="ctr">
              <a:buNone/>
              <a:defRPr sz="3525" b="1">
                <a:solidFill>
                  <a:srgbClr val="013D7A"/>
                </a:solidFill>
                <a:latin typeface="Arial"/>
                <a:ea typeface="Arial"/>
                <a:cs typeface="Arial"/>
              </a:defRPr>
            </a:pPr>
            <a:r>
              <a:rPr sz="3525" b="1">
                <a:solidFill>
                  <a:srgbClr val="013D7A"/>
                </a:solidFill>
                <a:latin typeface="Arial"/>
                <a:ea typeface="Arial"/>
                <a:cs typeface="Arial"/>
              </a:rPr>
              <a:t>internal score prediction</a:t>
            </a:r>
            <a:endParaRPr sz="8800" b="1">
              <a:solidFill>
                <a:schemeClr val="accent1"/>
              </a:solidFill>
              <a:latin typeface="Arial"/>
              <a:ea typeface="Arial"/>
              <a:cs typeface="Arial"/>
            </a:endParaRPr>
          </a:p>
        </p:txBody>
      </p:sp>
      <p:sp>
        <p:nvSpPr>
          <p:cNvPr id="14" name="文本框 13">
            <a:extLst xmlns:a="http://schemas.openxmlformats.org/drawingml/2006/main">
              <a:ext uri="{FF2B5EF4-FFF2-40B4-BE49-F238E27FC236}">
                <a16:creationId xmlns:a16="http://schemas.microsoft.com/office/drawing/2014/main" id="{356F5212-ECAC-A56E-AA09-9F3529010B92}"/>
              </a:ext>
            </a:extLst>
          </p:cNvPr>
          <p:cNvSpPr>
            <a:spLocks xmlns:a="http://schemas.openxmlformats.org/drawingml/2006/main" noGrp="1"/>
          </p:cNvSpPr>
          <p:nvPr/>
        </p:nvSpPr>
        <p:spPr>
          <a:xfrm xmlns:a="http://schemas.openxmlformats.org/drawingml/2006/main">
            <a:off x="6846423" y="5451511"/>
            <a:ext cx="313421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800" b="0">
                <a:solidFill>
                  <a:srgbClr val="59636E"/>
                </a:solidFill>
                <a:latin typeface="Arial"/>
                <a:ea typeface="Arial"/>
                <a:cs typeface="Arial"/>
              </a:defRPr>
            </a:defPPr>
            <a:lvl1pPr algn="l">
              <a:defRPr sz="1800" b="0">
                <a:solidFill>
                  <a:srgbClr val="59636E"/>
                </a:solidFill>
                <a:latin typeface="Arial"/>
                <a:ea typeface="Arial"/>
                <a:cs typeface="Arial"/>
              </a:defRPr>
            </a:lvl1pPr>
            <a:lvl2pPr algn="l">
              <a:defRPr sz="1800" b="0">
                <a:solidFill>
                  <a:srgbClr val="59636E"/>
                </a:solidFill>
                <a:latin typeface="Arial"/>
                <a:ea typeface="Arial"/>
                <a:cs typeface="Arial"/>
              </a:defRPr>
            </a:lvl2pPr>
            <a:lvl3pPr algn="l">
              <a:defRPr sz="1800" b="0">
                <a:solidFill>
                  <a:srgbClr val="59636E"/>
                </a:solidFill>
                <a:latin typeface="Arial"/>
                <a:ea typeface="Arial"/>
                <a:cs typeface="Arial"/>
              </a:defRPr>
            </a:lvl3pPr>
            <a:lvl4pPr algn="l">
              <a:defRPr sz="1800" b="0">
                <a:solidFill>
                  <a:srgbClr val="59636E"/>
                </a:solidFill>
                <a:latin typeface="Arial"/>
                <a:ea typeface="Arial"/>
                <a:cs typeface="Arial"/>
              </a:defRPr>
            </a:lvl4pPr>
            <a:lvl5pPr algn="l">
              <a:defRPr sz="1800" b="0">
                <a:solidFill>
                  <a:srgbClr val="59636E"/>
                </a:solidFill>
                <a:latin typeface="Arial"/>
                <a:ea typeface="Arial"/>
                <a:cs typeface="Arial"/>
              </a:defRPr>
            </a:lvl5pPr>
            <a:lvl6pPr algn="l">
              <a:defRPr sz="1800" b="0">
                <a:solidFill>
                  <a:srgbClr val="59636E"/>
                </a:solidFill>
                <a:latin typeface="Arial"/>
                <a:ea typeface="Arial"/>
                <a:cs typeface="Arial"/>
              </a:defRPr>
            </a:lvl6pPr>
            <a:lvl7pPr algn="l">
              <a:defRPr sz="1800" b="0">
                <a:solidFill>
                  <a:srgbClr val="59636E"/>
                </a:solidFill>
                <a:latin typeface="Arial"/>
                <a:ea typeface="Arial"/>
                <a:cs typeface="Arial"/>
              </a:defRPr>
            </a:lvl7pPr>
            <a:lvl8pPr algn="l">
              <a:defRPr sz="1800" b="0">
                <a:solidFill>
                  <a:srgbClr val="59636E"/>
                </a:solidFill>
                <a:latin typeface="Arial"/>
                <a:ea typeface="Arial"/>
                <a:cs typeface="Arial"/>
              </a:defRPr>
            </a:lvl8pPr>
            <a:lvl9pPr algn="l">
              <a:defRPr sz="1800" b="0">
                <a:solidFill>
                  <a:srgbClr val="59636E"/>
                </a:solidFill>
                <a:latin typeface="Arial"/>
                <a:ea typeface="Arial"/>
                <a:cs typeface="Arial"/>
              </a:defRPr>
            </a:lvl9pPr>
          </a:lstStyle>
          <a:p xmlns:a="http://schemas.openxmlformats.org/drawingml/2006/main">
            <a:pPr marL="342900" indent="-342900" algn="l">
              <a:buFont typeface="Wingdings"/>
              <a:buChar char="Ø"/>
              <a:defRPr sz="1800" b="0">
                <a:solidFill>
                  <a:srgbClr val="59636E"/>
                </a:solidFill>
                <a:latin typeface="Arial"/>
                <a:ea typeface="Arial"/>
                <a:cs typeface="Arial"/>
              </a:defRPr>
            </a:pPr>
            <a:r>
              <a:rPr sz="1800" b="0">
                <a:solidFill>
                  <a:srgbClr val="59636E"/>
                </a:solidFill>
                <a:latin typeface="Arial"/>
                <a:ea typeface="Arial"/>
                <a:cs typeface="Arial"/>
              </a:rPr>
              <a:t>31 October 2026</a:t>
            </a:r>
            <a:endParaRPr sz="2400">
              <a:solidFill>
                <a:schemeClr val="tx1">
                  <a:lumMod val="65000"/>
                  <a:lumOff val="35000"/>
                </a:schemeClr>
              </a:solidFill>
              <a:latin typeface="Arial"/>
              <a:ea typeface="Arial"/>
              <a:cs typeface="Arial"/>
            </a:endParaRPr>
          </a:p>
        </p:txBody>
      </p:sp>
      <p:sp>
        <p:nvSpPr>
          <p:cNvPr id="15" name="文本框 14">
            <a:extLst xmlns:a="http://schemas.openxmlformats.org/drawingml/2006/main">
              <a:ext uri="{FF2B5EF4-FFF2-40B4-BE49-F238E27FC236}">
                <a16:creationId xmlns:a16="http://schemas.microsoft.com/office/drawing/2014/main" id="{4170DB30-15B6-560F-71D4-78CEA0FFF1DA}"/>
              </a:ext>
            </a:extLst>
          </p:cNvPr>
          <p:cNvSpPr>
            <a:spLocks xmlns:a="http://schemas.openxmlformats.org/drawingml/2006/main" noGrp="1"/>
          </p:cNvSpPr>
          <p:nvPr/>
        </p:nvSpPr>
        <p:spPr>
          <a:xfrm xmlns:a="http://schemas.openxmlformats.org/drawingml/2006/main">
            <a:off x="3094821" y="5443974"/>
            <a:ext cx="313421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800" b="0">
                <a:solidFill>
                  <a:srgbClr val="59636E"/>
                </a:solidFill>
                <a:latin typeface="Arial"/>
                <a:ea typeface="Arial"/>
                <a:cs typeface="Arial"/>
              </a:defRPr>
            </a:defPPr>
            <a:lvl1pPr algn="l">
              <a:defRPr sz="1800" b="0">
                <a:solidFill>
                  <a:srgbClr val="59636E"/>
                </a:solidFill>
                <a:latin typeface="Arial"/>
                <a:ea typeface="Arial"/>
                <a:cs typeface="Arial"/>
              </a:defRPr>
            </a:lvl1pPr>
            <a:lvl2pPr algn="l">
              <a:defRPr sz="1800" b="0">
                <a:solidFill>
                  <a:srgbClr val="59636E"/>
                </a:solidFill>
                <a:latin typeface="Arial"/>
                <a:ea typeface="Arial"/>
                <a:cs typeface="Arial"/>
              </a:defRPr>
            </a:lvl2pPr>
            <a:lvl3pPr algn="l">
              <a:defRPr sz="1800" b="0">
                <a:solidFill>
                  <a:srgbClr val="59636E"/>
                </a:solidFill>
                <a:latin typeface="Arial"/>
                <a:ea typeface="Arial"/>
                <a:cs typeface="Arial"/>
              </a:defRPr>
            </a:lvl3pPr>
            <a:lvl4pPr algn="l">
              <a:defRPr sz="1800" b="0">
                <a:solidFill>
                  <a:srgbClr val="59636E"/>
                </a:solidFill>
                <a:latin typeface="Arial"/>
                <a:ea typeface="Arial"/>
                <a:cs typeface="Arial"/>
              </a:defRPr>
            </a:lvl4pPr>
            <a:lvl5pPr algn="l">
              <a:defRPr sz="1800" b="0">
                <a:solidFill>
                  <a:srgbClr val="59636E"/>
                </a:solidFill>
                <a:latin typeface="Arial"/>
                <a:ea typeface="Arial"/>
                <a:cs typeface="Arial"/>
              </a:defRPr>
            </a:lvl5pPr>
            <a:lvl6pPr algn="l">
              <a:defRPr sz="1800" b="0">
                <a:solidFill>
                  <a:srgbClr val="59636E"/>
                </a:solidFill>
                <a:latin typeface="Arial"/>
                <a:ea typeface="Arial"/>
                <a:cs typeface="Arial"/>
              </a:defRPr>
            </a:lvl6pPr>
            <a:lvl7pPr algn="l">
              <a:defRPr sz="1800" b="0">
                <a:solidFill>
                  <a:srgbClr val="59636E"/>
                </a:solidFill>
                <a:latin typeface="Arial"/>
                <a:ea typeface="Arial"/>
                <a:cs typeface="Arial"/>
              </a:defRPr>
            </a:lvl7pPr>
            <a:lvl8pPr algn="l">
              <a:defRPr sz="1800" b="0">
                <a:solidFill>
                  <a:srgbClr val="59636E"/>
                </a:solidFill>
                <a:latin typeface="Arial"/>
                <a:ea typeface="Arial"/>
                <a:cs typeface="Arial"/>
              </a:defRPr>
            </a:lvl8pPr>
            <a:lvl9pPr algn="l">
              <a:defRPr sz="1800" b="0">
                <a:solidFill>
                  <a:srgbClr val="59636E"/>
                </a:solidFill>
                <a:latin typeface="Arial"/>
                <a:ea typeface="Arial"/>
                <a:cs typeface="Arial"/>
              </a:defRPr>
            </a:lvl9pPr>
          </a:lstStyle>
          <a:p xmlns:a="http://schemas.openxmlformats.org/drawingml/2006/main">
            <a:pPr marL="342900" indent="-342900" algn="l">
              <a:buFont typeface="Wingdings"/>
              <a:buChar char="Ø"/>
              <a:defRPr sz="1800" b="0">
                <a:solidFill>
                  <a:srgbClr val="59636E"/>
                </a:solidFill>
                <a:latin typeface="Arial"/>
                <a:ea typeface="Arial"/>
                <a:cs typeface="Arial"/>
              </a:defRPr>
            </a:pPr>
            <a:r>
              <a:rPr sz="1800" b="0">
                <a:solidFill>
                  <a:srgbClr val="59636E"/>
                </a:solidFill>
                <a:latin typeface="Arial"/>
                <a:ea typeface="Arial"/>
                <a:cs typeface="Arial"/>
              </a:rPr>
              <a:t>DSA5206 Group Project</a:t>
            </a:r>
          </a:p>
        </p:txBody>
      </p:sp>
      <p:sp>
        <p:nvSpPr>
          <p:cNvPr id="10" name="直线连接符 9">
            <a:extLst xmlns:a="http://schemas.openxmlformats.org/drawingml/2006/main">
              <a:ext uri="{FF2B5EF4-FFF2-40B4-BE49-F238E27FC236}">
                <a16:creationId xmlns:a16="http://schemas.microsoft.com/office/drawing/2014/main" id="{A85D0965-099F-45D2-B14A-35434497993C}"/>
              </a:ext>
            </a:extLst>
          </p:cNvPr>
          <p:cNvSpPr>
            <a:spLocks xmlns:a="http://schemas.openxmlformats.org/drawingml/2006/main" noGrp="1"/>
          </p:cNvSpPr>
          <p:nvPr/>
        </p:nvSpPr>
        <p:spPr>
          <a:xfrm xmlns:a="http://schemas.openxmlformats.org/drawingml/2006/main">
            <a:off x="2211358" y="4856748"/>
            <a:ext cx="7769284" cy="0"/>
          </a:xfrm>
          <a:prstGeom xmlns:a="http://schemas.openxmlformats.org/drawingml/2006/main" prst="line">
            <a:avLst/>
          </a:prstGeom>
          <a:ln xmlns:a="http://schemas.openxmlformats.org/drawingml/2006/main" w="12700">
            <a:prstDash val="sysDash"/>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2" name="矩形 11">
            <a:extLst xmlns:a="http://schemas.openxmlformats.org/drawingml/2006/main">
              <a:ext uri="{FF2B5EF4-FFF2-40B4-BE49-F238E27FC236}">
                <a16:creationId xmlns:a16="http://schemas.microsoft.com/office/drawing/2014/main" id="{52F1920F-43C3-1C60-9086-81A07842ED1C}"/>
              </a:ext>
            </a:extLst>
          </p:cNvPr>
          <p:cNvSpPr>
            <a:spLocks xmlns:a="http://schemas.openxmlformats.org/drawingml/2006/main" noGrp="1"/>
          </p:cNvSpPr>
          <p:nvPr/>
        </p:nvSpPr>
        <p:spPr>
          <a:xfrm xmlns:a="http://schemas.openxmlformats.org/drawingml/2006/main">
            <a:off x="0" y="6737686"/>
            <a:ext cx="12192000" cy="120313"/>
          </a:xfrm>
          <a:prstGeom xmlns:a="http://schemas.openxmlformats.org/drawingml/2006/main" prst="rect">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4" name="Picture 2">
            <a:extLst xmlns:a="http://schemas.openxmlformats.org/drawingml/2006/main">
              <a:ext uri="{FF2B5EF4-FFF2-40B4-BE49-F238E27FC236}">
                <a16:creationId xmlns:a16="http://schemas.microsoft.com/office/drawing/2014/main" id="{B0029CD4-ECDD-4E19-9411-CFE53761C80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7ddb738f0254259"/>
          <a:srcRect xmlns:a="http://schemas.openxmlformats.org/drawingml/2006/main" l="0" t="4867" r="15277" b="29551"/>
          <a:stretch xmlns:a="http://schemas.openxmlformats.org/drawingml/2006/main"/>
        </p:blipFill>
        <p:spPr>
          <a:xfrm xmlns:a="http://schemas.openxmlformats.org/drawingml/2006/main">
            <a:off x="8407470" y="1"/>
            <a:ext cx="3784530" cy="206383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181C90B6-F6B5-457C-D7FD-B323FF4B2BF8}"/>
              </a:ext>
            </a:extLst>
          </p:cNvPr>
          <p:cNvSpPr>
            <a:spLocks xmlns:a="http://schemas.openxmlformats.org/drawingml/2006/main" noGrp="1"/>
          </p:cNvSpPr>
          <p:nvPr/>
        </p:nvSpPr>
        <p:spPr>
          <a:xfrm xmlns:a="http://schemas.openxmlformats.org/drawingml/2006/main">
            <a:off x="0" y="0"/>
            <a:ext cx="12192000" cy="2063832"/>
          </a:xfrm>
          <a:prstGeom xmlns:a="http://schemas.openxmlformats.org/drawingml/2006/main" prst="rect">
            <a:avLst/>
          </a:prstGeom>
          <a:gradFill xmlns:a="http://schemas.openxmlformats.org/drawingml/2006/main" flip="none" rotWithShape="1">
            <a:gsLst>
              <a:gs pos="53000">
                <a:schemeClr val="accent1"/>
              </a:gs>
              <a:gs pos="0">
                <a:schemeClr val="accent1"/>
              </a:gs>
              <a:gs pos="68000">
                <a:schemeClr val="accent1"/>
              </a:gs>
              <a:gs pos="99000">
                <a:schemeClr val="accent1">
                  <a:alpha val="0"/>
                </a:schemeClr>
              </a:gs>
            </a:gsLst>
            <a:lin ang="0" scaled="1"/>
            <a:tileRect/>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7" name="图片 6">
            <a:extLst xmlns:a="http://schemas.openxmlformats.org/drawingml/2006/main">
              <a:ext uri="{FF2B5EF4-FFF2-40B4-BE49-F238E27FC236}">
                <a16:creationId xmlns:a16="http://schemas.microsoft.com/office/drawing/2014/main" id="{F67B7DDF-01BA-49D4-817A-49E3FBFC3B9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6f25bdef7a24549"/>
          <a:srcRect xmlns:a="http://schemas.openxmlformats.org/drawingml/2006/main" l="0" t="0" r="63685" b="0"/>
          <a:stretch xmlns:a="http://schemas.openxmlformats.org/drawingml/2006/main"/>
        </p:blipFill>
        <p:spPr>
          <a:xfrm xmlns:a="http://schemas.openxmlformats.org/drawingml/2006/main" rot="0" flipH="0" flipV="0">
            <a:off x="689811" y="374632"/>
            <a:ext cx="1009386" cy="1283047"/>
          </a:xfrm>
          <a:prstGeom xmlns:a="http://schemas.openxmlformats.org/drawingml/2006/main" prst="rect">
            <a:avLst/>
          </a:prstGeom>
        </p:spPr>
      </p:pic>
      <p:pic>
        <p:nvPicPr>
          <p:cNvPr id="8" name="图片 7">
            <a:extLst xmlns:a="http://schemas.openxmlformats.org/drawingml/2006/main">
              <a:ext uri="{FF2B5EF4-FFF2-40B4-BE49-F238E27FC236}">
                <a16:creationId xmlns:a16="http://schemas.microsoft.com/office/drawing/2014/main" id="{8B839115-FD7A-42AC-8297-C5872E0DAD9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b92144cfc4d4c74"/>
          <a:srcRect xmlns:a="http://schemas.openxmlformats.org/drawingml/2006/main" l="37189" t="0" r="-631" b="0"/>
          <a:stretch xmlns:a="http://schemas.openxmlformats.org/drawingml/2006/main"/>
        </p:blipFill>
        <p:spPr>
          <a:xfrm xmlns:a="http://schemas.openxmlformats.org/drawingml/2006/main" rot="0" flipH="0" flipV="0">
            <a:off x="1878797" y="374632"/>
            <a:ext cx="1763388" cy="1283047"/>
          </a:xfrm>
          <a:prstGeom xmlns:a="http://schemas.openxmlformats.org/drawingml/2006/main" prst="rect">
            <a:avLst/>
          </a:prstGeom>
        </p:spPr>
      </p:pic>
      <p:sp>
        <p:nvSpPr>
          <p:cNvPr id="16" name="Extent MAE 0.763     Opacity MAE 0.662">
            <a:extLst xmlns:a="http://schemas.openxmlformats.org/drawingml/2006/main">
              <a:ext uri="{FF2B5EF4-FFF2-40B4-BE49-F238E27FC236}">
                <a16:creationId xmlns:a16="http://schemas.microsoft.com/office/drawing/2014/main" id="{430F6D34-A969-467F-A947-E702CF92674D}"/>
              </a:ext>
            </a:extLst>
          </p:cNvPr>
          <p:cNvSpPr>
            <a:spLocks xmlns:a="http://schemas.openxmlformats.org/drawingml/2006/main" noGrp="1"/>
          </p:cNvSpPr>
          <p:nvPr/>
        </p:nvSpPr>
        <p:spPr>
          <a:xfrm xmlns:a="http://schemas.openxmlformats.org/drawingml/2006/main">
            <a:off x="952500" y="4048125"/>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400" b="0">
                <a:solidFill>
                  <a:srgbClr val="013D7A"/>
                </a:solidFill>
                <a:latin typeface="Arial"/>
                <a:ea typeface="Arial"/>
                <a:cs typeface="Arial"/>
              </a:defRPr>
            </a:defPPr>
            <a:lvl1pPr algn="ctr">
              <a:defRPr sz="2400" b="0">
                <a:solidFill>
                  <a:srgbClr val="013D7A"/>
                </a:solidFill>
                <a:latin typeface="Arial"/>
                <a:ea typeface="Arial"/>
                <a:cs typeface="Arial"/>
              </a:defRPr>
            </a:lvl1pPr>
            <a:lvl2pPr algn="ctr">
              <a:defRPr sz="2400" b="0">
                <a:solidFill>
                  <a:srgbClr val="013D7A"/>
                </a:solidFill>
                <a:latin typeface="Arial"/>
                <a:ea typeface="Arial"/>
                <a:cs typeface="Arial"/>
              </a:defRPr>
            </a:lvl2pPr>
            <a:lvl3pPr algn="ctr">
              <a:defRPr sz="2400" b="0">
                <a:solidFill>
                  <a:srgbClr val="013D7A"/>
                </a:solidFill>
                <a:latin typeface="Arial"/>
                <a:ea typeface="Arial"/>
                <a:cs typeface="Arial"/>
              </a:defRPr>
            </a:lvl3pPr>
            <a:lvl4pPr algn="ctr">
              <a:defRPr sz="2400" b="0">
                <a:solidFill>
                  <a:srgbClr val="013D7A"/>
                </a:solidFill>
                <a:latin typeface="Arial"/>
                <a:ea typeface="Arial"/>
                <a:cs typeface="Arial"/>
              </a:defRPr>
            </a:lvl4pPr>
            <a:lvl5pPr algn="ctr">
              <a:defRPr sz="2400" b="0">
                <a:solidFill>
                  <a:srgbClr val="013D7A"/>
                </a:solidFill>
                <a:latin typeface="Arial"/>
                <a:ea typeface="Arial"/>
                <a:cs typeface="Arial"/>
              </a:defRPr>
            </a:lvl5pPr>
            <a:lvl6pPr algn="ctr">
              <a:defRPr sz="2400" b="0">
                <a:solidFill>
                  <a:srgbClr val="013D7A"/>
                </a:solidFill>
                <a:latin typeface="Arial"/>
                <a:ea typeface="Arial"/>
                <a:cs typeface="Arial"/>
              </a:defRPr>
            </a:lvl6pPr>
            <a:lvl7pPr algn="ctr">
              <a:defRPr sz="2400" b="0">
                <a:solidFill>
                  <a:srgbClr val="013D7A"/>
                </a:solidFill>
                <a:latin typeface="Arial"/>
                <a:ea typeface="Arial"/>
                <a:cs typeface="Arial"/>
              </a:defRPr>
            </a:lvl7pPr>
            <a:lvl8pPr algn="ctr">
              <a:defRPr sz="2400" b="0">
                <a:solidFill>
                  <a:srgbClr val="013D7A"/>
                </a:solidFill>
                <a:latin typeface="Arial"/>
                <a:ea typeface="Arial"/>
                <a:cs typeface="Arial"/>
              </a:defRPr>
            </a:lvl8pPr>
            <a:lvl9pPr algn="ctr">
              <a:defRPr sz="2400" b="0">
                <a:solidFill>
                  <a:srgbClr val="013D7A"/>
                </a:solidFill>
                <a:latin typeface="Arial"/>
                <a:ea typeface="Arial"/>
                <a:cs typeface="Arial"/>
              </a:defRPr>
            </a:lvl9pPr>
          </a:lstStyle>
          <a:p xmlns:a="http://schemas.openxmlformats.org/drawingml/2006/main">
            <a:pPr algn="ctr">
              <a:defRPr sz="2400" b="0">
                <a:solidFill>
                  <a:srgbClr val="013D7A"/>
                </a:solidFill>
                <a:latin typeface="Arial"/>
                <a:ea typeface="Arial"/>
                <a:cs typeface="Arial"/>
              </a:defRPr>
            </a:pPr>
            <a:r>
              <a:rPr sz="2400" b="0">
                <a:solidFill>
                  <a:srgbClr val="013D7A"/>
                </a:solidFill>
                <a:latin typeface="Arial"/>
                <a:ea typeface="Arial"/>
                <a:cs typeface="Arial"/>
              </a:rPr>
              <a:t>Extent MAE 0.763     Opacity MAE 0.662</a:t>
            </a:r>
          </a:p>
        </p:txBody>
      </p:sp>
      <p:sp>
        <p:nvSpPr>
          <p:cNvPr id="17" name="The observed leaders still need independent patient validati">
            <a:extLst xmlns:a="http://schemas.openxmlformats.org/drawingml/2006/main">
              <a:ext uri="{FF2B5EF4-FFF2-40B4-BE49-F238E27FC236}">
                <a16:creationId xmlns:a16="http://schemas.microsoft.com/office/drawing/2014/main" id="{BCAE5C10-1957-4B5C-BFB6-7CF919AA1C8F}"/>
              </a:ext>
            </a:extLst>
          </p:cNvPr>
          <p:cNvSpPr>
            <a:spLocks xmlns:a="http://schemas.openxmlformats.org/drawingml/2006/main" noGrp="1"/>
          </p:cNvSpPr>
          <p:nvPr/>
        </p:nvSpPr>
        <p:spPr>
          <a:xfrm xmlns:a="http://schemas.openxmlformats.org/drawingml/2006/main">
            <a:off x="952500" y="468630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875" b="0">
                <a:solidFill>
                  <a:srgbClr val="59636E"/>
                </a:solidFill>
                <a:latin typeface="Arial"/>
                <a:ea typeface="Arial"/>
                <a:cs typeface="Arial"/>
              </a:defRPr>
            </a:defPPr>
            <a:lvl1pPr algn="ctr">
              <a:defRPr sz="1875" b="0">
                <a:solidFill>
                  <a:srgbClr val="59636E"/>
                </a:solidFill>
                <a:latin typeface="Arial"/>
                <a:ea typeface="Arial"/>
                <a:cs typeface="Arial"/>
              </a:defRPr>
            </a:lvl1pPr>
            <a:lvl2pPr algn="ctr">
              <a:defRPr sz="1875" b="0">
                <a:solidFill>
                  <a:srgbClr val="59636E"/>
                </a:solidFill>
                <a:latin typeface="Arial"/>
                <a:ea typeface="Arial"/>
                <a:cs typeface="Arial"/>
              </a:defRPr>
            </a:lvl2pPr>
            <a:lvl3pPr algn="ctr">
              <a:defRPr sz="1875" b="0">
                <a:solidFill>
                  <a:srgbClr val="59636E"/>
                </a:solidFill>
                <a:latin typeface="Arial"/>
                <a:ea typeface="Arial"/>
                <a:cs typeface="Arial"/>
              </a:defRPr>
            </a:lvl3pPr>
            <a:lvl4pPr algn="ctr">
              <a:defRPr sz="1875" b="0">
                <a:solidFill>
                  <a:srgbClr val="59636E"/>
                </a:solidFill>
                <a:latin typeface="Arial"/>
                <a:ea typeface="Arial"/>
                <a:cs typeface="Arial"/>
              </a:defRPr>
            </a:lvl4pPr>
            <a:lvl5pPr algn="ctr">
              <a:defRPr sz="1875" b="0">
                <a:solidFill>
                  <a:srgbClr val="59636E"/>
                </a:solidFill>
                <a:latin typeface="Arial"/>
                <a:ea typeface="Arial"/>
                <a:cs typeface="Arial"/>
              </a:defRPr>
            </a:lvl5pPr>
            <a:lvl6pPr algn="ctr">
              <a:defRPr sz="1875" b="0">
                <a:solidFill>
                  <a:srgbClr val="59636E"/>
                </a:solidFill>
                <a:latin typeface="Arial"/>
                <a:ea typeface="Arial"/>
                <a:cs typeface="Arial"/>
              </a:defRPr>
            </a:lvl6pPr>
            <a:lvl7pPr algn="ctr">
              <a:defRPr sz="1875" b="0">
                <a:solidFill>
                  <a:srgbClr val="59636E"/>
                </a:solidFill>
                <a:latin typeface="Arial"/>
                <a:ea typeface="Arial"/>
                <a:cs typeface="Arial"/>
              </a:defRPr>
            </a:lvl7pPr>
            <a:lvl8pPr algn="ctr">
              <a:defRPr sz="1875" b="0">
                <a:solidFill>
                  <a:srgbClr val="59636E"/>
                </a:solidFill>
                <a:latin typeface="Arial"/>
                <a:ea typeface="Arial"/>
                <a:cs typeface="Arial"/>
              </a:defRPr>
            </a:lvl8pPr>
            <a:lvl9pPr algn="ctr">
              <a:defRPr sz="1875" b="0">
                <a:solidFill>
                  <a:srgbClr val="59636E"/>
                </a:solidFill>
                <a:latin typeface="Arial"/>
                <a:ea typeface="Arial"/>
                <a:cs typeface="Arial"/>
              </a:defRPr>
            </a:lvl9pPr>
          </a:lstStyle>
          <a:p xmlns:a="http://schemas.openxmlformats.org/drawingml/2006/main">
            <a:pPr algn="ctr">
              <a:defRPr sz="1875" b="0">
                <a:solidFill>
                  <a:srgbClr val="59636E"/>
                </a:solidFill>
                <a:latin typeface="Arial"/>
                <a:ea typeface="Arial"/>
                <a:cs typeface="Arial"/>
              </a:defRPr>
            </a:pPr>
            <a:r>
              <a:rPr sz="1875" b="0">
                <a:solidFill>
                  <a:srgbClr val="59636E"/>
                </a:solidFill>
                <a:latin typeface="Arial"/>
                <a:ea typeface="Arial"/>
                <a:cs typeface="Arial"/>
              </a:rPr>
              <a:t>The observed leaders still need independent patient validation.</a:t>
            </a:r>
          </a:p>
        </p:txBody>
      </p:sp>
    </p:spTree>
    <p:extLst>
      <p:ext uri="{BB962C8B-B14F-4D97-AF65-F5344CB8AC3E}">
        <p14:creationId xmlns:p14="http://schemas.microsoft.com/office/powerpoint/2010/main" val="4182443781"/>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8" name="矩形: 圆角 214">
            <a:extLst xmlns:a="http://schemas.openxmlformats.org/drawingml/2006/main">
              <a:ext uri="{FF2B5EF4-FFF2-40B4-BE49-F238E27FC236}">
                <a16:creationId xmlns:a16="http://schemas.microsoft.com/office/drawing/2014/main" id="{6259CFD7-602F-1609-E7BF-3C2460FB8831}"/>
              </a:ext>
            </a:extLst>
          </p:cNvPr>
          <p:cNvSpPr>
            <a:spLocks xmlns:a="http://schemas.openxmlformats.org/drawingml/2006/main" noGrp="1"/>
          </p:cNvSpPr>
          <p:nvPr/>
        </p:nvSpPr>
        <p:spPr>
          <a:xfrm xmlns:a="http://schemas.openxmlformats.org/drawingml/2006/main">
            <a:off x="0" y="2304288"/>
            <a:ext cx="12191999" cy="2221270"/>
          </a:xfrm>
          <a:prstGeom xmlns:a="http://schemas.openxmlformats.org/drawingml/2006/main" prst="rect">
            <a:avLst/>
          </a:prstGeom>
          <a:solidFill xmlns:a="http://schemas.openxmlformats.org/drawingml/2006/main">
            <a:schemeClr val="accent1">
              <a:lumMod val="20000"/>
              <a:lumOff val="80000"/>
            </a:schemeClr>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b="1">
              <a:latin typeface="Microsoft YaHei"/>
              <a:ea typeface="Microsoft YaHei"/>
              <a:cs typeface="Microsoft YaHei"/>
            </a:endParaRPr>
          </a:p>
        </p:txBody>
      </p:sp>
      <p:sp>
        <p:nvSpPr>
          <p:cNvPr id="5" name="文本框 4">
            <a:extLst xmlns:a="http://schemas.openxmlformats.org/drawingml/2006/main">
              <a:ext uri="{FF2B5EF4-FFF2-40B4-BE49-F238E27FC236}">
                <a16:creationId xmlns:a16="http://schemas.microsoft.com/office/drawing/2014/main" id="{E8906046-4575-13A5-3562-DCE76A3D30EF}"/>
              </a:ext>
            </a:extLst>
          </p:cNvPr>
          <p:cNvSpPr>
            <a:spLocks xmlns:a="http://schemas.openxmlformats.org/drawingml/2006/main" noGrp="1"/>
          </p:cNvSpPr>
          <p:nvPr/>
        </p:nvSpPr>
        <p:spPr>
          <a:xfrm xmlns:a="http://schemas.openxmlformats.org/drawingml/2006/main">
            <a:off x="1367698" y="3030202"/>
            <a:ext cx="945660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3000" b="1">
                <a:solidFill>
                  <a:srgbClr val="013D7A"/>
                </a:solidFill>
                <a:latin typeface="Arial"/>
                <a:ea typeface="Arial"/>
                <a:cs typeface="Arial"/>
              </a:defRPr>
            </a:defPPr>
            <a:lvl1pPr algn="ctr">
              <a:defRPr sz="3000" b="1">
                <a:solidFill>
                  <a:srgbClr val="013D7A"/>
                </a:solidFill>
                <a:latin typeface="Arial"/>
                <a:ea typeface="Arial"/>
                <a:cs typeface="Arial"/>
              </a:defRPr>
            </a:lvl1pPr>
            <a:lvl2pPr algn="ctr">
              <a:defRPr sz="3000" b="1">
                <a:solidFill>
                  <a:srgbClr val="013D7A"/>
                </a:solidFill>
                <a:latin typeface="Arial"/>
                <a:ea typeface="Arial"/>
                <a:cs typeface="Arial"/>
              </a:defRPr>
            </a:lvl2pPr>
            <a:lvl3pPr algn="ctr">
              <a:defRPr sz="3000" b="1">
                <a:solidFill>
                  <a:srgbClr val="013D7A"/>
                </a:solidFill>
                <a:latin typeface="Arial"/>
                <a:ea typeface="Arial"/>
                <a:cs typeface="Arial"/>
              </a:defRPr>
            </a:lvl3pPr>
            <a:lvl4pPr algn="ctr">
              <a:defRPr sz="3000" b="1">
                <a:solidFill>
                  <a:srgbClr val="013D7A"/>
                </a:solidFill>
                <a:latin typeface="Arial"/>
                <a:ea typeface="Arial"/>
                <a:cs typeface="Arial"/>
              </a:defRPr>
            </a:lvl4pPr>
            <a:lvl5pPr algn="ctr">
              <a:defRPr sz="3000" b="1">
                <a:solidFill>
                  <a:srgbClr val="013D7A"/>
                </a:solidFill>
                <a:latin typeface="Arial"/>
                <a:ea typeface="Arial"/>
                <a:cs typeface="Arial"/>
              </a:defRPr>
            </a:lvl5pPr>
            <a:lvl6pPr algn="ctr">
              <a:defRPr sz="3000" b="1">
                <a:solidFill>
                  <a:srgbClr val="013D7A"/>
                </a:solidFill>
                <a:latin typeface="Arial"/>
                <a:ea typeface="Arial"/>
                <a:cs typeface="Arial"/>
              </a:defRPr>
            </a:lvl6pPr>
            <a:lvl7pPr algn="ctr">
              <a:defRPr sz="3000" b="1">
                <a:solidFill>
                  <a:srgbClr val="013D7A"/>
                </a:solidFill>
                <a:latin typeface="Arial"/>
                <a:ea typeface="Arial"/>
                <a:cs typeface="Arial"/>
              </a:defRPr>
            </a:lvl7pPr>
            <a:lvl8pPr algn="ctr">
              <a:defRPr sz="3000" b="1">
                <a:solidFill>
                  <a:srgbClr val="013D7A"/>
                </a:solidFill>
                <a:latin typeface="Arial"/>
                <a:ea typeface="Arial"/>
                <a:cs typeface="Arial"/>
              </a:defRPr>
            </a:lvl8pPr>
            <a:lvl9pPr algn="ctr">
              <a:defRPr sz="3000" b="1">
                <a:solidFill>
                  <a:srgbClr val="013D7A"/>
                </a:solidFill>
                <a:latin typeface="Arial"/>
                <a:ea typeface="Arial"/>
                <a:cs typeface="Arial"/>
              </a:defRPr>
            </a:lvl9pPr>
          </a:lstStyle>
          <a:p xmlns:a="http://schemas.openxmlformats.org/drawingml/2006/main">
            <a:pPr algn="ctr">
              <a:buNone/>
              <a:defRPr sz="3000" b="1">
                <a:solidFill>
                  <a:srgbClr val="013D7A"/>
                </a:solidFill>
                <a:latin typeface="Arial"/>
                <a:ea typeface="Arial"/>
                <a:cs typeface="Arial"/>
              </a:defRPr>
            </a:pPr>
            <a:r>
              <a:rPr sz="3000" b="1">
                <a:solidFill>
                  <a:srgbClr val="013D7A"/>
                </a:solidFill>
                <a:latin typeface="Arial"/>
                <a:ea typeface="Arial"/>
                <a:cs typeface="Arial"/>
              </a:rPr>
              <a:t>Complete experiments and audit trail</a:t>
            </a:r>
            <a:endParaRPr sz="4400" b="1">
              <a:solidFill>
                <a:schemeClr val="accent1"/>
              </a:solidFill>
              <a:latin typeface="Arial"/>
              <a:ea typeface="Arial"/>
              <a:cs typeface="Arial"/>
            </a:endParaRPr>
          </a:p>
        </p:txBody>
      </p:sp>
      <p:sp>
        <p:nvSpPr>
          <p:cNvPr id="4" name="椭圆 3">
            <a:extLst xmlns:a="http://schemas.openxmlformats.org/drawingml/2006/main">
              <a:ext uri="{FF2B5EF4-FFF2-40B4-BE49-F238E27FC236}">
                <a16:creationId xmlns:a16="http://schemas.microsoft.com/office/drawing/2014/main" id="{9C9377E5-E3D4-340A-EAF1-4DFBEF56A878}"/>
              </a:ext>
            </a:extLst>
          </p:cNvPr>
          <p:cNvSpPr>
            <a:spLocks xmlns:a="http://schemas.openxmlformats.org/drawingml/2006/main" noGrp="1"/>
          </p:cNvSpPr>
          <p:nvPr/>
        </p:nvSpPr>
        <p:spPr>
          <a:xfrm xmlns:a="http://schemas.openxmlformats.org/drawingml/2006/main" rot="0" flipH="0" flipV="0">
            <a:off x="5681211" y="1889498"/>
            <a:ext cx="829579" cy="829579"/>
          </a:xfrm>
          <a:prstGeom xmlns:a="http://schemas.openxmlformats.org/drawingml/2006/main" prst="ellipse">
            <a:avLst/>
          </a:prstGeom>
          <a:solidFill xmlns:a="http://schemas.openxmlformats.org/drawingml/2006/main">
            <a:schemeClr val="accent1"/>
          </a:solidFill>
          <a:ln xmlns:a="http://schemas.openxmlformats.org/drawingml/2006/main">
            <a:noFill/>
          </a:ln>
          <a:effectLst xmlns:a="http://schemas.openxmlformats.org/drawingml/2006/main">
            <a:outerShdw blurRad="139700" dist="114300" dir="2700000" algn="tl" rotWithShape="0">
              <a:schemeClr val="accent6">
                <a:alpha val="16000"/>
              </a:scheme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600" b="1">
              <a:latin typeface="Arial"/>
              <a:ea typeface="Arial"/>
              <a:cs typeface="Arial"/>
            </a:endParaRPr>
          </a:p>
        </p:txBody>
      </p:sp>
      <p:sp>
        <p:nvSpPr>
          <p:cNvPr id="6" name="文本框 5">
            <a:extLst xmlns:a="http://schemas.openxmlformats.org/drawingml/2006/main">
              <a:ext uri="{FF2B5EF4-FFF2-40B4-BE49-F238E27FC236}">
                <a16:creationId xmlns:a16="http://schemas.microsoft.com/office/drawing/2014/main" id="{2C092795-6E68-5C4F-AD01-F67A3B1589E2}"/>
              </a:ext>
            </a:extLst>
          </p:cNvPr>
          <p:cNvSpPr>
            <a:spLocks xmlns:a="http://schemas.openxmlformats.org/drawingml/2006/main" noGrp="1"/>
          </p:cNvSpPr>
          <p:nvPr/>
        </p:nvSpPr>
        <p:spPr>
          <a:xfrm xmlns:a="http://schemas.openxmlformats.org/drawingml/2006/main" rot="0" flipH="0" flipV="0">
            <a:off x="5705935" y="1990100"/>
            <a:ext cx="780131"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2400" b="1">
                <a:solidFill>
                  <a:srgbClr val="FFFFFF"/>
                </a:solidFill>
                <a:latin typeface="Arial"/>
                <a:ea typeface="Arial"/>
                <a:cs typeface="Arial"/>
              </a:defRPr>
            </a:defPPr>
            <a:lvl1pPr algn="ctr">
              <a:defRPr sz="2400" b="1">
                <a:solidFill>
                  <a:srgbClr val="FFFFFF"/>
                </a:solidFill>
                <a:latin typeface="Arial"/>
                <a:ea typeface="Arial"/>
                <a:cs typeface="Arial"/>
              </a:defRPr>
            </a:lvl1pPr>
            <a:lvl2pPr algn="ctr">
              <a:defRPr sz="2400" b="1">
                <a:solidFill>
                  <a:srgbClr val="FFFFFF"/>
                </a:solidFill>
                <a:latin typeface="Arial"/>
                <a:ea typeface="Arial"/>
                <a:cs typeface="Arial"/>
              </a:defRPr>
            </a:lvl2pPr>
            <a:lvl3pPr algn="ctr">
              <a:defRPr sz="2400" b="1">
                <a:solidFill>
                  <a:srgbClr val="FFFFFF"/>
                </a:solidFill>
                <a:latin typeface="Arial"/>
                <a:ea typeface="Arial"/>
                <a:cs typeface="Arial"/>
              </a:defRPr>
            </a:lvl3pPr>
            <a:lvl4pPr algn="ctr">
              <a:defRPr sz="2400" b="1">
                <a:solidFill>
                  <a:srgbClr val="FFFFFF"/>
                </a:solidFill>
                <a:latin typeface="Arial"/>
                <a:ea typeface="Arial"/>
                <a:cs typeface="Arial"/>
              </a:defRPr>
            </a:lvl4pPr>
            <a:lvl5pPr algn="ctr">
              <a:defRPr sz="2400" b="1">
                <a:solidFill>
                  <a:srgbClr val="FFFFFF"/>
                </a:solidFill>
                <a:latin typeface="Arial"/>
                <a:ea typeface="Arial"/>
                <a:cs typeface="Arial"/>
              </a:defRPr>
            </a:lvl5pPr>
            <a:lvl6pPr algn="ctr">
              <a:defRPr sz="2400" b="1">
                <a:solidFill>
                  <a:srgbClr val="FFFFFF"/>
                </a:solidFill>
                <a:latin typeface="Arial"/>
                <a:ea typeface="Arial"/>
                <a:cs typeface="Arial"/>
              </a:defRPr>
            </a:lvl6pPr>
            <a:lvl7pPr algn="ctr">
              <a:defRPr sz="2400" b="1">
                <a:solidFill>
                  <a:srgbClr val="FFFFFF"/>
                </a:solidFill>
                <a:latin typeface="Arial"/>
                <a:ea typeface="Arial"/>
                <a:cs typeface="Arial"/>
              </a:defRPr>
            </a:lvl7pPr>
            <a:lvl8pPr algn="ctr">
              <a:defRPr sz="2400" b="1">
                <a:solidFill>
                  <a:srgbClr val="FFFFFF"/>
                </a:solidFill>
                <a:latin typeface="Arial"/>
                <a:ea typeface="Arial"/>
                <a:cs typeface="Arial"/>
              </a:defRPr>
            </a:lvl8pPr>
            <a:lvl9pPr algn="ctr">
              <a:defRPr sz="2400" b="1">
                <a:solidFill>
                  <a:srgbClr val="FFFFFF"/>
                </a:solidFill>
                <a:latin typeface="Arial"/>
                <a:ea typeface="Arial"/>
                <a:cs typeface="Arial"/>
              </a:defRPr>
            </a:lvl9pPr>
          </a:lstStyle>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A</a:t>
            </a:r>
            <a:endParaRPr sz="3600" b="1">
              <a:solidFill>
                <a:schemeClr val="bg1"/>
              </a:solidFill>
              <a:latin typeface="Arial"/>
              <a:ea typeface="Arial"/>
              <a:cs typeface="Arial"/>
            </a:endParaRPr>
          </a:p>
        </p:txBody>
      </p:sp>
      <p:pic>
        <p:nvPicPr>
          <p:cNvPr id="3" name="图片 2">
            <a:extLst xmlns:a="http://schemas.openxmlformats.org/drawingml/2006/main">
              <a:ext uri="{FF2B5EF4-FFF2-40B4-BE49-F238E27FC236}">
                <a16:creationId xmlns:a16="http://schemas.microsoft.com/office/drawing/2014/main" id="{A7831CC2-1C8A-44D1-A701-E6C9AF44845F}"/>
              </a:ext>
            </a:extLst>
          </p:cNvPr>
          <p:cNvPicPr>
            <a:picLocks xmlns:a="http://schemas.openxmlformats.org/drawingml/2006/main" noChangeAspect="1"/>
          </p:cNvPicPr>
          <p:nvPr/>
        </p:nvPicPr>
        <p:blipFill>
          <a:blip xmlns:r="http://schemas.openxmlformats.org/officeDocument/2006/relationships" xmlns:a="http://schemas.openxmlformats.org/drawingml/2006/main" r:embed="Rbfed285071714b95"/>
          <a:stretch xmlns:a="http://schemas.openxmlformats.org/drawingml/2006/main">
            <a:fillRect l="0" t="0" r="0" b="0"/>
          </a:stretch>
        </p:blipFill>
        <p:spPr>
          <a:xfrm xmlns:a="http://schemas.openxmlformats.org/drawingml/2006/main">
            <a:off x="10454282" y="281687"/>
            <a:ext cx="1480727" cy="683513"/>
          </a:xfrm>
          <a:prstGeom xmlns:a="http://schemas.openxmlformats.org/drawingml/2006/main" prst="rect">
            <a:avLst/>
          </a:prstGeom>
        </p:spPr>
      </p:pic>
    </p:spTree>
    <p:extLst>
      <p:ext uri="{BB962C8B-B14F-4D97-AF65-F5344CB8AC3E}">
        <p14:creationId xmlns:p14="http://schemas.microsoft.com/office/powerpoint/2010/main" val="403243972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initial nine configurations remain in the record</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01ad97e9122148da"/>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F7B13D3E-3DB3-4EB5-815A-3F01B7D4F0E0}"/>
              </a:ext>
            </a:extLst>
          </p:cNvPr>
          <p:cNvGraphicFramePr/>
          <p:nvPr/>
        </p:nvGraphicFramePr>
        <p:xfrm>
          <a:off xmlns:a="http://schemas.openxmlformats.org/drawingml/2006/main" x="619125" y="2000250"/>
          <a:ext xmlns:a="http://schemas.openxmlformats.org/drawingml/2006/main" cx="10953750" cy="4143375"/>
        </p:xfrm>
        <a:graphic xmlns:a="http://schemas.openxmlformats.org/drawingml/2006/main">
          <a:graphicData uri="http://schemas.openxmlformats.org/drawingml/2006/table">
            <a:tbl>
              <a:tblPr/>
              <a:tblGrid>
                <a:gridCol w="4000500"/>
                <a:gridCol w="2047875"/>
                <a:gridCol w="2047875"/>
                <a:gridCol w="1428750"/>
                <a:gridCol w="1428750"/>
              </a:tblGrid>
              <a:tr h="414338">
                <a:tc>
                  <a:txBody>
                    <a:bodyPr wrap="square">
                      <a:noAutofit/>
                    </a:bodyPr>
                    <a:lstStyle/>
                    <a:p>
                      <a:pPr algn="l"/>
                      <a:r>
                        <a:rPr sz="1425" b="1">
                          <a:solidFill>
                            <a:srgbClr val="FFFFFF"/>
                          </a:solidFill>
                          <a:latin typeface="Arial"/>
                          <a:ea typeface="Arial"/>
                          <a:cs typeface="Arial"/>
                        </a:rPr>
                        <a:t>Configuration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Extent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Opacity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Extent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Opacity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414338">
                <a:tc>
                  <a:txBody>
                    <a:bodyPr wrap="square">
                      <a:noAutofit/>
                    </a:bodyPr>
                    <a:lstStyle/>
                    <a:p>
                      <a:pPr algn="l"/>
                      <a:r>
                        <a:rPr sz="1425" b="0">
                          <a:solidFill>
                            <a:srgbClr val="202832"/>
                          </a:solidFill>
                          <a:latin typeface="Arial"/>
                          <a:ea typeface="Arial"/>
                          <a:cs typeface="Arial"/>
                        </a:rPr>
                        <a:t>Mean baseline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2.072 ± 0.167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1.289 ± 0.104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-0.087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-0.084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4338">
                <a:tc>
                  <a:txBody>
                    <a:bodyPr wrap="square">
                      <a:noAutofit/>
                    </a:bodyPr>
                    <a:lstStyle/>
                    <a:p>
                      <a:pPr algn="l"/>
                      <a:r>
                        <a:rPr sz="1425" b="0">
                          <a:solidFill>
                            <a:srgbClr val="202832"/>
                          </a:solidFill>
                          <a:latin typeface="Arial"/>
                          <a:ea typeface="Arial"/>
                          <a:cs typeface="Arial"/>
                        </a:rPr>
                        <a:t>Published OLS 1</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1.165 ± 0.104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0.788 ± 0.062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0.598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0.585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4338">
                <a:tc>
                  <a:txBody>
                    <a:bodyPr wrap="square">
                      <a:noAutofit/>
                    </a:bodyPr>
                    <a:lstStyle/>
                    <a:p>
                      <a:pPr algn="l"/>
                      <a:r>
                        <a:rPr sz="1425" b="0">
                          <a:solidFill>
                            <a:srgbClr val="202832"/>
                          </a:solidFill>
                          <a:latin typeface="Arial"/>
                          <a:ea typeface="Arial"/>
                          <a:cs typeface="Arial"/>
                        </a:rPr>
                        <a:t>Published OLS 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1.184 ± 0.121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0.766 ± 0.072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0.598</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0.589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4338">
                <a:tc>
                  <a:txBody>
                    <a:bodyPr wrap="square">
                      <a:noAutofit/>
                    </a:bodyPr>
                    <a:lstStyle/>
                    <a:p>
                      <a:pPr algn="l"/>
                      <a:r>
                        <a:rPr sz="1425" b="0">
                          <a:solidFill>
                            <a:srgbClr val="202832"/>
                          </a:solidFill>
                          <a:latin typeface="Arial"/>
                          <a:ea typeface="Arial"/>
                          <a:cs typeface="Arial"/>
                        </a:rPr>
                        <a:t>Published OLS 18</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1.323 ± 0.196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0.917 ± 0.123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0.485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0.386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4338">
                <a:tc>
                  <a:txBody>
                    <a:bodyPr wrap="square">
                      <a:noAutofit/>
                    </a:bodyPr>
                    <a:lstStyle/>
                    <a:p>
                      <a:pPr algn="l"/>
                      <a:r>
                        <a:rPr sz="1425" b="0">
                          <a:solidFill>
                            <a:srgbClr val="202832"/>
                          </a:solidFill>
                          <a:latin typeface="Arial"/>
                          <a:ea typeface="Arial"/>
                          <a:cs typeface="Arial"/>
                        </a:rPr>
                        <a:t>Published OLS 1024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1.355 ± 0.127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1.020 ± 0.094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0.459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0.277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4338">
                <a:tc>
                  <a:txBody>
                    <a:bodyPr wrap="square">
                      <a:noAutofit/>
                    </a:bodyPr>
                    <a:lstStyle/>
                    <a:p>
                      <a:pPr algn="l"/>
                      <a:r>
                        <a:rPr sz="1425" b="0">
                          <a:solidFill>
                            <a:srgbClr val="202832"/>
                          </a:solidFill>
                          <a:latin typeface="Arial"/>
                          <a:ea typeface="Arial"/>
                          <a:cs typeface="Arial"/>
                        </a:rPr>
                        <a:t>Ridge 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1.213 ± 0.128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0.770 ± 0.074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0.586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0.584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4338">
                <a:tc>
                  <a:txBody>
                    <a:bodyPr wrap="square">
                      <a:noAutofit/>
                    </a:bodyPr>
                    <a:lstStyle/>
                    <a:p>
                      <a:pPr algn="l"/>
                      <a:r>
                        <a:rPr sz="1425" b="0">
                          <a:solidFill>
                            <a:srgbClr val="202832"/>
                          </a:solidFill>
                          <a:latin typeface="Arial"/>
                          <a:ea typeface="Arial"/>
                          <a:cs typeface="Arial"/>
                        </a:rPr>
                        <a:t>Ridge 18</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1.241 ± 0.193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0.829 ± 0.103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0.551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0.516</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4338">
                <a:tc>
                  <a:txBody>
                    <a:bodyPr wrap="square">
                      <a:noAutofit/>
                    </a:bodyPr>
                    <a:lstStyle/>
                    <a:p>
                      <a:pPr algn="l"/>
                      <a:r>
                        <a:rPr sz="1425" b="0">
                          <a:solidFill>
                            <a:srgbClr val="202832"/>
                          </a:solidFill>
                          <a:latin typeface="Arial"/>
                          <a:ea typeface="Arial"/>
                          <a:cs typeface="Arial"/>
                        </a:rPr>
                        <a:t>Ridge 1024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1.419 ± 0.633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0.931 ± 0.515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-1.894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-3.745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4338">
                <a:tc>
                  <a:txBody>
                    <a:bodyPr wrap="square">
                      <a:noAutofit/>
                    </a:bodyPr>
                    <a:lstStyle/>
                    <a:p>
                      <a:pPr algn="l"/>
                      <a:r>
                        <a:rPr sz="1425" b="0">
                          <a:solidFill>
                            <a:srgbClr val="202832"/>
                          </a:solidFill>
                          <a:latin typeface="Arial"/>
                          <a:ea typeface="Arial"/>
                          <a:cs typeface="Arial"/>
                        </a:rPr>
                        <a:t>RBF SVR 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1.272 ± 0.202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0.893 ± 0.102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0.512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0.429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bl>
          </a:graphicData>
        </a:graphic>
      </p:graphicFrame>
      <p:sp>
        <p:nvSpPr>
          <p:cNvPr id="16" name="29">
            <a:extLst xmlns:a="http://schemas.openxmlformats.org/drawingml/2006/main">
              <a:ext uri="{FF2B5EF4-FFF2-40B4-BE49-F238E27FC236}">
                <a16:creationId xmlns:a16="http://schemas.microsoft.com/office/drawing/2014/main" id="{AA47F724-B3C8-4711-B4D5-7558F8E3B436}"/>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29</a:t>
            </a:r>
          </a:p>
        </p:txBody>
      </p:sp>
      <p:sp>
        <p:nvSpPr>
          <p:cNvPr id="17" name="All main comparisons use identical patient splits. MAE is me">
            <a:extLst xmlns:a="http://schemas.openxmlformats.org/drawingml/2006/main">
              <a:ext uri="{FF2B5EF4-FFF2-40B4-BE49-F238E27FC236}">
                <a16:creationId xmlns:a16="http://schemas.microsoft.com/office/drawing/2014/main" id="{26F5327E-3EA2-48A1-A3DC-B69511743B16}"/>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All main comparisons use identical patient splits. MAE is mean ± split SD.</a:t>
            </a:r>
          </a:p>
        </p:txBody>
      </p:sp>
    </p:spTree>
    <p:extLst>
      <p:ext uri="{BB962C8B-B14F-4D97-AF65-F5344CB8AC3E}">
        <p14:creationId xmlns:p14="http://schemas.microsoft.com/office/powerpoint/2010/main" val="9223975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Bounded references and low-dimensional alternatives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d2f9e15806e94fa4"/>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77764BB8-6654-4EDF-B0A3-DACFF07866EA}"/>
              </a:ext>
            </a:extLst>
          </p:cNvPr>
          <p:cNvGraphicFramePr/>
          <p:nvPr/>
        </p:nvGraphicFramePr>
        <p:xfrm>
          <a:off xmlns:a="http://schemas.openxmlformats.org/drawingml/2006/main" x="619125" y="2000250"/>
          <a:ext xmlns:a="http://schemas.openxmlformats.org/drawingml/2006/main" cx="10953750" cy="4143375"/>
        </p:xfrm>
        <a:graphic xmlns:a="http://schemas.openxmlformats.org/drawingml/2006/main">
          <a:graphicData uri="http://schemas.openxmlformats.org/drawingml/2006/table">
            <a:tbl>
              <a:tblPr/>
              <a:tblGrid>
                <a:gridCol w="4000500"/>
                <a:gridCol w="2047875"/>
                <a:gridCol w="2047875"/>
                <a:gridCol w="1428750"/>
                <a:gridCol w="1428750"/>
              </a:tblGrid>
              <a:tr h="376670">
                <a:tc>
                  <a:txBody>
                    <a:bodyPr wrap="square">
                      <a:noAutofit/>
                    </a:bodyPr>
                    <a:lstStyle/>
                    <a:p>
                      <a:pPr algn="l"/>
                      <a:r>
                        <a:rPr sz="1425" b="1">
                          <a:solidFill>
                            <a:srgbClr val="FFFFFF"/>
                          </a:solidFill>
                          <a:latin typeface="Arial"/>
                          <a:ea typeface="Arial"/>
                          <a:cs typeface="Arial"/>
                        </a:rPr>
                        <a:t>Configuration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Extent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Opacity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Extent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425" b="1">
                          <a:solidFill>
                            <a:srgbClr val="FFFFFF"/>
                          </a:solidFill>
                          <a:latin typeface="Arial"/>
                          <a:ea typeface="Arial"/>
                          <a:cs typeface="Arial"/>
                        </a:rPr>
                        <a:t>Opacity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376670">
                <a:tc>
                  <a:txBody>
                    <a:bodyPr wrap="square">
                      <a:noAutofit/>
                    </a:bodyPr>
                    <a:lstStyle/>
                    <a:p>
                      <a:pPr algn="l"/>
                      <a:r>
                        <a:rPr sz="1425" b="0">
                          <a:solidFill>
                            <a:srgbClr val="202832"/>
                          </a:solidFill>
                          <a:latin typeface="Arial"/>
                          <a:ea typeface="Arial"/>
                          <a:cs typeface="Arial"/>
                        </a:rPr>
                        <a:t>Bounded OLS 1</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1.107 ± 0.110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0.772 ± 0.067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0.622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0.593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376670">
                <a:tc>
                  <a:txBody>
                    <a:bodyPr wrap="square">
                      <a:noAutofit/>
                    </a:bodyPr>
                    <a:lstStyle/>
                    <a:p>
                      <a:pPr algn="l"/>
                      <a:r>
                        <a:rPr sz="1425" b="0">
                          <a:solidFill>
                            <a:srgbClr val="202832"/>
                          </a:solidFill>
                          <a:latin typeface="Arial"/>
                          <a:ea typeface="Arial"/>
                          <a:cs typeface="Arial"/>
                        </a:rPr>
                        <a:t>Bounded OLS 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1.117 ± 0.114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0.745 ± 0.072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0.627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0.602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376670">
                <a:tc>
                  <a:txBody>
                    <a:bodyPr wrap="square">
                      <a:noAutofit/>
                    </a:bodyPr>
                    <a:lstStyle/>
                    <a:p>
                      <a:pPr algn="l"/>
                      <a:r>
                        <a:rPr sz="1425" b="0">
                          <a:solidFill>
                            <a:srgbClr val="202832"/>
                          </a:solidFill>
                          <a:latin typeface="Arial"/>
                          <a:ea typeface="Arial"/>
                          <a:cs typeface="Arial"/>
                        </a:rPr>
                        <a:t>Bounded OLS 18</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1.218 ± 0.159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0.876 ± 0.112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0.543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0.430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376670">
                <a:tc>
                  <a:txBody>
                    <a:bodyPr wrap="square">
                      <a:noAutofit/>
                    </a:bodyPr>
                    <a:lstStyle/>
                    <a:p>
                      <a:pPr algn="l"/>
                      <a:r>
                        <a:rPr sz="1425" b="0">
                          <a:solidFill>
                            <a:srgbClr val="202832"/>
                          </a:solidFill>
                          <a:latin typeface="Arial"/>
                          <a:ea typeface="Arial"/>
                          <a:cs typeface="Arial"/>
                        </a:rPr>
                        <a:t>Bounded OLS 1024</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1.269 ± 0.143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0.979 ± 0.087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0.502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0.320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376670">
                <a:tc>
                  <a:txBody>
                    <a:bodyPr wrap="square">
                      <a:noAutofit/>
                    </a:bodyPr>
                    <a:lstStyle/>
                    <a:p>
                      <a:pPr algn="l"/>
                      <a:r>
                        <a:rPr sz="1425" b="0">
                          <a:solidFill>
                            <a:srgbClr val="202832"/>
                          </a:solidFill>
                          <a:latin typeface="Arial"/>
                          <a:ea typeface="Arial"/>
                          <a:cs typeface="Arial"/>
                        </a:rPr>
                        <a:t>DenseNet4 Huber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1.149 ± 0.124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0.760 ± 0.075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0.605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0.591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376670">
                <a:tc>
                  <a:txBody>
                    <a:bodyPr wrap="square">
                      <a:noAutofit/>
                    </a:bodyPr>
                    <a:lstStyle/>
                    <a:p>
                      <a:pPr algn="l"/>
                      <a:r>
                        <a:rPr sz="1425" b="0">
                          <a:solidFill>
                            <a:srgbClr val="202832"/>
                          </a:solidFill>
                          <a:latin typeface="Arial"/>
                          <a:ea typeface="Arial"/>
                          <a:cs typeface="Arial"/>
                        </a:rPr>
                        <a:t>DenseNet18 ElasticNet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1.164 ± 0.134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0.785 ± 0.090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0.593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0.559</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376670">
                <a:tc>
                  <a:txBody>
                    <a:bodyPr wrap="square">
                      <a:noAutofit/>
                    </a:bodyPr>
                    <a:lstStyle/>
                    <a:p>
                      <a:pPr algn="l"/>
                      <a:r>
                        <a:rPr sz="1425" b="0">
                          <a:solidFill>
                            <a:srgbClr val="202832"/>
                          </a:solidFill>
                          <a:latin typeface="Arial"/>
                          <a:ea typeface="Arial"/>
                          <a:cs typeface="Arial"/>
                        </a:rPr>
                        <a:t>DenseNet4 kernel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1.162 ± 0.201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0.808 ± 0.120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0.575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0.517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376670">
                <a:tc>
                  <a:txBody>
                    <a:bodyPr wrap="square">
                      <a:noAutofit/>
                    </a:bodyPr>
                    <a:lstStyle/>
                    <a:p>
                      <a:pPr algn="l"/>
                      <a:r>
                        <a:rPr sz="1425" b="0">
                          <a:solidFill>
                            <a:srgbClr val="202832"/>
                          </a:solidFill>
                          <a:latin typeface="Arial"/>
                          <a:ea typeface="Arial"/>
                          <a:cs typeface="Arial"/>
                        </a:rPr>
                        <a:t>DenseNet4 extra trees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1.179 ± 0.143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0.856 ± 0.100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0.575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0.500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376670">
                <a:tc>
                  <a:txBody>
                    <a:bodyPr wrap="square">
                      <a:noAutofit/>
                    </a:bodyPr>
                    <a:lstStyle/>
                    <a:p>
                      <a:pPr algn="l"/>
                      <a:r>
                        <a:rPr sz="1425" b="0">
                          <a:solidFill>
                            <a:srgbClr val="202832"/>
                          </a:solidFill>
                          <a:latin typeface="Arial"/>
                          <a:ea typeface="Arial"/>
                          <a:cs typeface="Arial"/>
                        </a:rPr>
                        <a:t>DenseNet4 random forest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1.205 ± 0.145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0.859 ± 0.096</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0.561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425" b="0">
                          <a:solidFill>
                            <a:srgbClr val="202832"/>
                          </a:solidFill>
                          <a:latin typeface="Arial"/>
                          <a:ea typeface="Arial"/>
                          <a:cs typeface="Arial"/>
                        </a:rPr>
                        <a:t>0.485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376670">
                <a:tc>
                  <a:txBody>
                    <a:bodyPr wrap="square">
                      <a:noAutofit/>
                    </a:bodyPr>
                    <a:lstStyle/>
                    <a:p>
                      <a:pPr algn="l"/>
                      <a:r>
                        <a:rPr sz="1425" b="0">
                          <a:solidFill>
                            <a:srgbClr val="202832"/>
                          </a:solidFill>
                          <a:latin typeface="Arial"/>
                          <a:ea typeface="Arial"/>
                          <a:cs typeface="Arial"/>
                        </a:rPr>
                        <a:t>DenseNet4 gradient boosting</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1.280 ± 0.145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0.886 ± 0.116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0.511</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425" b="0">
                          <a:solidFill>
                            <a:srgbClr val="202832"/>
                          </a:solidFill>
                          <a:latin typeface="Arial"/>
                          <a:ea typeface="Arial"/>
                          <a:cs typeface="Arial"/>
                        </a:rPr>
                        <a:t>0.447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30">
            <a:extLst xmlns:a="http://schemas.openxmlformats.org/drawingml/2006/main">
              <a:ext uri="{FF2B5EF4-FFF2-40B4-BE49-F238E27FC236}">
                <a16:creationId xmlns:a16="http://schemas.microsoft.com/office/drawing/2014/main" id="{C36B484F-0C64-452E-8B96-ACE59EC65E9A}"/>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30</a:t>
            </a:r>
          </a:p>
        </p:txBody>
      </p:sp>
      <p:sp>
        <p:nvSpPr>
          <p:cNvPr id="17" name="All main comparisons use identical patient splits. MAE is me">
            <a:extLst xmlns:a="http://schemas.openxmlformats.org/drawingml/2006/main">
              <a:ext uri="{FF2B5EF4-FFF2-40B4-BE49-F238E27FC236}">
                <a16:creationId xmlns:a16="http://schemas.microsoft.com/office/drawing/2014/main" id="{F5147396-DE84-48BB-935F-328A63472240}"/>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All main comparisons use identical patient splits. MAE is mean ± split SD.</a:t>
            </a:r>
          </a:p>
        </p:txBody>
      </p:sp>
    </p:spTree>
    <p:extLst>
      <p:ext uri="{BB962C8B-B14F-4D97-AF65-F5344CB8AC3E}">
        <p14:creationId xmlns:p14="http://schemas.microsoft.com/office/powerpoint/2010/main" val="9223975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Five DenseNet high-dimensional alternatives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becf4801e8e24044"/>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B83C2D69-928A-47F5-BE5F-6C0951357168}"/>
              </a:ext>
            </a:extLst>
          </p:cNvPr>
          <p:cNvGraphicFramePr/>
          <p:nvPr/>
        </p:nvGraphicFramePr>
        <p:xfrm>
          <a:off xmlns:a="http://schemas.openxmlformats.org/drawingml/2006/main" x="619125" y="2000250"/>
          <a:ext xmlns:a="http://schemas.openxmlformats.org/drawingml/2006/main" cx="10953750" cy="2514600"/>
        </p:xfrm>
        <a:graphic xmlns:a="http://schemas.openxmlformats.org/drawingml/2006/main">
          <a:graphicData uri="http://schemas.openxmlformats.org/drawingml/2006/table">
            <a:tbl>
              <a:tblPr/>
              <a:tblGrid>
                <a:gridCol w="4000500"/>
                <a:gridCol w="2047875"/>
                <a:gridCol w="2047875"/>
                <a:gridCol w="1428750"/>
                <a:gridCol w="1428750"/>
              </a:tblGrid>
              <a:tr h="419100">
                <a:tc>
                  <a:txBody>
                    <a:bodyPr wrap="square">
                      <a:noAutofit/>
                    </a:bodyPr>
                    <a:lstStyle/>
                    <a:p>
                      <a:pPr algn="l"/>
                      <a:r>
                        <a:rPr sz="1575" b="1">
                          <a:solidFill>
                            <a:srgbClr val="FFFFFF"/>
                          </a:solidFill>
                          <a:latin typeface="Arial"/>
                          <a:ea typeface="Arial"/>
                          <a:cs typeface="Arial"/>
                        </a:rPr>
                        <a:t>Configuration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Extent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Opacity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Extent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Opacity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419100">
                <a:tc>
                  <a:txBody>
                    <a:bodyPr wrap="square">
                      <a:noAutofit/>
                    </a:bodyPr>
                    <a:lstStyle/>
                    <a:p>
                      <a:pPr algn="l"/>
                      <a:r>
                        <a:rPr sz="1575" b="0">
                          <a:solidFill>
                            <a:srgbClr val="202832"/>
                          </a:solidFill>
                          <a:latin typeface="Arial"/>
                          <a:ea typeface="Arial"/>
                          <a:cs typeface="Arial"/>
                        </a:rPr>
                        <a:t>DenseNet1024 unscaled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1.152 ± 0.138</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0.813 ± 0.096</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0.609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0.545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DenseNet1024 filtered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1.146 ± 0.135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0.758 ± 0.086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0.616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0.599</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9100">
                <a:tc>
                  <a:txBody>
                    <a:bodyPr wrap="square">
                      <a:noAutofit/>
                    </a:bodyPr>
                    <a:lstStyle/>
                    <a:p>
                      <a:pPr algn="l"/>
                      <a:r>
                        <a:rPr sz="1575" b="0">
                          <a:solidFill>
                            <a:srgbClr val="202832"/>
                          </a:solidFill>
                          <a:latin typeface="Arial"/>
                          <a:ea typeface="Arial"/>
                          <a:cs typeface="Arial"/>
                        </a:rPr>
                        <a:t>DenseNet1024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1.177 ± 0.153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0.816 ± 0.073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0.587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0.541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DenseNet1024 PLS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1.176 ± 0.148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0.817 ± 0.086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0.585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0.534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9100">
                <a:tc>
                  <a:txBody>
                    <a:bodyPr wrap="square">
                      <a:noAutofit/>
                    </a:bodyPr>
                    <a:lstStyle/>
                    <a:p>
                      <a:pPr algn="l"/>
                      <a:r>
                        <a:rPr sz="1575" b="0">
                          <a:solidFill>
                            <a:srgbClr val="202832"/>
                          </a:solidFill>
                          <a:latin typeface="Arial"/>
                          <a:ea typeface="Arial"/>
                          <a:cs typeface="Arial"/>
                        </a:rPr>
                        <a:t>DenseNet1024 normalized SVR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1.188 ± 0.147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0.878 ± 0.099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0.593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0.476</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bl>
          </a:graphicData>
        </a:graphic>
      </p:graphicFrame>
      <p:sp>
        <p:nvSpPr>
          <p:cNvPr id="16" name="31">
            <a:extLst xmlns:a="http://schemas.openxmlformats.org/drawingml/2006/main">
              <a:ext uri="{FF2B5EF4-FFF2-40B4-BE49-F238E27FC236}">
                <a16:creationId xmlns:a16="http://schemas.microsoft.com/office/drawing/2014/main" id="{E7B30900-CCD4-4EC0-86BC-A1F9DEFC3689}"/>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31</a:t>
            </a:r>
          </a:p>
        </p:txBody>
      </p:sp>
      <p:sp>
        <p:nvSpPr>
          <p:cNvPr id="17" name="All main comparisons use identical patient splits. MAE is me">
            <a:extLst xmlns:a="http://schemas.openxmlformats.org/drawingml/2006/main">
              <a:ext uri="{FF2B5EF4-FFF2-40B4-BE49-F238E27FC236}">
                <a16:creationId xmlns:a16="http://schemas.microsoft.com/office/drawing/2014/main" id="{BFF080D7-75EF-4FAC-AD36-9945B2ECEAD2}"/>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All main comparisons use identical patient splits. MAE is mean ± split SD.</a:t>
            </a:r>
          </a:p>
        </p:txBody>
      </p:sp>
    </p:spTree>
    <p:extLst>
      <p:ext uri="{BB962C8B-B14F-4D97-AF65-F5344CB8AC3E}">
        <p14:creationId xmlns:p14="http://schemas.microsoft.com/office/powerpoint/2010/main" val="92239753"/>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Eight BioViL and BioViL-T alternatives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7b33d37032104a5b"/>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515BE84E-5683-4A96-8C94-A21AEED8FA0D}"/>
              </a:ext>
            </a:extLst>
          </p:cNvPr>
          <p:cNvGraphicFramePr/>
          <p:nvPr/>
        </p:nvGraphicFramePr>
        <p:xfrm>
          <a:off xmlns:a="http://schemas.openxmlformats.org/drawingml/2006/main" x="619125" y="2000250"/>
          <a:ext xmlns:a="http://schemas.openxmlformats.org/drawingml/2006/main" cx="10953750" cy="3771900"/>
        </p:xfrm>
        <a:graphic xmlns:a="http://schemas.openxmlformats.org/drawingml/2006/main">
          <a:graphicData uri="http://schemas.openxmlformats.org/drawingml/2006/table">
            <a:tbl>
              <a:tblPr/>
              <a:tblGrid>
                <a:gridCol w="4000500"/>
                <a:gridCol w="2047875"/>
                <a:gridCol w="2047875"/>
                <a:gridCol w="1428750"/>
                <a:gridCol w="1428750"/>
              </a:tblGrid>
              <a:tr h="419100">
                <a:tc>
                  <a:txBody>
                    <a:bodyPr wrap="square">
                      <a:noAutofit/>
                    </a:bodyPr>
                    <a:lstStyle/>
                    <a:p>
                      <a:pPr algn="l"/>
                      <a:r>
                        <a:rPr sz="1575" b="1">
                          <a:solidFill>
                            <a:srgbClr val="FFFFFF"/>
                          </a:solidFill>
                          <a:latin typeface="Arial"/>
                          <a:ea typeface="Arial"/>
                          <a:cs typeface="Arial"/>
                        </a:rPr>
                        <a:t>Configuration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Extent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Opacity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Extent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Opacity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419100">
                <a:tc>
                  <a:txBody>
                    <a:bodyPr wrap="square">
                      <a:noAutofit/>
                    </a:bodyPr>
                    <a:lstStyle/>
                    <a:p>
                      <a:pPr algn="l"/>
                      <a:r>
                        <a:rPr sz="1575" b="0">
                          <a:solidFill>
                            <a:srgbClr val="202832"/>
                          </a:solidFill>
                          <a:latin typeface="Arial"/>
                          <a:ea typeface="Arial"/>
                          <a:cs typeface="Arial"/>
                        </a:rPr>
                        <a:t>BioViL pooled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0.825 ± 0.093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0.700 ± 0.055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0.796</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0.655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BioViL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0.763 ± 0.073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0.681 ± 0.060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0.820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0.663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9100">
                <a:tc>
                  <a:txBody>
                    <a:bodyPr wrap="square">
                      <a:noAutofit/>
                    </a:bodyPr>
                    <a:lstStyle/>
                    <a:p>
                      <a:pPr algn="l"/>
                      <a:r>
                        <a:rPr sz="1575" b="0">
                          <a:solidFill>
                            <a:srgbClr val="202832"/>
                          </a:solidFill>
                          <a:latin typeface="Arial"/>
                          <a:ea typeface="Arial"/>
                          <a:cs typeface="Arial"/>
                        </a:rPr>
                        <a:t>BioViL projected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0.967 ± 0.107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0.819 ± 0.080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0.721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0.535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BioViL projected SVR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0.927 ± 0.088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0.822 ± 0.078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0.726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0.516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9100">
                <a:tc>
                  <a:txBody>
                    <a:bodyPr wrap="square">
                      <a:noAutofit/>
                    </a:bodyPr>
                    <a:lstStyle/>
                    <a:p>
                      <a:pPr algn="l"/>
                      <a:r>
                        <a:rPr sz="1575" b="0">
                          <a:solidFill>
                            <a:srgbClr val="202832"/>
                          </a:solidFill>
                          <a:latin typeface="Arial"/>
                          <a:ea typeface="Arial"/>
                          <a:cs typeface="Arial"/>
                        </a:rPr>
                        <a:t>BioViL-T pooled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0.801 ± 0.110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0.668 ± 0.079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0.807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0.694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BioViL-T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0.791 ± 0.095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0.662 ± 0.058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0.812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0.702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9100">
                <a:tc>
                  <a:txBody>
                    <a:bodyPr wrap="square">
                      <a:noAutofit/>
                    </a:bodyPr>
                    <a:lstStyle/>
                    <a:p>
                      <a:pPr algn="l"/>
                      <a:r>
                        <a:rPr sz="1575" b="0">
                          <a:solidFill>
                            <a:srgbClr val="202832"/>
                          </a:solidFill>
                          <a:latin typeface="Arial"/>
                          <a:ea typeface="Arial"/>
                          <a:cs typeface="Arial"/>
                        </a:rPr>
                        <a:t>BioViL-T projected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0.929 ± 0.113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0.734 ± 0.082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0.749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0.600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BioViL-T projected SVR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0.861 ± 0.089</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0.728 ± 0.076</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0.783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0.620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32">
            <a:extLst xmlns:a="http://schemas.openxmlformats.org/drawingml/2006/main">
              <a:ext uri="{FF2B5EF4-FFF2-40B4-BE49-F238E27FC236}">
                <a16:creationId xmlns:a16="http://schemas.microsoft.com/office/drawing/2014/main" id="{496CD5FD-B81A-49DE-B663-8E770ED24B15}"/>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32</a:t>
            </a:r>
          </a:p>
        </p:txBody>
      </p:sp>
      <p:sp>
        <p:nvSpPr>
          <p:cNvPr id="17" name="All main comparisons use identical patient splits. MAE is me">
            <a:extLst xmlns:a="http://schemas.openxmlformats.org/drawingml/2006/main">
              <a:ext uri="{FF2B5EF4-FFF2-40B4-BE49-F238E27FC236}">
                <a16:creationId xmlns:a16="http://schemas.microsoft.com/office/drawing/2014/main" id="{D54A0773-D037-4915-BCC2-3B788E890B37}"/>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All main comparisons use identical patient splits. MAE is mean ± split SD.</a:t>
            </a:r>
          </a:p>
        </p:txBody>
      </p:sp>
    </p:spTree>
    <p:extLst>
      <p:ext uri="{BB962C8B-B14F-4D97-AF65-F5344CB8AC3E}">
        <p14:creationId xmlns:p14="http://schemas.microsoft.com/office/powerpoint/2010/main" val="9223975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Four RAD-DINO alternatives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09eed1faa7ff4bda"/>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50533C69-44E5-4B18-B193-69C70F1B9DCB}"/>
              </a:ext>
            </a:extLst>
          </p:cNvPr>
          <p:cNvGraphicFramePr/>
          <p:nvPr/>
        </p:nvGraphicFramePr>
        <p:xfrm>
          <a:off xmlns:a="http://schemas.openxmlformats.org/drawingml/2006/main" x="619125" y="2000250"/>
          <a:ext xmlns:a="http://schemas.openxmlformats.org/drawingml/2006/main" cx="10953750" cy="2095500"/>
        </p:xfrm>
        <a:graphic xmlns:a="http://schemas.openxmlformats.org/drawingml/2006/main">
          <a:graphicData uri="http://schemas.openxmlformats.org/drawingml/2006/table">
            <a:tbl>
              <a:tblPr/>
              <a:tblGrid>
                <a:gridCol w="4000500"/>
                <a:gridCol w="2047875"/>
                <a:gridCol w="2047875"/>
                <a:gridCol w="1428750"/>
                <a:gridCol w="1428750"/>
              </a:tblGrid>
              <a:tr h="419100">
                <a:tc>
                  <a:txBody>
                    <a:bodyPr wrap="square">
                      <a:noAutofit/>
                    </a:bodyPr>
                    <a:lstStyle/>
                    <a:p>
                      <a:pPr algn="l"/>
                      <a:r>
                        <a:rPr sz="1575" b="1">
                          <a:solidFill>
                            <a:srgbClr val="FFFFFF"/>
                          </a:solidFill>
                          <a:latin typeface="Arial"/>
                          <a:ea typeface="Arial"/>
                          <a:cs typeface="Arial"/>
                        </a:rPr>
                        <a:t>Configuration</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Extent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Opacity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Extent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Opacity 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419100">
                <a:tc>
                  <a:txBody>
                    <a:bodyPr wrap="square">
                      <a:noAutofit/>
                    </a:bodyPr>
                    <a:lstStyle/>
                    <a:p>
                      <a:pPr algn="l"/>
                      <a:r>
                        <a:rPr sz="1575" b="0">
                          <a:solidFill>
                            <a:srgbClr val="202832"/>
                          </a:solidFill>
                          <a:latin typeface="Arial"/>
                          <a:ea typeface="Arial"/>
                          <a:cs typeface="Arial"/>
                        </a:rPr>
                        <a:t>RAD-DINO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1.365 ± 0.167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0.859 ± 0.108</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0.481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0.474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RAD-DINO PCA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1.480 ± 0.208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0.951 ± 0.127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0.409</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0.369</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19100">
                <a:tc>
                  <a:txBody>
                    <a:bodyPr wrap="square">
                      <a:noAutofit/>
                    </a:bodyPr>
                    <a:lstStyle/>
                    <a:p>
                      <a:pPr algn="l"/>
                      <a:r>
                        <a:rPr sz="1575" b="0">
                          <a:solidFill>
                            <a:srgbClr val="202832"/>
                          </a:solidFill>
                          <a:latin typeface="Arial"/>
                          <a:ea typeface="Arial"/>
                          <a:cs typeface="Arial"/>
                        </a:rPr>
                        <a:t>RAD-DINO normalized SVR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1.697 ± 0.193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1.061 ± 0.119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0.253</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0.237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19100">
                <a:tc>
                  <a:txBody>
                    <a:bodyPr wrap="square">
                      <a:noAutofit/>
                    </a:bodyPr>
                    <a:lstStyle/>
                    <a:p>
                      <a:pPr algn="l"/>
                      <a:r>
                        <a:rPr sz="1575" b="0">
                          <a:solidFill>
                            <a:srgbClr val="202832"/>
                          </a:solidFill>
                          <a:latin typeface="Arial"/>
                          <a:ea typeface="Arial"/>
                          <a:cs typeface="Arial"/>
                        </a:rPr>
                        <a:t>RAD-DINO PLS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1.358 ± 0.164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0.862 ± 0.110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0.485</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0.470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33">
            <a:extLst xmlns:a="http://schemas.openxmlformats.org/drawingml/2006/main">
              <a:ext uri="{FF2B5EF4-FFF2-40B4-BE49-F238E27FC236}">
                <a16:creationId xmlns:a16="http://schemas.microsoft.com/office/drawing/2014/main" id="{1D8E61BB-D09B-434F-868A-C2AB9355FE04}"/>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33</a:t>
            </a:r>
          </a:p>
        </p:txBody>
      </p:sp>
      <p:sp>
        <p:nvSpPr>
          <p:cNvPr id="17" name="All main comparisons use identical patient splits. MAE is me">
            <a:extLst xmlns:a="http://schemas.openxmlformats.org/drawingml/2006/main">
              <a:ext uri="{FF2B5EF4-FFF2-40B4-BE49-F238E27FC236}">
                <a16:creationId xmlns:a16="http://schemas.microsoft.com/office/drawing/2014/main" id="{DC17FDDF-BD70-4E60-BBB9-A2AD7A7458BE}"/>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All main comparisons use identical patient splits. MAE is mean ± split SD.</a:t>
            </a:r>
          </a:p>
        </p:txBody>
      </p:sp>
    </p:spTree>
    <p:extLst>
      <p:ext uri="{BB962C8B-B14F-4D97-AF65-F5344CB8AC3E}">
        <p14:creationId xmlns:p14="http://schemas.microsoft.com/office/powerpoint/2010/main" val="92239753"/>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winning pipelines have different error profiles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9d7b93fa18e34fdf"/>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0C43C2EB-EBBA-4769-909A-4E9702956739}"/>
              </a:ext>
            </a:extLst>
          </p:cNvPr>
          <p:cNvGraphicFramePr/>
          <p:nvPr/>
        </p:nvGraphicFramePr>
        <p:xfrm>
          <a:off xmlns:a="http://schemas.openxmlformats.org/drawingml/2006/main" x="619125" y="2333625"/>
          <a:ext xmlns:a="http://schemas.openxmlformats.org/drawingml/2006/main" cx="10953750" cy="2571750"/>
        </p:xfrm>
        <a:graphic xmlns:a="http://schemas.openxmlformats.org/drawingml/2006/main">
          <a:graphicData uri="http://schemas.openxmlformats.org/drawingml/2006/table">
            <a:tbl>
              <a:tblPr/>
              <a:tblGrid>
                <a:gridCol w="2190750"/>
                <a:gridCol w="1333500"/>
                <a:gridCol w="1333500"/>
                <a:gridCol w="1333500"/>
                <a:gridCol w="1524000"/>
                <a:gridCol w="1619250"/>
                <a:gridCol w="1619250"/>
              </a:tblGrid>
              <a:tr h="514350">
                <a:tc>
                  <a:txBody>
                    <a:bodyPr wrap="square">
                      <a:noAutofit/>
                    </a:bodyPr>
                    <a:lstStyle/>
                    <a:p>
                      <a:pPr algn="l"/>
                      <a:r>
                        <a:rPr sz="1575" b="1">
                          <a:solidFill>
                            <a:srgbClr val="FFFFFF"/>
                          </a:solidFill>
                          <a:latin typeface="Arial"/>
                          <a:ea typeface="Arial"/>
                          <a:cs typeface="Arial"/>
                        </a:rPr>
                        <a:t>Target</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MSE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R²</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Pearson r</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Patient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High-score MAE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14350">
                <a:tc>
                  <a:txBody>
                    <a:bodyPr wrap="square">
                      <a:noAutofit/>
                    </a:bodyPr>
                    <a:lstStyle/>
                    <a:p>
                      <a:pPr algn="l"/>
                      <a:r>
                        <a:rPr sz="1575" b="0">
                          <a:solidFill>
                            <a:srgbClr val="202832"/>
                          </a:solidFill>
                          <a:latin typeface="Arial"/>
                          <a:ea typeface="Arial"/>
                          <a:cs typeface="Arial"/>
                        </a:rPr>
                        <a:t>Extent OLS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1.107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2.047</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0.622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0.812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1.078</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1.498</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14350">
                <a:tc>
                  <a:txBody>
                    <a:bodyPr wrap="square">
                      <a:noAutofit/>
                    </a:bodyPr>
                    <a:lstStyle/>
                    <a:p>
                      <a:pPr algn="l"/>
                      <a:r>
                        <a:rPr sz="1575" b="0">
                          <a:solidFill>
                            <a:srgbClr val="202832"/>
                          </a:solidFill>
                          <a:latin typeface="Arial"/>
                          <a:ea typeface="Arial"/>
                          <a:cs typeface="Arial"/>
                        </a:rPr>
                        <a:t>Extent Best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0.763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0.973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0.820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0.914</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0.787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0.678</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14350">
                <a:tc>
                  <a:txBody>
                    <a:bodyPr wrap="square">
                      <a:noAutofit/>
                    </a:bodyPr>
                    <a:lstStyle/>
                    <a:p>
                      <a:pPr algn="l"/>
                      <a:r>
                        <a:rPr sz="1575" b="0">
                          <a:solidFill>
                            <a:srgbClr val="202832"/>
                          </a:solidFill>
                          <a:latin typeface="Arial"/>
                          <a:ea typeface="Arial"/>
                          <a:cs typeface="Arial"/>
                        </a:rPr>
                        <a:t>Opacity OLS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0.745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0.871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0.602</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0.794</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0.769</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0.808</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14350">
                <a:tc>
                  <a:txBody>
                    <a:bodyPr wrap="square">
                      <a:noAutofit/>
                    </a:bodyPr>
                    <a:lstStyle/>
                    <a:p>
                      <a:pPr algn="l"/>
                      <a:r>
                        <a:rPr sz="1575" b="0">
                          <a:solidFill>
                            <a:srgbClr val="202832"/>
                          </a:solidFill>
                          <a:latin typeface="Arial"/>
                          <a:ea typeface="Arial"/>
                          <a:cs typeface="Arial"/>
                        </a:rPr>
                        <a:t>Opacity Best</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0.662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0.653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0.702</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0.853</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0.671</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0.777</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Patient weighting and high-score error qualify the headline ">
            <a:extLst xmlns:a="http://schemas.openxmlformats.org/drawingml/2006/main">
              <a:ext uri="{FF2B5EF4-FFF2-40B4-BE49-F238E27FC236}">
                <a16:creationId xmlns:a16="http://schemas.microsoft.com/office/drawing/2014/main" id="{51FCB553-AD55-46F6-8B8E-15975D12AD4B}"/>
              </a:ext>
            </a:extLst>
          </p:cNvPr>
          <p:cNvSpPr>
            <a:spLocks xmlns:a="http://schemas.openxmlformats.org/drawingml/2006/main" noGrp="1"/>
          </p:cNvSpPr>
          <p:nvPr/>
        </p:nvSpPr>
        <p:spPr>
          <a:xfrm xmlns:a="http://schemas.openxmlformats.org/drawingml/2006/main">
            <a:off x="714375" y="5381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13D7A"/>
                </a:solidFill>
                <a:latin typeface="Arial"/>
                <a:ea typeface="Arial"/>
                <a:cs typeface="Arial"/>
              </a:defRPr>
            </a:defPPr>
            <a:lvl1pPr algn="l">
              <a:defRPr sz="2100" b="1">
                <a:solidFill>
                  <a:srgbClr val="013D7A"/>
                </a:solidFill>
                <a:latin typeface="Arial"/>
                <a:ea typeface="Arial"/>
                <a:cs typeface="Arial"/>
              </a:defRPr>
            </a:lvl1pPr>
            <a:lvl2pPr algn="l">
              <a:defRPr sz="2100" b="1">
                <a:solidFill>
                  <a:srgbClr val="013D7A"/>
                </a:solidFill>
                <a:latin typeface="Arial"/>
                <a:ea typeface="Arial"/>
                <a:cs typeface="Arial"/>
              </a:defRPr>
            </a:lvl2pPr>
            <a:lvl3pPr algn="l">
              <a:defRPr sz="2100" b="1">
                <a:solidFill>
                  <a:srgbClr val="013D7A"/>
                </a:solidFill>
                <a:latin typeface="Arial"/>
                <a:ea typeface="Arial"/>
                <a:cs typeface="Arial"/>
              </a:defRPr>
            </a:lvl3pPr>
            <a:lvl4pPr algn="l">
              <a:defRPr sz="2100" b="1">
                <a:solidFill>
                  <a:srgbClr val="013D7A"/>
                </a:solidFill>
                <a:latin typeface="Arial"/>
                <a:ea typeface="Arial"/>
                <a:cs typeface="Arial"/>
              </a:defRPr>
            </a:lvl4pPr>
            <a:lvl5pPr algn="l">
              <a:defRPr sz="2100" b="1">
                <a:solidFill>
                  <a:srgbClr val="013D7A"/>
                </a:solidFill>
                <a:latin typeface="Arial"/>
                <a:ea typeface="Arial"/>
                <a:cs typeface="Arial"/>
              </a:defRPr>
            </a:lvl5pPr>
            <a:lvl6pPr algn="l">
              <a:defRPr sz="2100" b="1">
                <a:solidFill>
                  <a:srgbClr val="013D7A"/>
                </a:solidFill>
                <a:latin typeface="Arial"/>
                <a:ea typeface="Arial"/>
                <a:cs typeface="Arial"/>
              </a:defRPr>
            </a:lvl6pPr>
            <a:lvl7pPr algn="l">
              <a:defRPr sz="2100" b="1">
                <a:solidFill>
                  <a:srgbClr val="013D7A"/>
                </a:solidFill>
                <a:latin typeface="Arial"/>
                <a:ea typeface="Arial"/>
                <a:cs typeface="Arial"/>
              </a:defRPr>
            </a:lvl7pPr>
            <a:lvl8pPr algn="l">
              <a:defRPr sz="2100" b="1">
                <a:solidFill>
                  <a:srgbClr val="013D7A"/>
                </a:solidFill>
                <a:latin typeface="Arial"/>
                <a:ea typeface="Arial"/>
                <a:cs typeface="Arial"/>
              </a:defRPr>
            </a:lvl8pPr>
            <a:lvl9pPr algn="l">
              <a:defRPr sz="2100" b="1">
                <a:solidFill>
                  <a:srgbClr val="013D7A"/>
                </a:solidFill>
                <a:latin typeface="Arial"/>
                <a:ea typeface="Arial"/>
                <a:cs typeface="Arial"/>
              </a:defRPr>
            </a:lvl9pPr>
          </a:lstStyle>
          <a:p xmlns:a="http://schemas.openxmlformats.org/drawingml/2006/main">
            <a:pPr algn="l">
              <a:defRPr sz="2100" b="1">
                <a:solidFill>
                  <a:srgbClr val="013D7A"/>
                </a:solidFill>
                <a:latin typeface="Arial"/>
                <a:ea typeface="Arial"/>
                <a:cs typeface="Arial"/>
              </a:defRPr>
            </a:pPr>
            <a:r>
              <a:rPr sz="2100" b="1">
                <a:solidFill>
                  <a:srgbClr val="013D7A"/>
                </a:solidFill>
                <a:latin typeface="Arial"/>
                <a:ea typeface="Arial"/>
                <a:cs typeface="Arial"/>
              </a:rPr>
              <a:t>Patient weighting and high-score error qualify the headline image MAE.</a:t>
            </a:r>
          </a:p>
        </p:txBody>
      </p:sp>
      <p:sp>
        <p:nvSpPr>
          <p:cNvPr id="17" name="34">
            <a:extLst xmlns:a="http://schemas.openxmlformats.org/drawingml/2006/main">
              <a:ext uri="{FF2B5EF4-FFF2-40B4-BE49-F238E27FC236}">
                <a16:creationId xmlns:a16="http://schemas.microsoft.com/office/drawing/2014/main" id="{36FF3029-783C-46F1-8F52-83BE01ED0210}"/>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34</a:t>
            </a:r>
          </a:p>
        </p:txBody>
      </p:sp>
    </p:spTree>
    <p:extLst>
      <p:ext uri="{BB962C8B-B14F-4D97-AF65-F5344CB8AC3E}">
        <p14:creationId xmlns:p14="http://schemas.microsoft.com/office/powerpoint/2010/main" val="9223975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Classic regressors use training-only parameter grids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afc19552ada347e5"/>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44ADC73F-A259-4EDF-BB4C-8D9DD93364FA}"/>
              </a:ext>
            </a:extLst>
          </p:cNvPr>
          <p:cNvGraphicFramePr/>
          <p:nvPr/>
        </p:nvGraphicFramePr>
        <p:xfrm>
          <a:off xmlns:a="http://schemas.openxmlformats.org/drawingml/2006/main" x="619125" y="2047875"/>
          <a:ext xmlns:a="http://schemas.openxmlformats.org/drawingml/2006/main" cx="10953750" cy="3952875"/>
        </p:xfrm>
        <a:graphic xmlns:a="http://schemas.openxmlformats.org/drawingml/2006/main">
          <a:graphicData uri="http://schemas.openxmlformats.org/drawingml/2006/table">
            <a:tbl>
              <a:tblPr/>
              <a:tblGrid>
                <a:gridCol w="3714750"/>
                <a:gridCol w="7239000"/>
              </a:tblGrid>
              <a:tr h="564696">
                <a:tc>
                  <a:txBody>
                    <a:bodyPr wrap="square">
                      <a:noAutofit/>
                    </a:bodyPr>
                    <a:lstStyle/>
                    <a:p>
                      <a:pPr algn="l"/>
                      <a:r>
                        <a:rPr sz="1575" b="1">
                          <a:solidFill>
                            <a:srgbClr val="FFFFFF"/>
                          </a:solidFill>
                          <a:latin typeface="Arial"/>
                          <a:ea typeface="Arial"/>
                          <a:cs typeface="Arial"/>
                        </a:rPr>
                        <a:t>Method</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Grid or fixed specification</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64696">
                <a:tc>
                  <a:txBody>
                    <a:bodyPr wrap="square">
                      <a:noAutofit/>
                    </a:bodyPr>
                    <a:lstStyle/>
                    <a:p>
                      <a:pPr algn="l"/>
                      <a:r>
                        <a:rPr sz="1575" b="0">
                          <a:solidFill>
                            <a:srgbClr val="202832"/>
                          </a:solidFill>
                          <a:latin typeface="Arial"/>
                          <a:ea typeface="Arial"/>
                          <a:cs typeface="Arial"/>
                        </a:rPr>
                        <a:t>Huber on 4 logits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ε: 1.1, 1.35, 1.75    α: 0.01, 1, 10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64696">
                <a:tc>
                  <a:txBody>
                    <a:bodyPr wrap="square">
                      <a:noAutofit/>
                    </a:bodyPr>
                    <a:lstStyle/>
                    <a:p>
                      <a:pPr algn="l"/>
                      <a:r>
                        <a:rPr sz="1575" b="0">
                          <a:solidFill>
                            <a:srgbClr val="202832"/>
                          </a:solidFill>
                          <a:latin typeface="Arial"/>
                          <a:ea typeface="Arial"/>
                          <a:cs typeface="Arial"/>
                        </a:rPr>
                        <a:t>ElasticNet on 18 logits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α: 0.01, 0.1, 1    L1 ratio: 0.1, 0.5, 0.9</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64696">
                <a:tc>
                  <a:txBody>
                    <a:bodyPr wrap="square">
                      <a:noAutofit/>
                    </a:bodyPr>
                    <a:lstStyle/>
                    <a:p>
                      <a:pPr algn="l"/>
                      <a:r>
                        <a:rPr sz="1575" b="0">
                          <a:solidFill>
                            <a:srgbClr val="202832"/>
                          </a:solidFill>
                          <a:latin typeface="Arial"/>
                          <a:ea typeface="Arial"/>
                          <a:cs typeface="Arial"/>
                        </a:rPr>
                        <a:t>RBF kernel Ridge on 4 logits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α: 0.01, 0.1, 1    γ: 0.01, 0.1, 1</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64696">
                <a:tc>
                  <a:txBody>
                    <a:bodyPr wrap="square">
                      <a:noAutofit/>
                    </a:bodyPr>
                    <a:lstStyle/>
                    <a:p>
                      <a:pPr algn="l"/>
                      <a:r>
                        <a:rPr sz="1575" b="0">
                          <a:solidFill>
                            <a:srgbClr val="202832"/>
                          </a:solidFill>
                          <a:latin typeface="Arial"/>
                          <a:ea typeface="Arial"/>
                          <a:cs typeface="Arial"/>
                        </a:rPr>
                        <a:t>Extra Trees on 4 logits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80 trees    leaf size: 1, 3, 5    feature fraction: 0.5, 1</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64696">
                <a:tc>
                  <a:txBody>
                    <a:bodyPr wrap="square">
                      <a:noAutofit/>
                    </a:bodyPr>
                    <a:lstStyle/>
                    <a:p>
                      <a:pPr algn="l"/>
                      <a:r>
                        <a:rPr sz="1575" b="0">
                          <a:solidFill>
                            <a:srgbClr val="202832"/>
                          </a:solidFill>
                          <a:latin typeface="Arial"/>
                          <a:ea typeface="Arial"/>
                          <a:cs typeface="Arial"/>
                        </a:rPr>
                        <a:t>Random forest on 4 logits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80 trees    leaf size: 1, 3, 5</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64696">
                <a:tc>
                  <a:txBody>
                    <a:bodyPr wrap="square">
                      <a:noAutofit/>
                    </a:bodyPr>
                    <a:lstStyle/>
                    <a:p>
                      <a:pPr algn="l"/>
                      <a:r>
                        <a:rPr sz="1575" b="0">
                          <a:solidFill>
                            <a:srgbClr val="202832"/>
                          </a:solidFill>
                          <a:latin typeface="Arial"/>
                          <a:ea typeface="Arial"/>
                          <a:cs typeface="Arial"/>
                        </a:rPr>
                        <a:t>Histogram gradient boosting</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100 iterations    5 samples per leaf</a:t>
                      </a:r>
                    </a:p>
                    <a:p>
                      <a:pPr algn="ctr"/>
                      <a:r>
                        <a:rPr sz="1575" b="0">
                          <a:solidFill>
                            <a:srgbClr val="202832"/>
                          </a:solidFill>
                          <a:latin typeface="Arial"/>
                          <a:ea typeface="Arial"/>
                          <a:cs typeface="Arial"/>
                        </a:rPr>
                        <a:t>Leaf nodes: 3, 7    L2: 0, 1, 10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35">
            <a:extLst xmlns:a="http://schemas.openxmlformats.org/drawingml/2006/main">
              <a:ext uri="{FF2B5EF4-FFF2-40B4-BE49-F238E27FC236}">
                <a16:creationId xmlns:a16="http://schemas.microsoft.com/office/drawing/2014/main" id="{0613AF35-77F2-4595-91AC-9B6A682E85B4}"/>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35</a:t>
            </a:r>
          </a:p>
        </p:txBody>
      </p:sp>
      <p:sp>
        <p:nvSpPr>
          <p:cNvPr id="17" name="The complete locked protocol is results/expanded/protocol.js">
            <a:extLst xmlns:a="http://schemas.openxmlformats.org/drawingml/2006/main">
              <a:ext uri="{FF2B5EF4-FFF2-40B4-BE49-F238E27FC236}">
                <a16:creationId xmlns:a16="http://schemas.microsoft.com/office/drawing/2014/main" id="{E1156F30-DE5E-43B4-819E-A390D4798A83}"/>
              </a:ext>
            </a:extLst>
          </p:cNvPr>
          <p:cNvSpPr>
            <a:spLocks xmlns:a="http://schemas.openxmlformats.org/drawingml/2006/main" noGrp="1"/>
          </p:cNvSpPr>
          <p:nvPr/>
        </p:nvSpPr>
        <p:spPr>
          <a:xfrm xmlns:a="http://schemas.openxmlformats.org/drawingml/2006/main">
            <a:off x="619125" y="6448425"/>
            <a:ext cx="1009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125" b="0">
                <a:solidFill>
                  <a:srgbClr val="59636E"/>
                </a:solidFill>
                <a:latin typeface="Arial"/>
                <a:ea typeface="Arial"/>
                <a:cs typeface="Arial"/>
              </a:defRPr>
            </a:defPPr>
            <a:lvl1pPr algn="l">
              <a:defRPr sz="1125" b="0">
                <a:solidFill>
                  <a:srgbClr val="59636E"/>
                </a:solidFill>
                <a:latin typeface="Arial"/>
                <a:ea typeface="Arial"/>
                <a:cs typeface="Arial"/>
              </a:defRPr>
            </a:lvl1pPr>
            <a:lvl2pPr algn="l">
              <a:defRPr sz="1125" b="0">
                <a:solidFill>
                  <a:srgbClr val="59636E"/>
                </a:solidFill>
                <a:latin typeface="Arial"/>
                <a:ea typeface="Arial"/>
                <a:cs typeface="Arial"/>
              </a:defRPr>
            </a:lvl2pPr>
            <a:lvl3pPr algn="l">
              <a:defRPr sz="1125" b="0">
                <a:solidFill>
                  <a:srgbClr val="59636E"/>
                </a:solidFill>
                <a:latin typeface="Arial"/>
                <a:ea typeface="Arial"/>
                <a:cs typeface="Arial"/>
              </a:defRPr>
            </a:lvl3pPr>
            <a:lvl4pPr algn="l">
              <a:defRPr sz="1125" b="0">
                <a:solidFill>
                  <a:srgbClr val="59636E"/>
                </a:solidFill>
                <a:latin typeface="Arial"/>
                <a:ea typeface="Arial"/>
                <a:cs typeface="Arial"/>
              </a:defRPr>
            </a:lvl4pPr>
            <a:lvl5pPr algn="l">
              <a:defRPr sz="1125" b="0">
                <a:solidFill>
                  <a:srgbClr val="59636E"/>
                </a:solidFill>
                <a:latin typeface="Arial"/>
                <a:ea typeface="Arial"/>
                <a:cs typeface="Arial"/>
              </a:defRPr>
            </a:lvl5pPr>
            <a:lvl6pPr algn="l">
              <a:defRPr sz="1125" b="0">
                <a:solidFill>
                  <a:srgbClr val="59636E"/>
                </a:solidFill>
                <a:latin typeface="Arial"/>
                <a:ea typeface="Arial"/>
                <a:cs typeface="Arial"/>
              </a:defRPr>
            </a:lvl6pPr>
            <a:lvl7pPr algn="l">
              <a:defRPr sz="1125" b="0">
                <a:solidFill>
                  <a:srgbClr val="59636E"/>
                </a:solidFill>
                <a:latin typeface="Arial"/>
                <a:ea typeface="Arial"/>
                <a:cs typeface="Arial"/>
              </a:defRPr>
            </a:lvl7pPr>
            <a:lvl8pPr algn="l">
              <a:defRPr sz="1125" b="0">
                <a:solidFill>
                  <a:srgbClr val="59636E"/>
                </a:solidFill>
                <a:latin typeface="Arial"/>
                <a:ea typeface="Arial"/>
                <a:cs typeface="Arial"/>
              </a:defRPr>
            </a:lvl8pPr>
            <a:lvl9pPr algn="l">
              <a:defRPr sz="1125" b="0">
                <a:solidFill>
                  <a:srgbClr val="59636E"/>
                </a:solidFill>
                <a:latin typeface="Arial"/>
                <a:ea typeface="Arial"/>
                <a:cs typeface="Arial"/>
              </a:defRPr>
            </a:lvl9pPr>
          </a:lstStyle>
          <a:p xmlns:a="http://schemas.openxmlformats.org/drawingml/2006/main">
            <a:pPr algn="l">
              <a:defRPr sz="1125" b="0">
                <a:solidFill>
                  <a:srgbClr val="59636E"/>
                </a:solidFill>
                <a:latin typeface="Arial"/>
                <a:ea typeface="Arial"/>
                <a:cs typeface="Arial"/>
              </a:defRPr>
            </a:pPr>
            <a:r>
              <a:rPr sz="1125" b="0">
                <a:solidFill>
                  <a:srgbClr val="59636E"/>
                </a:solidFill>
                <a:latin typeface="Arial"/>
                <a:ea typeface="Arial"/>
                <a:cs typeface="Arial"/>
              </a:rPr>
              <a:t>The complete locked protocol is results/expanded/protocol.json.</a:t>
            </a:r>
          </a:p>
        </p:txBody>
      </p:sp>
    </p:spTree>
    <p:extLst>
      <p:ext uri="{BB962C8B-B14F-4D97-AF65-F5344CB8AC3E}">
        <p14:creationId xmlns:p14="http://schemas.microsoft.com/office/powerpoint/2010/main" val="9223975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7400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Feature pipelines use the same declared small-sample controls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e8377a922e424210"/>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FDA0CA22-7208-438B-B084-F18DF5F17CF7}"/>
              </a:ext>
            </a:extLst>
          </p:cNvPr>
          <p:cNvGraphicFramePr/>
          <p:nvPr/>
        </p:nvGraphicFramePr>
        <p:xfrm>
          <a:off xmlns:a="http://schemas.openxmlformats.org/drawingml/2006/main" x="619125" y="2047875"/>
          <a:ext xmlns:a="http://schemas.openxmlformats.org/drawingml/2006/main" cx="10953750" cy="3952875"/>
        </p:xfrm>
        <a:graphic xmlns:a="http://schemas.openxmlformats.org/drawingml/2006/main">
          <a:graphicData uri="http://schemas.openxmlformats.org/drawingml/2006/table">
            <a:tbl>
              <a:tblPr/>
              <a:tblGrid>
                <a:gridCol w="3714750"/>
                <a:gridCol w="7239000"/>
              </a:tblGrid>
              <a:tr h="564696">
                <a:tc>
                  <a:txBody>
                    <a:bodyPr wrap="square">
                      <a:noAutofit/>
                    </a:bodyPr>
                    <a:lstStyle/>
                    <a:p>
                      <a:pPr algn="l"/>
                      <a:r>
                        <a:rPr sz="1575" b="1">
                          <a:solidFill>
                            <a:srgbClr val="FFFFFF"/>
                          </a:solidFill>
                          <a:latin typeface="Arial"/>
                          <a:ea typeface="Arial"/>
                          <a:cs typeface="Arial"/>
                        </a:rPr>
                        <a:t>Pipeline</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575" b="1">
                          <a:solidFill>
                            <a:srgbClr val="FFFFFF"/>
                          </a:solidFill>
                          <a:latin typeface="Arial"/>
                          <a:ea typeface="Arial"/>
                          <a:cs typeface="Arial"/>
                        </a:rPr>
                        <a:t>Declared choices</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564696">
                <a:tc>
                  <a:txBody>
                    <a:bodyPr wrap="square">
                      <a:noAutofit/>
                    </a:bodyPr>
                    <a:lstStyle/>
                    <a:p>
                      <a:pPr algn="l"/>
                      <a:r>
                        <a:rPr sz="1575" b="0">
                          <a:solidFill>
                            <a:srgbClr val="202832"/>
                          </a:solidFill>
                          <a:latin typeface="Arial"/>
                          <a:ea typeface="Arial"/>
                          <a:cs typeface="Arial"/>
                        </a:rPr>
                        <a:t>Ridge on frozen vectors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α: 0.001, 0.01, 0.1, 1, 10, 100, 1000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64696">
                <a:tc>
                  <a:txBody>
                    <a:bodyPr wrap="square">
                      <a:noAutofit/>
                    </a:bodyPr>
                    <a:lstStyle/>
                    <a:p>
                      <a:pPr algn="l"/>
                      <a:r>
                        <a:rPr sz="1575" b="0">
                          <a:solidFill>
                            <a:srgbClr val="202832"/>
                          </a:solidFill>
                          <a:latin typeface="Arial"/>
                          <a:ea typeface="Arial"/>
                          <a:cs typeface="Arial"/>
                        </a:rPr>
                        <a:t>PCA plus Ridge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Components: 2, 5, 10, 15</a:t>
                      </a:r>
                    </a:p>
                    <a:p>
                      <a:pPr algn="ctr"/>
                      <a:r>
                        <a:rPr sz="1575" b="0">
                          <a:solidFill>
                            <a:srgbClr val="202832"/>
                          </a:solidFill>
                          <a:latin typeface="Arial"/>
                          <a:ea typeface="Arial"/>
                          <a:cs typeface="Arial"/>
                        </a:rPr>
                        <a:t>Ridge α: 0.01, 1, 100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64696">
                <a:tc>
                  <a:txBody>
                    <a:bodyPr wrap="square">
                      <a:noAutofit/>
                    </a:bodyPr>
                    <a:lstStyle/>
                    <a:p>
                      <a:pPr algn="l"/>
                      <a:r>
                        <a:rPr sz="1575" b="0">
                          <a:solidFill>
                            <a:srgbClr val="202832"/>
                          </a:solidFill>
                          <a:latin typeface="Arial"/>
                          <a:ea typeface="Arial"/>
                          <a:cs typeface="Arial"/>
                        </a:rPr>
                        <a:t>PLS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Components: 1, 2, 4, 8    No feature scaling</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64696">
                <a:tc>
                  <a:txBody>
                    <a:bodyPr wrap="square">
                      <a:noAutofit/>
                    </a:bodyPr>
                    <a:lstStyle/>
                    <a:p>
                      <a:pPr algn="l"/>
                      <a:r>
                        <a:rPr sz="1575" b="0">
                          <a:solidFill>
                            <a:srgbClr val="202832"/>
                          </a:solidFill>
                          <a:latin typeface="Arial"/>
                          <a:ea typeface="Arial"/>
                          <a:cs typeface="Arial"/>
                        </a:rPr>
                        <a:t>RBF SVR</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C: 1, 10, 100    ε: 0.1, 0.3    γ: scale, 1</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564696">
                <a:tc>
                  <a:txBody>
                    <a:bodyPr wrap="square">
                      <a:noAutofit/>
                    </a:bodyPr>
                    <a:lstStyle/>
                    <a:p>
                      <a:pPr algn="l"/>
                      <a:r>
                        <a:rPr sz="1575" b="0">
                          <a:solidFill>
                            <a:srgbClr val="202832"/>
                          </a:solidFill>
                          <a:latin typeface="Arial"/>
                          <a:ea typeface="Arial"/>
                          <a:cs typeface="Arial"/>
                        </a:rPr>
                        <a:t>High-dimensional controls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575" b="0">
                          <a:solidFill>
                            <a:srgbClr val="202832"/>
                          </a:solidFill>
                          <a:latin typeface="Arial"/>
                          <a:ea typeface="Arial"/>
                          <a:cs typeface="Arial"/>
                        </a:rPr>
                        <a:t>Unscaled Ridge, variance &gt;0.000001 then scaling,</a:t>
                      </a:r>
                    </a:p>
                    <a:p>
                      <a:pPr algn="ctr"/>
                      <a:r>
                        <a:rPr sz="1575" b="0">
                          <a:solidFill>
                            <a:srgbClr val="202832"/>
                          </a:solidFill>
                          <a:latin typeface="Arial"/>
                          <a:ea typeface="Arial"/>
                          <a:cs typeface="Arial"/>
                        </a:rPr>
                        <a:t>PCA, PLS or L2 normalization before SVR</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564696">
                <a:tc>
                  <a:txBody>
                    <a:bodyPr wrap="square">
                      <a:noAutofit/>
                    </a:bodyPr>
                    <a:lstStyle/>
                    <a:p>
                      <a:pPr algn="l"/>
                      <a:r>
                        <a:rPr sz="1575" b="0">
                          <a:solidFill>
                            <a:srgbClr val="202832"/>
                          </a:solidFill>
                          <a:latin typeface="Arial"/>
                          <a:ea typeface="Arial"/>
                          <a:cs typeface="Arial"/>
                        </a:rPr>
                        <a:t>Known score range</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575" b="0">
                          <a:solidFill>
                            <a:srgbClr val="202832"/>
                          </a:solidFill>
                          <a:latin typeface="Arial"/>
                          <a:ea typeface="Arial"/>
                          <a:cs typeface="Arial"/>
                        </a:rPr>
                        <a:t>Extent clipped to 0–8    Opacity clipped to 0–6</a:t>
                      </a:r>
                    </a:p>
                    <a:p>
                      <a:pPr algn="ctr"/>
                      <a:r>
                        <a:rPr sz="1575" b="0">
                          <a:solidFill>
                            <a:srgbClr val="202832"/>
                          </a:solidFill>
                          <a:latin typeface="Arial"/>
                          <a:ea typeface="Arial"/>
                          <a:cs typeface="Arial"/>
                        </a:rPr>
                        <a:t>The same bounds apply in inner scoring and outer testing</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36">
            <a:extLst xmlns:a="http://schemas.openxmlformats.org/drawingml/2006/main">
              <a:ext uri="{FF2B5EF4-FFF2-40B4-BE49-F238E27FC236}">
                <a16:creationId xmlns:a16="http://schemas.microsoft.com/office/drawing/2014/main" id="{C139D321-D56C-4B46-8CAB-3FAF20E4ACAA}"/>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36</a:t>
            </a:r>
          </a:p>
        </p:txBody>
      </p:sp>
    </p:spTree>
    <p:extLst>
      <p:ext uri="{BB962C8B-B14F-4D97-AF65-F5344CB8AC3E}">
        <p14:creationId xmlns:p14="http://schemas.microsoft.com/office/powerpoint/2010/main" val="9223975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The audit trail records 3,870 benchmark outer fits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4435187e1dd24b71"/>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graphicFrame>
        <p:nvGraphicFramePr>
          <p:cNvPr id="15" name="">
            <a:extLst xmlns:a="http://schemas.openxmlformats.org/drawingml/2006/main">
              <a:ext uri="{FF2B5EF4-FFF2-40B4-BE49-F238E27FC236}">
                <a16:creationId xmlns:a16="http://schemas.microsoft.com/office/drawing/2014/main" id="{9F0FF9D1-25A7-451B-ACFF-642D3970114D}"/>
              </a:ext>
            </a:extLst>
          </p:cNvPr>
          <p:cNvGraphicFramePr/>
          <p:nvPr/>
        </p:nvGraphicFramePr>
        <p:xfrm>
          <a:off xmlns:a="http://schemas.openxmlformats.org/drawingml/2006/main" x="619125" y="2047875"/>
          <a:ext xmlns:a="http://schemas.openxmlformats.org/drawingml/2006/main" cx="10953750" cy="2476500"/>
        </p:xfrm>
        <a:graphic xmlns:a="http://schemas.openxmlformats.org/drawingml/2006/main">
          <a:graphicData uri="http://schemas.openxmlformats.org/drawingml/2006/table">
            <a:tbl>
              <a:tblPr/>
              <a:tblGrid>
                <a:gridCol w="4095750"/>
                <a:gridCol w="2381250"/>
                <a:gridCol w="4476750"/>
              </a:tblGrid>
              <a:tr h="495300">
                <a:tc>
                  <a:txBody>
                    <a:bodyPr wrap="square">
                      <a:noAutofit/>
                    </a:bodyPr>
                    <a:lstStyle/>
                    <a:p>
                      <a:pPr algn="l"/>
                      <a:r>
                        <a:rPr sz="1650" b="1">
                          <a:solidFill>
                            <a:srgbClr val="FFFFFF"/>
                          </a:solidFill>
                          <a:latin typeface="Arial"/>
                          <a:ea typeface="Arial"/>
                          <a:cs typeface="Arial"/>
                        </a:rPr>
                        <a:t>Stage</a:t>
                      </a:r>
                    </a:p>
                  </a:txBody>
                  <a:tcPr marL="114300" marR="114300" marT="47625" marB="47625" anchor="ctr">
                    <a:lnL w="9525">
                      <a:solidFill>
                        <a:srgbClr val="BBCBDD"/>
                      </a:solidFill>
                      <a:prstDash val="solid"/>
                    </a:lnL>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Actual outer fits</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c>
                  <a:txBody>
                    <a:bodyPr wrap="square">
                      <a:noAutofit/>
                    </a:bodyPr>
                    <a:lstStyle/>
                    <a:p>
                      <a:pPr algn="ctr"/>
                      <a:r>
                        <a:rPr sz="1650" b="1">
                          <a:solidFill>
                            <a:srgbClr val="FFFFFF"/>
                          </a:solidFill>
                          <a:latin typeface="Arial"/>
                          <a:ea typeface="Arial"/>
                          <a:cs typeface="Arial"/>
                        </a:rPr>
                        <a:t>Evaluation purpose</a:t>
                      </a:r>
                    </a:p>
                  </a:txBody>
                  <a:tcPr marL="114300" marR="114300" marT="47625" marB="47625" anchor="ctr">
                    <a:lnR w="9525">
                      <a:solidFill>
                        <a:srgbClr val="BBCBDD"/>
                      </a:solidFill>
                      <a:prstDash val="solid"/>
                    </a:lnR>
                    <a:lnT w="9525">
                      <a:solidFill>
                        <a:srgbClr val="BBCBDD"/>
                      </a:solidFill>
                      <a:prstDash val="solid"/>
                    </a:lnT>
                    <a:lnB w="9525">
                      <a:solidFill>
                        <a:srgbClr val="BBCBDD"/>
                      </a:solidFill>
                      <a:prstDash val="solid"/>
                    </a:lnB>
                    <a:solidFill>
                      <a:srgbClr val="013D7A"/>
                    </a:solidFill>
                  </a:tcPr>
                </a:tc>
              </a:tr>
              <a:tr h="495300">
                <a:tc>
                  <a:txBody>
                    <a:bodyPr wrap="square">
                      <a:noAutofit/>
                    </a:bodyPr>
                    <a:lstStyle/>
                    <a:p>
                      <a:pPr algn="l"/>
                      <a:r>
                        <a:rPr sz="1650" b="0">
                          <a:solidFill>
                            <a:srgbClr val="202832"/>
                          </a:solidFill>
                          <a:latin typeface="Arial"/>
                          <a:ea typeface="Arial"/>
                          <a:cs typeface="Arial"/>
                        </a:rPr>
                        <a:t>Initial 9 configurations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900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2 targets × 9 × 50 patient splits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95300">
                <a:tc>
                  <a:txBody>
                    <a:bodyPr wrap="square">
                      <a:noAutofit/>
                    </a:bodyPr>
                    <a:lstStyle/>
                    <a:p>
                      <a:pPr algn="l"/>
                      <a:r>
                        <a:rPr sz="1650" b="0">
                          <a:solidFill>
                            <a:srgbClr val="202832"/>
                          </a:solidFill>
                          <a:latin typeface="Arial"/>
                          <a:ea typeface="Arial"/>
                          <a:cs typeface="Arial"/>
                        </a:rPr>
                        <a:t>Expanded 27 configurations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2,700</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2 targets × 27 × 50 patient splits</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r h="495300">
                <a:tc>
                  <a:txBody>
                    <a:bodyPr wrap="square">
                      <a:noAutofit/>
                    </a:bodyPr>
                    <a:lstStyle/>
                    <a:p>
                      <a:pPr algn="l"/>
                      <a:r>
                        <a:rPr sz="1650" b="0">
                          <a:solidFill>
                            <a:srgbClr val="202832"/>
                          </a:solidFill>
                          <a:latin typeface="Arial"/>
                          <a:ea typeface="Arial"/>
                          <a:cs typeface="Arial"/>
                        </a:rPr>
                        <a:t>Fivefold sensitivity</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270</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c>
                  <a:txBody>
                    <a:bodyPr wrap="square">
                      <a:noAutofit/>
                    </a:bodyPr>
                    <a:lstStyle/>
                    <a:p>
                      <a:pPr algn="ctr"/>
                      <a:r>
                        <a:rPr sz="1650" b="0">
                          <a:solidFill>
                            <a:srgbClr val="202832"/>
                          </a:solidFill>
                          <a:latin typeface="Arial"/>
                          <a:ea typeface="Arial"/>
                          <a:cs typeface="Arial"/>
                        </a:rPr>
                        <a:t>2 targets × 27 × 5 patient folds</a:t>
                      </a:r>
                    </a:p>
                  </a:txBody>
                  <a:tcPr marL="114300" marR="114300" marT="47625" marB="47625" anchor="ctr">
                    <a:lnR w="9525">
                      <a:solidFill>
                        <a:srgbClr val="BBCBDD"/>
                      </a:solidFill>
                      <a:prstDash val="solid"/>
                    </a:lnR>
                    <a:lnB w="9525">
                      <a:solidFill>
                        <a:srgbClr val="BBCBDD"/>
                      </a:solidFill>
                      <a:prstDash val="solid"/>
                    </a:lnB>
                    <a:solidFill>
                      <a:srgbClr val="FFFFFF"/>
                    </a:solidFill>
                  </a:tcPr>
                </a:tc>
              </a:tr>
              <a:tr h="495300">
                <a:tc>
                  <a:txBody>
                    <a:bodyPr wrap="square">
                      <a:noAutofit/>
                    </a:bodyPr>
                    <a:lstStyle/>
                    <a:p>
                      <a:pPr algn="l"/>
                      <a:r>
                        <a:rPr sz="1650" b="0">
                          <a:solidFill>
                            <a:srgbClr val="202832"/>
                          </a:solidFill>
                          <a:latin typeface="Arial"/>
                          <a:ea typeface="Arial"/>
                          <a:cs typeface="Arial"/>
                        </a:rPr>
                        <a:t>Selectors</a:t>
                      </a:r>
                    </a:p>
                  </a:txBody>
                  <a:tcPr marL="114300" marR="114300" marT="47625" marB="47625" anchor="ctr">
                    <a:lnL w="9525">
                      <a:solidFill>
                        <a:srgbClr val="BBCBDD"/>
                      </a:solidFill>
                      <a:prstDash val="solid"/>
                    </a:lnL>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No extra candidate fits</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c>
                  <a:txBody>
                    <a:bodyPr wrap="square">
                      <a:noAutofit/>
                    </a:bodyPr>
                    <a:lstStyle/>
                    <a:p>
                      <a:pPr algn="ctr"/>
                      <a:r>
                        <a:rPr sz="1650" b="0">
                          <a:solidFill>
                            <a:srgbClr val="202832"/>
                          </a:solidFill>
                          <a:latin typeface="Arial"/>
                          <a:ea typeface="Arial"/>
                          <a:cs typeface="Arial"/>
                        </a:rPr>
                        <a:t>Reuse training-chosen candidates and held-out predictions</a:t>
                      </a:r>
                    </a:p>
                  </a:txBody>
                  <a:tcPr marL="114300" marR="114300" marT="47625" marB="47625" anchor="ctr">
                    <a:lnR w="9525">
                      <a:solidFill>
                        <a:srgbClr val="BBCBDD"/>
                      </a:solidFill>
                      <a:prstDash val="solid"/>
                    </a:lnR>
                    <a:lnB w="9525">
                      <a:solidFill>
                        <a:srgbClr val="BBCBDD"/>
                      </a:solidFill>
                      <a:prstDash val="solid"/>
                    </a:lnB>
                    <a:solidFill>
                      <a:srgbClr val="F2F6F9"/>
                    </a:solidFill>
                  </a:tcPr>
                </a:tc>
              </a:tr>
            </a:tbl>
          </a:graphicData>
        </a:graphic>
      </p:graphicFrame>
      <p:sp>
        <p:nvSpPr>
          <p:cNvPr id="16" name="Frozen data, features and weights have recorded hashes.">
            <a:extLst xmlns:a="http://schemas.openxmlformats.org/drawingml/2006/main">
              <a:ext uri="{FF2B5EF4-FFF2-40B4-BE49-F238E27FC236}">
                <a16:creationId xmlns:a16="http://schemas.microsoft.com/office/drawing/2014/main" id="{7425078A-D93E-4682-8549-055BC0950939}"/>
              </a:ext>
            </a:extLst>
          </p:cNvPr>
          <p:cNvSpPr>
            <a:spLocks xmlns:a="http://schemas.openxmlformats.org/drawingml/2006/main" noGrp="1"/>
          </p:cNvSpPr>
          <p:nvPr/>
        </p:nvSpPr>
        <p:spPr>
          <a:xfrm xmlns:a="http://schemas.openxmlformats.org/drawingml/2006/main">
            <a:off x="714375" y="4905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100" b="1">
                <a:solidFill>
                  <a:srgbClr val="013D7A"/>
                </a:solidFill>
                <a:latin typeface="Arial"/>
                <a:ea typeface="Arial"/>
                <a:cs typeface="Arial"/>
              </a:defRPr>
            </a:defPPr>
            <a:lvl1pPr algn="l">
              <a:defRPr sz="2100" b="1">
                <a:solidFill>
                  <a:srgbClr val="013D7A"/>
                </a:solidFill>
                <a:latin typeface="Arial"/>
                <a:ea typeface="Arial"/>
                <a:cs typeface="Arial"/>
              </a:defRPr>
            </a:lvl1pPr>
            <a:lvl2pPr algn="l">
              <a:defRPr sz="2100" b="1">
                <a:solidFill>
                  <a:srgbClr val="013D7A"/>
                </a:solidFill>
                <a:latin typeface="Arial"/>
                <a:ea typeface="Arial"/>
                <a:cs typeface="Arial"/>
              </a:defRPr>
            </a:lvl2pPr>
            <a:lvl3pPr algn="l">
              <a:defRPr sz="2100" b="1">
                <a:solidFill>
                  <a:srgbClr val="013D7A"/>
                </a:solidFill>
                <a:latin typeface="Arial"/>
                <a:ea typeface="Arial"/>
                <a:cs typeface="Arial"/>
              </a:defRPr>
            </a:lvl3pPr>
            <a:lvl4pPr algn="l">
              <a:defRPr sz="2100" b="1">
                <a:solidFill>
                  <a:srgbClr val="013D7A"/>
                </a:solidFill>
                <a:latin typeface="Arial"/>
                <a:ea typeface="Arial"/>
                <a:cs typeface="Arial"/>
              </a:defRPr>
            </a:lvl4pPr>
            <a:lvl5pPr algn="l">
              <a:defRPr sz="2100" b="1">
                <a:solidFill>
                  <a:srgbClr val="013D7A"/>
                </a:solidFill>
                <a:latin typeface="Arial"/>
                <a:ea typeface="Arial"/>
                <a:cs typeface="Arial"/>
              </a:defRPr>
            </a:lvl5pPr>
            <a:lvl6pPr algn="l">
              <a:defRPr sz="2100" b="1">
                <a:solidFill>
                  <a:srgbClr val="013D7A"/>
                </a:solidFill>
                <a:latin typeface="Arial"/>
                <a:ea typeface="Arial"/>
                <a:cs typeface="Arial"/>
              </a:defRPr>
            </a:lvl6pPr>
            <a:lvl7pPr algn="l">
              <a:defRPr sz="2100" b="1">
                <a:solidFill>
                  <a:srgbClr val="013D7A"/>
                </a:solidFill>
                <a:latin typeface="Arial"/>
                <a:ea typeface="Arial"/>
                <a:cs typeface="Arial"/>
              </a:defRPr>
            </a:lvl7pPr>
            <a:lvl8pPr algn="l">
              <a:defRPr sz="2100" b="1">
                <a:solidFill>
                  <a:srgbClr val="013D7A"/>
                </a:solidFill>
                <a:latin typeface="Arial"/>
                <a:ea typeface="Arial"/>
                <a:cs typeface="Arial"/>
              </a:defRPr>
            </a:lvl8pPr>
            <a:lvl9pPr algn="l">
              <a:defRPr sz="2100" b="1">
                <a:solidFill>
                  <a:srgbClr val="013D7A"/>
                </a:solidFill>
                <a:latin typeface="Arial"/>
                <a:ea typeface="Arial"/>
                <a:cs typeface="Arial"/>
              </a:defRPr>
            </a:lvl9pPr>
          </a:lstStyle>
          <a:p xmlns:a="http://schemas.openxmlformats.org/drawingml/2006/main">
            <a:pPr algn="l">
              <a:defRPr sz="2100" b="1">
                <a:solidFill>
                  <a:srgbClr val="013D7A"/>
                </a:solidFill>
                <a:latin typeface="Arial"/>
                <a:ea typeface="Arial"/>
                <a:cs typeface="Arial"/>
              </a:defRPr>
            </a:pPr>
            <a:r>
              <a:rPr sz="2100" b="1">
                <a:solidFill>
                  <a:srgbClr val="013D7A"/>
                </a:solidFill>
                <a:latin typeface="Arial"/>
                <a:ea typeface="Arial"/>
                <a:cs typeface="Arial"/>
              </a:rPr>
              <a:t>Frozen data, features and weights have recorded hashes.</a:t>
            </a:r>
          </a:p>
        </p:txBody>
      </p:sp>
      <p:sp>
        <p:nvSpPr>
          <p:cNvPr id="17" name="3,300 expanded metric rows passed independent recomputation ">
            <a:extLst xmlns:a="http://schemas.openxmlformats.org/drawingml/2006/main">
              <a:ext uri="{FF2B5EF4-FFF2-40B4-BE49-F238E27FC236}">
                <a16:creationId xmlns:a16="http://schemas.microsoft.com/office/drawing/2014/main" id="{A7566205-6C59-41BD-A26A-012655BE423D}"/>
              </a:ext>
            </a:extLst>
          </p:cNvPr>
          <p:cNvSpPr>
            <a:spLocks xmlns:a="http://schemas.openxmlformats.org/drawingml/2006/main" noGrp="1"/>
          </p:cNvSpPr>
          <p:nvPr/>
        </p:nvSpPr>
        <p:spPr>
          <a:xfrm xmlns:a="http://schemas.openxmlformats.org/drawingml/2006/main">
            <a:off x="714375" y="54292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0">
                <a:solidFill>
                  <a:srgbClr val="202832"/>
                </a:solidFill>
                <a:latin typeface="Arial"/>
                <a:ea typeface="Arial"/>
                <a:cs typeface="Arial"/>
              </a:defRPr>
            </a:defPPr>
            <a:lvl1pPr algn="l">
              <a:defRPr sz="1800" b="0">
                <a:solidFill>
                  <a:srgbClr val="202832"/>
                </a:solidFill>
                <a:latin typeface="Arial"/>
                <a:ea typeface="Arial"/>
                <a:cs typeface="Arial"/>
              </a:defRPr>
            </a:lvl1pPr>
            <a:lvl2pPr algn="l">
              <a:defRPr sz="1800" b="0">
                <a:solidFill>
                  <a:srgbClr val="202832"/>
                </a:solidFill>
                <a:latin typeface="Arial"/>
                <a:ea typeface="Arial"/>
                <a:cs typeface="Arial"/>
              </a:defRPr>
            </a:lvl2pPr>
            <a:lvl3pPr algn="l">
              <a:defRPr sz="1800" b="0">
                <a:solidFill>
                  <a:srgbClr val="202832"/>
                </a:solidFill>
                <a:latin typeface="Arial"/>
                <a:ea typeface="Arial"/>
                <a:cs typeface="Arial"/>
              </a:defRPr>
            </a:lvl3pPr>
            <a:lvl4pPr algn="l">
              <a:defRPr sz="1800" b="0">
                <a:solidFill>
                  <a:srgbClr val="202832"/>
                </a:solidFill>
                <a:latin typeface="Arial"/>
                <a:ea typeface="Arial"/>
                <a:cs typeface="Arial"/>
              </a:defRPr>
            </a:lvl4pPr>
            <a:lvl5pPr algn="l">
              <a:defRPr sz="1800" b="0">
                <a:solidFill>
                  <a:srgbClr val="202832"/>
                </a:solidFill>
                <a:latin typeface="Arial"/>
                <a:ea typeface="Arial"/>
                <a:cs typeface="Arial"/>
              </a:defRPr>
            </a:lvl5pPr>
            <a:lvl6pPr algn="l">
              <a:defRPr sz="1800" b="0">
                <a:solidFill>
                  <a:srgbClr val="202832"/>
                </a:solidFill>
                <a:latin typeface="Arial"/>
                <a:ea typeface="Arial"/>
                <a:cs typeface="Arial"/>
              </a:defRPr>
            </a:lvl6pPr>
            <a:lvl7pPr algn="l">
              <a:defRPr sz="1800" b="0">
                <a:solidFill>
                  <a:srgbClr val="202832"/>
                </a:solidFill>
                <a:latin typeface="Arial"/>
                <a:ea typeface="Arial"/>
                <a:cs typeface="Arial"/>
              </a:defRPr>
            </a:lvl7pPr>
            <a:lvl8pPr algn="l">
              <a:defRPr sz="1800" b="0">
                <a:solidFill>
                  <a:srgbClr val="202832"/>
                </a:solidFill>
                <a:latin typeface="Arial"/>
                <a:ea typeface="Arial"/>
                <a:cs typeface="Arial"/>
              </a:defRPr>
            </a:lvl8pPr>
            <a:lvl9pPr algn="l">
              <a:defRPr sz="1800" b="0">
                <a:solidFill>
                  <a:srgbClr val="202832"/>
                </a:solidFill>
                <a:latin typeface="Arial"/>
                <a:ea typeface="Arial"/>
                <a:cs typeface="Arial"/>
              </a:defRPr>
            </a:lvl9pPr>
          </a:lstStyle>
          <a:p xmlns:a="http://schemas.openxmlformats.org/drawingml/2006/main">
            <a:pPr algn="l">
              <a:defRPr sz="1800" b="0">
                <a:solidFill>
                  <a:srgbClr val="202832"/>
                </a:solidFill>
                <a:latin typeface="Arial"/>
                <a:ea typeface="Arial"/>
                <a:cs typeface="Arial"/>
              </a:defRPr>
            </a:pPr>
            <a:r>
              <a:rPr sz="1800" b="0">
                <a:solidFill>
                  <a:srgbClr val="202832"/>
                </a:solidFill>
                <a:latin typeface="Arial"/>
                <a:ea typeface="Arial"/>
                <a:cs typeface="Arial"/>
              </a:rPr>
              <a:t>3,300 expanded metric rows passed independent recomputation and grouping checks.</a:t>
            </a:r>
          </a:p>
        </p:txBody>
      </p:sp>
      <p:sp>
        <p:nvSpPr>
          <p:cNvPr id="18" name="Code, tables and complete predictions: github.com/ModaYoung/">
            <a:extLst xmlns:a="http://schemas.openxmlformats.org/drawingml/2006/main">
              <a:ext uri="{FF2B5EF4-FFF2-40B4-BE49-F238E27FC236}">
                <a16:creationId xmlns:a16="http://schemas.microsoft.com/office/drawing/2014/main" id="{A56FD606-EE73-4980-AA21-083C9F00F56E}"/>
              </a:ext>
            </a:extLst>
          </p:cNvPr>
          <p:cNvSpPr>
            <a:spLocks xmlns:a="http://schemas.openxmlformats.org/drawingml/2006/main" noGrp="1"/>
          </p:cNvSpPr>
          <p:nvPr/>
        </p:nvSpPr>
        <p:spPr>
          <a:xfrm xmlns:a="http://schemas.openxmlformats.org/drawingml/2006/main">
            <a:off x="714375" y="60007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0">
                <a:solidFill>
                  <a:srgbClr val="013D7A"/>
                </a:solidFill>
                <a:latin typeface="Arial"/>
                <a:ea typeface="Arial"/>
                <a:cs typeface="Arial"/>
              </a:defRPr>
            </a:defPPr>
            <a:lvl1pPr algn="l">
              <a:defRPr sz="1500" b="0">
                <a:solidFill>
                  <a:srgbClr val="013D7A"/>
                </a:solidFill>
                <a:latin typeface="Arial"/>
                <a:ea typeface="Arial"/>
                <a:cs typeface="Arial"/>
              </a:defRPr>
            </a:lvl1pPr>
            <a:lvl2pPr algn="l">
              <a:defRPr sz="1500" b="0">
                <a:solidFill>
                  <a:srgbClr val="013D7A"/>
                </a:solidFill>
                <a:latin typeface="Arial"/>
                <a:ea typeface="Arial"/>
                <a:cs typeface="Arial"/>
              </a:defRPr>
            </a:lvl2pPr>
            <a:lvl3pPr algn="l">
              <a:defRPr sz="1500" b="0">
                <a:solidFill>
                  <a:srgbClr val="013D7A"/>
                </a:solidFill>
                <a:latin typeface="Arial"/>
                <a:ea typeface="Arial"/>
                <a:cs typeface="Arial"/>
              </a:defRPr>
            </a:lvl3pPr>
            <a:lvl4pPr algn="l">
              <a:defRPr sz="1500" b="0">
                <a:solidFill>
                  <a:srgbClr val="013D7A"/>
                </a:solidFill>
                <a:latin typeface="Arial"/>
                <a:ea typeface="Arial"/>
                <a:cs typeface="Arial"/>
              </a:defRPr>
            </a:lvl4pPr>
            <a:lvl5pPr algn="l">
              <a:defRPr sz="1500" b="0">
                <a:solidFill>
                  <a:srgbClr val="013D7A"/>
                </a:solidFill>
                <a:latin typeface="Arial"/>
                <a:ea typeface="Arial"/>
                <a:cs typeface="Arial"/>
              </a:defRPr>
            </a:lvl5pPr>
            <a:lvl6pPr algn="l">
              <a:defRPr sz="1500" b="0">
                <a:solidFill>
                  <a:srgbClr val="013D7A"/>
                </a:solidFill>
                <a:latin typeface="Arial"/>
                <a:ea typeface="Arial"/>
                <a:cs typeface="Arial"/>
              </a:defRPr>
            </a:lvl6pPr>
            <a:lvl7pPr algn="l">
              <a:defRPr sz="1500" b="0">
                <a:solidFill>
                  <a:srgbClr val="013D7A"/>
                </a:solidFill>
                <a:latin typeface="Arial"/>
                <a:ea typeface="Arial"/>
                <a:cs typeface="Arial"/>
              </a:defRPr>
            </a:lvl7pPr>
            <a:lvl8pPr algn="l">
              <a:defRPr sz="1500" b="0">
                <a:solidFill>
                  <a:srgbClr val="013D7A"/>
                </a:solidFill>
                <a:latin typeface="Arial"/>
                <a:ea typeface="Arial"/>
                <a:cs typeface="Arial"/>
              </a:defRPr>
            </a:lvl8pPr>
            <a:lvl9pPr algn="l">
              <a:defRPr sz="1500" b="0">
                <a:solidFill>
                  <a:srgbClr val="013D7A"/>
                </a:solidFill>
                <a:latin typeface="Arial"/>
                <a:ea typeface="Arial"/>
                <a:cs typeface="Arial"/>
              </a:defRPr>
            </a:lvl9pPr>
          </a:lstStyle>
          <a:p xmlns:a="http://schemas.openxmlformats.org/drawingml/2006/main">
            <a:pPr algn="l">
              <a:defRPr sz="1500" b="0">
                <a:solidFill>
                  <a:srgbClr val="013D7A"/>
                </a:solidFill>
                <a:latin typeface="Arial"/>
                <a:ea typeface="Arial"/>
                <a:cs typeface="Arial"/>
              </a:defRPr>
            </a:pPr>
            <a:r>
              <a:rPr sz="1500" b="0">
                <a:solidFill>
                  <a:srgbClr val="013D7A"/>
                </a:solidFill>
                <a:latin typeface="Arial"/>
                <a:ea typeface="Arial"/>
                <a:cs typeface="Arial"/>
              </a:rPr>
              <a:t>Code, tables and complete predictions: </a:t>
            </a:r>
            <a:r>
              <a:rPr sz="1500" b="0">
                <a:solidFill>
                  <a:srgbClr val="013D7A"/>
                </a:solidFill>
                <a:latin typeface="Arial"/>
                <a:ea typeface="Arial"/>
                <a:cs typeface="Arial"/>
                <a:hlinkClick xmlns:r="http://schemas.openxmlformats.org/officeDocument/2006/relationships" r:id="R974cffbf59dc4dd0"/>
              </a:rPr>
              <a:t>github.com/ModaYoung/DSA5206</a:t>
            </a:r>
          </a:p>
        </p:txBody>
      </p:sp>
      <p:sp>
        <p:nvSpPr>
          <p:cNvPr id="19" name="37">
            <a:extLst xmlns:a="http://schemas.openxmlformats.org/drawingml/2006/main">
              <a:ext uri="{FF2B5EF4-FFF2-40B4-BE49-F238E27FC236}">
                <a16:creationId xmlns:a16="http://schemas.microsoft.com/office/drawing/2014/main" id="{6136957A-B6AC-473B-97D6-C3FD7271DA5C}"/>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37</a:t>
            </a:r>
          </a:p>
        </p:txBody>
      </p:sp>
    </p:spTree>
    <p:extLst>
      <p:ext uri="{BB962C8B-B14F-4D97-AF65-F5344CB8AC3E}">
        <p14:creationId xmlns:p14="http://schemas.microsoft.com/office/powerpoint/2010/main" val="92239753"/>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References for the study and the new encoders</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e545175d46084235"/>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15" name="Cohen et al. 2020">
            <a:extLst xmlns:a="http://schemas.openxmlformats.org/drawingml/2006/main">
              <a:ext uri="{FF2B5EF4-FFF2-40B4-BE49-F238E27FC236}">
                <a16:creationId xmlns:a16="http://schemas.microsoft.com/office/drawing/2014/main" id="{91A4E003-3CDD-48A6-B0DC-02139C44C362}"/>
              </a:ext>
            </a:extLst>
          </p:cNvPr>
          <p:cNvSpPr>
            <a:spLocks xmlns:a="http://schemas.openxmlformats.org/drawingml/2006/main" noGrp="1"/>
          </p:cNvSpPr>
          <p:nvPr/>
        </p:nvSpPr>
        <p:spPr>
          <a:xfrm xmlns:a="http://schemas.openxmlformats.org/drawingml/2006/main">
            <a:off x="714375" y="19526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13D7A"/>
                </a:solidFill>
                <a:latin typeface="Arial"/>
                <a:ea typeface="Arial"/>
                <a:cs typeface="Arial"/>
              </a:defRPr>
            </a:defPPr>
            <a:lvl1pPr algn="l">
              <a:defRPr sz="1800" b="1">
                <a:solidFill>
                  <a:srgbClr val="013D7A"/>
                </a:solidFill>
                <a:latin typeface="Arial"/>
                <a:ea typeface="Arial"/>
                <a:cs typeface="Arial"/>
              </a:defRPr>
            </a:lvl1pPr>
            <a:lvl2pPr algn="l">
              <a:defRPr sz="1800" b="1">
                <a:solidFill>
                  <a:srgbClr val="013D7A"/>
                </a:solidFill>
                <a:latin typeface="Arial"/>
                <a:ea typeface="Arial"/>
                <a:cs typeface="Arial"/>
              </a:defRPr>
            </a:lvl2pPr>
            <a:lvl3pPr algn="l">
              <a:defRPr sz="1800" b="1">
                <a:solidFill>
                  <a:srgbClr val="013D7A"/>
                </a:solidFill>
                <a:latin typeface="Arial"/>
                <a:ea typeface="Arial"/>
                <a:cs typeface="Arial"/>
              </a:defRPr>
            </a:lvl3pPr>
            <a:lvl4pPr algn="l">
              <a:defRPr sz="1800" b="1">
                <a:solidFill>
                  <a:srgbClr val="013D7A"/>
                </a:solidFill>
                <a:latin typeface="Arial"/>
                <a:ea typeface="Arial"/>
                <a:cs typeface="Arial"/>
              </a:defRPr>
            </a:lvl4pPr>
            <a:lvl5pPr algn="l">
              <a:defRPr sz="1800" b="1">
                <a:solidFill>
                  <a:srgbClr val="013D7A"/>
                </a:solidFill>
                <a:latin typeface="Arial"/>
                <a:ea typeface="Arial"/>
                <a:cs typeface="Arial"/>
              </a:defRPr>
            </a:lvl5pPr>
            <a:lvl6pPr algn="l">
              <a:defRPr sz="1800" b="1">
                <a:solidFill>
                  <a:srgbClr val="013D7A"/>
                </a:solidFill>
                <a:latin typeface="Arial"/>
                <a:ea typeface="Arial"/>
                <a:cs typeface="Arial"/>
              </a:defRPr>
            </a:lvl6pPr>
            <a:lvl7pPr algn="l">
              <a:defRPr sz="1800" b="1">
                <a:solidFill>
                  <a:srgbClr val="013D7A"/>
                </a:solidFill>
                <a:latin typeface="Arial"/>
                <a:ea typeface="Arial"/>
                <a:cs typeface="Arial"/>
              </a:defRPr>
            </a:lvl7pPr>
            <a:lvl8pPr algn="l">
              <a:defRPr sz="1800" b="1">
                <a:solidFill>
                  <a:srgbClr val="013D7A"/>
                </a:solidFill>
                <a:latin typeface="Arial"/>
                <a:ea typeface="Arial"/>
                <a:cs typeface="Arial"/>
              </a:defRPr>
            </a:lvl8pPr>
            <a:lvl9pPr algn="l">
              <a:defRPr sz="1800" b="1">
                <a:solidFill>
                  <a:srgbClr val="013D7A"/>
                </a:solidFill>
                <a:latin typeface="Arial"/>
                <a:ea typeface="Arial"/>
                <a:cs typeface="Arial"/>
              </a:defRPr>
            </a:lvl9pPr>
          </a:lstStyle>
          <a:p xmlns:a="http://schemas.openxmlformats.org/drawingml/2006/main">
            <a:pPr algn="l">
              <a:defRPr sz="1800" b="1">
                <a:solidFill>
                  <a:srgbClr val="013D7A"/>
                </a:solidFill>
                <a:latin typeface="Arial"/>
                <a:ea typeface="Arial"/>
                <a:cs typeface="Arial"/>
              </a:defRPr>
            </a:pPr>
            <a:r>
              <a:rPr sz="1800" b="1">
                <a:solidFill>
                  <a:srgbClr val="013D7A"/>
                </a:solidFill>
                <a:latin typeface="Arial"/>
                <a:ea typeface="Arial"/>
                <a:cs typeface="Arial"/>
              </a:rPr>
              <a:t>Cohen et al. 2020</a:t>
            </a:r>
          </a:p>
        </p:txBody>
      </p:sp>
      <p:sp>
        <p:nvSpPr>
          <p:cNvPr id="16" name="Predicting COVID-19 Pneumonia Severity on Chest X-ray With D">
            <a:extLst xmlns:a="http://schemas.openxmlformats.org/drawingml/2006/main">
              <a:ext uri="{FF2B5EF4-FFF2-40B4-BE49-F238E27FC236}">
                <a16:creationId xmlns:a16="http://schemas.microsoft.com/office/drawing/2014/main" id="{3A37A4A9-B6F3-4B45-A556-344826DD48E1}"/>
              </a:ext>
            </a:extLst>
          </p:cNvPr>
          <p:cNvSpPr>
            <a:spLocks xmlns:a="http://schemas.openxmlformats.org/drawingml/2006/main" noGrp="1"/>
          </p:cNvSpPr>
          <p:nvPr/>
        </p:nvSpPr>
        <p:spPr>
          <a:xfrm xmlns:a="http://schemas.openxmlformats.org/drawingml/2006/main">
            <a:off x="3667125" y="1952625"/>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Predicting COVID-19 Pneumonia Severity on Chest X-ray With Deep Learning. Cureus 12:e9448.</a:t>
            </a:r>
          </a:p>
        </p:txBody>
      </p:sp>
      <p:sp>
        <p:nvSpPr>
          <p:cNvPr id="17" name="Boecking et al. 2022">
            <a:extLst xmlns:a="http://schemas.openxmlformats.org/drawingml/2006/main">
              <a:ext uri="{FF2B5EF4-FFF2-40B4-BE49-F238E27FC236}">
                <a16:creationId xmlns:a16="http://schemas.microsoft.com/office/drawing/2014/main" id="{75B73FF6-553B-4D52-A60C-39F5B98DFCB4}"/>
              </a:ext>
            </a:extLst>
          </p:cNvPr>
          <p:cNvSpPr>
            <a:spLocks xmlns:a="http://schemas.openxmlformats.org/drawingml/2006/main" noGrp="1"/>
          </p:cNvSpPr>
          <p:nvPr/>
        </p:nvSpPr>
        <p:spPr>
          <a:xfrm xmlns:a="http://schemas.openxmlformats.org/drawingml/2006/main">
            <a:off x="714375" y="27908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13D7A"/>
                </a:solidFill>
                <a:latin typeface="Arial"/>
                <a:ea typeface="Arial"/>
                <a:cs typeface="Arial"/>
              </a:defRPr>
            </a:defPPr>
            <a:lvl1pPr algn="l">
              <a:defRPr sz="1800" b="1">
                <a:solidFill>
                  <a:srgbClr val="013D7A"/>
                </a:solidFill>
                <a:latin typeface="Arial"/>
                <a:ea typeface="Arial"/>
                <a:cs typeface="Arial"/>
              </a:defRPr>
            </a:lvl1pPr>
            <a:lvl2pPr algn="l">
              <a:defRPr sz="1800" b="1">
                <a:solidFill>
                  <a:srgbClr val="013D7A"/>
                </a:solidFill>
                <a:latin typeface="Arial"/>
                <a:ea typeface="Arial"/>
                <a:cs typeface="Arial"/>
              </a:defRPr>
            </a:lvl2pPr>
            <a:lvl3pPr algn="l">
              <a:defRPr sz="1800" b="1">
                <a:solidFill>
                  <a:srgbClr val="013D7A"/>
                </a:solidFill>
                <a:latin typeface="Arial"/>
                <a:ea typeface="Arial"/>
                <a:cs typeface="Arial"/>
              </a:defRPr>
            </a:lvl3pPr>
            <a:lvl4pPr algn="l">
              <a:defRPr sz="1800" b="1">
                <a:solidFill>
                  <a:srgbClr val="013D7A"/>
                </a:solidFill>
                <a:latin typeface="Arial"/>
                <a:ea typeface="Arial"/>
                <a:cs typeface="Arial"/>
              </a:defRPr>
            </a:lvl4pPr>
            <a:lvl5pPr algn="l">
              <a:defRPr sz="1800" b="1">
                <a:solidFill>
                  <a:srgbClr val="013D7A"/>
                </a:solidFill>
                <a:latin typeface="Arial"/>
                <a:ea typeface="Arial"/>
                <a:cs typeface="Arial"/>
              </a:defRPr>
            </a:lvl5pPr>
            <a:lvl6pPr algn="l">
              <a:defRPr sz="1800" b="1">
                <a:solidFill>
                  <a:srgbClr val="013D7A"/>
                </a:solidFill>
                <a:latin typeface="Arial"/>
                <a:ea typeface="Arial"/>
                <a:cs typeface="Arial"/>
              </a:defRPr>
            </a:lvl6pPr>
            <a:lvl7pPr algn="l">
              <a:defRPr sz="1800" b="1">
                <a:solidFill>
                  <a:srgbClr val="013D7A"/>
                </a:solidFill>
                <a:latin typeface="Arial"/>
                <a:ea typeface="Arial"/>
                <a:cs typeface="Arial"/>
              </a:defRPr>
            </a:lvl7pPr>
            <a:lvl8pPr algn="l">
              <a:defRPr sz="1800" b="1">
                <a:solidFill>
                  <a:srgbClr val="013D7A"/>
                </a:solidFill>
                <a:latin typeface="Arial"/>
                <a:ea typeface="Arial"/>
                <a:cs typeface="Arial"/>
              </a:defRPr>
            </a:lvl8pPr>
            <a:lvl9pPr algn="l">
              <a:defRPr sz="1800" b="1">
                <a:solidFill>
                  <a:srgbClr val="013D7A"/>
                </a:solidFill>
                <a:latin typeface="Arial"/>
                <a:ea typeface="Arial"/>
                <a:cs typeface="Arial"/>
              </a:defRPr>
            </a:lvl9pPr>
          </a:lstStyle>
          <a:p xmlns:a="http://schemas.openxmlformats.org/drawingml/2006/main">
            <a:pPr algn="l">
              <a:defRPr sz="1800" b="1">
                <a:solidFill>
                  <a:srgbClr val="013D7A"/>
                </a:solidFill>
                <a:latin typeface="Arial"/>
                <a:ea typeface="Arial"/>
                <a:cs typeface="Arial"/>
              </a:defRPr>
            </a:pPr>
            <a:r>
              <a:rPr sz="1800" b="1">
                <a:solidFill>
                  <a:srgbClr val="013D7A"/>
                </a:solidFill>
                <a:latin typeface="Arial"/>
                <a:ea typeface="Arial"/>
                <a:cs typeface="Arial"/>
              </a:rPr>
              <a:t>Boecking et al. 2022</a:t>
            </a:r>
          </a:p>
        </p:txBody>
      </p:sp>
      <p:sp>
        <p:nvSpPr>
          <p:cNvPr id="18" name="Making the Most of Text Semantics to Improve Biomedical Visi">
            <a:extLst xmlns:a="http://schemas.openxmlformats.org/drawingml/2006/main">
              <a:ext uri="{FF2B5EF4-FFF2-40B4-BE49-F238E27FC236}">
                <a16:creationId xmlns:a16="http://schemas.microsoft.com/office/drawing/2014/main" id="{4A3015FB-CD7F-4A11-9EB0-ADFE1A0BC708}"/>
              </a:ext>
            </a:extLst>
          </p:cNvPr>
          <p:cNvSpPr>
            <a:spLocks xmlns:a="http://schemas.openxmlformats.org/drawingml/2006/main" noGrp="1"/>
          </p:cNvSpPr>
          <p:nvPr/>
        </p:nvSpPr>
        <p:spPr>
          <a:xfrm xmlns:a="http://schemas.openxmlformats.org/drawingml/2006/main">
            <a:off x="3667125" y="2790825"/>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Making the Most of Text Semantics to Improve Biomedical Vision-Language Processing. ECCV.</a:t>
            </a:r>
          </a:p>
        </p:txBody>
      </p:sp>
      <p:sp>
        <p:nvSpPr>
          <p:cNvPr id="19" name="Bannur et al. 2023">
            <a:extLst xmlns:a="http://schemas.openxmlformats.org/drawingml/2006/main">
              <a:ext uri="{FF2B5EF4-FFF2-40B4-BE49-F238E27FC236}">
                <a16:creationId xmlns:a16="http://schemas.microsoft.com/office/drawing/2014/main" id="{16EFBAF2-304F-445A-87F0-05B138920E8C}"/>
              </a:ext>
            </a:extLst>
          </p:cNvPr>
          <p:cNvSpPr>
            <a:spLocks xmlns:a="http://schemas.openxmlformats.org/drawingml/2006/main" noGrp="1"/>
          </p:cNvSpPr>
          <p:nvPr/>
        </p:nvSpPr>
        <p:spPr>
          <a:xfrm xmlns:a="http://schemas.openxmlformats.org/drawingml/2006/main">
            <a:off x="714375" y="36290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13D7A"/>
                </a:solidFill>
                <a:latin typeface="Arial"/>
                <a:ea typeface="Arial"/>
                <a:cs typeface="Arial"/>
              </a:defRPr>
            </a:defPPr>
            <a:lvl1pPr algn="l">
              <a:defRPr sz="1800" b="1">
                <a:solidFill>
                  <a:srgbClr val="013D7A"/>
                </a:solidFill>
                <a:latin typeface="Arial"/>
                <a:ea typeface="Arial"/>
                <a:cs typeface="Arial"/>
              </a:defRPr>
            </a:lvl1pPr>
            <a:lvl2pPr algn="l">
              <a:defRPr sz="1800" b="1">
                <a:solidFill>
                  <a:srgbClr val="013D7A"/>
                </a:solidFill>
                <a:latin typeface="Arial"/>
                <a:ea typeface="Arial"/>
                <a:cs typeface="Arial"/>
              </a:defRPr>
            </a:lvl2pPr>
            <a:lvl3pPr algn="l">
              <a:defRPr sz="1800" b="1">
                <a:solidFill>
                  <a:srgbClr val="013D7A"/>
                </a:solidFill>
                <a:latin typeface="Arial"/>
                <a:ea typeface="Arial"/>
                <a:cs typeface="Arial"/>
              </a:defRPr>
            </a:lvl3pPr>
            <a:lvl4pPr algn="l">
              <a:defRPr sz="1800" b="1">
                <a:solidFill>
                  <a:srgbClr val="013D7A"/>
                </a:solidFill>
                <a:latin typeface="Arial"/>
                <a:ea typeface="Arial"/>
                <a:cs typeface="Arial"/>
              </a:defRPr>
            </a:lvl4pPr>
            <a:lvl5pPr algn="l">
              <a:defRPr sz="1800" b="1">
                <a:solidFill>
                  <a:srgbClr val="013D7A"/>
                </a:solidFill>
                <a:latin typeface="Arial"/>
                <a:ea typeface="Arial"/>
                <a:cs typeface="Arial"/>
              </a:defRPr>
            </a:lvl5pPr>
            <a:lvl6pPr algn="l">
              <a:defRPr sz="1800" b="1">
                <a:solidFill>
                  <a:srgbClr val="013D7A"/>
                </a:solidFill>
                <a:latin typeface="Arial"/>
                <a:ea typeface="Arial"/>
                <a:cs typeface="Arial"/>
              </a:defRPr>
            </a:lvl6pPr>
            <a:lvl7pPr algn="l">
              <a:defRPr sz="1800" b="1">
                <a:solidFill>
                  <a:srgbClr val="013D7A"/>
                </a:solidFill>
                <a:latin typeface="Arial"/>
                <a:ea typeface="Arial"/>
                <a:cs typeface="Arial"/>
              </a:defRPr>
            </a:lvl7pPr>
            <a:lvl8pPr algn="l">
              <a:defRPr sz="1800" b="1">
                <a:solidFill>
                  <a:srgbClr val="013D7A"/>
                </a:solidFill>
                <a:latin typeface="Arial"/>
                <a:ea typeface="Arial"/>
                <a:cs typeface="Arial"/>
              </a:defRPr>
            </a:lvl8pPr>
            <a:lvl9pPr algn="l">
              <a:defRPr sz="1800" b="1">
                <a:solidFill>
                  <a:srgbClr val="013D7A"/>
                </a:solidFill>
                <a:latin typeface="Arial"/>
                <a:ea typeface="Arial"/>
                <a:cs typeface="Arial"/>
              </a:defRPr>
            </a:lvl9pPr>
          </a:lstStyle>
          <a:p xmlns:a="http://schemas.openxmlformats.org/drawingml/2006/main">
            <a:pPr algn="l">
              <a:defRPr sz="1800" b="1">
                <a:solidFill>
                  <a:srgbClr val="013D7A"/>
                </a:solidFill>
                <a:latin typeface="Arial"/>
                <a:ea typeface="Arial"/>
                <a:cs typeface="Arial"/>
              </a:defRPr>
            </a:pPr>
            <a:r>
              <a:rPr sz="1800" b="1">
                <a:solidFill>
                  <a:srgbClr val="013D7A"/>
                </a:solidFill>
                <a:latin typeface="Arial"/>
                <a:ea typeface="Arial"/>
                <a:cs typeface="Arial"/>
              </a:rPr>
              <a:t>Bannur et al. 2023</a:t>
            </a:r>
          </a:p>
        </p:txBody>
      </p:sp>
      <p:sp>
        <p:nvSpPr>
          <p:cNvPr id="20" name="Learning to Exploit Temporal Structure for Biomedical Vision">
            <a:extLst xmlns:a="http://schemas.openxmlformats.org/drawingml/2006/main">
              <a:ext uri="{FF2B5EF4-FFF2-40B4-BE49-F238E27FC236}">
                <a16:creationId xmlns:a16="http://schemas.microsoft.com/office/drawing/2014/main" id="{AFDC6D08-138D-4AE0-846E-064F9D842726}"/>
              </a:ext>
            </a:extLst>
          </p:cNvPr>
          <p:cNvSpPr>
            <a:spLocks xmlns:a="http://schemas.openxmlformats.org/drawingml/2006/main" noGrp="1"/>
          </p:cNvSpPr>
          <p:nvPr/>
        </p:nvSpPr>
        <p:spPr>
          <a:xfrm xmlns:a="http://schemas.openxmlformats.org/drawingml/2006/main">
            <a:off x="3667125" y="3629025"/>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Learning to Exploit Temporal Structure for Biomedical Vision-Language Processing. CVPR.</a:t>
            </a:r>
          </a:p>
        </p:txBody>
      </p:sp>
      <p:sp>
        <p:nvSpPr>
          <p:cNvPr id="21" name="Pérez-García et al. 2025">
            <a:extLst xmlns:a="http://schemas.openxmlformats.org/drawingml/2006/main">
              <a:ext uri="{FF2B5EF4-FFF2-40B4-BE49-F238E27FC236}">
                <a16:creationId xmlns:a16="http://schemas.microsoft.com/office/drawing/2014/main" id="{6666116B-D53E-4ED3-BB5E-B5DDDAD4CD82}"/>
              </a:ext>
            </a:extLst>
          </p:cNvPr>
          <p:cNvSpPr>
            <a:spLocks xmlns:a="http://schemas.openxmlformats.org/drawingml/2006/main" noGrp="1"/>
          </p:cNvSpPr>
          <p:nvPr/>
        </p:nvSpPr>
        <p:spPr>
          <a:xfrm xmlns:a="http://schemas.openxmlformats.org/drawingml/2006/main">
            <a:off x="714375" y="44672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13D7A"/>
                </a:solidFill>
                <a:latin typeface="Arial"/>
                <a:ea typeface="Arial"/>
                <a:cs typeface="Arial"/>
              </a:defRPr>
            </a:defPPr>
            <a:lvl1pPr algn="l">
              <a:defRPr sz="1800" b="1">
                <a:solidFill>
                  <a:srgbClr val="013D7A"/>
                </a:solidFill>
                <a:latin typeface="Arial"/>
                <a:ea typeface="Arial"/>
                <a:cs typeface="Arial"/>
              </a:defRPr>
            </a:lvl1pPr>
            <a:lvl2pPr algn="l">
              <a:defRPr sz="1800" b="1">
                <a:solidFill>
                  <a:srgbClr val="013D7A"/>
                </a:solidFill>
                <a:latin typeface="Arial"/>
                <a:ea typeface="Arial"/>
                <a:cs typeface="Arial"/>
              </a:defRPr>
            </a:lvl2pPr>
            <a:lvl3pPr algn="l">
              <a:defRPr sz="1800" b="1">
                <a:solidFill>
                  <a:srgbClr val="013D7A"/>
                </a:solidFill>
                <a:latin typeface="Arial"/>
                <a:ea typeface="Arial"/>
                <a:cs typeface="Arial"/>
              </a:defRPr>
            </a:lvl3pPr>
            <a:lvl4pPr algn="l">
              <a:defRPr sz="1800" b="1">
                <a:solidFill>
                  <a:srgbClr val="013D7A"/>
                </a:solidFill>
                <a:latin typeface="Arial"/>
                <a:ea typeface="Arial"/>
                <a:cs typeface="Arial"/>
              </a:defRPr>
            </a:lvl4pPr>
            <a:lvl5pPr algn="l">
              <a:defRPr sz="1800" b="1">
                <a:solidFill>
                  <a:srgbClr val="013D7A"/>
                </a:solidFill>
                <a:latin typeface="Arial"/>
                <a:ea typeface="Arial"/>
                <a:cs typeface="Arial"/>
              </a:defRPr>
            </a:lvl5pPr>
            <a:lvl6pPr algn="l">
              <a:defRPr sz="1800" b="1">
                <a:solidFill>
                  <a:srgbClr val="013D7A"/>
                </a:solidFill>
                <a:latin typeface="Arial"/>
                <a:ea typeface="Arial"/>
                <a:cs typeface="Arial"/>
              </a:defRPr>
            </a:lvl6pPr>
            <a:lvl7pPr algn="l">
              <a:defRPr sz="1800" b="1">
                <a:solidFill>
                  <a:srgbClr val="013D7A"/>
                </a:solidFill>
                <a:latin typeface="Arial"/>
                <a:ea typeface="Arial"/>
                <a:cs typeface="Arial"/>
              </a:defRPr>
            </a:lvl7pPr>
            <a:lvl8pPr algn="l">
              <a:defRPr sz="1800" b="1">
                <a:solidFill>
                  <a:srgbClr val="013D7A"/>
                </a:solidFill>
                <a:latin typeface="Arial"/>
                <a:ea typeface="Arial"/>
                <a:cs typeface="Arial"/>
              </a:defRPr>
            </a:lvl8pPr>
            <a:lvl9pPr algn="l">
              <a:defRPr sz="1800" b="1">
                <a:solidFill>
                  <a:srgbClr val="013D7A"/>
                </a:solidFill>
                <a:latin typeface="Arial"/>
                <a:ea typeface="Arial"/>
                <a:cs typeface="Arial"/>
              </a:defRPr>
            </a:lvl9pPr>
          </a:lstStyle>
          <a:p xmlns:a="http://schemas.openxmlformats.org/drawingml/2006/main">
            <a:pPr algn="l">
              <a:defRPr sz="1800" b="1">
                <a:solidFill>
                  <a:srgbClr val="013D7A"/>
                </a:solidFill>
                <a:latin typeface="Arial"/>
                <a:ea typeface="Arial"/>
                <a:cs typeface="Arial"/>
              </a:defRPr>
            </a:pPr>
            <a:r>
              <a:rPr sz="1800" b="1">
                <a:solidFill>
                  <a:srgbClr val="013D7A"/>
                </a:solidFill>
                <a:latin typeface="Arial"/>
                <a:ea typeface="Arial"/>
                <a:cs typeface="Arial"/>
              </a:rPr>
              <a:t>Pérez-García et al. 2025</a:t>
            </a:r>
          </a:p>
        </p:txBody>
      </p:sp>
      <p:sp>
        <p:nvSpPr>
          <p:cNvPr id="22" name="Exploring scalable medical image encoders beyond text superv">
            <a:extLst xmlns:a="http://schemas.openxmlformats.org/drawingml/2006/main">
              <a:ext uri="{FF2B5EF4-FFF2-40B4-BE49-F238E27FC236}">
                <a16:creationId xmlns:a16="http://schemas.microsoft.com/office/drawing/2014/main" id="{E98AF7B9-3551-4559-AA4A-30C19E8E9C4D}"/>
              </a:ext>
            </a:extLst>
          </p:cNvPr>
          <p:cNvSpPr>
            <a:spLocks xmlns:a="http://schemas.openxmlformats.org/drawingml/2006/main" noGrp="1"/>
          </p:cNvSpPr>
          <p:nvPr/>
        </p:nvSpPr>
        <p:spPr>
          <a:xfrm xmlns:a="http://schemas.openxmlformats.org/drawingml/2006/main">
            <a:off x="3667125" y="4467225"/>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Exploring scalable medical image encoders beyond text supervision. Nature Machine Intelligence 7:119–130.</a:t>
            </a:r>
          </a:p>
        </p:txBody>
      </p:sp>
      <p:sp>
        <p:nvSpPr>
          <p:cNvPr id="23" name="Zhang Louxin 2026">
            <a:extLst xmlns:a="http://schemas.openxmlformats.org/drawingml/2006/main">
              <a:ext uri="{FF2B5EF4-FFF2-40B4-BE49-F238E27FC236}">
                <a16:creationId xmlns:a16="http://schemas.microsoft.com/office/drawing/2014/main" id="{51E373FB-D6FE-4F65-B82C-AE6566AE2469}"/>
              </a:ext>
            </a:extLst>
          </p:cNvPr>
          <p:cNvSpPr>
            <a:spLocks xmlns:a="http://schemas.openxmlformats.org/drawingml/2006/main" noGrp="1"/>
          </p:cNvSpPr>
          <p:nvPr/>
        </p:nvSpPr>
        <p:spPr>
          <a:xfrm xmlns:a="http://schemas.openxmlformats.org/drawingml/2006/main">
            <a:off x="714375" y="53054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800" b="1">
                <a:solidFill>
                  <a:srgbClr val="013D7A"/>
                </a:solidFill>
                <a:latin typeface="Arial"/>
                <a:ea typeface="Arial"/>
                <a:cs typeface="Arial"/>
              </a:defRPr>
            </a:defPPr>
            <a:lvl1pPr algn="l">
              <a:defRPr sz="1800" b="1">
                <a:solidFill>
                  <a:srgbClr val="013D7A"/>
                </a:solidFill>
                <a:latin typeface="Arial"/>
                <a:ea typeface="Arial"/>
                <a:cs typeface="Arial"/>
              </a:defRPr>
            </a:lvl1pPr>
            <a:lvl2pPr algn="l">
              <a:defRPr sz="1800" b="1">
                <a:solidFill>
                  <a:srgbClr val="013D7A"/>
                </a:solidFill>
                <a:latin typeface="Arial"/>
                <a:ea typeface="Arial"/>
                <a:cs typeface="Arial"/>
              </a:defRPr>
            </a:lvl2pPr>
            <a:lvl3pPr algn="l">
              <a:defRPr sz="1800" b="1">
                <a:solidFill>
                  <a:srgbClr val="013D7A"/>
                </a:solidFill>
                <a:latin typeface="Arial"/>
                <a:ea typeface="Arial"/>
                <a:cs typeface="Arial"/>
              </a:defRPr>
            </a:lvl3pPr>
            <a:lvl4pPr algn="l">
              <a:defRPr sz="1800" b="1">
                <a:solidFill>
                  <a:srgbClr val="013D7A"/>
                </a:solidFill>
                <a:latin typeface="Arial"/>
                <a:ea typeface="Arial"/>
                <a:cs typeface="Arial"/>
              </a:defRPr>
            </a:lvl4pPr>
            <a:lvl5pPr algn="l">
              <a:defRPr sz="1800" b="1">
                <a:solidFill>
                  <a:srgbClr val="013D7A"/>
                </a:solidFill>
                <a:latin typeface="Arial"/>
                <a:ea typeface="Arial"/>
                <a:cs typeface="Arial"/>
              </a:defRPr>
            </a:lvl5pPr>
            <a:lvl6pPr algn="l">
              <a:defRPr sz="1800" b="1">
                <a:solidFill>
                  <a:srgbClr val="013D7A"/>
                </a:solidFill>
                <a:latin typeface="Arial"/>
                <a:ea typeface="Arial"/>
                <a:cs typeface="Arial"/>
              </a:defRPr>
            </a:lvl6pPr>
            <a:lvl7pPr algn="l">
              <a:defRPr sz="1800" b="1">
                <a:solidFill>
                  <a:srgbClr val="013D7A"/>
                </a:solidFill>
                <a:latin typeface="Arial"/>
                <a:ea typeface="Arial"/>
                <a:cs typeface="Arial"/>
              </a:defRPr>
            </a:lvl7pPr>
            <a:lvl8pPr algn="l">
              <a:defRPr sz="1800" b="1">
                <a:solidFill>
                  <a:srgbClr val="013D7A"/>
                </a:solidFill>
                <a:latin typeface="Arial"/>
                <a:ea typeface="Arial"/>
                <a:cs typeface="Arial"/>
              </a:defRPr>
            </a:lvl8pPr>
            <a:lvl9pPr algn="l">
              <a:defRPr sz="1800" b="1">
                <a:solidFill>
                  <a:srgbClr val="013D7A"/>
                </a:solidFill>
                <a:latin typeface="Arial"/>
                <a:ea typeface="Arial"/>
                <a:cs typeface="Arial"/>
              </a:defRPr>
            </a:lvl9pPr>
          </a:lstStyle>
          <a:p xmlns:a="http://schemas.openxmlformats.org/drawingml/2006/main">
            <a:pPr algn="l">
              <a:defRPr sz="1800" b="1">
                <a:solidFill>
                  <a:srgbClr val="013D7A"/>
                </a:solidFill>
                <a:latin typeface="Arial"/>
                <a:ea typeface="Arial"/>
                <a:cs typeface="Arial"/>
              </a:defRPr>
            </a:pPr>
            <a:r>
              <a:rPr sz="1800" b="1">
                <a:solidFill>
                  <a:srgbClr val="013D7A"/>
                </a:solidFill>
                <a:latin typeface="Arial"/>
                <a:ea typeface="Arial"/>
                <a:cs typeface="Arial"/>
              </a:rPr>
              <a:t>Zhang Louxin 2026</a:t>
            </a:r>
          </a:p>
        </p:txBody>
      </p:sp>
      <p:sp>
        <p:nvSpPr>
          <p:cNvPr id="24" name="DSA5206 Lecture 9. Checklist on p. 11, elaborated on pp. 14–">
            <a:extLst xmlns:a="http://schemas.openxmlformats.org/drawingml/2006/main">
              <a:ext uri="{FF2B5EF4-FFF2-40B4-BE49-F238E27FC236}">
                <a16:creationId xmlns:a16="http://schemas.microsoft.com/office/drawing/2014/main" id="{019D32AE-21DC-4CC2-9D71-4DF5DDFBAFD4}"/>
              </a:ext>
            </a:extLst>
          </p:cNvPr>
          <p:cNvSpPr>
            <a:spLocks xmlns:a="http://schemas.openxmlformats.org/drawingml/2006/main" noGrp="1"/>
          </p:cNvSpPr>
          <p:nvPr/>
        </p:nvSpPr>
        <p:spPr>
          <a:xfrm xmlns:a="http://schemas.openxmlformats.org/drawingml/2006/main">
            <a:off x="3667125" y="5305425"/>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0">
                <a:solidFill>
                  <a:srgbClr val="202832"/>
                </a:solidFill>
                <a:latin typeface="Arial"/>
                <a:ea typeface="Arial"/>
                <a:cs typeface="Arial"/>
              </a:defRPr>
            </a:defPPr>
            <a:lvl1pPr algn="l">
              <a:defRPr sz="1650" b="0">
                <a:solidFill>
                  <a:srgbClr val="202832"/>
                </a:solidFill>
                <a:latin typeface="Arial"/>
                <a:ea typeface="Arial"/>
                <a:cs typeface="Arial"/>
              </a:defRPr>
            </a:lvl1pPr>
            <a:lvl2pPr algn="l">
              <a:defRPr sz="1650" b="0">
                <a:solidFill>
                  <a:srgbClr val="202832"/>
                </a:solidFill>
                <a:latin typeface="Arial"/>
                <a:ea typeface="Arial"/>
                <a:cs typeface="Arial"/>
              </a:defRPr>
            </a:lvl2pPr>
            <a:lvl3pPr algn="l">
              <a:defRPr sz="1650" b="0">
                <a:solidFill>
                  <a:srgbClr val="202832"/>
                </a:solidFill>
                <a:latin typeface="Arial"/>
                <a:ea typeface="Arial"/>
                <a:cs typeface="Arial"/>
              </a:defRPr>
            </a:lvl3pPr>
            <a:lvl4pPr algn="l">
              <a:defRPr sz="1650" b="0">
                <a:solidFill>
                  <a:srgbClr val="202832"/>
                </a:solidFill>
                <a:latin typeface="Arial"/>
                <a:ea typeface="Arial"/>
                <a:cs typeface="Arial"/>
              </a:defRPr>
            </a:lvl4pPr>
            <a:lvl5pPr algn="l">
              <a:defRPr sz="1650" b="0">
                <a:solidFill>
                  <a:srgbClr val="202832"/>
                </a:solidFill>
                <a:latin typeface="Arial"/>
                <a:ea typeface="Arial"/>
                <a:cs typeface="Arial"/>
              </a:defRPr>
            </a:lvl5pPr>
            <a:lvl6pPr algn="l">
              <a:defRPr sz="1650" b="0">
                <a:solidFill>
                  <a:srgbClr val="202832"/>
                </a:solidFill>
                <a:latin typeface="Arial"/>
                <a:ea typeface="Arial"/>
                <a:cs typeface="Arial"/>
              </a:defRPr>
            </a:lvl6pPr>
            <a:lvl7pPr algn="l">
              <a:defRPr sz="1650" b="0">
                <a:solidFill>
                  <a:srgbClr val="202832"/>
                </a:solidFill>
                <a:latin typeface="Arial"/>
                <a:ea typeface="Arial"/>
                <a:cs typeface="Arial"/>
              </a:defRPr>
            </a:lvl7pPr>
            <a:lvl8pPr algn="l">
              <a:defRPr sz="1650" b="0">
                <a:solidFill>
                  <a:srgbClr val="202832"/>
                </a:solidFill>
                <a:latin typeface="Arial"/>
                <a:ea typeface="Arial"/>
                <a:cs typeface="Arial"/>
              </a:defRPr>
            </a:lvl8pPr>
            <a:lvl9pPr algn="l">
              <a:defRPr sz="1650" b="0">
                <a:solidFill>
                  <a:srgbClr val="202832"/>
                </a:solidFill>
                <a:latin typeface="Arial"/>
                <a:ea typeface="Arial"/>
                <a:cs typeface="Arial"/>
              </a:defRPr>
            </a:lvl9pPr>
          </a:lstStyle>
          <a:p xmlns:a="http://schemas.openxmlformats.org/drawingml/2006/main">
            <a:pPr algn="l">
              <a:defRPr sz="1650" b="0">
                <a:solidFill>
                  <a:srgbClr val="202832"/>
                </a:solidFill>
                <a:latin typeface="Arial"/>
                <a:ea typeface="Arial"/>
                <a:cs typeface="Arial"/>
              </a:defRPr>
            </a:pPr>
            <a:r>
              <a:rPr sz="1650" b="0">
                <a:solidFill>
                  <a:srgbClr val="202832"/>
                </a:solidFill>
                <a:latin typeface="Arial"/>
                <a:ea typeface="Arial"/>
                <a:cs typeface="Arial"/>
              </a:rPr>
              <a:t>DSA5206 Lecture 9. Checklist on p. 11, elaborated on pp. 14–21.</a:t>
            </a:r>
          </a:p>
        </p:txBody>
      </p:sp>
      <p:sp>
        <p:nvSpPr>
          <p:cNvPr id="25" name="38">
            <a:extLst xmlns:a="http://schemas.openxmlformats.org/drawingml/2006/main">
              <a:ext uri="{FF2B5EF4-FFF2-40B4-BE49-F238E27FC236}">
                <a16:creationId xmlns:a16="http://schemas.microsoft.com/office/drawing/2014/main" id="{670C1982-BF43-4B67-BF60-F98FCAE4E069}"/>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38</a:t>
            </a:r>
          </a:p>
        </p:txBody>
      </p:sp>
    </p:spTree>
    <p:extLst>
      <p:ext uri="{BB962C8B-B14F-4D97-AF65-F5344CB8AC3E}">
        <p14:creationId xmlns:p14="http://schemas.microsoft.com/office/powerpoint/2010/main" val="92239753"/>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4" name="矩形 3">
            <a:extLst xmlns:a="http://schemas.openxmlformats.org/drawingml/2006/main">
              <a:ext uri="{FF2B5EF4-FFF2-40B4-BE49-F238E27FC236}">
                <a16:creationId xmlns:a16="http://schemas.microsoft.com/office/drawing/2014/main" id="{BC6F1DB6-F42F-B0B7-D25E-1D45114D2AE5}"/>
              </a:ext>
            </a:extLst>
          </p:cNvPr>
          <p:cNvSpPr>
            <a:spLocks xmlns:a="http://schemas.openxmlformats.org/drawingml/2006/main" noGrp="1"/>
          </p:cNvSpPr>
          <p:nvPr/>
        </p:nvSpPr>
        <p:spPr>
          <a:xfrm xmlns:a="http://schemas.openxmlformats.org/drawingml/2006/main">
            <a:off x="0" y="1"/>
            <a:ext cx="12192000" cy="846345"/>
          </a:xfrm>
          <a:prstGeom xmlns:a="http://schemas.openxmlformats.org/drawingml/2006/main" prst="rect">
            <a:avLst/>
          </a:prstGeom>
          <a:solidFill xmlns:a="http://schemas.openxmlformats.org/drawingml/2006/main">
            <a:schemeClr val="accent1">
              <a:alpha val="15545"/>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矩形 4">
            <a:extLst xmlns:a="http://schemas.openxmlformats.org/drawingml/2006/main">
              <a:ext uri="{FF2B5EF4-FFF2-40B4-BE49-F238E27FC236}">
                <a16:creationId xmlns:a16="http://schemas.microsoft.com/office/drawing/2014/main" id="{B121EB85-56DA-61D6-EBE1-EBABAD9B7E04}"/>
              </a:ext>
            </a:extLst>
          </p:cNvPr>
          <p:cNvSpPr>
            <a:spLocks xmlns:a="http://schemas.openxmlformats.org/drawingml/2006/main" noGrp="1"/>
          </p:cNvSpPr>
          <p:nvPr/>
        </p:nvSpPr>
        <p:spPr>
          <a:xfrm xmlns:a="http://schemas.openxmlformats.org/drawingml/2006/main">
            <a:off x="9686925" y="0"/>
            <a:ext cx="2000250" cy="846296"/>
          </a:xfrm>
          <a:prstGeom xmlns:a="http://schemas.openxmlformats.org/drawingml/2006/main" prst="rect">
            <a:avLst/>
          </a:prstGeom>
          <a:solidFill xmlns:a="http://schemas.openxmlformats.org/drawingml/2006/main">
            <a:srgbClr val="013D7A"/>
          </a:solidFill>
          <a:ln xmlns:a="http://schemas.openxmlformats.org/drawingml/2006/main">
            <a:noFill/>
          </a:ln>
          <a:effectLst xmlns:a="http://schemas.openxmlformats.org/drawingml/2006/main">
            <a:outerShdw blurRad="88071" dist="38100" dir="5400000" sx="99000" sy="99000" algn="t" rotWithShape="0">
              <a:prstClr val="black">
                <a:alpha val="27719"/>
              </a:prstClr>
            </a:outerShdw>
          </a:effectLst>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文本框 5">
            <a:extLst xmlns:a="http://schemas.openxmlformats.org/drawingml/2006/main">
              <a:ext uri="{FF2B5EF4-FFF2-40B4-BE49-F238E27FC236}">
                <a16:creationId xmlns:a16="http://schemas.microsoft.com/office/drawing/2014/main" id="{280717A2-4BD4-6EBC-8A47-14A3786C8BAA}"/>
              </a:ext>
            </a:extLst>
          </p:cNvPr>
          <p:cNvSpPr>
            <a:spLocks xmlns:a="http://schemas.openxmlformats.org/drawingml/2006/main" noGrp="1"/>
          </p:cNvSpPr>
          <p:nvPr/>
        </p:nvSpPr>
        <p:spPr>
          <a:xfrm xmlns:a="http://schemas.openxmlformats.org/drawingml/2006/main">
            <a:off x="2857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Study</a:t>
            </a:r>
            <a:endParaRPr sz="1800">
              <a:solidFill>
                <a:schemeClr val="accent1"/>
              </a:solidFill>
              <a:latin typeface="Arial"/>
              <a:ea typeface="Arial"/>
              <a:cs typeface="Arial"/>
            </a:endParaRPr>
          </a:p>
        </p:txBody>
      </p:sp>
      <p:sp>
        <p:nvSpPr>
          <p:cNvPr id="8" name="文本框 7">
            <a:extLst xmlns:a="http://schemas.openxmlformats.org/drawingml/2006/main">
              <a:ext uri="{FF2B5EF4-FFF2-40B4-BE49-F238E27FC236}">
                <a16:creationId xmlns:a16="http://schemas.microsoft.com/office/drawing/2014/main" id="{78C425DD-A07C-E645-B811-2A315E3DC77A}"/>
              </a:ext>
            </a:extLst>
          </p:cNvPr>
          <p:cNvSpPr>
            <a:spLocks xmlns:a="http://schemas.openxmlformats.org/drawingml/2006/main" noGrp="1"/>
          </p:cNvSpPr>
          <p:nvPr/>
        </p:nvSpPr>
        <p:spPr>
          <a:xfrm xmlns:a="http://schemas.openxmlformats.org/drawingml/2006/main">
            <a:off x="7429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Experiments</a:t>
            </a:r>
            <a:endParaRPr sz="1800">
              <a:latin typeface="Arial"/>
              <a:ea typeface="Arial"/>
              <a:cs typeface="Arial"/>
            </a:endParaRPr>
          </a:p>
        </p:txBody>
      </p:sp>
      <p:sp>
        <p:nvSpPr>
          <p:cNvPr id="9" name="文本框 8">
            <a:extLst xmlns:a="http://schemas.openxmlformats.org/drawingml/2006/main">
              <a:ext uri="{FF2B5EF4-FFF2-40B4-BE49-F238E27FC236}">
                <a16:creationId xmlns:a16="http://schemas.microsoft.com/office/drawing/2014/main" id="{86FA3746-074F-BABF-771D-299B45C1E85B}"/>
              </a:ext>
            </a:extLst>
          </p:cNvPr>
          <p:cNvSpPr>
            <a:spLocks xmlns:a="http://schemas.openxmlformats.org/drawingml/2006/main" noGrp="1"/>
          </p:cNvSpPr>
          <p:nvPr/>
        </p:nvSpPr>
        <p:spPr>
          <a:xfrm xmlns:a="http://schemas.openxmlformats.org/drawingml/2006/main">
            <a:off x="9715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FFFFFF"/>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FFFFFF"/>
                </a:solidFill>
                <a:latin typeface="Arial"/>
                <a:ea typeface="Arial"/>
                <a:cs typeface="Arial"/>
              </a:defRPr>
            </a:lvl2pPr>
            <a:lvl3pPr algn="ctr">
              <a:buNone/>
              <a:defRPr sz="1725" b="0">
                <a:solidFill>
                  <a:srgbClr val="FFFFFF"/>
                </a:solidFill>
                <a:latin typeface="Arial"/>
                <a:ea typeface="Arial"/>
                <a:cs typeface="Arial"/>
              </a:defRPr>
            </a:lvl3pPr>
            <a:lvl4pPr algn="ctr">
              <a:buNone/>
              <a:defRPr sz="1725" b="0">
                <a:solidFill>
                  <a:srgbClr val="FFFFFF"/>
                </a:solidFill>
                <a:latin typeface="Arial"/>
                <a:ea typeface="Arial"/>
                <a:cs typeface="Arial"/>
              </a:defRPr>
            </a:lvl4pPr>
            <a:lvl5pPr algn="ctr">
              <a:buNone/>
              <a:defRPr sz="1725" b="0">
                <a:solidFill>
                  <a:srgbClr val="FFFFFF"/>
                </a:solidFill>
                <a:latin typeface="Arial"/>
                <a:ea typeface="Arial"/>
                <a:cs typeface="Arial"/>
              </a:defRPr>
            </a:lvl5pPr>
            <a:lvl6pPr algn="ctr">
              <a:buNone/>
              <a:defRPr sz="1725" b="0">
                <a:solidFill>
                  <a:srgbClr val="FFFFFF"/>
                </a:solidFill>
                <a:latin typeface="Arial"/>
                <a:ea typeface="Arial"/>
                <a:cs typeface="Arial"/>
              </a:defRPr>
            </a:lvl6pPr>
            <a:lvl7pPr algn="ctr">
              <a:buNone/>
              <a:defRPr sz="1725" b="0">
                <a:solidFill>
                  <a:srgbClr val="FFFFFF"/>
                </a:solidFill>
                <a:latin typeface="Arial"/>
                <a:ea typeface="Arial"/>
                <a:cs typeface="Arial"/>
              </a:defRPr>
            </a:lvl7pPr>
            <a:lvl8pPr algn="ctr">
              <a:buNone/>
              <a:defRPr sz="1725" b="0">
                <a:solidFill>
                  <a:srgbClr val="FFFFFF"/>
                </a:solidFill>
                <a:latin typeface="Arial"/>
                <a:ea typeface="Arial"/>
                <a:cs typeface="Arial"/>
              </a:defRPr>
            </a:lvl8pPr>
            <a:lvl9pPr algn="ctr">
              <a:buNone/>
              <a:defRPr sz="1725" b="0">
                <a:solidFill>
                  <a:srgbClr val="FFFFFF"/>
                </a:solidFill>
                <a:latin typeface="Arial"/>
                <a:ea typeface="Arial"/>
                <a:cs typeface="Arial"/>
              </a:defRPr>
            </a:lvl9pPr>
          </a:lstStyle>
          <a:p xmlns:a="http://schemas.openxmlformats.org/drawingml/2006/main">
            <a:pPr algn="ctr">
              <a:defRPr sz="1725" b="0">
                <a:solidFill>
                  <a:srgbClr val="FFFFFF"/>
                </a:solidFill>
                <a:latin typeface="Arial"/>
                <a:ea typeface="Arial"/>
                <a:cs typeface="Arial"/>
              </a:defRPr>
            </a:pPr>
            <a:r>
              <a:rPr sz="1725" b="0">
                <a:solidFill>
                  <a:srgbClr val="FFFFFF"/>
                </a:solidFill>
                <a:latin typeface="Arial"/>
                <a:ea typeface="Arial"/>
                <a:cs typeface="Arial"/>
              </a:rPr>
              <a:t>Discussion</a:t>
            </a:r>
            <a:endParaRPr sz="1800">
              <a:solidFill>
                <a:schemeClr val="accent1"/>
              </a:solidFill>
              <a:latin typeface="Arial"/>
              <a:ea typeface="Arial"/>
              <a:cs typeface="Arial"/>
            </a:endParaRPr>
          </a:p>
        </p:txBody>
      </p:sp>
      <p:sp>
        <p:nvSpPr>
          <p:cNvPr id="13" name="直线连接符 12">
            <a:extLst xmlns:a="http://schemas.openxmlformats.org/drawingml/2006/main">
              <a:ext uri="{FF2B5EF4-FFF2-40B4-BE49-F238E27FC236}">
                <a16:creationId xmlns:a16="http://schemas.microsoft.com/office/drawing/2014/main" id="{51B34871-C341-450B-AD05-C093EB396C3C}"/>
              </a:ext>
            </a:extLst>
          </p:cNvPr>
          <p:cNvSpPr>
            <a:spLocks xmlns:a="http://schemas.openxmlformats.org/drawingml/2006/main" noGrp="1"/>
          </p:cNvSpPr>
          <p:nvPr/>
        </p:nvSpPr>
        <p:spPr>
          <a:xfrm xmlns:a="http://schemas.openxmlformats.org/drawingml/2006/main">
            <a:off x="501094" y="1642533"/>
            <a:ext cx="11189813" cy="0"/>
          </a:xfrm>
          <a:prstGeom xmlns:a="http://schemas.openxmlformats.org/drawingml/2006/main" prst="line">
            <a:avLst/>
          </a:prstGeom>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
        <p:nvSpPr>
          <p:cNvPr id="14" name="文本框 13">
            <a:extLst xmlns:a="http://schemas.openxmlformats.org/drawingml/2006/main">
              <a:ext uri="{FF2B5EF4-FFF2-40B4-BE49-F238E27FC236}">
                <a16:creationId xmlns:a16="http://schemas.microsoft.com/office/drawing/2014/main" id="{88A486E6-D4E6-60C4-728A-52AF5D2617B3}"/>
              </a:ext>
            </a:extLst>
          </p:cNvPr>
          <p:cNvSpPr>
            <a:spLocks xmlns:a="http://schemas.openxmlformats.org/drawingml/2006/main" noGrp="1"/>
          </p:cNvSpPr>
          <p:nvPr/>
        </p:nvSpPr>
        <p:spPr>
          <a:xfrm xmlns:a="http://schemas.openxmlformats.org/drawingml/2006/main">
            <a:off x="619125" y="1066800"/>
            <a:ext cx="10953750" cy="55245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400" b="1">
                <a:solidFill>
                  <a:srgbClr val="013D7A"/>
                </a:solidFill>
                <a:latin typeface="Arial"/>
                <a:ea typeface="Arial"/>
                <a:cs typeface="Arial"/>
              </a:defRPr>
            </a:defPPr>
            <a:lvl1pPr algn="l">
              <a:defRPr sz="2400" b="1">
                <a:solidFill>
                  <a:srgbClr val="013D7A"/>
                </a:solidFill>
                <a:latin typeface="Arial"/>
                <a:ea typeface="Arial"/>
                <a:cs typeface="Arial"/>
              </a:defRPr>
            </a:lvl1pPr>
            <a:lvl2pPr algn="l">
              <a:defRPr sz="2400" b="1">
                <a:solidFill>
                  <a:srgbClr val="013D7A"/>
                </a:solidFill>
                <a:latin typeface="Arial"/>
                <a:ea typeface="Arial"/>
                <a:cs typeface="Arial"/>
              </a:defRPr>
            </a:lvl2pPr>
            <a:lvl3pPr algn="l">
              <a:defRPr sz="2400" b="1">
                <a:solidFill>
                  <a:srgbClr val="013D7A"/>
                </a:solidFill>
                <a:latin typeface="Arial"/>
                <a:ea typeface="Arial"/>
                <a:cs typeface="Arial"/>
              </a:defRPr>
            </a:lvl3pPr>
            <a:lvl4pPr algn="l">
              <a:defRPr sz="2400" b="1">
                <a:solidFill>
                  <a:srgbClr val="013D7A"/>
                </a:solidFill>
                <a:latin typeface="Arial"/>
                <a:ea typeface="Arial"/>
                <a:cs typeface="Arial"/>
              </a:defRPr>
            </a:lvl4pPr>
            <a:lvl5pPr algn="l">
              <a:defRPr sz="2400" b="1">
                <a:solidFill>
                  <a:srgbClr val="013D7A"/>
                </a:solidFill>
                <a:latin typeface="Arial"/>
                <a:ea typeface="Arial"/>
                <a:cs typeface="Arial"/>
              </a:defRPr>
            </a:lvl5pPr>
            <a:lvl6pPr algn="l">
              <a:defRPr sz="2400" b="1">
                <a:solidFill>
                  <a:srgbClr val="013D7A"/>
                </a:solidFill>
                <a:latin typeface="Arial"/>
                <a:ea typeface="Arial"/>
                <a:cs typeface="Arial"/>
              </a:defRPr>
            </a:lvl6pPr>
            <a:lvl7pPr algn="l">
              <a:defRPr sz="2400" b="1">
                <a:solidFill>
                  <a:srgbClr val="013D7A"/>
                </a:solidFill>
                <a:latin typeface="Arial"/>
                <a:ea typeface="Arial"/>
                <a:cs typeface="Arial"/>
              </a:defRPr>
            </a:lvl7pPr>
            <a:lvl8pPr algn="l">
              <a:defRPr sz="2400" b="1">
                <a:solidFill>
                  <a:srgbClr val="013D7A"/>
                </a:solidFill>
                <a:latin typeface="Arial"/>
                <a:ea typeface="Arial"/>
                <a:cs typeface="Arial"/>
              </a:defRPr>
            </a:lvl8pPr>
            <a:lvl9pPr algn="l">
              <a:defRPr sz="2400" b="1">
                <a:solidFill>
                  <a:srgbClr val="013D7A"/>
                </a:solidFill>
                <a:latin typeface="Arial"/>
                <a:ea typeface="Arial"/>
                <a:cs typeface="Arial"/>
              </a:defRPr>
            </a:lvl9pPr>
          </a:lstStyle>
          <a:p xmlns:a="http://schemas.openxmlformats.org/drawingml/2006/main">
            <a:pPr marL="457200" indent="-457200" algn="l">
              <a:buFont typeface="Wingdings"/>
              <a:buChar char="Ø"/>
              <a:defRPr sz="2400" b="1">
                <a:solidFill>
                  <a:srgbClr val="013D7A"/>
                </a:solidFill>
                <a:latin typeface="Arial"/>
                <a:ea typeface="Arial"/>
                <a:cs typeface="Arial"/>
              </a:defRPr>
            </a:pPr>
            <a:r>
              <a:rPr sz="2400" b="1">
                <a:solidFill>
                  <a:srgbClr val="013D7A"/>
                </a:solidFill>
                <a:latin typeface="Arial"/>
                <a:ea typeface="Arial"/>
                <a:cs typeface="Arial"/>
              </a:rPr>
              <a:t>Data and software sources remain separately identifiable</a:t>
            </a:r>
            <a:endParaRPr sz="2800" b="1">
              <a:solidFill>
                <a:schemeClr val="accent1"/>
              </a:solidFill>
              <a:latin typeface="Arial"/>
              <a:ea typeface="Arial"/>
              <a:cs typeface="Arial"/>
            </a:endParaRPr>
          </a:p>
        </p:txBody>
      </p:sp>
      <p:sp>
        <p:nvSpPr>
          <p:cNvPr id="7" name="文本框 6">
            <a:extLst xmlns:a="http://schemas.openxmlformats.org/drawingml/2006/main">
              <a:ext uri="{FF2B5EF4-FFF2-40B4-BE49-F238E27FC236}">
                <a16:creationId xmlns:a16="http://schemas.microsoft.com/office/drawing/2014/main" id="{12F88350-C782-6CA4-94C2-1F50F3F7F8CA}"/>
              </a:ext>
            </a:extLst>
          </p:cNvPr>
          <p:cNvSpPr>
            <a:spLocks xmlns:a="http://schemas.openxmlformats.org/drawingml/2006/main" noGrp="1"/>
          </p:cNvSpPr>
          <p:nvPr/>
        </p:nvSpPr>
        <p:spPr>
          <a:xfrm xmlns:a="http://schemas.openxmlformats.org/drawingml/2006/main">
            <a:off x="5143500" y="123825"/>
            <a:ext cx="1943100" cy="59055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defPPr algn="ctr">
              <a:defRPr sz="1725" b="0">
                <a:solidFill>
                  <a:srgbClr val="013D7A"/>
                </a:solidFill>
                <a:latin typeface="Arial"/>
                <a:ea typeface="Arial"/>
                <a:cs typeface="Arial"/>
              </a:defRPr>
            </a:defPPr>
            <a:lvl1pPr algn="ctr">
              <a:buNone/>
              <a:defRPr sz="3600" b="0">
                <a:solidFill>
                  <a:schemeClr val="bg1"/>
                </a:solidFill>
                <a:latin typeface="思源黑体 CN Heavy"/>
                <a:ea typeface="思源黑体 CN Heavy"/>
                <a:cs typeface="思源黑体 CN Heavy"/>
              </a:defRPr>
            </a:lvl1pPr>
            <a:lvl2pPr algn="ctr">
              <a:buNone/>
              <a:defRPr sz="1725" b="0">
                <a:solidFill>
                  <a:srgbClr val="013D7A"/>
                </a:solidFill>
                <a:latin typeface="Arial"/>
                <a:ea typeface="Arial"/>
                <a:cs typeface="Arial"/>
              </a:defRPr>
            </a:lvl2pPr>
            <a:lvl3pPr algn="ctr">
              <a:buNone/>
              <a:defRPr sz="1725" b="0">
                <a:solidFill>
                  <a:srgbClr val="013D7A"/>
                </a:solidFill>
                <a:latin typeface="Arial"/>
                <a:ea typeface="Arial"/>
                <a:cs typeface="Arial"/>
              </a:defRPr>
            </a:lvl3pPr>
            <a:lvl4pPr algn="ctr">
              <a:buNone/>
              <a:defRPr sz="1725" b="0">
                <a:solidFill>
                  <a:srgbClr val="013D7A"/>
                </a:solidFill>
                <a:latin typeface="Arial"/>
                <a:ea typeface="Arial"/>
                <a:cs typeface="Arial"/>
              </a:defRPr>
            </a:lvl4pPr>
            <a:lvl5pPr algn="ctr">
              <a:buNone/>
              <a:defRPr sz="1725" b="0">
                <a:solidFill>
                  <a:srgbClr val="013D7A"/>
                </a:solidFill>
                <a:latin typeface="Arial"/>
                <a:ea typeface="Arial"/>
                <a:cs typeface="Arial"/>
              </a:defRPr>
            </a:lvl5pPr>
            <a:lvl6pPr algn="ctr">
              <a:buNone/>
              <a:defRPr sz="1725" b="0">
                <a:solidFill>
                  <a:srgbClr val="013D7A"/>
                </a:solidFill>
                <a:latin typeface="Arial"/>
                <a:ea typeface="Arial"/>
                <a:cs typeface="Arial"/>
              </a:defRPr>
            </a:lvl6pPr>
            <a:lvl7pPr algn="ctr">
              <a:buNone/>
              <a:defRPr sz="1725" b="0">
                <a:solidFill>
                  <a:srgbClr val="013D7A"/>
                </a:solidFill>
                <a:latin typeface="Arial"/>
                <a:ea typeface="Arial"/>
                <a:cs typeface="Arial"/>
              </a:defRPr>
            </a:lvl7pPr>
            <a:lvl8pPr algn="ctr">
              <a:buNone/>
              <a:defRPr sz="1725" b="0">
                <a:solidFill>
                  <a:srgbClr val="013D7A"/>
                </a:solidFill>
                <a:latin typeface="Arial"/>
                <a:ea typeface="Arial"/>
                <a:cs typeface="Arial"/>
              </a:defRPr>
            </a:lvl8pPr>
            <a:lvl9pPr algn="ctr">
              <a:buNone/>
              <a:defRPr sz="1725" b="0">
                <a:solidFill>
                  <a:srgbClr val="013D7A"/>
                </a:solidFill>
                <a:latin typeface="Arial"/>
                <a:ea typeface="Arial"/>
                <a:cs typeface="Arial"/>
              </a:defRPr>
            </a:lvl9pPr>
          </a:lstStyle>
          <a:p xmlns:a="http://schemas.openxmlformats.org/drawingml/2006/main">
            <a:pPr algn="ctr">
              <a:defRPr sz="1725" b="0">
                <a:solidFill>
                  <a:srgbClr val="013D7A"/>
                </a:solidFill>
                <a:latin typeface="Arial"/>
                <a:ea typeface="Arial"/>
                <a:cs typeface="Arial"/>
              </a:defRPr>
            </a:pPr>
            <a:r>
              <a:rPr sz="1725" b="0">
                <a:solidFill>
                  <a:srgbClr val="013D7A"/>
                </a:solidFill>
                <a:latin typeface="Arial"/>
                <a:ea typeface="Arial"/>
                <a:cs typeface="Arial"/>
              </a:rPr>
              <a:t>Assessment</a:t>
            </a:r>
            <a:endParaRPr sz="1800">
              <a:solidFill>
                <a:schemeClr val="accent1"/>
              </a:solidFill>
              <a:latin typeface="Arial"/>
              <a:ea typeface="Arial"/>
              <a:cs typeface="Arial"/>
            </a:endParaRPr>
          </a:p>
        </p:txBody>
      </p:sp>
      <p:pic>
        <p:nvPicPr>
          <p:cNvPr id="11" name="图片 10">
            <a:extLst xmlns:a="http://schemas.openxmlformats.org/drawingml/2006/main">
              <a:ext uri="{FF2B5EF4-FFF2-40B4-BE49-F238E27FC236}">
                <a16:creationId xmlns:a16="http://schemas.microsoft.com/office/drawing/2014/main" id="{F8FC871E-8A7B-4749-81AC-A83E2DDD4BAB}"/>
              </a:ext>
            </a:extLst>
          </p:cNvPr>
          <p:cNvPicPr>
            <a:picLocks xmlns:a="http://schemas.openxmlformats.org/drawingml/2006/main" noChangeAspect="1"/>
          </p:cNvPicPr>
          <p:nvPr/>
        </p:nvPicPr>
        <p:blipFill>
          <a:blip xmlns:r="http://schemas.openxmlformats.org/officeDocument/2006/relationships" xmlns:a="http://schemas.openxmlformats.org/drawingml/2006/main" r:embed="R336f6e38abce444a"/>
          <a:stretch xmlns:a="http://schemas.openxmlformats.org/drawingml/2006/main">
            <a:fillRect l="0" t="0" r="0" b="0"/>
          </a:stretch>
        </p:blipFill>
        <p:spPr>
          <a:xfrm xmlns:a="http://schemas.openxmlformats.org/drawingml/2006/main">
            <a:off x="627440" y="158714"/>
            <a:ext cx="1218581" cy="562505"/>
          </a:xfrm>
          <a:prstGeom xmlns:a="http://schemas.openxmlformats.org/drawingml/2006/main" prst="rect">
            <a:avLst/>
          </a:prstGeom>
        </p:spPr>
      </p:pic>
      <p:sp>
        <p:nvSpPr>
          <p:cNvPr id="15" name="Historical image snapshot">
            <a:extLst xmlns:a="http://schemas.openxmlformats.org/drawingml/2006/main">
              <a:ext uri="{FF2B5EF4-FFF2-40B4-BE49-F238E27FC236}">
                <a16:creationId xmlns:a16="http://schemas.microsoft.com/office/drawing/2014/main" id="{88C4E8EA-744C-4D08-943B-3F351B0DE7AD}"/>
              </a:ext>
            </a:extLst>
          </p:cNvPr>
          <p:cNvSpPr>
            <a:spLocks xmlns:a="http://schemas.openxmlformats.org/drawingml/2006/main" noGrp="1"/>
          </p:cNvSpPr>
          <p:nvPr/>
        </p:nvSpPr>
        <p:spPr>
          <a:xfrm xmlns:a="http://schemas.openxmlformats.org/drawingml/2006/main">
            <a:off x="714375" y="1952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013D7A"/>
                </a:solidFill>
                <a:latin typeface="Arial"/>
                <a:ea typeface="Arial"/>
                <a:cs typeface="Arial"/>
              </a:defRPr>
            </a:defPPr>
            <a:lvl1pPr algn="l">
              <a:defRPr sz="1725" b="1">
                <a:solidFill>
                  <a:srgbClr val="013D7A"/>
                </a:solidFill>
                <a:latin typeface="Arial"/>
                <a:ea typeface="Arial"/>
                <a:cs typeface="Arial"/>
              </a:defRPr>
            </a:lvl1pPr>
            <a:lvl2pPr algn="l">
              <a:defRPr sz="1725" b="1">
                <a:solidFill>
                  <a:srgbClr val="013D7A"/>
                </a:solidFill>
                <a:latin typeface="Arial"/>
                <a:ea typeface="Arial"/>
                <a:cs typeface="Arial"/>
              </a:defRPr>
            </a:lvl2pPr>
            <a:lvl3pPr algn="l">
              <a:defRPr sz="1725" b="1">
                <a:solidFill>
                  <a:srgbClr val="013D7A"/>
                </a:solidFill>
                <a:latin typeface="Arial"/>
                <a:ea typeface="Arial"/>
                <a:cs typeface="Arial"/>
              </a:defRPr>
            </a:lvl3pPr>
            <a:lvl4pPr algn="l">
              <a:defRPr sz="1725" b="1">
                <a:solidFill>
                  <a:srgbClr val="013D7A"/>
                </a:solidFill>
                <a:latin typeface="Arial"/>
                <a:ea typeface="Arial"/>
                <a:cs typeface="Arial"/>
              </a:defRPr>
            </a:lvl4pPr>
            <a:lvl5pPr algn="l">
              <a:defRPr sz="1725" b="1">
                <a:solidFill>
                  <a:srgbClr val="013D7A"/>
                </a:solidFill>
                <a:latin typeface="Arial"/>
                <a:ea typeface="Arial"/>
                <a:cs typeface="Arial"/>
              </a:defRPr>
            </a:lvl5pPr>
            <a:lvl6pPr algn="l">
              <a:defRPr sz="1725" b="1">
                <a:solidFill>
                  <a:srgbClr val="013D7A"/>
                </a:solidFill>
                <a:latin typeface="Arial"/>
                <a:ea typeface="Arial"/>
                <a:cs typeface="Arial"/>
              </a:defRPr>
            </a:lvl6pPr>
            <a:lvl7pPr algn="l">
              <a:defRPr sz="1725" b="1">
                <a:solidFill>
                  <a:srgbClr val="013D7A"/>
                </a:solidFill>
                <a:latin typeface="Arial"/>
                <a:ea typeface="Arial"/>
                <a:cs typeface="Arial"/>
              </a:defRPr>
            </a:lvl7pPr>
            <a:lvl8pPr algn="l">
              <a:defRPr sz="1725" b="1">
                <a:solidFill>
                  <a:srgbClr val="013D7A"/>
                </a:solidFill>
                <a:latin typeface="Arial"/>
                <a:ea typeface="Arial"/>
                <a:cs typeface="Arial"/>
              </a:defRPr>
            </a:lvl8pPr>
            <a:lvl9pPr algn="l">
              <a:defRPr sz="1725" b="1">
                <a:solidFill>
                  <a:srgbClr val="013D7A"/>
                </a:solidFill>
                <a:latin typeface="Arial"/>
                <a:ea typeface="Arial"/>
                <a:cs typeface="Arial"/>
              </a:defRPr>
            </a:lvl9pPr>
          </a:lstStyle>
          <a:p xmlns:a="http://schemas.openxmlformats.org/drawingml/2006/main">
            <a:pPr algn="l">
              <a:defRPr sz="1725" b="1">
                <a:solidFill>
                  <a:srgbClr val="013D7A"/>
                </a:solidFill>
                <a:latin typeface="Arial"/>
                <a:ea typeface="Arial"/>
                <a:cs typeface="Arial"/>
              </a:defRPr>
            </a:pPr>
            <a:r>
              <a:rPr sz="1725" b="1">
                <a:solidFill>
                  <a:srgbClr val="013D7A"/>
                </a:solidFill>
                <a:latin typeface="Arial"/>
                <a:ea typeface="Arial"/>
                <a:cs typeface="Arial"/>
              </a:rPr>
              <a:t>Historical image snapshot</a:t>
            </a:r>
          </a:p>
        </p:txBody>
      </p:sp>
      <p:sp>
        <p:nvSpPr>
          <p:cNvPr id="16" name="ieee8023/covid-chestxray-dataset">
            <a:extLst xmlns:a="http://schemas.openxmlformats.org/drawingml/2006/main">
              <a:ext uri="{FF2B5EF4-FFF2-40B4-BE49-F238E27FC236}">
                <a16:creationId xmlns:a16="http://schemas.microsoft.com/office/drawing/2014/main" id="{04A6284A-4F5C-4B34-A873-1F73AFA60CE5}"/>
              </a:ext>
            </a:extLst>
          </p:cNvPr>
          <p:cNvSpPr>
            <a:spLocks xmlns:a="http://schemas.openxmlformats.org/drawingml/2006/main" noGrp="1"/>
          </p:cNvSpPr>
          <p:nvPr/>
        </p:nvSpPr>
        <p:spPr>
          <a:xfrm xmlns:a="http://schemas.openxmlformats.org/drawingml/2006/main">
            <a:off x="4191000" y="19526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832"/>
                </a:solidFill>
                <a:latin typeface="Arial"/>
                <a:ea typeface="Arial"/>
                <a:cs typeface="Arial"/>
              </a:defRPr>
            </a:defPPr>
            <a:lvl1pPr algn="l">
              <a:defRPr sz="1575" b="0">
                <a:solidFill>
                  <a:srgbClr val="202832"/>
                </a:solidFill>
                <a:latin typeface="Arial"/>
                <a:ea typeface="Arial"/>
                <a:cs typeface="Arial"/>
              </a:defRPr>
            </a:lvl1pPr>
            <a:lvl2pPr algn="l">
              <a:defRPr sz="1575" b="0">
                <a:solidFill>
                  <a:srgbClr val="202832"/>
                </a:solidFill>
                <a:latin typeface="Arial"/>
                <a:ea typeface="Arial"/>
                <a:cs typeface="Arial"/>
              </a:defRPr>
            </a:lvl2pPr>
            <a:lvl3pPr algn="l">
              <a:defRPr sz="1575" b="0">
                <a:solidFill>
                  <a:srgbClr val="202832"/>
                </a:solidFill>
                <a:latin typeface="Arial"/>
                <a:ea typeface="Arial"/>
                <a:cs typeface="Arial"/>
              </a:defRPr>
            </a:lvl3pPr>
            <a:lvl4pPr algn="l">
              <a:defRPr sz="1575" b="0">
                <a:solidFill>
                  <a:srgbClr val="202832"/>
                </a:solidFill>
                <a:latin typeface="Arial"/>
                <a:ea typeface="Arial"/>
                <a:cs typeface="Arial"/>
              </a:defRPr>
            </a:lvl4pPr>
            <a:lvl5pPr algn="l">
              <a:defRPr sz="1575" b="0">
                <a:solidFill>
                  <a:srgbClr val="202832"/>
                </a:solidFill>
                <a:latin typeface="Arial"/>
                <a:ea typeface="Arial"/>
                <a:cs typeface="Arial"/>
              </a:defRPr>
            </a:lvl5pPr>
            <a:lvl6pPr algn="l">
              <a:defRPr sz="1575" b="0">
                <a:solidFill>
                  <a:srgbClr val="202832"/>
                </a:solidFill>
                <a:latin typeface="Arial"/>
                <a:ea typeface="Arial"/>
                <a:cs typeface="Arial"/>
              </a:defRPr>
            </a:lvl6pPr>
            <a:lvl7pPr algn="l">
              <a:defRPr sz="1575" b="0">
                <a:solidFill>
                  <a:srgbClr val="202832"/>
                </a:solidFill>
                <a:latin typeface="Arial"/>
                <a:ea typeface="Arial"/>
                <a:cs typeface="Arial"/>
              </a:defRPr>
            </a:lvl7pPr>
            <a:lvl8pPr algn="l">
              <a:defRPr sz="1575" b="0">
                <a:solidFill>
                  <a:srgbClr val="202832"/>
                </a:solidFill>
                <a:latin typeface="Arial"/>
                <a:ea typeface="Arial"/>
                <a:cs typeface="Arial"/>
              </a:defRPr>
            </a:lvl8pPr>
            <a:lvl9pPr algn="l">
              <a:defRPr sz="1575" b="0">
                <a:solidFill>
                  <a:srgbClr val="202832"/>
                </a:solidFill>
                <a:latin typeface="Arial"/>
                <a:ea typeface="Arial"/>
                <a:cs typeface="Arial"/>
              </a:defRPr>
            </a:lvl9pPr>
          </a:lstStyle>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ieee8023/covid-chestxray-dataset</a:t>
            </a:r>
          </a:p>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Commit 196143d3dd32a2a43ad51d6891d460aaf690d741</a:t>
            </a:r>
          </a:p>
        </p:txBody>
      </p:sp>
      <p:sp>
        <p:nvSpPr>
          <p:cNvPr id="17" name="Severity scores and original code">
            <a:extLst xmlns:a="http://schemas.openxmlformats.org/drawingml/2006/main">
              <a:ext uri="{FF2B5EF4-FFF2-40B4-BE49-F238E27FC236}">
                <a16:creationId xmlns:a16="http://schemas.microsoft.com/office/drawing/2014/main" id="{9A8265F3-AB12-4E62-8072-9AC2B4A264E8}"/>
              </a:ext>
            </a:extLst>
          </p:cNvPr>
          <p:cNvSpPr>
            <a:spLocks xmlns:a="http://schemas.openxmlformats.org/drawingml/2006/main" noGrp="1"/>
          </p:cNvSpPr>
          <p:nvPr/>
        </p:nvSpPr>
        <p:spPr>
          <a:xfrm xmlns:a="http://schemas.openxmlformats.org/drawingml/2006/main">
            <a:off x="714375" y="27908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013D7A"/>
                </a:solidFill>
                <a:latin typeface="Arial"/>
                <a:ea typeface="Arial"/>
                <a:cs typeface="Arial"/>
              </a:defRPr>
            </a:defPPr>
            <a:lvl1pPr algn="l">
              <a:defRPr sz="1725" b="1">
                <a:solidFill>
                  <a:srgbClr val="013D7A"/>
                </a:solidFill>
                <a:latin typeface="Arial"/>
                <a:ea typeface="Arial"/>
                <a:cs typeface="Arial"/>
              </a:defRPr>
            </a:lvl1pPr>
            <a:lvl2pPr algn="l">
              <a:defRPr sz="1725" b="1">
                <a:solidFill>
                  <a:srgbClr val="013D7A"/>
                </a:solidFill>
                <a:latin typeface="Arial"/>
                <a:ea typeface="Arial"/>
                <a:cs typeface="Arial"/>
              </a:defRPr>
            </a:lvl2pPr>
            <a:lvl3pPr algn="l">
              <a:defRPr sz="1725" b="1">
                <a:solidFill>
                  <a:srgbClr val="013D7A"/>
                </a:solidFill>
                <a:latin typeface="Arial"/>
                <a:ea typeface="Arial"/>
                <a:cs typeface="Arial"/>
              </a:defRPr>
            </a:lvl3pPr>
            <a:lvl4pPr algn="l">
              <a:defRPr sz="1725" b="1">
                <a:solidFill>
                  <a:srgbClr val="013D7A"/>
                </a:solidFill>
                <a:latin typeface="Arial"/>
                <a:ea typeface="Arial"/>
                <a:cs typeface="Arial"/>
              </a:defRPr>
            </a:lvl4pPr>
            <a:lvl5pPr algn="l">
              <a:defRPr sz="1725" b="1">
                <a:solidFill>
                  <a:srgbClr val="013D7A"/>
                </a:solidFill>
                <a:latin typeface="Arial"/>
                <a:ea typeface="Arial"/>
                <a:cs typeface="Arial"/>
              </a:defRPr>
            </a:lvl5pPr>
            <a:lvl6pPr algn="l">
              <a:defRPr sz="1725" b="1">
                <a:solidFill>
                  <a:srgbClr val="013D7A"/>
                </a:solidFill>
                <a:latin typeface="Arial"/>
                <a:ea typeface="Arial"/>
                <a:cs typeface="Arial"/>
              </a:defRPr>
            </a:lvl6pPr>
            <a:lvl7pPr algn="l">
              <a:defRPr sz="1725" b="1">
                <a:solidFill>
                  <a:srgbClr val="013D7A"/>
                </a:solidFill>
                <a:latin typeface="Arial"/>
                <a:ea typeface="Arial"/>
                <a:cs typeface="Arial"/>
              </a:defRPr>
            </a:lvl7pPr>
            <a:lvl8pPr algn="l">
              <a:defRPr sz="1725" b="1">
                <a:solidFill>
                  <a:srgbClr val="013D7A"/>
                </a:solidFill>
                <a:latin typeface="Arial"/>
                <a:ea typeface="Arial"/>
                <a:cs typeface="Arial"/>
              </a:defRPr>
            </a:lvl8pPr>
            <a:lvl9pPr algn="l">
              <a:defRPr sz="1725" b="1">
                <a:solidFill>
                  <a:srgbClr val="013D7A"/>
                </a:solidFill>
                <a:latin typeface="Arial"/>
                <a:ea typeface="Arial"/>
                <a:cs typeface="Arial"/>
              </a:defRPr>
            </a:lvl9pPr>
          </a:lstStyle>
          <a:p xmlns:a="http://schemas.openxmlformats.org/drawingml/2006/main">
            <a:pPr algn="l">
              <a:defRPr sz="1725" b="1">
                <a:solidFill>
                  <a:srgbClr val="013D7A"/>
                </a:solidFill>
                <a:latin typeface="Arial"/>
                <a:ea typeface="Arial"/>
                <a:cs typeface="Arial"/>
              </a:defRPr>
            </a:pPr>
            <a:r>
              <a:rPr sz="1725" b="1">
                <a:solidFill>
                  <a:srgbClr val="013D7A"/>
                </a:solidFill>
                <a:latin typeface="Arial"/>
                <a:ea typeface="Arial"/>
                <a:cs typeface="Arial"/>
              </a:rPr>
              <a:t>Severity scores and original code</a:t>
            </a:r>
          </a:p>
        </p:txBody>
      </p:sp>
      <p:sp>
        <p:nvSpPr>
          <p:cNvPr id="18" name="mlmed/covid-severity">
            <a:extLst xmlns:a="http://schemas.openxmlformats.org/drawingml/2006/main">
              <a:ext uri="{FF2B5EF4-FFF2-40B4-BE49-F238E27FC236}">
                <a16:creationId xmlns:a16="http://schemas.microsoft.com/office/drawing/2014/main" id="{4CEAA171-B349-4721-AA45-0BB858E44046}"/>
              </a:ext>
            </a:extLst>
          </p:cNvPr>
          <p:cNvSpPr>
            <a:spLocks xmlns:a="http://schemas.openxmlformats.org/drawingml/2006/main" noGrp="1"/>
          </p:cNvSpPr>
          <p:nvPr/>
        </p:nvSpPr>
        <p:spPr>
          <a:xfrm xmlns:a="http://schemas.openxmlformats.org/drawingml/2006/main">
            <a:off x="4191000" y="27908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832"/>
                </a:solidFill>
                <a:latin typeface="Arial"/>
                <a:ea typeface="Arial"/>
                <a:cs typeface="Arial"/>
              </a:defRPr>
            </a:defPPr>
            <a:lvl1pPr algn="l">
              <a:defRPr sz="1575" b="0">
                <a:solidFill>
                  <a:srgbClr val="202832"/>
                </a:solidFill>
                <a:latin typeface="Arial"/>
                <a:ea typeface="Arial"/>
                <a:cs typeface="Arial"/>
              </a:defRPr>
            </a:lvl1pPr>
            <a:lvl2pPr algn="l">
              <a:defRPr sz="1575" b="0">
                <a:solidFill>
                  <a:srgbClr val="202832"/>
                </a:solidFill>
                <a:latin typeface="Arial"/>
                <a:ea typeface="Arial"/>
                <a:cs typeface="Arial"/>
              </a:defRPr>
            </a:lvl2pPr>
            <a:lvl3pPr algn="l">
              <a:defRPr sz="1575" b="0">
                <a:solidFill>
                  <a:srgbClr val="202832"/>
                </a:solidFill>
                <a:latin typeface="Arial"/>
                <a:ea typeface="Arial"/>
                <a:cs typeface="Arial"/>
              </a:defRPr>
            </a:lvl3pPr>
            <a:lvl4pPr algn="l">
              <a:defRPr sz="1575" b="0">
                <a:solidFill>
                  <a:srgbClr val="202832"/>
                </a:solidFill>
                <a:latin typeface="Arial"/>
                <a:ea typeface="Arial"/>
                <a:cs typeface="Arial"/>
              </a:defRPr>
            </a:lvl4pPr>
            <a:lvl5pPr algn="l">
              <a:defRPr sz="1575" b="0">
                <a:solidFill>
                  <a:srgbClr val="202832"/>
                </a:solidFill>
                <a:latin typeface="Arial"/>
                <a:ea typeface="Arial"/>
                <a:cs typeface="Arial"/>
              </a:defRPr>
            </a:lvl5pPr>
            <a:lvl6pPr algn="l">
              <a:defRPr sz="1575" b="0">
                <a:solidFill>
                  <a:srgbClr val="202832"/>
                </a:solidFill>
                <a:latin typeface="Arial"/>
                <a:ea typeface="Arial"/>
                <a:cs typeface="Arial"/>
              </a:defRPr>
            </a:lvl6pPr>
            <a:lvl7pPr algn="l">
              <a:defRPr sz="1575" b="0">
                <a:solidFill>
                  <a:srgbClr val="202832"/>
                </a:solidFill>
                <a:latin typeface="Arial"/>
                <a:ea typeface="Arial"/>
                <a:cs typeface="Arial"/>
              </a:defRPr>
            </a:lvl7pPr>
            <a:lvl8pPr algn="l">
              <a:defRPr sz="1575" b="0">
                <a:solidFill>
                  <a:srgbClr val="202832"/>
                </a:solidFill>
                <a:latin typeface="Arial"/>
                <a:ea typeface="Arial"/>
                <a:cs typeface="Arial"/>
              </a:defRPr>
            </a:lvl8pPr>
            <a:lvl9pPr algn="l">
              <a:defRPr sz="1575" b="0">
                <a:solidFill>
                  <a:srgbClr val="202832"/>
                </a:solidFill>
                <a:latin typeface="Arial"/>
                <a:ea typeface="Arial"/>
                <a:cs typeface="Arial"/>
              </a:defRPr>
            </a:lvl9pPr>
          </a:lstStyle>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mlmed/covid-severity</a:t>
            </a:r>
          </a:p>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Scores are means from three experts. Original label attribution is retained.</a:t>
            </a:r>
          </a:p>
        </p:txBody>
      </p:sp>
      <p:sp>
        <p:nvSpPr>
          <p:cNvPr id="19" name="TorchXRayVision and hi-ml">
            <a:extLst xmlns:a="http://schemas.openxmlformats.org/drawingml/2006/main">
              <a:ext uri="{FF2B5EF4-FFF2-40B4-BE49-F238E27FC236}">
                <a16:creationId xmlns:a16="http://schemas.microsoft.com/office/drawing/2014/main" id="{DA01B9E8-6F2D-409E-BCA2-A5AA89C30E38}"/>
              </a:ext>
            </a:extLst>
          </p:cNvPr>
          <p:cNvSpPr>
            <a:spLocks xmlns:a="http://schemas.openxmlformats.org/drawingml/2006/main" noGrp="1"/>
          </p:cNvSpPr>
          <p:nvPr/>
        </p:nvSpPr>
        <p:spPr>
          <a:xfrm xmlns:a="http://schemas.openxmlformats.org/drawingml/2006/main">
            <a:off x="714375" y="36290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013D7A"/>
                </a:solidFill>
                <a:latin typeface="Arial"/>
                <a:ea typeface="Arial"/>
                <a:cs typeface="Arial"/>
              </a:defRPr>
            </a:defPPr>
            <a:lvl1pPr algn="l">
              <a:defRPr sz="1725" b="1">
                <a:solidFill>
                  <a:srgbClr val="013D7A"/>
                </a:solidFill>
                <a:latin typeface="Arial"/>
                <a:ea typeface="Arial"/>
                <a:cs typeface="Arial"/>
              </a:defRPr>
            </a:lvl1pPr>
            <a:lvl2pPr algn="l">
              <a:defRPr sz="1725" b="1">
                <a:solidFill>
                  <a:srgbClr val="013D7A"/>
                </a:solidFill>
                <a:latin typeface="Arial"/>
                <a:ea typeface="Arial"/>
                <a:cs typeface="Arial"/>
              </a:defRPr>
            </a:lvl2pPr>
            <a:lvl3pPr algn="l">
              <a:defRPr sz="1725" b="1">
                <a:solidFill>
                  <a:srgbClr val="013D7A"/>
                </a:solidFill>
                <a:latin typeface="Arial"/>
                <a:ea typeface="Arial"/>
                <a:cs typeface="Arial"/>
              </a:defRPr>
            </a:lvl3pPr>
            <a:lvl4pPr algn="l">
              <a:defRPr sz="1725" b="1">
                <a:solidFill>
                  <a:srgbClr val="013D7A"/>
                </a:solidFill>
                <a:latin typeface="Arial"/>
                <a:ea typeface="Arial"/>
                <a:cs typeface="Arial"/>
              </a:defRPr>
            </a:lvl4pPr>
            <a:lvl5pPr algn="l">
              <a:defRPr sz="1725" b="1">
                <a:solidFill>
                  <a:srgbClr val="013D7A"/>
                </a:solidFill>
                <a:latin typeface="Arial"/>
                <a:ea typeface="Arial"/>
                <a:cs typeface="Arial"/>
              </a:defRPr>
            </a:lvl5pPr>
            <a:lvl6pPr algn="l">
              <a:defRPr sz="1725" b="1">
                <a:solidFill>
                  <a:srgbClr val="013D7A"/>
                </a:solidFill>
                <a:latin typeface="Arial"/>
                <a:ea typeface="Arial"/>
                <a:cs typeface="Arial"/>
              </a:defRPr>
            </a:lvl6pPr>
            <a:lvl7pPr algn="l">
              <a:defRPr sz="1725" b="1">
                <a:solidFill>
                  <a:srgbClr val="013D7A"/>
                </a:solidFill>
                <a:latin typeface="Arial"/>
                <a:ea typeface="Arial"/>
                <a:cs typeface="Arial"/>
              </a:defRPr>
            </a:lvl7pPr>
            <a:lvl8pPr algn="l">
              <a:defRPr sz="1725" b="1">
                <a:solidFill>
                  <a:srgbClr val="013D7A"/>
                </a:solidFill>
                <a:latin typeface="Arial"/>
                <a:ea typeface="Arial"/>
                <a:cs typeface="Arial"/>
              </a:defRPr>
            </a:lvl8pPr>
            <a:lvl9pPr algn="l">
              <a:defRPr sz="1725" b="1">
                <a:solidFill>
                  <a:srgbClr val="013D7A"/>
                </a:solidFill>
                <a:latin typeface="Arial"/>
                <a:ea typeface="Arial"/>
                <a:cs typeface="Arial"/>
              </a:defRPr>
            </a:lvl9pPr>
          </a:lstStyle>
          <a:p xmlns:a="http://schemas.openxmlformats.org/drawingml/2006/main">
            <a:pPr algn="l">
              <a:defRPr sz="1725" b="1">
                <a:solidFill>
                  <a:srgbClr val="013D7A"/>
                </a:solidFill>
                <a:latin typeface="Arial"/>
                <a:ea typeface="Arial"/>
                <a:cs typeface="Arial"/>
              </a:defRPr>
            </a:pPr>
            <a:r>
              <a:rPr sz="1725" b="1">
                <a:solidFill>
                  <a:srgbClr val="013D7A"/>
                </a:solidFill>
                <a:latin typeface="Arial"/>
                <a:ea typeface="Arial"/>
                <a:cs typeface="Arial"/>
              </a:rPr>
              <a:t>TorchXRayVision and hi-ml</a:t>
            </a:r>
          </a:p>
        </p:txBody>
      </p:sp>
      <p:sp>
        <p:nvSpPr>
          <p:cNvPr id="20" name="mlmed/torchxrayvision and microsoft/hi-ml">
            <a:extLst xmlns:a="http://schemas.openxmlformats.org/drawingml/2006/main">
              <a:ext uri="{FF2B5EF4-FFF2-40B4-BE49-F238E27FC236}">
                <a16:creationId xmlns:a16="http://schemas.microsoft.com/office/drawing/2014/main" id="{D2183158-F06A-4A68-8A22-E7CFE9E2CEE3}"/>
              </a:ext>
            </a:extLst>
          </p:cNvPr>
          <p:cNvSpPr>
            <a:spLocks xmlns:a="http://schemas.openxmlformats.org/drawingml/2006/main" noGrp="1"/>
          </p:cNvSpPr>
          <p:nvPr/>
        </p:nvSpPr>
        <p:spPr>
          <a:xfrm xmlns:a="http://schemas.openxmlformats.org/drawingml/2006/main">
            <a:off x="4191000" y="36290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832"/>
                </a:solidFill>
                <a:latin typeface="Arial"/>
                <a:ea typeface="Arial"/>
                <a:cs typeface="Arial"/>
              </a:defRPr>
            </a:defPPr>
            <a:lvl1pPr algn="l">
              <a:defRPr sz="1575" b="0">
                <a:solidFill>
                  <a:srgbClr val="202832"/>
                </a:solidFill>
                <a:latin typeface="Arial"/>
                <a:ea typeface="Arial"/>
                <a:cs typeface="Arial"/>
              </a:defRPr>
            </a:lvl1pPr>
            <a:lvl2pPr algn="l">
              <a:defRPr sz="1575" b="0">
                <a:solidFill>
                  <a:srgbClr val="202832"/>
                </a:solidFill>
                <a:latin typeface="Arial"/>
                <a:ea typeface="Arial"/>
                <a:cs typeface="Arial"/>
              </a:defRPr>
            </a:lvl2pPr>
            <a:lvl3pPr algn="l">
              <a:defRPr sz="1575" b="0">
                <a:solidFill>
                  <a:srgbClr val="202832"/>
                </a:solidFill>
                <a:latin typeface="Arial"/>
                <a:ea typeface="Arial"/>
                <a:cs typeface="Arial"/>
              </a:defRPr>
            </a:lvl3pPr>
            <a:lvl4pPr algn="l">
              <a:defRPr sz="1575" b="0">
                <a:solidFill>
                  <a:srgbClr val="202832"/>
                </a:solidFill>
                <a:latin typeface="Arial"/>
                <a:ea typeface="Arial"/>
                <a:cs typeface="Arial"/>
              </a:defRPr>
            </a:lvl4pPr>
            <a:lvl5pPr algn="l">
              <a:defRPr sz="1575" b="0">
                <a:solidFill>
                  <a:srgbClr val="202832"/>
                </a:solidFill>
                <a:latin typeface="Arial"/>
                <a:ea typeface="Arial"/>
                <a:cs typeface="Arial"/>
              </a:defRPr>
            </a:lvl5pPr>
            <a:lvl6pPr algn="l">
              <a:defRPr sz="1575" b="0">
                <a:solidFill>
                  <a:srgbClr val="202832"/>
                </a:solidFill>
                <a:latin typeface="Arial"/>
                <a:ea typeface="Arial"/>
                <a:cs typeface="Arial"/>
              </a:defRPr>
            </a:lvl6pPr>
            <a:lvl7pPr algn="l">
              <a:defRPr sz="1575" b="0">
                <a:solidFill>
                  <a:srgbClr val="202832"/>
                </a:solidFill>
                <a:latin typeface="Arial"/>
                <a:ea typeface="Arial"/>
                <a:cs typeface="Arial"/>
              </a:defRPr>
            </a:lvl7pPr>
            <a:lvl8pPr algn="l">
              <a:defRPr sz="1575" b="0">
                <a:solidFill>
                  <a:srgbClr val="202832"/>
                </a:solidFill>
                <a:latin typeface="Arial"/>
                <a:ea typeface="Arial"/>
                <a:cs typeface="Arial"/>
              </a:defRPr>
            </a:lvl8pPr>
            <a:lvl9pPr algn="l">
              <a:defRPr sz="1575" b="0">
                <a:solidFill>
                  <a:srgbClr val="202832"/>
                </a:solidFill>
                <a:latin typeface="Arial"/>
                <a:ea typeface="Arial"/>
                <a:cs typeface="Arial"/>
              </a:defRPr>
            </a:lvl9pPr>
          </a:lstStyle>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mlmed/torchxrayvision and microsoft/hi-ml</a:t>
            </a:r>
          </a:p>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Public pretrained image encoders with documented preprocessing.</a:t>
            </a:r>
          </a:p>
        </p:txBody>
      </p:sp>
      <p:sp>
        <p:nvSpPr>
          <p:cNvPr id="21" name="Public RAD-DINO checkpoint">
            <a:extLst xmlns:a="http://schemas.openxmlformats.org/drawingml/2006/main">
              <a:ext uri="{FF2B5EF4-FFF2-40B4-BE49-F238E27FC236}">
                <a16:creationId xmlns:a16="http://schemas.microsoft.com/office/drawing/2014/main" id="{8507E25F-3EF3-4419-99B7-0F3D5A72876E}"/>
              </a:ext>
            </a:extLst>
          </p:cNvPr>
          <p:cNvSpPr>
            <a:spLocks xmlns:a="http://schemas.openxmlformats.org/drawingml/2006/main" noGrp="1"/>
          </p:cNvSpPr>
          <p:nvPr/>
        </p:nvSpPr>
        <p:spPr>
          <a:xfrm xmlns:a="http://schemas.openxmlformats.org/drawingml/2006/main">
            <a:off x="714375" y="44672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013D7A"/>
                </a:solidFill>
                <a:latin typeface="Arial"/>
                <a:ea typeface="Arial"/>
                <a:cs typeface="Arial"/>
              </a:defRPr>
            </a:defPPr>
            <a:lvl1pPr algn="l">
              <a:defRPr sz="1725" b="1">
                <a:solidFill>
                  <a:srgbClr val="013D7A"/>
                </a:solidFill>
                <a:latin typeface="Arial"/>
                <a:ea typeface="Arial"/>
                <a:cs typeface="Arial"/>
              </a:defRPr>
            </a:lvl1pPr>
            <a:lvl2pPr algn="l">
              <a:defRPr sz="1725" b="1">
                <a:solidFill>
                  <a:srgbClr val="013D7A"/>
                </a:solidFill>
                <a:latin typeface="Arial"/>
                <a:ea typeface="Arial"/>
                <a:cs typeface="Arial"/>
              </a:defRPr>
            </a:lvl2pPr>
            <a:lvl3pPr algn="l">
              <a:defRPr sz="1725" b="1">
                <a:solidFill>
                  <a:srgbClr val="013D7A"/>
                </a:solidFill>
                <a:latin typeface="Arial"/>
                <a:ea typeface="Arial"/>
                <a:cs typeface="Arial"/>
              </a:defRPr>
            </a:lvl3pPr>
            <a:lvl4pPr algn="l">
              <a:defRPr sz="1725" b="1">
                <a:solidFill>
                  <a:srgbClr val="013D7A"/>
                </a:solidFill>
                <a:latin typeface="Arial"/>
                <a:ea typeface="Arial"/>
                <a:cs typeface="Arial"/>
              </a:defRPr>
            </a:lvl4pPr>
            <a:lvl5pPr algn="l">
              <a:defRPr sz="1725" b="1">
                <a:solidFill>
                  <a:srgbClr val="013D7A"/>
                </a:solidFill>
                <a:latin typeface="Arial"/>
                <a:ea typeface="Arial"/>
                <a:cs typeface="Arial"/>
              </a:defRPr>
            </a:lvl5pPr>
            <a:lvl6pPr algn="l">
              <a:defRPr sz="1725" b="1">
                <a:solidFill>
                  <a:srgbClr val="013D7A"/>
                </a:solidFill>
                <a:latin typeface="Arial"/>
                <a:ea typeface="Arial"/>
                <a:cs typeface="Arial"/>
              </a:defRPr>
            </a:lvl6pPr>
            <a:lvl7pPr algn="l">
              <a:defRPr sz="1725" b="1">
                <a:solidFill>
                  <a:srgbClr val="013D7A"/>
                </a:solidFill>
                <a:latin typeface="Arial"/>
                <a:ea typeface="Arial"/>
                <a:cs typeface="Arial"/>
              </a:defRPr>
            </a:lvl7pPr>
            <a:lvl8pPr algn="l">
              <a:defRPr sz="1725" b="1">
                <a:solidFill>
                  <a:srgbClr val="013D7A"/>
                </a:solidFill>
                <a:latin typeface="Arial"/>
                <a:ea typeface="Arial"/>
                <a:cs typeface="Arial"/>
              </a:defRPr>
            </a:lvl8pPr>
            <a:lvl9pPr algn="l">
              <a:defRPr sz="1725" b="1">
                <a:solidFill>
                  <a:srgbClr val="013D7A"/>
                </a:solidFill>
                <a:latin typeface="Arial"/>
                <a:ea typeface="Arial"/>
                <a:cs typeface="Arial"/>
              </a:defRPr>
            </a:lvl9pPr>
          </a:lstStyle>
          <a:p xmlns:a="http://schemas.openxmlformats.org/drawingml/2006/main">
            <a:pPr algn="l">
              <a:defRPr sz="1725" b="1">
                <a:solidFill>
                  <a:srgbClr val="013D7A"/>
                </a:solidFill>
                <a:latin typeface="Arial"/>
                <a:ea typeface="Arial"/>
                <a:cs typeface="Arial"/>
              </a:defRPr>
            </a:pPr>
            <a:r>
              <a:rPr sz="1725" b="1">
                <a:solidFill>
                  <a:srgbClr val="013D7A"/>
                </a:solidFill>
                <a:latin typeface="Arial"/>
                <a:ea typeface="Arial"/>
                <a:cs typeface="Arial"/>
              </a:rPr>
              <a:t>Public RAD-DINO checkpoint</a:t>
            </a:r>
          </a:p>
        </p:txBody>
      </p:sp>
      <p:sp>
        <p:nvSpPr>
          <p:cNvPr id="22" name="huggingface.co/microsoft/rad-dino">
            <a:extLst xmlns:a="http://schemas.openxmlformats.org/drawingml/2006/main">
              <a:ext uri="{FF2B5EF4-FFF2-40B4-BE49-F238E27FC236}">
                <a16:creationId xmlns:a16="http://schemas.microsoft.com/office/drawing/2014/main" id="{B7DD7661-A2ED-430B-8C92-50C53513A49A}"/>
              </a:ext>
            </a:extLst>
          </p:cNvPr>
          <p:cNvSpPr>
            <a:spLocks xmlns:a="http://schemas.openxmlformats.org/drawingml/2006/main" noGrp="1"/>
          </p:cNvSpPr>
          <p:nvPr/>
        </p:nvSpPr>
        <p:spPr>
          <a:xfrm xmlns:a="http://schemas.openxmlformats.org/drawingml/2006/main">
            <a:off x="4191000" y="44672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832"/>
                </a:solidFill>
                <a:latin typeface="Arial"/>
                <a:ea typeface="Arial"/>
                <a:cs typeface="Arial"/>
              </a:defRPr>
            </a:defPPr>
            <a:lvl1pPr algn="l">
              <a:defRPr sz="1575" b="0">
                <a:solidFill>
                  <a:srgbClr val="202832"/>
                </a:solidFill>
                <a:latin typeface="Arial"/>
                <a:ea typeface="Arial"/>
                <a:cs typeface="Arial"/>
              </a:defRPr>
            </a:lvl1pPr>
            <a:lvl2pPr algn="l">
              <a:defRPr sz="1575" b="0">
                <a:solidFill>
                  <a:srgbClr val="202832"/>
                </a:solidFill>
                <a:latin typeface="Arial"/>
                <a:ea typeface="Arial"/>
                <a:cs typeface="Arial"/>
              </a:defRPr>
            </a:lvl2pPr>
            <a:lvl3pPr algn="l">
              <a:defRPr sz="1575" b="0">
                <a:solidFill>
                  <a:srgbClr val="202832"/>
                </a:solidFill>
                <a:latin typeface="Arial"/>
                <a:ea typeface="Arial"/>
                <a:cs typeface="Arial"/>
              </a:defRPr>
            </a:lvl3pPr>
            <a:lvl4pPr algn="l">
              <a:defRPr sz="1575" b="0">
                <a:solidFill>
                  <a:srgbClr val="202832"/>
                </a:solidFill>
                <a:latin typeface="Arial"/>
                <a:ea typeface="Arial"/>
                <a:cs typeface="Arial"/>
              </a:defRPr>
            </a:lvl4pPr>
            <a:lvl5pPr algn="l">
              <a:defRPr sz="1575" b="0">
                <a:solidFill>
                  <a:srgbClr val="202832"/>
                </a:solidFill>
                <a:latin typeface="Arial"/>
                <a:ea typeface="Arial"/>
                <a:cs typeface="Arial"/>
              </a:defRPr>
            </a:lvl5pPr>
            <a:lvl6pPr algn="l">
              <a:defRPr sz="1575" b="0">
                <a:solidFill>
                  <a:srgbClr val="202832"/>
                </a:solidFill>
                <a:latin typeface="Arial"/>
                <a:ea typeface="Arial"/>
                <a:cs typeface="Arial"/>
              </a:defRPr>
            </a:lvl6pPr>
            <a:lvl7pPr algn="l">
              <a:defRPr sz="1575" b="0">
                <a:solidFill>
                  <a:srgbClr val="202832"/>
                </a:solidFill>
                <a:latin typeface="Arial"/>
                <a:ea typeface="Arial"/>
                <a:cs typeface="Arial"/>
              </a:defRPr>
            </a:lvl7pPr>
            <a:lvl8pPr algn="l">
              <a:defRPr sz="1575" b="0">
                <a:solidFill>
                  <a:srgbClr val="202832"/>
                </a:solidFill>
                <a:latin typeface="Arial"/>
                <a:ea typeface="Arial"/>
                <a:cs typeface="Arial"/>
              </a:defRPr>
            </a:lvl8pPr>
            <a:lvl9pPr algn="l">
              <a:defRPr sz="1575" b="0">
                <a:solidFill>
                  <a:srgbClr val="202832"/>
                </a:solidFill>
                <a:latin typeface="Arial"/>
                <a:ea typeface="Arial"/>
                <a:cs typeface="Arial"/>
              </a:defRPr>
            </a:lvl9pPr>
          </a:lstStyle>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huggingface.co/microsoft/rad-dino</a:t>
            </a:r>
          </a:p>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Released weights differ from the original paper checkpoint.</a:t>
            </a:r>
          </a:p>
        </p:txBody>
      </p:sp>
      <p:sp>
        <p:nvSpPr>
          <p:cNvPr id="23" name="Group reproduction and this extension">
            <a:extLst xmlns:a="http://schemas.openxmlformats.org/drawingml/2006/main">
              <a:ext uri="{FF2B5EF4-FFF2-40B4-BE49-F238E27FC236}">
                <a16:creationId xmlns:a16="http://schemas.microsoft.com/office/drawing/2014/main" id="{1C64D365-7B9C-4357-8F2C-7907889E4993}"/>
              </a:ext>
            </a:extLst>
          </p:cNvPr>
          <p:cNvSpPr>
            <a:spLocks xmlns:a="http://schemas.openxmlformats.org/drawingml/2006/main" noGrp="1"/>
          </p:cNvSpPr>
          <p:nvPr/>
        </p:nvSpPr>
        <p:spPr>
          <a:xfrm xmlns:a="http://schemas.openxmlformats.org/drawingml/2006/main">
            <a:off x="714375" y="53054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013D7A"/>
                </a:solidFill>
                <a:latin typeface="Arial"/>
                <a:ea typeface="Arial"/>
                <a:cs typeface="Arial"/>
              </a:defRPr>
            </a:defPPr>
            <a:lvl1pPr algn="l">
              <a:defRPr sz="1725" b="1">
                <a:solidFill>
                  <a:srgbClr val="013D7A"/>
                </a:solidFill>
                <a:latin typeface="Arial"/>
                <a:ea typeface="Arial"/>
                <a:cs typeface="Arial"/>
              </a:defRPr>
            </a:lvl1pPr>
            <a:lvl2pPr algn="l">
              <a:defRPr sz="1725" b="1">
                <a:solidFill>
                  <a:srgbClr val="013D7A"/>
                </a:solidFill>
                <a:latin typeface="Arial"/>
                <a:ea typeface="Arial"/>
                <a:cs typeface="Arial"/>
              </a:defRPr>
            </a:lvl2pPr>
            <a:lvl3pPr algn="l">
              <a:defRPr sz="1725" b="1">
                <a:solidFill>
                  <a:srgbClr val="013D7A"/>
                </a:solidFill>
                <a:latin typeface="Arial"/>
                <a:ea typeface="Arial"/>
                <a:cs typeface="Arial"/>
              </a:defRPr>
            </a:lvl3pPr>
            <a:lvl4pPr algn="l">
              <a:defRPr sz="1725" b="1">
                <a:solidFill>
                  <a:srgbClr val="013D7A"/>
                </a:solidFill>
                <a:latin typeface="Arial"/>
                <a:ea typeface="Arial"/>
                <a:cs typeface="Arial"/>
              </a:defRPr>
            </a:lvl4pPr>
            <a:lvl5pPr algn="l">
              <a:defRPr sz="1725" b="1">
                <a:solidFill>
                  <a:srgbClr val="013D7A"/>
                </a:solidFill>
                <a:latin typeface="Arial"/>
                <a:ea typeface="Arial"/>
                <a:cs typeface="Arial"/>
              </a:defRPr>
            </a:lvl5pPr>
            <a:lvl6pPr algn="l">
              <a:defRPr sz="1725" b="1">
                <a:solidFill>
                  <a:srgbClr val="013D7A"/>
                </a:solidFill>
                <a:latin typeface="Arial"/>
                <a:ea typeface="Arial"/>
                <a:cs typeface="Arial"/>
              </a:defRPr>
            </a:lvl6pPr>
            <a:lvl7pPr algn="l">
              <a:defRPr sz="1725" b="1">
                <a:solidFill>
                  <a:srgbClr val="013D7A"/>
                </a:solidFill>
                <a:latin typeface="Arial"/>
                <a:ea typeface="Arial"/>
                <a:cs typeface="Arial"/>
              </a:defRPr>
            </a:lvl7pPr>
            <a:lvl8pPr algn="l">
              <a:defRPr sz="1725" b="1">
                <a:solidFill>
                  <a:srgbClr val="013D7A"/>
                </a:solidFill>
                <a:latin typeface="Arial"/>
                <a:ea typeface="Arial"/>
                <a:cs typeface="Arial"/>
              </a:defRPr>
            </a:lvl8pPr>
            <a:lvl9pPr algn="l">
              <a:defRPr sz="1725" b="1">
                <a:solidFill>
                  <a:srgbClr val="013D7A"/>
                </a:solidFill>
                <a:latin typeface="Arial"/>
                <a:ea typeface="Arial"/>
                <a:cs typeface="Arial"/>
              </a:defRPr>
            </a:lvl9pPr>
          </a:lstStyle>
          <a:p xmlns:a="http://schemas.openxmlformats.org/drawingml/2006/main">
            <a:pPr algn="l">
              <a:defRPr sz="1725" b="1">
                <a:solidFill>
                  <a:srgbClr val="013D7A"/>
                </a:solidFill>
                <a:latin typeface="Arial"/>
                <a:ea typeface="Arial"/>
                <a:cs typeface="Arial"/>
              </a:defRPr>
            </a:pPr>
            <a:r>
              <a:rPr sz="1725" b="1">
                <a:solidFill>
                  <a:srgbClr val="013D7A"/>
                </a:solidFill>
                <a:latin typeface="Arial"/>
                <a:ea typeface="Arial"/>
                <a:cs typeface="Arial"/>
              </a:rPr>
              <a:t>Group reproduction and this extension</a:t>
            </a:r>
          </a:p>
        </p:txBody>
      </p:sp>
      <p:sp>
        <p:nvSpPr>
          <p:cNvPr id="24" name="apothecary11/DSA5206-GROUP-PROJECT">
            <a:extLst xmlns:a="http://schemas.openxmlformats.org/drawingml/2006/main">
              <a:ext uri="{FF2B5EF4-FFF2-40B4-BE49-F238E27FC236}">
                <a16:creationId xmlns:a16="http://schemas.microsoft.com/office/drawing/2014/main" id="{683C98B8-EF70-4099-A3B2-995D18686A31}"/>
              </a:ext>
            </a:extLst>
          </p:cNvPr>
          <p:cNvSpPr>
            <a:spLocks xmlns:a="http://schemas.openxmlformats.org/drawingml/2006/main" noGrp="1"/>
          </p:cNvSpPr>
          <p:nvPr/>
        </p:nvSpPr>
        <p:spPr>
          <a:xfrm xmlns:a="http://schemas.openxmlformats.org/drawingml/2006/main">
            <a:off x="4191000" y="5305425"/>
            <a:ext cx="723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75" b="0">
                <a:solidFill>
                  <a:srgbClr val="202832"/>
                </a:solidFill>
                <a:latin typeface="Arial"/>
                <a:ea typeface="Arial"/>
                <a:cs typeface="Arial"/>
              </a:defRPr>
            </a:defPPr>
            <a:lvl1pPr algn="l">
              <a:defRPr sz="1575" b="0">
                <a:solidFill>
                  <a:srgbClr val="202832"/>
                </a:solidFill>
                <a:latin typeface="Arial"/>
                <a:ea typeface="Arial"/>
                <a:cs typeface="Arial"/>
              </a:defRPr>
            </a:lvl1pPr>
            <a:lvl2pPr algn="l">
              <a:defRPr sz="1575" b="0">
                <a:solidFill>
                  <a:srgbClr val="202832"/>
                </a:solidFill>
                <a:latin typeface="Arial"/>
                <a:ea typeface="Arial"/>
                <a:cs typeface="Arial"/>
              </a:defRPr>
            </a:lvl2pPr>
            <a:lvl3pPr algn="l">
              <a:defRPr sz="1575" b="0">
                <a:solidFill>
                  <a:srgbClr val="202832"/>
                </a:solidFill>
                <a:latin typeface="Arial"/>
                <a:ea typeface="Arial"/>
                <a:cs typeface="Arial"/>
              </a:defRPr>
            </a:lvl3pPr>
            <a:lvl4pPr algn="l">
              <a:defRPr sz="1575" b="0">
                <a:solidFill>
                  <a:srgbClr val="202832"/>
                </a:solidFill>
                <a:latin typeface="Arial"/>
                <a:ea typeface="Arial"/>
                <a:cs typeface="Arial"/>
              </a:defRPr>
            </a:lvl4pPr>
            <a:lvl5pPr algn="l">
              <a:defRPr sz="1575" b="0">
                <a:solidFill>
                  <a:srgbClr val="202832"/>
                </a:solidFill>
                <a:latin typeface="Arial"/>
                <a:ea typeface="Arial"/>
                <a:cs typeface="Arial"/>
              </a:defRPr>
            </a:lvl5pPr>
            <a:lvl6pPr algn="l">
              <a:defRPr sz="1575" b="0">
                <a:solidFill>
                  <a:srgbClr val="202832"/>
                </a:solidFill>
                <a:latin typeface="Arial"/>
                <a:ea typeface="Arial"/>
                <a:cs typeface="Arial"/>
              </a:defRPr>
            </a:lvl6pPr>
            <a:lvl7pPr algn="l">
              <a:defRPr sz="1575" b="0">
                <a:solidFill>
                  <a:srgbClr val="202832"/>
                </a:solidFill>
                <a:latin typeface="Arial"/>
                <a:ea typeface="Arial"/>
                <a:cs typeface="Arial"/>
              </a:defRPr>
            </a:lvl7pPr>
            <a:lvl8pPr algn="l">
              <a:defRPr sz="1575" b="0">
                <a:solidFill>
                  <a:srgbClr val="202832"/>
                </a:solidFill>
                <a:latin typeface="Arial"/>
                <a:ea typeface="Arial"/>
                <a:cs typeface="Arial"/>
              </a:defRPr>
            </a:lvl8pPr>
            <a:lvl9pPr algn="l">
              <a:defRPr sz="1575" b="0">
                <a:solidFill>
                  <a:srgbClr val="202832"/>
                </a:solidFill>
                <a:latin typeface="Arial"/>
                <a:ea typeface="Arial"/>
                <a:cs typeface="Arial"/>
              </a:defRPr>
            </a:lvl9pPr>
          </a:lstStyle>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apothecary11/DSA5206-GROUP-PROJECT</a:t>
            </a:r>
          </a:p>
          <a:p xmlns:a="http://schemas.openxmlformats.org/drawingml/2006/main">
            <a:pPr algn="l">
              <a:defRPr sz="1575" b="0">
                <a:solidFill>
                  <a:srgbClr val="202832"/>
                </a:solidFill>
                <a:latin typeface="Arial"/>
                <a:ea typeface="Arial"/>
                <a:cs typeface="Arial"/>
              </a:defRPr>
            </a:pPr>
            <a:r>
              <a:rPr sz="1575" b="0">
                <a:solidFill>
                  <a:srgbClr val="202832"/>
                </a:solidFill>
                <a:latin typeface="Arial"/>
                <a:ea typeface="Arial"/>
                <a:cs typeface="Arial"/>
              </a:rPr>
              <a:t>ModaYoung/DSA5206</a:t>
            </a:r>
          </a:p>
        </p:txBody>
      </p:sp>
      <p:sp>
        <p:nvSpPr>
          <p:cNvPr id="25" name="39">
            <a:extLst xmlns:a="http://schemas.openxmlformats.org/drawingml/2006/main">
              <a:ext uri="{FF2B5EF4-FFF2-40B4-BE49-F238E27FC236}">
                <a16:creationId xmlns:a16="http://schemas.microsoft.com/office/drawing/2014/main" id="{322C47A0-6EE4-4370-B94A-0F8A68D31AAC}"/>
              </a:ext>
            </a:extLst>
          </p:cNvPr>
          <p:cNvSpPr>
            <a:spLocks xmlns:a="http://schemas.openxmlformats.org/drawingml/2006/main" noGrp="1"/>
          </p:cNvSpPr>
          <p:nvPr/>
        </p:nvSpPr>
        <p:spPr>
          <a:xfrm xmlns:a="http://schemas.openxmlformats.org/drawingml/2006/main">
            <a:off x="11049000" y="6524625"/>
            <a:ext cx="571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125" b="0">
                <a:solidFill>
                  <a:srgbClr val="59636E"/>
                </a:solidFill>
                <a:latin typeface="Arial"/>
                <a:ea typeface="Arial"/>
                <a:cs typeface="Arial"/>
              </a:defRPr>
            </a:defPPr>
            <a:lvl1pPr algn="r">
              <a:defRPr sz="1125" b="0">
                <a:solidFill>
                  <a:srgbClr val="59636E"/>
                </a:solidFill>
                <a:latin typeface="Arial"/>
                <a:ea typeface="Arial"/>
                <a:cs typeface="Arial"/>
              </a:defRPr>
            </a:lvl1pPr>
            <a:lvl2pPr algn="r">
              <a:defRPr sz="1125" b="0">
                <a:solidFill>
                  <a:srgbClr val="59636E"/>
                </a:solidFill>
                <a:latin typeface="Arial"/>
                <a:ea typeface="Arial"/>
                <a:cs typeface="Arial"/>
              </a:defRPr>
            </a:lvl2pPr>
            <a:lvl3pPr algn="r">
              <a:defRPr sz="1125" b="0">
                <a:solidFill>
                  <a:srgbClr val="59636E"/>
                </a:solidFill>
                <a:latin typeface="Arial"/>
                <a:ea typeface="Arial"/>
                <a:cs typeface="Arial"/>
              </a:defRPr>
            </a:lvl3pPr>
            <a:lvl4pPr algn="r">
              <a:defRPr sz="1125" b="0">
                <a:solidFill>
                  <a:srgbClr val="59636E"/>
                </a:solidFill>
                <a:latin typeface="Arial"/>
                <a:ea typeface="Arial"/>
                <a:cs typeface="Arial"/>
              </a:defRPr>
            </a:lvl4pPr>
            <a:lvl5pPr algn="r">
              <a:defRPr sz="1125" b="0">
                <a:solidFill>
                  <a:srgbClr val="59636E"/>
                </a:solidFill>
                <a:latin typeface="Arial"/>
                <a:ea typeface="Arial"/>
                <a:cs typeface="Arial"/>
              </a:defRPr>
            </a:lvl5pPr>
            <a:lvl6pPr algn="r">
              <a:defRPr sz="1125" b="0">
                <a:solidFill>
                  <a:srgbClr val="59636E"/>
                </a:solidFill>
                <a:latin typeface="Arial"/>
                <a:ea typeface="Arial"/>
                <a:cs typeface="Arial"/>
              </a:defRPr>
            </a:lvl6pPr>
            <a:lvl7pPr algn="r">
              <a:defRPr sz="1125" b="0">
                <a:solidFill>
                  <a:srgbClr val="59636E"/>
                </a:solidFill>
                <a:latin typeface="Arial"/>
                <a:ea typeface="Arial"/>
                <a:cs typeface="Arial"/>
              </a:defRPr>
            </a:lvl7pPr>
            <a:lvl8pPr algn="r">
              <a:defRPr sz="1125" b="0">
                <a:solidFill>
                  <a:srgbClr val="59636E"/>
                </a:solidFill>
                <a:latin typeface="Arial"/>
                <a:ea typeface="Arial"/>
                <a:cs typeface="Arial"/>
              </a:defRPr>
            </a:lvl8pPr>
            <a:lvl9pPr algn="r">
              <a:defRPr sz="1125" b="0">
                <a:solidFill>
                  <a:srgbClr val="59636E"/>
                </a:solidFill>
                <a:latin typeface="Arial"/>
                <a:ea typeface="Arial"/>
                <a:cs typeface="Arial"/>
              </a:defRPr>
            </a:lvl9pPr>
          </a:lstStyle>
          <a:p xmlns:a="http://schemas.openxmlformats.org/drawingml/2006/main">
            <a:pPr algn="r">
              <a:defRPr sz="1125" b="0">
                <a:solidFill>
                  <a:srgbClr val="59636E"/>
                </a:solidFill>
                <a:latin typeface="Arial"/>
                <a:ea typeface="Arial"/>
                <a:cs typeface="Arial"/>
              </a:defRPr>
            </a:pPr>
            <a:r>
              <a:rPr sz="1125" b="0">
                <a:solidFill>
                  <a:srgbClr val="59636E"/>
                </a:solidFill>
                <a:latin typeface="Arial"/>
                <a:ea typeface="Arial"/>
                <a:cs typeface="Arial"/>
              </a:rPr>
              <a:t>39</a:t>
            </a:r>
          </a:p>
        </p:txBody>
      </p:sp>
    </p:spTree>
    <p:extLst>
      <p:ext uri="{BB962C8B-B14F-4D97-AF65-F5344CB8AC3E}">
        <p14:creationId xmlns:p14="http://schemas.microsoft.com/office/powerpoint/2010/main" val="92239753"/>
      </p:ext>
    </p:extLst>
  </p:cSld>
</p:sld>
</file>

<file path=ppt/theme/theme1.xml><?xml version="1.0" encoding="utf-8"?>
<a:theme xmlns:a="http://schemas.openxmlformats.org/drawingml/2006/main" name="Office 主题​​">
  <a:themeElements>
    <a:clrScheme name="自定义 4199">
      <a:dk1>
        <a:srgbClr val="000000"/>
      </a:dk1>
      <a:lt1>
        <a:srgbClr val="FFFFFF"/>
      </a:lt1>
      <a:dk2>
        <a:srgbClr val="44546A"/>
      </a:dk2>
      <a:lt2>
        <a:srgbClr val="E7E6E6"/>
      </a:lt2>
      <a:accent1>
        <a:srgbClr val="013D7A"/>
      </a:accent1>
      <a:accent2>
        <a:srgbClr val="F07902"/>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自定义 4199">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2026-10-31T13:52:49.7080000Z</dcterms:created>
  <dcterms:modified xsi:type="dcterms:W3CDTF">2026-10-31T13:52:49.7080000Z</dcterms:modified>
</coreProperties>
</file>